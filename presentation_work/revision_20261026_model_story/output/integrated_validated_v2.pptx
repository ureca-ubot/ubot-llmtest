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7"/>
  </p:notesMasterIdLst>
  <p:sldIdLst>
    <p:sldId id="277" r:id="rId2"/>
    <p:sldId id="256" r:id="rId3"/>
    <p:sldId id="278" r:id="rId4"/>
    <p:sldId id="257" r:id="rId5"/>
    <p:sldId id="280" r:id="rId6"/>
    <p:sldId id="281" r:id="rId7"/>
    <p:sldId id="282" r:id="rId8"/>
    <p:sldId id="279" r:id="rId9"/>
    <p:sldId id="284" r:id="rId10"/>
    <p:sldId id="285" r:id="rId11"/>
    <p:sldId id="286" r:id="rId12"/>
    <p:sldId id="287" r:id="rId13"/>
    <p:sldId id="288" r:id="rId14"/>
    <p:sldId id="289" r:id="rId15"/>
    <p:sldId id="290" r:id="rId16"/>
    <p:sldId id="258" r:id="rId17"/>
    <p:sldId id="259" r:id="rId18"/>
    <p:sldId id="260" r:id="rId19"/>
    <p:sldId id="283" r:id="rId20"/>
    <p:sldId id="261" r:id="rId21"/>
    <p:sldId id="262" r:id="rId22"/>
    <p:sldId id="263" r:id="rId23"/>
    <p:sldId id="264" r:id="rId24"/>
    <p:sldId id="265" r:id="rId25"/>
    <p:sldId id="266" r:id="rId26"/>
    <p:sldId id="267" r:id="rId27"/>
    <p:sldId id="268" r:id="rId28"/>
    <p:sldId id="269" r:id="rId29"/>
    <p:sldId id="270" r:id="rId30"/>
    <p:sldId id="271" r:id="rId31"/>
    <p:sldId id="272" r:id="rId32"/>
    <p:sldId id="273" r:id="rId33"/>
    <p:sldId id="274" r:id="rId34"/>
    <p:sldId id="291" r:id="rId35"/>
    <p:sldId id="276" r:id="rId36"/>
  </p:sldIdLst>
  <p:sldSz cx="13716000" cy="7715250"/>
  <p:notesSz cx="7715250" cy="13716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프로젝트 팀 구성 및 역할" id="{6C8A44CC-470C-A065-729A-F60DBA9BDE47}">
          <p14:sldIdLst>
            <p14:sldId id="277"/>
            <p14:sldId id="256"/>
            <p14:sldId id="278"/>
            <p14:sldId id="257"/>
            <p14:sldId id="280"/>
            <p14:sldId id="281"/>
            <p14:sldId id="282"/>
            <p14:sldId id="279"/>
            <p14:sldId id="284"/>
            <p14:sldId id="285"/>
            <p14:sldId id="286"/>
            <p14:sldId id="287"/>
            <p14:sldId id="288"/>
            <p14:sldId id="289"/>
            <p14:sldId id="290"/>
            <p14:sldId id="258"/>
            <p14:sldId id="259"/>
            <p14:sldId id="260"/>
            <p14:sldId id="283"/>
            <p14:sldId id="261"/>
            <p14:sldId id="262"/>
            <p14:sldId id="263"/>
            <p14:sldId id="264"/>
            <p14:sldId id="265"/>
            <p14:sldId id="266"/>
            <p14:sldId id="267"/>
            <p14:sldId id="268"/>
            <p14:sldId id="269"/>
            <p14:sldId id="270"/>
            <p14:sldId id="271"/>
            <p14:sldId id="272"/>
            <p14:sldId id="273"/>
            <p14:sldId id="274"/>
            <p14:sldId id="291"/>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0" d="100"/>
          <a:sy n="100" d="100"/>
        </p:scale>
        <p:origin x="216" y="31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HTTP 완료 RPS</c:v>
          </c:tx>
          <c:spPr>
            <a:solidFill>
              <a:srgbClr val="F72585"/>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4B</c:v>
                </c:pt>
                <c:pt idx="1">
                  <c:v>8B</c:v>
                </c:pt>
                <c:pt idx="2">
                  <c:v>14B</c:v>
                </c:pt>
              </c:strCache>
            </c:strRef>
          </c:cat>
          <c:val>
            <c:numRef>
              <c:f>'Chart Data'!$B$2:$B$4</c:f>
              <c:numCache>
                <c:formatCode>General</c:formatCode>
                <c:ptCount val="3"/>
                <c:pt idx="0">
                  <c:v>9.13</c:v>
                </c:pt>
                <c:pt idx="1">
                  <c:v>6.1</c:v>
                </c:pt>
                <c:pt idx="2">
                  <c:v>3.33</c:v>
                </c:pt>
              </c:numCache>
            </c:numRef>
          </c:val>
          <c:extLst>
            <c:ext xmlns:c16="http://schemas.microsoft.com/office/drawing/2014/chart" uri="{C3380CC4-5D6E-409C-BE32-E72D297353CC}">
              <c16:uniqueId val="{00000000-D9E1-4742-855E-24FA5F84C879}"/>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DDDE1"/>
            </a:solidFill>
          </a:ln>
        </c:spPr>
        <c:txPr>
          <a:bodyPr anchorCtr="1"/>
          <a:lstStyle/>
          <a:p>
            <a:pPr>
              <a:defRPr sz="1425">
                <a:solidFill>
                  <a:srgbClr val="17171A"/>
                </a:solidFill>
                <a:latin typeface="맑은 고딕"/>
                <a:ea typeface="맑은 고딕"/>
                <a:cs typeface="맑은 고딕"/>
              </a:defRPr>
            </a:pPr>
            <a:endParaRPr lang="ko-KR"/>
          </a:p>
        </c:txPr>
        <c:crossAx val="48672768"/>
        <c:crosses val="autoZero"/>
        <c:auto val="1"/>
        <c:lblAlgn val="ctr"/>
        <c:lblOffset val="100"/>
        <c:noMultiLvlLbl val="1"/>
      </c:catAx>
      <c:valAx>
        <c:axId val="48672768"/>
        <c:scaling>
          <c:orientation val="minMax"/>
          <c:max val="12"/>
          <c:min val="0"/>
        </c:scaling>
        <c:delete val="0"/>
        <c:axPos val="l"/>
        <c:majorGridlines>
          <c:spPr>
            <a:ln w="6668">
              <a:solidFill>
                <a:srgbClr val="DDDDE1"/>
              </a:solidFill>
            </a:ln>
          </c:spPr>
        </c:majorGridlines>
        <c:numFmt formatCode="General" sourceLinked="1"/>
        <c:majorTickMark val="none"/>
        <c:minorTickMark val="none"/>
        <c:tickLblPos val="nextTo"/>
        <c:spPr>
          <a:ln w="0">
            <a:noFill/>
          </a:ln>
        </c:spPr>
        <c:txPr>
          <a:bodyPr anchorCtr="1"/>
          <a:lstStyle/>
          <a:p>
            <a:pPr>
              <a:defRPr sz="1275">
                <a:solidFill>
                  <a:srgbClr val="686B72"/>
                </a:solidFill>
                <a:latin typeface="맑은 고딕"/>
                <a:ea typeface="맑은 고딕"/>
                <a:cs typeface="맑은 고딕"/>
              </a:defRPr>
            </a:pPr>
            <a:endParaRPr lang="ko-KR"/>
          </a:p>
        </c:txPr>
        <c:crossAx val="48650112"/>
        <c:crosses val="autoZero"/>
        <c:crossBetween val="between"/>
        <c:majorUnit val="3"/>
      </c:valAx>
      <c:spPr>
        <a:noFill/>
        <a:ln w="0">
          <a:noFill/>
        </a:ln>
      </c:spPr>
    </c:plotArea>
    <c:plotVisOnly val="1"/>
    <c:dispBlanksAs val="zero"/>
    <c:showDLblsOverMax val="1"/>
  </c:chart>
  <c:spPr>
    <a:no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기본 프롬프트</c:v>
          </c:tx>
          <c:spPr>
            <a:solidFill>
              <a:srgbClr val="B9BAC1"/>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환각</c:v>
                </c:pt>
                <c:pt idx="1">
                  <c:v>되묻기</c:v>
                </c:pt>
              </c:strCache>
            </c:strRef>
          </c:cat>
          <c:val>
            <c:numRef>
              <c:f>'Chart Data'!$B$2:$B$3</c:f>
              <c:numCache>
                <c:formatCode>General</c:formatCode>
                <c:ptCount val="2"/>
                <c:pt idx="0">
                  <c:v>20.44</c:v>
                </c:pt>
                <c:pt idx="1">
                  <c:v>14</c:v>
                </c:pt>
              </c:numCache>
            </c:numRef>
          </c:val>
          <c:extLst>
            <c:ext xmlns:c16="http://schemas.microsoft.com/office/drawing/2014/chart" uri="{C3380CC4-5D6E-409C-BE32-E72D297353CC}">
              <c16:uniqueId val="{00000000-F931-428C-9023-8B69B7A8E18F}"/>
            </c:ext>
          </c:extLst>
        </c:ser>
        <c:ser>
          <c:idx val="1"/>
          <c:order val="1"/>
          <c:tx>
            <c:v>개선 프롬프트</c:v>
          </c:tx>
          <c:spPr>
            <a:solidFill>
              <a:srgbClr val="F72585"/>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환각</c:v>
                </c:pt>
                <c:pt idx="1">
                  <c:v>되묻기</c:v>
                </c:pt>
              </c:strCache>
            </c:strRef>
          </c:cat>
          <c:val>
            <c:numRef>
              <c:f>'Chart Data'!$D$2:$D$3</c:f>
              <c:numCache>
                <c:formatCode>General</c:formatCode>
                <c:ptCount val="2"/>
                <c:pt idx="0">
                  <c:v>13.56</c:v>
                </c:pt>
                <c:pt idx="1">
                  <c:v>0.11</c:v>
                </c:pt>
              </c:numCache>
            </c:numRef>
          </c:val>
          <c:extLst>
            <c:ext xmlns:c16="http://schemas.microsoft.com/office/drawing/2014/chart" uri="{C3380CC4-5D6E-409C-BE32-E72D297353CC}">
              <c16:uniqueId val="{00000001-F931-428C-9023-8B69B7A8E18F}"/>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DDDE1"/>
            </a:solidFill>
          </a:ln>
        </c:spPr>
        <c:txPr>
          <a:bodyPr anchorCtr="1"/>
          <a:lstStyle/>
          <a:p>
            <a:pPr>
              <a:defRPr sz="1425">
                <a:solidFill>
                  <a:srgbClr val="17171A"/>
                </a:solidFill>
                <a:latin typeface="맑은 고딕"/>
                <a:ea typeface="맑은 고딕"/>
                <a:cs typeface="맑은 고딕"/>
              </a:defRPr>
            </a:pPr>
            <a:endParaRPr lang="ko-KR"/>
          </a:p>
        </c:txPr>
        <c:crossAx val="48672768"/>
        <c:crosses val="autoZero"/>
        <c:auto val="1"/>
        <c:lblAlgn val="ctr"/>
        <c:lblOffset val="100"/>
        <c:noMultiLvlLbl val="1"/>
      </c:catAx>
      <c:valAx>
        <c:axId val="48672768"/>
        <c:scaling>
          <c:orientation val="minMax"/>
          <c:max val="25"/>
          <c:min val="0"/>
        </c:scaling>
        <c:delete val="0"/>
        <c:axPos val="l"/>
        <c:majorGridlines>
          <c:spPr>
            <a:ln w="6668">
              <a:solidFill>
                <a:srgbClr val="DDDDE1"/>
              </a:solidFill>
            </a:ln>
          </c:spPr>
        </c:majorGridlines>
        <c:numFmt formatCode="General" sourceLinked="1"/>
        <c:majorTickMark val="none"/>
        <c:minorTickMark val="none"/>
        <c:tickLblPos val="nextTo"/>
        <c:spPr>
          <a:ln w="0">
            <a:noFill/>
          </a:ln>
        </c:spPr>
        <c:txPr>
          <a:bodyPr anchorCtr="1"/>
          <a:lstStyle/>
          <a:p>
            <a:pPr>
              <a:defRPr sz="1275">
                <a:solidFill>
                  <a:srgbClr val="686B72"/>
                </a:solidFill>
                <a:latin typeface="맑은 고딕"/>
                <a:ea typeface="맑은 고딕"/>
                <a:cs typeface="맑은 고딕"/>
              </a:defRPr>
            </a:pPr>
            <a:endParaRPr lang="ko-KR"/>
          </a:p>
        </c:txPr>
        <c:crossAx val="48650112"/>
        <c:crosses val="autoZero"/>
        <c:crossBetween val="between"/>
        <c:majorUnit val="5"/>
      </c:valAx>
      <c:spPr>
        <a:noFill/>
        <a:ln w="0">
          <a:noFill/>
        </a:ln>
      </c:spPr>
    </c:plotArea>
    <c:legend>
      <c:legendPos val="b"/>
      <c:overlay val="0"/>
      <c:txPr>
        <a:bodyPr anchorCtr="1"/>
        <a:lstStyle/>
        <a:p>
          <a:pPr>
            <a:defRPr sz="1350">
              <a:solidFill>
                <a:srgbClr val="686B72"/>
              </a:solidFill>
              <a:latin typeface="맑은 고딕"/>
              <a:ea typeface="맑은 고딕"/>
              <a:cs typeface="맑은 고딕"/>
            </a:defRPr>
          </a:pPr>
          <a:endParaRPr lang="ko-KR"/>
        </a:p>
      </c:txPr>
    </c:legend>
    <c:plotVisOnly val="1"/>
    <c:dispBlanksAs val="zero"/>
    <c:showDLblsOverMax val="1"/>
  </c:chart>
  <c:spPr>
    <a:no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pPr lvl="0">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pPr lvl="0">
              <a:defRPr/>
            </a:pPr>
            <a:fld id="{5282F153-3F37-0F45-9E97-73ACFA13230C}" type="datetime1">
              <a:rPr lang="en-US"/>
              <a:pPr lvl="0">
                <a:defRPr/>
              </a:pPr>
              <a:t>10/26/2026</a:t>
            </a:fld>
            <a:endParaRPr lang="en-US"/>
          </a:p>
        </p:txBody>
      </p:sp>
      <p:sp>
        <p:nvSpPr>
          <p:cNvPr id="4" name="Slide Image Placeholder 3"/>
          <p:cNvSpPr>
            <a:spLocks noGrp="1" noRot="1" noChangeAspect="1" noTextEdi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anchor="ctr"/>
          <a:lstStyle/>
          <a:p>
            <a:pPr lvl="0">
              <a:defRPr/>
            </a:pPr>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nchor="b"/>
          <a:lstStyle>
            <a:lvl1pPr algn="l">
              <a:defRPr sz="1200"/>
            </a:lvl1pPr>
          </a:lstStyle>
          <a:p>
            <a:pPr lvl="0">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nchor="b"/>
          <a:lstStyle>
            <a:lvl1pPr algn="r">
              <a:defRPr sz="1200"/>
            </a:lvl1pPr>
          </a:lstStyle>
          <a:p>
            <a:pPr lvl="0">
              <a:defRPr/>
            </a:pPr>
            <a:fld id="{CE5E9CC1-C706-0F49-92D6-E571CC5EEA8F}" type="slidenum">
              <a:rPr lang="en-US"/>
              <a:pPr lvl="0">
                <a:defRPr/>
              </a:pPr>
              <a:t>‹#›</a:t>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p:nvPr>
        </p:nvSpPr>
        <p:spPr/>
      </p:sp>
      <p:sp>
        <p:nvSpPr>
          <p:cNvPr id="3" name="Notes Placeholder 2"/>
          <p:cNvSpPr>
            <a:spLocks noGrp="1"/>
          </p:cNvSpPr>
          <p:nvPr>
            <p:ph type="body" idx="1"/>
          </p:nvPr>
        </p:nvSpPr>
        <p:spPr/>
        <p:txBody>
          <a:bodyPr/>
          <a:lstStyle/>
          <a:p>
            <a:pPr lvl="0">
              <a:defRPr/>
            </a:pP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초기테스트는조건과예외,자료부족,공격대응까지함께보는엄격한기준이었습니다. 작은모델을그대로통과시키기어려워품질기준으로14B OFF를1차선정했습니다. 하지만별도동시서빙시험에서4B보다처리여유가작았습니다. 그래서큰모델을그대로운영하는대신4B를튜닝하고코드로보완할수있는지검토했습니다.</a:t>
            </a:r>
          </a:p>
          <a:p>
            <a:endParaRPr/>
          </a:p>
          <a:p>
            <a:r>
              <a:t>비교 조건과 해석</a:t>
            </a:r>
          </a:p>
          <a:p>
            <a:r>
              <a:t>v2 try1=9모델, 표본 검수 26건과 결정론 형식 지표. v2 try2 Qwen1.7B 정답47%=300건 Judge. v3 EXAONE7.8B 기대 ABSTAIN88건 중0; Qwen4B ON P95 47.6초. v3의 1차 MVP는 Qwen14B OFF였고, v4에서 작은4B 모델의 튜닝을 검토했다. 이를 처음부터4B가 전 지표 최고였다고 설명하지 않는다. v4 오답 중 과잉보류 Qwen352/962=36.6%, Gemma32/908=3.5%. Qwen 실제로 답한 문항의 정확도77%는 선택 편향이 있어 전체 정확도로 쓰지 않는다. L4 vLLM P32/U32 30초 단회 RPS4B9.13/8B6.10/14B3.33은 이전 Qwen3 계열, 최종 Instruct w4a16 직접 측정이 아니다. 품질 및 지연 SLO를 적용한 보장 수용량도 아니다.</a:t>
            </a:r>
          </a:p>
          <a:p>
            <a:endParaRPr/>
          </a:p>
          <a:p>
            <a:r>
              <a:t>근거</a:t>
            </a:r>
          </a:p>
          <a:p>
            <a:r>
              <a:t>C:/Ureka/ureca_project2/LLM_Test/model_test_v2/try1/results/all_summary.md</a:t>
            </a:r>
          </a:p>
          <a:p>
            <a:r>
              <a:t>C:/Ureka/ureca_project2/LLM_Test/model_test_v2/try2/results/all_summary.md</a:t>
            </a:r>
          </a:p>
          <a:p>
            <a:r>
              <a:t>C:/Ureka/ureca_project2/LLM_Test/model_test_v3/try1/results/all_summary.md</a:t>
            </a:r>
          </a:p>
          <a:p>
            <a:r>
              <a:t>C:/Ureka/ureca_project2/LLM_Test/model_test_v3/try1/results/summary/model_selection.md</a:t>
            </a:r>
          </a:p>
          <a:p>
            <a:r>
              <a:t>C:/Ureka/ureca_project2/LLM_Test/model_test_v4/try1/results/summary/brief_report.md</a:t>
            </a:r>
          </a:p>
          <a:p>
            <a:r>
              <a:t>C:/Ureka/ureca_project2/LLM_Test/model_test_v4/try1/results/summary/tuning_target_decision.md</a:t>
            </a:r>
          </a:p>
          <a:p>
            <a:r>
              <a:t>C:/Ureka/ureca_project2/LLM_Test/servingtest/l4/reports/L4_MULTIMODEL_RESULTS_20261006.md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21145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(38초)</a:t>
            </a:r>
          </a:p>
          <a:p>
            <a:r>
              <a:t>전체 정답률은Gemma가2.1%포인트높았지만,오답의종류를다시봤습니다. Qwen오답의36.6%는답할수있는내용을보류한경우였고,352건중255건은환각도없었습니다. 실제로답한문항에서는정답률과계산형정답률이더높았습니다. 반대로답이없는670문항에서Gemma는오답18.4%,환각31.9%로Qwen보다높았고,답변가능으로출력한경우에도환각률이18.3%였습니다. 그래서보류안정성과프롬프트교정가능성을보고Qwen을튜닝대상으로정했습니다.</a:t>
            </a:r>
          </a:p>
          <a:p>
            <a:endParaRPr/>
          </a:p>
          <a:p>
            <a:r>
              <a:t>비교 조건과 해석</a:t>
            </a:r>
          </a:p>
          <a:p>
            <a:r>
              <a:t>주요근거=tuning_target_decision.md1-1·1-2. RT제외Gemma2598/Qwen2600,전체정답률65.05%/63.0%. 과잉보류32/908=3.5%,352/962=36.6%;그중환각없음15/255. 기대ANSWER이며본문도ANSWER인선택표본정답922/1319=69.9%,839/1090=77.0%;계산CE/UI/AR정답188/392=48.0%,156/281=55.5%. 답한표본은모델별로다르므로전체정답률또는보류를답변으로바꿨을때의예상정답률이아님. 기대보류계열830건(ABSTAIN670/CONFLICT90/OUT_OF_SCOPE70)정답660/724=79.5%/87.2%. 기대ABSTAIN670건오답123/71=18.4%/10.6%,환각214/143=31.9%/21.3%. 출력라벨ANSWER환각240/1313=18.3%,48/577=8.3%;본문ANSWER기준환각과구분. 정답과환각은독립이므로두비율을더하지않는다. 계산오적용은환각과별개일수있다. Qwen계산형답변환각62/281=22.1%로Gemma66/392=16.8%보다높은위험도남음. 따라서Gemma의보류를전혀통제할수없다거나Qwen이모든영역에서더안전하다는결론은아님. 계산사례는결정문1-5의원자료이며현재화면에서는예시를삭제하고약점만요약했다. 1-3의근거→보류→본문연결,1-4의불필요한되묻기는관측된교정가설근거. 이후개선효과는다음프롬프트슬라이드의같은표본으로검증해야함. v3/v4의환각률차이를튜닝효과로연결하지않는다.</a:t>
            </a:r>
          </a:p>
          <a:p>
            <a:endParaRPr/>
          </a:p>
          <a:p>
            <a:r>
              <a:t>근거</a:t>
            </a:r>
          </a:p>
          <a:p>
            <a:r>
              <a:t>C:/Ureka/ureca_project2/LLM_Test/model_test_v4/try1/results/summary/tuning_target_decision.md</a:t>
            </a:r>
          </a:p>
          <a:p>
            <a:r>
              <a:t>C:/Ureka/ureca_project2/LLM_Test/presentation_work/revision_20261026_model_story/selection_metrics.json</a:t>
            </a:r>
          </a:p>
          <a:p>
            <a:r>
              <a:t>C:/Ureka/ureca_project2/LLM_Test/presentation_work/revision_20261026_model_story/derive_selection_metrics.py</a:t>
            </a:r>
          </a:p>
          <a:p>
            <a:r>
              <a:t>C:/Ureka/ureca_project2/LLM_Test/presentation_work/evidence_20261026/gemma_v3_v4_and_status.json</a:t>
            </a:r>
          </a:p>
          <a:p>
            <a:endParaRPr/>
          </a:p>
          <a:p>
            <a:r>
              <a:t>Gemma의버전간비교해석</a:t>
            </a:r>
          </a:p>
          <a:p>
            <a:r>
              <a:t>자료부족3유형은SR/HR/EC이며v3 85/300=28.3%,v4 600/2598=23.1%다. 유형비중은낮아졌으나공통12유형에서v4의유형별환각률을v3비중으로가중해도약25.0%이므로,50.3→24.1감소를문항비중만의효과로설명할수없다. 유형내문항·FAQ,생성프롬프트·출력스키마,판정모델·상세루브릭이함께바뀌었다. 화면의설명도비중과문항·보류지침변화를함께명시한다. 계산능력문제를단독인과로확정한비교실험이아니며동일v4내모델비교를선정근거로사용한다.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080800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(29초)</a:t>
            </a:r>
          </a:p>
          <a:p>
            <a:r>
              <a:t>기본프롬프트의Instruct도OFF최종개선안보다정확했고상태판단과근거선택도개선됐습니다. Q8과품질차이는뚜렷하지않았지만시간과용량이늘어Q4를택했습니다. 다만Instruct에서는기존에쉽게고칠수있던과잉보류가이미많이줄었습니다. 그래서후속고도화는정답률상승보다환각을줄이는방향에집중했습니다.</a:t>
            </a:r>
          </a:p>
          <a:p>
            <a:endParaRPr/>
          </a:p>
          <a:p>
            <a:r>
              <a:t>비교 조건과 해석</a:t>
            </a:r>
          </a:p>
          <a:p>
            <a:r>
              <a:t>공통404건은 OFF 초안254정답96환각, t1c313/99, GemmaQ4 283/120, GemmaQAT290/172, InstructQ4 344/93, InstructQ8 354/90. GemmaQAT HR-0163 미채점1건을 제외했다. t1c와Instruct만 비교한405건=314/99 vs345/93, 정확도+7.65%p(p=.00117), 환각 차이 유의하지 않음(p=.645). NC·MC는 OFF 오답을 집중한 표본으로 전체 정확도의 대표 표본이 아니다. 미측정895건을 OFF 기준선 유지한 t1c 합성1,300건 정확도66.77%,환각23.08%는 실측이 아니므로 본문 표에 넣지 않았다. Q4/Q8 1,300건 정답77.5/78.8 환각26.2/26.5 p=.22/.85. 평균응답2.61/3.49초·파일2.5/4.3GB는 T4 순차측정이고 Q4와Q8의 동시성 직접 비교가 아니다. 4bit가 동시 서빙 여유에 유리할 것으로 고려한 판단과 실측을 구분한다. Instruct의 답먼저 키 순서와 모델·프롬프트·로컬/EC2 환경 차이가 섞여 순수 모델 단독 효과는 아니다.</a:t>
            </a:r>
          </a:p>
          <a:p>
            <a:endParaRPr/>
          </a:p>
          <a:p>
            <a:r>
              <a:t>근거</a:t>
            </a:r>
          </a:p>
          <a:p>
            <a:r>
              <a:t>C:/Ureka/ureca_project2/LLM_Test/presentation_work/revision_20261026_model_story/model_comparison_metrics.json</a:t>
            </a:r>
          </a:p>
          <a:p>
            <a:r>
              <a:t>C:/Ureka/ureca_project2/LLM_Test/presentation_work/revision_20261026_model_story/derive_model_comparison.py</a:t>
            </a:r>
          </a:p>
          <a:p>
            <a:r>
              <a:t>C:/Ureka/ureca_project2/LLM_Test/scripts/docgen/judge_report.js</a:t>
            </a:r>
          </a:p>
          <a:p>
            <a:r>
              <a:t>C:/Ureka/ureca_project2/LLM_Test/presentation_work/evidence_20261026/off_tuned_vs_instruct.json</a:t>
            </a:r>
          </a:p>
          <a:p>
            <a:r>
              <a:t>C:/Ureka/ureca_project2/LLM_Test/model_test_v5/try1/results/summary/quantization_decision.md</a:t>
            </a:r>
          </a:p>
          <a:p>
            <a:r>
              <a:t>C:/Ureka/ureca_project2/LLM_Test/model_test_v5/try1/results/summary/cause_breakdown.md</a:t>
            </a:r>
          </a:p>
          <a:p>
            <a:endParaRPr/>
          </a:p>
          <a:p>
            <a:r>
              <a:t>최신 정의</a:t>
            </a:r>
          </a:p>
          <a:p>
            <a:r>
              <a:t>화면은Gemma Q4_K_M기존모델을제외한5행이다. OFF와Instruct Q4_K_M에기존을붙인것은기존시험결과재사용을뜻한다. 상태판단은출력status와기대상태의엄격일치(정답과독립)로404건분모, 근거선택은evidence_ids에정답근거문서만하나이상인용한비율이며205건분모다. 공통404건에서상태정답252/313/315/357/370,근거정답80/101/191/180/185(표행순)다. n1300별도오답분석에서OFF의과잉보류는185/491=37.7%,Instruct Q4는18/293=6.1%,환각동반오답은32.6%에서64.2%였다. 사라진것은주로과잉보류를풀어정답을쉽게늘릴교정여지이며전체튜닝가능성이없어졌다는실증결론은아니다. 후속900건에서정답703→698,환각184→122를관측해환각감소중심방향으로정리한다.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770780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프롬프트로 가장 크게 줄인 것은 환각과 불필요한 되묻기입니다. 같은900문항에서 환각은184건에서122건, 되묻기는126건에서1건으로 줄었습니다. 50자 제한으로 생긴 누락을 되돌리고, 중복된 고지 지시를 한곳으로 모았습니다. 다만 전체 정확도 상승은 확인되지 않았고, FAQ번호와 반복 표현은 여전히 남아 다음 출력 구조 개선으로 이어졌습니다.</a:t>
            </a:r>
          </a:p>
          <a:p>
            <a:endParaRPr/>
          </a:p>
          <a:p>
            <a:r>
              <a:t>비교 조건과 해석</a:t>
            </a:r>
          </a:p>
          <a:p>
            <a:r>
              <a:t>base→i4 정답703→698/900 p=.73988. 환각184→122=−6.89%p 상대−33.7%, McNemar p=.00000168. asks126→1. FAQID147→77. 반복303→234는 문서의4범주(불가문장이중화/따라서재진술/문장재진술/질문복사) 코드집계이며 단순동일문장반복 규칙은900건모두0이다. 다음slot슬라이드의 반복고지81→0 또는 문장2gram재진술22→22와 같은 지표·표본이 아니므로 234→0으로 이어붙이지 않는다. 현재 백엔드는 파생slot프롬프트를 쓰며13.56%는 전체최종파이프라인환각률이 아니다.</a:t>
            </a:r>
          </a:p>
          <a:p>
            <a:endParaRPr/>
          </a:p>
          <a:p>
            <a:r>
              <a:t>근거</a:t>
            </a:r>
          </a:p>
          <a:p>
            <a:r>
              <a:t>C:/Ureka/ureca_project2/LLM_Test/prompts_test_v7/try1/results/llm_judge/pv7-try1_variant_compare_vs_v4_base.md</a:t>
            </a:r>
          </a:p>
          <a:p>
            <a:r>
              <a:t>C:/Ureka/ureca_project2/LLM_Test/prompts_test_v7/try1/results/summary/failure_analysis.md</a:t>
            </a:r>
          </a:p>
          <a:p>
            <a:r>
              <a:t>C:/Ureka/ureca_project2/LLM_Test/prompts_test_v7/SETUP.md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395348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(30초)</a:t>
            </a:r>
          </a:p>
          <a:p>
            <a:r>
              <a:t>여러질문을나누고생략된대상을복원하기위해판정모델을도입했습니다. 분리나멀티턴표지가없는질문은원문검색을먼저시도합니다. 질문분리100건전체에서필요한FAQ를모두찾은문항은판정없이69건에서판정적용84건이됐습니다. 의도별FAQ적중은161개에서182개,질문개수는90건에서맞았습니다. 이는답변정확도가아니라검색과분리성능입니다.</a:t>
            </a:r>
          </a:p>
          <a:p>
            <a:endParaRPr/>
          </a:p>
          <a:p>
            <a:r>
              <a:t>비교 조건과 해석</a:t>
            </a:r>
          </a:p>
          <a:p>
            <a:r>
              <a:t>별도 질문분리100건·정답의도201개. final/split/split-analysis.json의 원문·old·search 저장검색 결과에서 재집계. 모든 의도 정답 FAQ 검색=69/81/84, 의도별 FAQ 적중=161/181/182; 기준 top3·score&gt;=.75. 질문 개수 일치=초기81/개선90. 문서의 2차 재설계 현재 운영 프롬프트와 같은 결과다. 질문·gold는 AI 생성, 사람 검수 전이고 단회 실행. 전체 기능평가200건(이력 없음141/있음59)과 별도 제작100건이므로 같은300건 전후 비교로 합산하지 않는다. 기존41건은200건에서 이력59건 중 정답FAQ가 지정된41건만 추린 초기진단이었다. 그 수치를 전체 테스트로 해석하면 안 되므로 본문에서 별도100건 전체 결과로 교체했다. 원문 검색은 저장 벡터검색 기준선이며 구버전 전체API 실측이 아니다. 초기/분류기/slot의 종단 정답·환각 완전공통4단계 자료는 없고 분류기는 실제 호출 생략 수를 다음 장에서 제시한다.</a:t>
            </a:r>
          </a:p>
          <a:p>
            <a:endParaRPr/>
          </a:p>
          <a:p>
            <a:r>
              <a:t>근거</a:t>
            </a:r>
          </a:p>
          <a:p>
            <a:r>
              <a:t>C:/Ureka/ureca_project2/BackEnd/docs/질문분리_멀티턴_테스트_보고서.md</a:t>
            </a:r>
          </a:p>
          <a:p>
            <a:r>
              <a:t>C:/Ureka/ureca_project2/eval_205_multiturn/docs-evaluation/2026-10-16-split/final/split/split-analysis.json</a:t>
            </a:r>
          </a:p>
          <a:p>
            <a:r>
              <a:t>C:/Ureka/ureca_project2/LLM_Test/presentation_work/revision_20261026_model_story/feedback_metrics.json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874834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(30초)</a:t>
            </a:r>
          </a:p>
          <a:p>
            <a:r>
              <a:t>판정모델이검색어를잘만들어도뜻을바꾸면답변이오염될수있습니다. 그래서검색어는검색에만쓰고답변에는원문과원문조각을줬습니다. 선정한전파사례는8건에서3건으로줄었지만이를전체환각감소율로쓰지는않았습니다. 분류기는실제390건중174건의판정호출을생략했고,기본단건은50건중49건이판정없이끝났습니다.</a:t>
            </a:r>
          </a:p>
          <a:p>
            <a:endParaRPr/>
          </a:p>
          <a:p>
            <a:r>
              <a:t>비교 조건과 해석</a:t>
            </a:r>
          </a:p>
          <a:p>
            <a:r>
              <a:t>원문/keep100건근거맞힘76/20일부/4틀림동일:원문전달이항상정답률을높인실험은아니고의미변형전파를피하려는설계다. 초기HANDOFF의선정전파사례8→3은반복실행·독립Judge의정량환각률이아니다. 가드300출력에서9개(명령6부정3)실제변형·관측오탐0,검증세트튜닝및미탐한계. 이전답변오류주입8건중2~3건전파되어이력도멀티턴에만제공. 분류기초기200평가이력없는141중66생략,이력59중4원문검색종료로합계70/200=35%는경로분석수치. 최종390trace실측은planner_called216,ORIGINAL_SEARCH_FIRST174;SA50중1호출49생략. 항상1회판정하면390회라는설계기준과대비한절감이며상태모델/도구/출력재호출등전체LLM호출은아니다. 현재네단계전체동일종단정답률자료는없다.</a:t>
            </a:r>
          </a:p>
          <a:p>
            <a:endParaRPr/>
          </a:p>
          <a:p>
            <a:r>
              <a:t>근거</a:t>
            </a:r>
          </a:p>
          <a:p>
            <a:r>
              <a:t>C:/Ureka/ureca_project2/BackEnd/docs/질문분리_멀티턴_테스트_보고서.md</a:t>
            </a:r>
          </a:p>
          <a:p>
            <a:r>
              <a:t>C:/Ureka/ureca_project2/eval_205_multiturn/docs-evaluation/2026-10-15-keep-search/HANDOFF.md</a:t>
            </a:r>
          </a:p>
          <a:p>
            <a:r>
              <a:t>C:/Ureka/ureca_project2/LLM_Test/presentation_work/evidence_20261026/recomputed_metrics.json</a:t>
            </a:r>
          </a:p>
          <a:p>
            <a:r>
              <a:t>C:/Ureka/ureca_project2/LLM_Test/presentation_work/revision_20261026_model_story/slide_metrics.json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643215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(31초)</a:t>
            </a:r>
          </a:p>
          <a:p>
            <a:r>
              <a:t>프롬프트만으로남았던고지문제는출력단위를바꿔제어했습니다. 질문별칸에서답할수있는본문만남기고보류안내는코드가붙입니다. 공통337문항에서FAQ번호노출은17,3,0건이고반복고지는81,12,0건입니다. 하지만일반문장재진술은single과slot이모두22건으로남았습니다. 이개선은전체정답이나환각의일괄개선과구분해야합니다.</a:t>
            </a:r>
          </a:p>
          <a:p>
            <a:endParaRPr/>
          </a:p>
          <a:p>
            <a:r>
              <a:t>비교 조건과 해석</a:t>
            </a:r>
          </a:p>
          <a:p>
            <a:r>
              <a:t>single_v1/sub_v4/slot_v4세모드의공통Judge337문항. 정답276/257/270,환각44/30/33. Native표는모두같은337ID. 모든390건의FAQID17/3/0·반복고지81/12/0과동일. 반복고지는기존case_scores.leak.notice_sentences길이&gt;=2로집계하여FAQ인용문장제외. 일반재진술은문장최소12개2gram·작은쪽집합대비중복60%이상인쌍이있는응답수이며새보조지표. 모든반복표현이나프롬프트900건303→234와직접비교하지않는다. 최종사용자본문의반복고지는single81/sub70/slot2로코드안내도포함하므로모델본문0과다르다. 전체390건모델·코드중복고지sub67→slot1. sub실행오류LLM00512→slotCHAT0211(LLM0050). single도오류1이므로single대비오류개선아님. sub/slot공통339정답259→272 p=.0596;환각30→33 p=.743. single/slot공통350정답284→278 p=.418,환각44→36 p=.302. 품질향상통계적입증없음. 후속feat277가드는같은390에서정답률71.35/환각12.92로달라져이390slot실험을현재배포전체성능이라고하지않는다.</a:t>
            </a:r>
          </a:p>
          <a:p>
            <a:endParaRPr/>
          </a:p>
          <a:p>
            <a:r>
              <a:t>근거</a:t>
            </a:r>
          </a:p>
          <a:p>
            <a:r>
              <a:t>C:/Ureka/ureca_project2/LLM_Test/presentation_work/revision_20261026_model_story/derive_slide_metrics.py</a:t>
            </a:r>
          </a:p>
          <a:p>
            <a:r>
              <a:t>C:/Ureka/ureca_project2/LLM_Test/presentation_work/revision_20261026_model_story/slide_metrics.json</a:t>
            </a:r>
          </a:p>
          <a:p>
            <a:r>
              <a:t>C:/Ureka/ureca_project2/LLM_Test/pipeline_test_v4/try2/results/all_summary.md</a:t>
            </a:r>
          </a:p>
          <a:p>
            <a:r>
              <a:t>C:/Ureka/ureca_project2/LLM_Test/pipeline_test_v1/try1/results/interim_summary.md</a:t>
            </a:r>
          </a:p>
          <a:p>
            <a:r>
              <a:t>C:/Ureka/ureca_project2/LLM_Test/pipeline_test_v5/try1/results/all_summary.md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133804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스케줄러는팀전체기능을주기와역할로묶었습니다. 예약이나요금일정에맞춰알림을보내고,사용량이한도에도달하면안내합니다. FAQ랭킹과미응답그룹이름도정기적으로갱신합니다. 이외에기간이지난데이터정리,관리자검토작업,비동기처리와상담복구를주기적으로실행합니다.</a:t>
            </a:r>
          </a:p>
          <a:p>
            <a:endParaRPr/>
          </a:p>
          <a:p>
            <a:r>
              <a:t>비교 조건과 해석</a:t>
            </a:r>
          </a:p>
          <a:p>
            <a:r>
              <a:t>예약24/6/1h,납부기한0~3일·연체1~30일미납액&gt;0,로밍시작/종료D1/D0,약정할부D30/D7/D1,데이터80/100단계중복방지. 보관정리질문원문과연결3개월뒤익명화·집계행3년,로그예약알림주로3개월·구독청구5년등프로젝트정책이며법률적합성주장아님. ShedLock최소10분최대30분·1분간격최대3회재시도·하위부터삭제. FAQ랭킹20분창top5·최소10회·2일기준·급상승비율5. 미응답이름5분간격batch10·최근질문10·20분예산. 검토매분은예약시점확인,기본DBenabledfalse·interval1440분·관리자5~43200분설정;매분LLM분석아님. Outboxbatch20최대5재시도base10초. 상담5초maintainSessions/recoverPending와별도문장색인,검토worker2초·alert5초,금칙어캐시5초,취소구독15초,적체지표초기30초후5분. app.role별예약/worker분리조건존재. 실제활성화및운영성공률미조회.</a:t>
            </a:r>
          </a:p>
          <a:p>
            <a:endParaRPr/>
          </a:p>
          <a:p>
            <a:r>
              <a:t>근거</a:t>
            </a:r>
          </a:p>
          <a:p>
            <a:r>
              <a:t>C:/Ureka/ureca_project2/BackEnd/src/main/resources/application.yml</a:t>
            </a:r>
          </a:p>
          <a:p>
            <a:r>
              <a:t>C:/Ureka/ureca_project2/BackEnd/src/main/java/com/ubot/retention/scheduler/DataRetentionScheduler.java</a:t>
            </a:r>
          </a:p>
          <a:p>
            <a:r>
              <a:t>C:/Ureka/ureca_project2/BackEnd/src/main/resources/db/migration/R__purge_expired_data.sql</a:t>
            </a:r>
          </a:p>
          <a:p>
            <a:r>
              <a:t>C:/Ureka/ureca_project2/LLM_Test/presentation_work/evidence_20261026/evidence_review.json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285996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00000"/>
            <a:ext cx="9000000" cy="400000"/>
          </a:xfrm>
          <a:prstGeom prst="rect">
            <a:avLst/>
          </a:prstGeom>
          <a:noFill/>
        </p:spPr>
        <p:txBody>
          <a:bodyPr wrap="square" lIns="0" tIns="0" rIns="0" bIns="0" anchor="ctr">
            <a:spAutoFit/>
          </a:bodyPr>
          <a:lstStyle/>
          <a:p>
            <a:pPr lvl="0" algn="l">
              <a:defRPr/>
            </a:pPr>
            <a:r>
              <a:rPr sz="1600" b="1">
                <a:solidFill>
                  <a:schemeClr val="accent1"/>
                </a:solidFill>
              </a:rPr>
              <a:t>PART 02</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팀 구성 및 역할</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01</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36"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팀 구성 및 역할</a:t>
            </a:r>
          </a:p>
        </p:txBody>
      </p:sp>
      <p:sp>
        <p:nvSpPr>
          <p:cNvPr id="39"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팀 구성과 역할</a:t>
            </a:r>
          </a:p>
        </p:txBody>
      </p:sp>
      <p:sp>
        <p:nvSpPr>
          <p:cNvPr id="40"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파트별로 나눠 협업한 팀 구성과 담당 역할</a:t>
            </a:r>
          </a:p>
        </p:txBody>
      </p:sp>
      <p:sp>
        <p:nvSpPr>
          <p:cNvPr id="41"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42"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02</a:t>
            </a:r>
            <a:endParaRPr sz="1300" b="0">
              <a:solidFill>
                <a:schemeClr val="accent3"/>
              </a:solidFill>
            </a:endParaRPr>
          </a:p>
        </p:txBody>
      </p:sp>
      <p:sp>
        <p:nvSpPr>
          <p:cNvPr id="7" name="Embedding 팀 헤더"/>
          <p:cNvSpPr txBox="1"/>
          <p:nvPr/>
        </p:nvSpPr>
        <p:spPr>
          <a:xfrm>
            <a:off x="628650" y="2098800"/>
            <a:ext cx="12458700" cy="384048"/>
          </a:xfrm>
          <a:prstGeom prst="rect">
            <a:avLst/>
          </a:prstGeom>
          <a:solidFill>
            <a:schemeClr val="tx2"/>
          </a:solidFill>
          <a:ln/>
        </p:spPr>
        <p:txBody>
          <a:bodyPr wrap="square" lIns="177800" tIns="0" rIns="0" bIns="0" anchor="ctr"/>
          <a:lstStyle/>
          <a:p>
            <a:pPr marL="0" lvl="0" indent="0">
              <a:buNone/>
              <a:defRPr/>
            </a:pPr>
            <a:r>
              <a:rPr lang="en-US" sz="1800" b="1">
                <a:solidFill>
                  <a:schemeClr val="bg1"/>
                </a:solidFill>
              </a:rPr>
              <a:t>Embedding 팀</a:t>
            </a:r>
            <a:endParaRPr lang="en-US" sz="1800"/>
          </a:p>
        </p:txBody>
      </p:sp>
      <p:sp>
        <p:nvSpPr>
          <p:cNvPr id="8" name="임진우 카드"/>
          <p:cNvSpPr/>
          <p:nvPr/>
        </p:nvSpPr>
        <p:spPr>
          <a:xfrm>
            <a:off x="628650"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9" name="임진우 이름"/>
          <p:cNvSpPr txBox="1"/>
          <p:nvPr/>
        </p:nvSpPr>
        <p:spPr>
          <a:xfrm>
            <a:off x="811530"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임진우</a:t>
            </a:r>
            <a:endParaRPr lang="en-US" sz="2000"/>
          </a:p>
        </p:txBody>
      </p:sp>
      <p:sp>
        <p:nvSpPr>
          <p:cNvPr id="10" name="임진우 역할"/>
          <p:cNvSpPr txBox="1"/>
          <p:nvPr/>
        </p:nvSpPr>
        <p:spPr>
          <a:xfrm>
            <a:off x="811530" y="3122928"/>
            <a:ext cx="2577465" cy="1216152"/>
          </a:xfrm>
          <a:prstGeom prst="rect">
            <a:avLst/>
          </a:prstGeom>
          <a:noFill/>
          <a:ln/>
        </p:spPr>
        <p:txBody>
          <a:bodyPr wrap="square" lIns="0" tIns="0" rIns="0" bIns="0" anchor="t"/>
          <a:lstStyle/>
          <a:p>
            <a:pPr marL="342900" lvl="0" indent="-342900">
              <a:spcAft>
                <a:spcPts val="400"/>
              </a:spcAft>
              <a:buSzPct val="100000"/>
              <a:buChar char="•"/>
              <a:defRPr/>
            </a:pPr>
            <a:r>
              <a:rPr lang="en-US" sz="1100">
                <a:solidFill>
                  <a:schemeClr val="tx1"/>
                </a:solidFill>
              </a:rPr>
              <a:t>FAQ 유사표현, 문장 유사도 검사 파이프라인 구현</a:t>
            </a:r>
          </a:p>
          <a:p>
            <a:pPr marL="342900" lvl="0" indent="-342900">
              <a:spcAft>
                <a:spcPts val="400"/>
              </a:spcAft>
              <a:buSzPct val="100000"/>
              <a:buChar char="•"/>
              <a:defRPr/>
            </a:pPr>
            <a:r>
              <a:rPr lang="en-US" sz="1100">
                <a:solidFill>
                  <a:schemeClr val="tx1"/>
                </a:solidFill>
              </a:rPr>
              <a:t>관리자 FAQ 모니터링 구현</a:t>
            </a:r>
          </a:p>
          <a:p>
            <a:pPr marL="342900" lvl="0" indent="-342900">
              <a:spcAft>
                <a:spcPts val="400"/>
              </a:spcAft>
              <a:buSzPct val="100000"/>
              <a:buChar char="•"/>
              <a:defRPr/>
            </a:pPr>
            <a:r>
              <a:rPr lang="en-US" sz="1100">
                <a:solidFill>
                  <a:schemeClr val="tx1"/>
                </a:solidFill>
              </a:rPr>
              <a:t>실시간 랭킹 시스템 구현</a:t>
            </a:r>
            <a:endParaRPr lang="en-US" sz="1100"/>
          </a:p>
        </p:txBody>
      </p:sp>
      <p:sp>
        <p:nvSpPr>
          <p:cNvPr id="11" name="유민하 카드"/>
          <p:cNvSpPr/>
          <p:nvPr/>
        </p:nvSpPr>
        <p:spPr>
          <a:xfrm>
            <a:off x="3800475"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2" name="유민하 이름"/>
          <p:cNvSpPr txBox="1"/>
          <p:nvPr/>
        </p:nvSpPr>
        <p:spPr>
          <a:xfrm>
            <a:off x="3983355"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유민하</a:t>
            </a:r>
            <a:endParaRPr lang="en-US" sz="2000"/>
          </a:p>
        </p:txBody>
      </p:sp>
      <p:sp>
        <p:nvSpPr>
          <p:cNvPr id="13" name="유민하 역할"/>
          <p:cNvSpPr txBox="1"/>
          <p:nvPr/>
        </p:nvSpPr>
        <p:spPr>
          <a:xfrm>
            <a:off x="3983355" y="3122928"/>
            <a:ext cx="2577465" cy="1216152"/>
          </a:xfrm>
          <a:prstGeom prst="rect">
            <a:avLst/>
          </a:prstGeom>
          <a:noFill/>
          <a:ln/>
        </p:spPr>
        <p:txBody>
          <a:bodyPr wrap="square" lIns="0" tIns="0" rIns="0" bIns="0" anchor="t"/>
          <a:lstStyle/>
          <a:p>
            <a:pPr marL="0" lvl="0" indent="0">
              <a:buNone/>
              <a:defRPr/>
            </a:pPr>
            <a:endParaRPr lang="en-US" sz="1400"/>
          </a:p>
        </p:txBody>
      </p:sp>
      <p:sp>
        <p:nvSpPr>
          <p:cNvPr id="14" name="전송흔 카드"/>
          <p:cNvSpPr/>
          <p:nvPr/>
        </p:nvSpPr>
        <p:spPr>
          <a:xfrm>
            <a:off x="6972300"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5" name="전송흔 이름"/>
          <p:cNvSpPr txBox="1"/>
          <p:nvPr/>
        </p:nvSpPr>
        <p:spPr>
          <a:xfrm>
            <a:off x="7155180"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전송흔</a:t>
            </a:r>
            <a:endParaRPr lang="en-US" sz="2000"/>
          </a:p>
        </p:txBody>
      </p:sp>
      <p:sp>
        <p:nvSpPr>
          <p:cNvPr id="16" name="전송흔 역할"/>
          <p:cNvSpPr txBox="1"/>
          <p:nvPr/>
        </p:nvSpPr>
        <p:spPr>
          <a:xfrm>
            <a:off x="7155180" y="3122928"/>
            <a:ext cx="2577465" cy="1216152"/>
          </a:xfrm>
          <a:prstGeom prst="rect">
            <a:avLst/>
          </a:prstGeom>
          <a:noFill/>
          <a:ln/>
        </p:spPr>
        <p:txBody>
          <a:bodyPr wrap="square" lIns="0" tIns="0" rIns="0" bIns="0" anchor="t"/>
          <a:lstStyle/>
          <a:p>
            <a:pPr marL="0" lvl="0" indent="0">
              <a:buNone/>
              <a:defRPr/>
            </a:pPr>
            <a:endParaRPr lang="en-US" sz="1400"/>
          </a:p>
        </p:txBody>
      </p:sp>
      <p:sp>
        <p:nvSpPr>
          <p:cNvPr id="17" name="이재훈 카드"/>
          <p:cNvSpPr/>
          <p:nvPr/>
        </p:nvSpPr>
        <p:spPr>
          <a:xfrm>
            <a:off x="10144125"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8" name="이재훈 이름"/>
          <p:cNvSpPr txBox="1"/>
          <p:nvPr/>
        </p:nvSpPr>
        <p:spPr>
          <a:xfrm>
            <a:off x="10327005"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이재훈</a:t>
            </a:r>
            <a:endParaRPr lang="en-US" sz="2000"/>
          </a:p>
        </p:txBody>
      </p:sp>
      <p:sp>
        <p:nvSpPr>
          <p:cNvPr id="19" name="이재훈 역할"/>
          <p:cNvSpPr txBox="1"/>
          <p:nvPr/>
        </p:nvSpPr>
        <p:spPr>
          <a:xfrm>
            <a:off x="10327005" y="3122928"/>
            <a:ext cx="2577465" cy="1216152"/>
          </a:xfrm>
          <a:prstGeom prst="rect">
            <a:avLst/>
          </a:prstGeom>
          <a:noFill/>
          <a:ln/>
        </p:spPr>
        <p:txBody>
          <a:bodyPr wrap="square" lIns="0" tIns="0" rIns="0" bIns="0" anchor="t"/>
          <a:lstStyle/>
          <a:p>
            <a:pPr marL="0" lvl="0" indent="0">
              <a:buNone/>
              <a:defRPr/>
            </a:pPr>
            <a:endParaRPr lang="en-US" sz="1400"/>
          </a:p>
        </p:txBody>
      </p:sp>
      <p:sp>
        <p:nvSpPr>
          <p:cNvPr id="20" name="LLM 팀 헤더"/>
          <p:cNvSpPr txBox="1"/>
          <p:nvPr/>
        </p:nvSpPr>
        <p:spPr>
          <a:xfrm>
            <a:off x="628650" y="4558536"/>
            <a:ext cx="12458700" cy="384048"/>
          </a:xfrm>
          <a:prstGeom prst="rect">
            <a:avLst/>
          </a:prstGeom>
          <a:solidFill>
            <a:schemeClr val="tx2"/>
          </a:solidFill>
          <a:ln/>
        </p:spPr>
        <p:txBody>
          <a:bodyPr wrap="square" lIns="177800" tIns="0" rIns="0" bIns="0" anchor="ctr"/>
          <a:lstStyle/>
          <a:p>
            <a:pPr marL="0" lvl="0" indent="0">
              <a:buNone/>
              <a:defRPr/>
            </a:pPr>
            <a:r>
              <a:rPr lang="en-US" sz="1800" b="1">
                <a:solidFill>
                  <a:schemeClr val="bg1"/>
                </a:solidFill>
              </a:rPr>
              <a:t>LLM 팀</a:t>
            </a:r>
            <a:endParaRPr lang="en-US" sz="1800"/>
          </a:p>
        </p:txBody>
      </p:sp>
      <p:sp>
        <p:nvSpPr>
          <p:cNvPr id="21" name="임재민 카드"/>
          <p:cNvSpPr/>
          <p:nvPr/>
        </p:nvSpPr>
        <p:spPr>
          <a:xfrm>
            <a:off x="628650"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2" name="임재민 이름"/>
          <p:cNvSpPr txBox="1"/>
          <p:nvPr/>
        </p:nvSpPr>
        <p:spPr>
          <a:xfrm>
            <a:off x="811530"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임재민</a:t>
            </a:r>
            <a:endParaRPr lang="en-US" sz="2000"/>
          </a:p>
        </p:txBody>
      </p:sp>
      <p:sp>
        <p:nvSpPr>
          <p:cNvPr id="23" name="임재민 역할"/>
          <p:cNvSpPr txBox="1"/>
          <p:nvPr/>
        </p:nvSpPr>
        <p:spPr>
          <a:xfrm>
            <a:off x="811530" y="5582664"/>
            <a:ext cx="2577465" cy="1216152"/>
          </a:xfrm>
          <a:prstGeom prst="rect">
            <a:avLst/>
          </a:prstGeom>
          <a:noFill/>
          <a:ln/>
        </p:spPr>
        <p:txBody>
          <a:bodyPr wrap="square" lIns="0" tIns="0" rIns="0" bIns="0" anchor="t"/>
          <a:lstStyle/>
          <a:p>
            <a:pPr marL="0" lvl="0" indent="0">
              <a:buNone/>
              <a:defRPr/>
            </a:pPr>
            <a:endParaRPr lang="en-US" sz="1400"/>
          </a:p>
        </p:txBody>
      </p:sp>
      <p:sp>
        <p:nvSpPr>
          <p:cNvPr id="24" name="이승지 카드"/>
          <p:cNvSpPr/>
          <p:nvPr/>
        </p:nvSpPr>
        <p:spPr>
          <a:xfrm>
            <a:off x="3800475"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5" name="이승지 이름"/>
          <p:cNvSpPr txBox="1"/>
          <p:nvPr/>
        </p:nvSpPr>
        <p:spPr>
          <a:xfrm>
            <a:off x="3983355"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이승지</a:t>
            </a:r>
            <a:endParaRPr lang="en-US" sz="2000"/>
          </a:p>
        </p:txBody>
      </p:sp>
      <p:sp>
        <p:nvSpPr>
          <p:cNvPr id="26" name="이승지 역할"/>
          <p:cNvSpPr txBox="1"/>
          <p:nvPr/>
        </p:nvSpPr>
        <p:spPr>
          <a:xfrm>
            <a:off x="3983355" y="5582664"/>
            <a:ext cx="2577465" cy="1216152"/>
          </a:xfrm>
          <a:prstGeom prst="rect">
            <a:avLst/>
          </a:prstGeom>
          <a:noFill/>
          <a:ln/>
        </p:spPr>
        <p:txBody>
          <a:bodyPr wrap="square" lIns="0" tIns="0" rIns="0" bIns="0" anchor="t"/>
          <a:lstStyle/>
          <a:p>
            <a:pPr marL="0" lvl="0" indent="0">
              <a:buNone/>
              <a:defRPr/>
            </a:pPr>
            <a:endParaRPr lang="en-US" sz="1400"/>
          </a:p>
        </p:txBody>
      </p:sp>
      <p:sp>
        <p:nvSpPr>
          <p:cNvPr id="27" name="조현빈 카드"/>
          <p:cNvSpPr/>
          <p:nvPr/>
        </p:nvSpPr>
        <p:spPr>
          <a:xfrm>
            <a:off x="6972300"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8" name="조현빈 이름"/>
          <p:cNvSpPr txBox="1"/>
          <p:nvPr/>
        </p:nvSpPr>
        <p:spPr>
          <a:xfrm>
            <a:off x="7155180"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조현빈</a:t>
            </a:r>
            <a:endParaRPr lang="en-US" sz="2000"/>
          </a:p>
        </p:txBody>
      </p:sp>
      <p:sp>
        <p:nvSpPr>
          <p:cNvPr id="29" name="조현빈 역할"/>
          <p:cNvSpPr txBox="1"/>
          <p:nvPr/>
        </p:nvSpPr>
        <p:spPr>
          <a:xfrm>
            <a:off x="7155180" y="5582664"/>
            <a:ext cx="2577465" cy="1216152"/>
          </a:xfrm>
          <a:prstGeom prst="rect">
            <a:avLst/>
          </a:prstGeom>
          <a:noFill/>
          <a:ln/>
        </p:spPr>
        <p:txBody>
          <a:bodyPr wrap="square" lIns="0" tIns="0" rIns="0" bIns="0" anchor="t"/>
          <a:lstStyle/>
          <a:p>
            <a:pPr marL="0" lvl="0" indent="0">
              <a:buNone/>
              <a:defRPr/>
            </a:pPr>
            <a:endParaRPr lang="en-US" sz="1400"/>
          </a:p>
        </p:txBody>
      </p:sp>
      <p:sp>
        <p:nvSpPr>
          <p:cNvPr id="30" name="지창민 카드"/>
          <p:cNvSpPr/>
          <p:nvPr/>
        </p:nvSpPr>
        <p:spPr>
          <a:xfrm>
            <a:off x="10144125"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31" name="지창민 이름"/>
          <p:cNvSpPr txBox="1"/>
          <p:nvPr/>
        </p:nvSpPr>
        <p:spPr>
          <a:xfrm>
            <a:off x="10327005"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지창민</a:t>
            </a:r>
            <a:endParaRPr lang="en-US" sz="2000"/>
          </a:p>
        </p:txBody>
      </p:sp>
      <p:sp>
        <p:nvSpPr>
          <p:cNvPr id="32" name="지창민 역할"/>
          <p:cNvSpPr txBox="1"/>
          <p:nvPr/>
        </p:nvSpPr>
        <p:spPr>
          <a:xfrm>
            <a:off x="10327005" y="5582664"/>
            <a:ext cx="2577465" cy="1216152"/>
          </a:xfrm>
          <a:prstGeom prst="rect">
            <a:avLst/>
          </a:prstGeom>
          <a:noFill/>
          <a:ln/>
        </p:spPr>
        <p:txBody>
          <a:bodyPr wrap="square" lIns="0" tIns="0" rIns="0" bIns="0" anchor="t"/>
          <a:lstStyle/>
          <a:p>
            <a:pPr marL="0" lvl="0" indent="0">
              <a:buNone/>
              <a:defRPr/>
            </a:pPr>
            <a:endParaRPr lang="en-US" sz="1400"/>
          </a:p>
        </p:txBody>
      </p:sp>
      <p:sp>
        <p:nvSpPr>
          <p:cNvPr id="33" name="임진우 역할"/>
          <p:cNvSpPr txBox="1"/>
          <p:nvPr/>
        </p:nvSpPr>
        <p:spPr>
          <a:xfrm>
            <a:off x="3983355"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DB 총괄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미응답 질문 묶기·FAQ 등록 후 자동 재검증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Outbox 기반 미응답 비동기 저장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백엔드·프론트 보안 고도화</a:t>
            </a:r>
          </a:p>
        </p:txBody>
      </p:sp>
      <p:sp>
        <p:nvSpPr>
          <p:cNvPr id="34" name="임진우 역할"/>
          <p:cNvSpPr txBox="1"/>
          <p:nvPr/>
        </p:nvSpPr>
        <p:spPr>
          <a:xfrm>
            <a:off x="7155180"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비동기 AI 채팅 및 장애 복구 시스템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LLM·Embedding 모델 서빙 환경 구축 및 성능 최적화</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서비스 운영 모니터링 및 AWS CI/CD </a:t>
            </a:r>
            <a:br>
              <a:rPr kumimoji="0" lang="ko-KR" altLang="en-US" sz="1000" b="0" i="0" u="none" strike="noStrike" kern="1200" cap="none" spc="0" normalizeH="0" baseline="0">
                <a:solidFill>
                  <a:srgbClr val="17171A"/>
                </a:solidFill>
                <a:latin typeface="맑은 고딕"/>
                <a:ea typeface="맑은 고딕"/>
                <a:cs typeface="맑은 고딕"/>
              </a:rPr>
            </a:br>
            <a:r>
              <a:rPr kumimoji="0" lang="en-US" sz="1000" b="0" i="0" u="none" strike="noStrike" kern="1200" cap="none" spc="0" normalizeH="0" baseline="0">
                <a:solidFill>
                  <a:srgbClr val="17171A"/>
                </a:solidFill>
                <a:latin typeface="맑은 고딕"/>
                <a:ea typeface="맑은 고딕"/>
                <a:cs typeface="맑은 고딕"/>
              </a:rPr>
              <a:t>자동화 구축</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상담사 연결, 메시지 유사도 검사 및 </a:t>
            </a:r>
            <a:br>
              <a:rPr kumimoji="0" lang="ko-KR" altLang="en-US" sz="1000" b="0" i="0" u="none" strike="noStrike" kern="1200" cap="none" spc="0" normalizeH="0" baseline="0">
                <a:solidFill>
                  <a:srgbClr val="17171A"/>
                </a:solidFill>
                <a:latin typeface="맑은 고딕"/>
                <a:ea typeface="맑은 고딕"/>
                <a:cs typeface="맑은 고딕"/>
              </a:rPr>
            </a:br>
            <a:r>
              <a:rPr kumimoji="0" lang="en-US" sz="1000" b="0" i="0" u="none" strike="noStrike" kern="1200" cap="none" spc="0" normalizeH="0" baseline="0">
                <a:solidFill>
                  <a:srgbClr val="17171A"/>
                </a:solidFill>
                <a:latin typeface="맑은 고딕"/>
                <a:ea typeface="맑은 고딕"/>
                <a:cs typeface="맑은 고딕"/>
              </a:rPr>
              <a:t>상담 이력 관리 시스템 구현</a:t>
            </a:r>
          </a:p>
        </p:txBody>
      </p:sp>
      <p:sp>
        <p:nvSpPr>
          <p:cNvPr id="35" name="임진우 역할"/>
          <p:cNvSpPr txBox="1"/>
          <p:nvPr/>
        </p:nvSpPr>
        <p:spPr>
          <a:xfrm>
            <a:off x="10327006"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임베딩 모델 선정</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챗봇 임계값 선정</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의도 별 재답변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공지/오류 배너 및 목록 조회, 관리</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사용자 알림 구현</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66975"/>
            <a:ext cx="9000000" cy="247650"/>
          </a:xfrm>
          <a:prstGeom prst="rect">
            <a:avLst/>
          </a:prstGeom>
          <a:noFill/>
        </p:spPr>
        <p:txBody>
          <a:bodyPr wrap="square" lIns="0" tIns="0" rIns="0" bIns="0" anchor="ctr">
            <a:spAutoFit/>
          </a:bodyPr>
          <a:lstStyle/>
          <a:p>
            <a:pPr lvl="0" algn="l">
              <a:defRPr/>
            </a:pPr>
            <a:r>
              <a:rPr sz="1600" b="1">
                <a:solidFill>
                  <a:schemeClr val="accent1"/>
                </a:solidFill>
              </a:rPr>
              <a:t>PART 0</a:t>
            </a:r>
            <a:r>
              <a:rPr lang="en-US" altLang="ko-KR" sz="1600" b="1">
                <a:solidFill>
                  <a:schemeClr val="accent1"/>
                </a:solidFill>
              </a:rPr>
              <a:t>3</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수행 절차 및 방법</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03</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1"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프로젝트 일정</a:t>
            </a:r>
          </a:p>
        </p:txBody>
      </p:sp>
      <p:sp>
        <p:nvSpPr>
          <p:cNvPr id="52"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2026.09.09 ~ 2026.10.25  ·  3개 차수로 진행</a:t>
            </a:r>
          </a:p>
        </p:txBody>
      </p:sp>
      <p:sp>
        <p:nvSpPr>
          <p:cNvPr id="53"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54"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04</a:t>
            </a:r>
            <a:endParaRPr sz="1300" b="0">
              <a:solidFill>
                <a:schemeClr val="accent3"/>
              </a:solidFill>
            </a:endParaRPr>
          </a:p>
        </p:txBody>
      </p:sp>
      <p:cxnSp>
        <p:nvCxnSpPr>
          <p:cNvPr id="7" name="09/09 가이드"/>
          <p:cNvCxnSpPr/>
          <p:nvPr/>
        </p:nvCxnSpPr>
        <p:spPr>
          <a:xfrm>
            <a:off x="2700000"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8" name="09/28 가이드"/>
          <p:cNvCxnSpPr/>
          <p:nvPr/>
        </p:nvCxnSpPr>
        <p:spPr>
          <a:xfrm>
            <a:off x="6933695"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9" name="10/14 가이드"/>
          <p:cNvCxnSpPr/>
          <p:nvPr/>
        </p:nvCxnSpPr>
        <p:spPr>
          <a:xfrm>
            <a:off x="10498913"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10" name="10/25 가이드"/>
          <p:cNvCxnSpPr/>
          <p:nvPr/>
        </p:nvCxnSpPr>
        <p:spPr>
          <a:xfrm>
            <a:off x="12950000"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11" name="타임라인"/>
          <p:cNvCxnSpPr/>
          <p:nvPr/>
        </p:nvCxnSpPr>
        <p:spPr>
          <a:xfrm>
            <a:off x="2700000" y="2650000"/>
            <a:ext cx="10400000" cy="0"/>
          </a:xfrm>
          <a:prstGeom prst="line">
            <a:avLst/>
          </a:prstGeom>
          <a:ln w="31750">
            <a:solidFill>
              <a:schemeClr val="accent2"/>
            </a:solidFill>
            <a:prstDash val="dash"/>
          </a:ln>
        </p:spPr>
        <p:style>
          <a:lnRef idx="2">
            <a:schemeClr val="accent1"/>
          </a:lnRef>
          <a:fillRef idx="0">
            <a:schemeClr val="accent1"/>
          </a:fillRef>
          <a:effectRef idx="1">
            <a:schemeClr val="accent1"/>
          </a:effectRef>
          <a:fontRef idx="minor">
            <a:schemeClr val="tx1"/>
          </a:fontRef>
        </p:style>
      </p:cxnSp>
      <p:sp>
        <p:nvSpPr>
          <p:cNvPr id="12" name="09/09 점"/>
          <p:cNvSpPr/>
          <p:nvPr/>
        </p:nvSpPr>
        <p:spPr>
          <a:xfrm>
            <a:off x="2600000"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3" name="09/09 날짜"/>
          <p:cNvSpPr txBox="1"/>
          <p:nvPr/>
        </p:nvSpPr>
        <p:spPr>
          <a:xfrm>
            <a:off x="2100000" y="2130000"/>
            <a:ext cx="1200000" cy="340000"/>
          </a:xfrm>
          <a:prstGeom prst="rect">
            <a:avLst/>
          </a:prstGeom>
          <a:noFill/>
        </p:spPr>
        <p:txBody>
          <a:bodyPr wrap="square" lIns="0" tIns="0" rIns="0" bIns="0" anchor="ctr">
            <a:spAutoFit/>
          </a:bodyPr>
          <a:lstStyle/>
          <a:p>
            <a:pPr lvl="0" algn="ctr">
              <a:defRPr/>
            </a:pPr>
            <a:r>
              <a:rPr sz="1800" b="1">
                <a:solidFill>
                  <a:schemeClr val="tx1"/>
                </a:solidFill>
              </a:rPr>
              <a:t>09/09</a:t>
            </a:r>
          </a:p>
        </p:txBody>
      </p:sp>
      <p:sp>
        <p:nvSpPr>
          <p:cNvPr id="14" name="09/28 점"/>
          <p:cNvSpPr/>
          <p:nvPr/>
        </p:nvSpPr>
        <p:spPr>
          <a:xfrm>
            <a:off x="6833695"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5" name="09/28 날짜"/>
          <p:cNvSpPr txBox="1"/>
          <p:nvPr/>
        </p:nvSpPr>
        <p:spPr>
          <a:xfrm>
            <a:off x="6333695" y="2130000"/>
            <a:ext cx="1200000" cy="340000"/>
          </a:xfrm>
          <a:prstGeom prst="rect">
            <a:avLst/>
          </a:prstGeom>
          <a:noFill/>
        </p:spPr>
        <p:txBody>
          <a:bodyPr wrap="square" lIns="0" tIns="0" rIns="0" bIns="0" anchor="ctr">
            <a:spAutoFit/>
          </a:bodyPr>
          <a:lstStyle/>
          <a:p>
            <a:pPr lvl="0" algn="ctr">
              <a:defRPr/>
            </a:pPr>
            <a:r>
              <a:rPr sz="1800" b="1">
                <a:solidFill>
                  <a:schemeClr val="tx1"/>
                </a:solidFill>
              </a:rPr>
              <a:t>09/28</a:t>
            </a:r>
          </a:p>
        </p:txBody>
      </p:sp>
      <p:sp>
        <p:nvSpPr>
          <p:cNvPr id="16" name="10/14 점"/>
          <p:cNvSpPr/>
          <p:nvPr/>
        </p:nvSpPr>
        <p:spPr>
          <a:xfrm>
            <a:off x="10398913"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7" name="10/14 날짜"/>
          <p:cNvSpPr txBox="1"/>
          <p:nvPr/>
        </p:nvSpPr>
        <p:spPr>
          <a:xfrm>
            <a:off x="9898913" y="2130000"/>
            <a:ext cx="1200000" cy="340000"/>
          </a:xfrm>
          <a:prstGeom prst="rect">
            <a:avLst/>
          </a:prstGeom>
          <a:noFill/>
        </p:spPr>
        <p:txBody>
          <a:bodyPr wrap="square" lIns="0" tIns="0" rIns="0" bIns="0" anchor="ctr">
            <a:spAutoFit/>
          </a:bodyPr>
          <a:lstStyle/>
          <a:p>
            <a:pPr lvl="0" algn="ctr">
              <a:defRPr/>
            </a:pPr>
            <a:r>
              <a:rPr sz="1800" b="1">
                <a:solidFill>
                  <a:schemeClr val="tx1"/>
                </a:solidFill>
              </a:rPr>
              <a:t>10/14</a:t>
            </a:r>
          </a:p>
        </p:txBody>
      </p:sp>
      <p:sp>
        <p:nvSpPr>
          <p:cNvPr id="18" name="10/25 점"/>
          <p:cNvSpPr/>
          <p:nvPr/>
        </p:nvSpPr>
        <p:spPr>
          <a:xfrm>
            <a:off x="12850000"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9" name="10/25 날짜"/>
          <p:cNvSpPr txBox="1"/>
          <p:nvPr/>
        </p:nvSpPr>
        <p:spPr>
          <a:xfrm>
            <a:off x="12350000" y="2130000"/>
            <a:ext cx="1200000" cy="340000"/>
          </a:xfrm>
          <a:prstGeom prst="rect">
            <a:avLst/>
          </a:prstGeom>
          <a:noFill/>
        </p:spPr>
        <p:txBody>
          <a:bodyPr wrap="square" lIns="0" tIns="0" rIns="0" bIns="0" anchor="ctr">
            <a:spAutoFit/>
          </a:bodyPr>
          <a:lstStyle/>
          <a:p>
            <a:pPr lvl="0" algn="ctr">
              <a:defRPr/>
            </a:pPr>
            <a:r>
              <a:rPr sz="1800" b="1">
                <a:solidFill>
                  <a:schemeClr val="tx1"/>
                </a:solidFill>
              </a:rPr>
              <a:t>10/25</a:t>
            </a:r>
          </a:p>
        </p:txBody>
      </p:sp>
      <p:sp>
        <p:nvSpPr>
          <p:cNvPr id="20" name="1차 구간"/>
          <p:cNvSpPr txBox="1"/>
          <p:nvPr/>
        </p:nvSpPr>
        <p:spPr>
          <a:xfrm>
            <a:off x="2760000" y="2800000"/>
            <a:ext cx="4113695" cy="450000"/>
          </a:xfrm>
          <a:prstGeom prst="rect">
            <a:avLst/>
          </a:prstGeom>
          <a:noFill/>
        </p:spPr>
        <p:txBody>
          <a:bodyPr wrap="square" lIns="0" tIns="0" rIns="0" bIns="0" anchor="ctr">
            <a:spAutoFit/>
          </a:bodyPr>
          <a:lstStyle/>
          <a:p>
            <a:pPr lvl="0" algn="ctr">
              <a:defRPr/>
            </a:pPr>
            <a:r>
              <a:rPr sz="1200" b="1">
                <a:solidFill>
                  <a:schemeClr val="accent1"/>
                </a:solidFill>
              </a:rPr>
              <a:t>1차 · 기반 구축 및 기본 CRUD</a:t>
            </a:r>
          </a:p>
        </p:txBody>
      </p:sp>
      <p:sp>
        <p:nvSpPr>
          <p:cNvPr id="21" name="2차 구간"/>
          <p:cNvSpPr txBox="1"/>
          <p:nvPr/>
        </p:nvSpPr>
        <p:spPr>
          <a:xfrm>
            <a:off x="6993695" y="2800000"/>
            <a:ext cx="3445218" cy="450000"/>
          </a:xfrm>
          <a:prstGeom prst="rect">
            <a:avLst/>
          </a:prstGeom>
          <a:noFill/>
        </p:spPr>
        <p:txBody>
          <a:bodyPr wrap="square" lIns="0" tIns="0" rIns="0" bIns="0" anchor="ctr">
            <a:spAutoFit/>
          </a:bodyPr>
          <a:lstStyle/>
          <a:p>
            <a:pPr lvl="0" algn="ctr">
              <a:defRPr/>
            </a:pPr>
            <a:r>
              <a:rPr sz="1200" b="1">
                <a:solidFill>
                  <a:schemeClr val="accent1"/>
                </a:solidFill>
              </a:rPr>
              <a:t>2차 · 핵심 서비스 기능</a:t>
            </a:r>
          </a:p>
        </p:txBody>
      </p:sp>
      <p:sp>
        <p:nvSpPr>
          <p:cNvPr id="22" name="3차 구간"/>
          <p:cNvSpPr txBox="1"/>
          <p:nvPr/>
        </p:nvSpPr>
        <p:spPr>
          <a:xfrm>
            <a:off x="10558913" y="2800000"/>
            <a:ext cx="2331087" cy="450000"/>
          </a:xfrm>
          <a:prstGeom prst="rect">
            <a:avLst/>
          </a:prstGeom>
          <a:noFill/>
        </p:spPr>
        <p:txBody>
          <a:bodyPr wrap="square" lIns="0" tIns="0" rIns="0" bIns="0" anchor="ctr">
            <a:spAutoFit/>
          </a:bodyPr>
          <a:lstStyle/>
          <a:p>
            <a:pPr lvl="0" algn="ctr">
              <a:defRPr/>
            </a:pPr>
            <a:r>
              <a:rPr sz="1200" b="1">
                <a:solidFill>
                  <a:schemeClr val="accent1"/>
                </a:solidFill>
              </a:rPr>
              <a:t>3차 · 고도화, AI 품질, 운영 안정화</a:t>
            </a:r>
          </a:p>
        </p:txBody>
      </p:sp>
      <p:sp>
        <p:nvSpPr>
          <p:cNvPr id="23" name="기획·설계 행 이름"/>
          <p:cNvSpPr txBox="1"/>
          <p:nvPr/>
        </p:nvSpPr>
        <p:spPr>
          <a:xfrm>
            <a:off x="628650" y="3300000"/>
            <a:ext cx="1900000" cy="620000"/>
          </a:xfrm>
          <a:prstGeom prst="rect">
            <a:avLst/>
          </a:prstGeom>
          <a:noFill/>
        </p:spPr>
        <p:txBody>
          <a:bodyPr wrap="square" lIns="0" tIns="0" rIns="0" bIns="0" anchor="ctr">
            <a:spAutoFit/>
          </a:bodyPr>
          <a:lstStyle/>
          <a:p>
            <a:pPr lvl="0" algn="l">
              <a:defRPr/>
            </a:pPr>
            <a:r>
              <a:rPr sz="1600" b="1">
                <a:solidFill>
                  <a:schemeClr val="accent1"/>
                </a:solidFill>
              </a:rPr>
              <a:t>기획·설계</a:t>
            </a:r>
          </a:p>
        </p:txBody>
      </p:sp>
      <p:sp>
        <p:nvSpPr>
          <p:cNvPr id="24" name="기획·MVP 정의 박스"/>
          <p:cNvSpPr/>
          <p:nvPr/>
        </p:nvSpPr>
        <p:spPr>
          <a:xfrm>
            <a:off x="2700000" y="3300000"/>
            <a:ext cx="1114130"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기획·MVP 정의</a:t>
            </a:r>
          </a:p>
        </p:txBody>
      </p:sp>
      <p:sp>
        <p:nvSpPr>
          <p:cNvPr id="25" name="아키텍처·ERD 설계 박스"/>
          <p:cNvSpPr/>
          <p:nvPr/>
        </p:nvSpPr>
        <p:spPr>
          <a:xfrm>
            <a:off x="3814130" y="3300000"/>
            <a:ext cx="891304"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아키텍처·ERD 설계</a:t>
            </a:r>
          </a:p>
        </p:txBody>
      </p:sp>
      <p:sp>
        <p:nvSpPr>
          <p:cNvPr id="26" name="AI (LLM·임베딩) 행 이름"/>
          <p:cNvSpPr txBox="1"/>
          <p:nvPr/>
        </p:nvSpPr>
        <p:spPr>
          <a:xfrm>
            <a:off x="628650" y="4030000"/>
            <a:ext cx="1900000" cy="620000"/>
          </a:xfrm>
          <a:prstGeom prst="rect">
            <a:avLst/>
          </a:prstGeom>
          <a:noFill/>
        </p:spPr>
        <p:txBody>
          <a:bodyPr wrap="square" lIns="0" tIns="0" rIns="0" bIns="0" anchor="ctr">
            <a:spAutoFit/>
          </a:bodyPr>
          <a:lstStyle/>
          <a:p>
            <a:pPr lvl="0" algn="l">
              <a:defRPr/>
            </a:pPr>
            <a:r>
              <a:rPr sz="1600" b="1">
                <a:solidFill>
                  <a:schemeClr val="accent1"/>
                </a:solidFill>
              </a:rPr>
              <a:t>AI (LLM·임베딩)</a:t>
            </a:r>
          </a:p>
        </p:txBody>
      </p:sp>
      <p:cxnSp>
        <p:nvCxnSpPr>
          <p:cNvPr id="27" name="AI (LLM·임베딩) 구분선"/>
          <p:cNvCxnSpPr/>
          <p:nvPr/>
        </p:nvCxnSpPr>
        <p:spPr>
          <a:xfrm>
            <a:off x="628650" y="397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28" name="모델 조사·비교 검증 박스"/>
          <p:cNvSpPr/>
          <p:nvPr/>
        </p:nvSpPr>
        <p:spPr>
          <a:xfrm>
            <a:off x="2922826" y="4030000"/>
            <a:ext cx="245108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모델 조사·비교 검증</a:t>
            </a:r>
          </a:p>
        </p:txBody>
      </p:sp>
      <p:sp>
        <p:nvSpPr>
          <p:cNvPr id="29" name="모델·프롬프트 선정, 챗봇 연동 박스"/>
          <p:cNvSpPr/>
          <p:nvPr/>
        </p:nvSpPr>
        <p:spPr>
          <a:xfrm>
            <a:off x="5373913" y="4030000"/>
            <a:ext cx="1559782"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모델·프롬프트 선정, 챗봇 연동</a:t>
            </a:r>
          </a:p>
        </p:txBody>
      </p:sp>
      <p:sp>
        <p:nvSpPr>
          <p:cNvPr id="30" name="의도 분기·RAG 파이프라인 박스"/>
          <p:cNvSpPr/>
          <p:nvPr/>
        </p:nvSpPr>
        <p:spPr>
          <a:xfrm>
            <a:off x="6933695" y="4030000"/>
            <a:ext cx="3565218"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의도 분기·RAG 파이프라인</a:t>
            </a:r>
          </a:p>
        </p:txBody>
      </p:sp>
      <p:sp>
        <p:nvSpPr>
          <p:cNvPr id="31" name="응답 품질 고도화 박스"/>
          <p:cNvSpPr/>
          <p:nvPr/>
        </p:nvSpPr>
        <p:spPr>
          <a:xfrm>
            <a:off x="10498913" y="4030000"/>
            <a:ext cx="2005434"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응답 품질 고도화</a:t>
            </a:r>
          </a:p>
        </p:txBody>
      </p:sp>
      <p:sp>
        <p:nvSpPr>
          <p:cNvPr id="32" name="백엔드·서비스 행 이름"/>
          <p:cNvSpPr txBox="1"/>
          <p:nvPr/>
        </p:nvSpPr>
        <p:spPr>
          <a:xfrm>
            <a:off x="628650" y="4760000"/>
            <a:ext cx="1900000" cy="620000"/>
          </a:xfrm>
          <a:prstGeom prst="rect">
            <a:avLst/>
          </a:prstGeom>
          <a:noFill/>
        </p:spPr>
        <p:txBody>
          <a:bodyPr wrap="square" lIns="0" tIns="0" rIns="0" bIns="0" anchor="ctr">
            <a:spAutoFit/>
          </a:bodyPr>
          <a:lstStyle/>
          <a:p>
            <a:pPr lvl="0" algn="l">
              <a:defRPr/>
            </a:pPr>
            <a:r>
              <a:rPr sz="1600" b="1">
                <a:solidFill>
                  <a:schemeClr val="accent1"/>
                </a:solidFill>
              </a:rPr>
              <a:t>백엔드·서비스</a:t>
            </a:r>
          </a:p>
        </p:txBody>
      </p:sp>
      <p:cxnSp>
        <p:nvCxnSpPr>
          <p:cNvPr id="33" name="백엔드·서비스 구분선"/>
          <p:cNvCxnSpPr/>
          <p:nvPr/>
        </p:nvCxnSpPr>
        <p:spPr>
          <a:xfrm>
            <a:off x="628650" y="470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34" name="기본 API·채팅 시스템 박스"/>
          <p:cNvSpPr/>
          <p:nvPr/>
        </p:nvSpPr>
        <p:spPr>
          <a:xfrm>
            <a:off x="4036956" y="4760000"/>
            <a:ext cx="289673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기본 API·채팅 시스템</a:t>
            </a:r>
          </a:p>
        </p:txBody>
      </p:sp>
      <p:sp>
        <p:nvSpPr>
          <p:cNvPr id="35" name="미응답·검색어·금칙어 박스"/>
          <p:cNvSpPr/>
          <p:nvPr/>
        </p:nvSpPr>
        <p:spPr>
          <a:xfrm>
            <a:off x="6933695" y="476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미응답·검색어·금칙어</a:t>
            </a:r>
          </a:p>
        </p:txBody>
      </p:sp>
      <p:sp>
        <p:nvSpPr>
          <p:cNvPr id="36" name="예약·공지·알림 박스"/>
          <p:cNvSpPr/>
          <p:nvPr/>
        </p:nvSpPr>
        <p:spPr>
          <a:xfrm>
            <a:off x="8716304" y="4760000"/>
            <a:ext cx="289673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예약·공지·알림</a:t>
            </a:r>
          </a:p>
        </p:txBody>
      </p:sp>
      <p:sp>
        <p:nvSpPr>
          <p:cNvPr id="37" name="사용자 정보·상품·지도 박스"/>
          <p:cNvSpPr/>
          <p:nvPr/>
        </p:nvSpPr>
        <p:spPr>
          <a:xfrm>
            <a:off x="11613043" y="4760000"/>
            <a:ext cx="133695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사용자 정보·상품·지도</a:t>
            </a:r>
          </a:p>
        </p:txBody>
      </p:sp>
      <p:sp>
        <p:nvSpPr>
          <p:cNvPr id="38" name="인프라·배포 행 이름"/>
          <p:cNvSpPr txBox="1"/>
          <p:nvPr/>
        </p:nvSpPr>
        <p:spPr>
          <a:xfrm>
            <a:off x="628650" y="5490000"/>
            <a:ext cx="1900000" cy="620000"/>
          </a:xfrm>
          <a:prstGeom prst="rect">
            <a:avLst/>
          </a:prstGeom>
          <a:noFill/>
        </p:spPr>
        <p:txBody>
          <a:bodyPr wrap="square" lIns="0" tIns="0" rIns="0" bIns="0" anchor="ctr">
            <a:spAutoFit/>
          </a:bodyPr>
          <a:lstStyle/>
          <a:p>
            <a:pPr lvl="0" algn="l">
              <a:defRPr/>
            </a:pPr>
            <a:r>
              <a:rPr sz="1600" b="1">
                <a:solidFill>
                  <a:schemeClr val="accent1"/>
                </a:solidFill>
              </a:rPr>
              <a:t>인프라·배포</a:t>
            </a:r>
          </a:p>
        </p:txBody>
      </p:sp>
      <p:cxnSp>
        <p:nvCxnSpPr>
          <p:cNvPr id="39" name="인프라·배포 구분선"/>
          <p:cNvCxnSpPr/>
          <p:nvPr/>
        </p:nvCxnSpPr>
        <p:spPr>
          <a:xfrm>
            <a:off x="628650" y="543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40" name="개발 환경·배포 서버 구축 박스"/>
          <p:cNvSpPr/>
          <p:nvPr/>
        </p:nvSpPr>
        <p:spPr>
          <a:xfrm>
            <a:off x="3814130" y="5490000"/>
            <a:ext cx="3119565"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개발 환경·배포 서버 구축</a:t>
            </a:r>
          </a:p>
        </p:txBody>
      </p:sp>
      <p:sp>
        <p:nvSpPr>
          <p:cNvPr id="41" name="GPU 모델 서빙·성능 측정 박스"/>
          <p:cNvSpPr/>
          <p:nvPr/>
        </p:nvSpPr>
        <p:spPr>
          <a:xfrm>
            <a:off x="8716304" y="549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GPU 모델 서빙·성능 측정</a:t>
            </a:r>
          </a:p>
        </p:txBody>
      </p:sp>
      <p:sp>
        <p:nvSpPr>
          <p:cNvPr id="42" name="서버 분리·운영 배포 박스"/>
          <p:cNvSpPr/>
          <p:nvPr/>
        </p:nvSpPr>
        <p:spPr>
          <a:xfrm>
            <a:off x="10498913" y="5490000"/>
            <a:ext cx="245108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서버 분리·운영 배포</a:t>
            </a:r>
          </a:p>
        </p:txBody>
      </p:sp>
      <p:sp>
        <p:nvSpPr>
          <p:cNvPr id="43" name="품질·운영 행 이름"/>
          <p:cNvSpPr txBox="1"/>
          <p:nvPr/>
        </p:nvSpPr>
        <p:spPr>
          <a:xfrm>
            <a:off x="628650" y="6220000"/>
            <a:ext cx="1900000" cy="620000"/>
          </a:xfrm>
          <a:prstGeom prst="rect">
            <a:avLst/>
          </a:prstGeom>
          <a:noFill/>
        </p:spPr>
        <p:txBody>
          <a:bodyPr wrap="square" lIns="0" tIns="0" rIns="0" bIns="0" anchor="ctr">
            <a:spAutoFit/>
          </a:bodyPr>
          <a:lstStyle/>
          <a:p>
            <a:pPr lvl="0" algn="l">
              <a:defRPr/>
            </a:pPr>
            <a:r>
              <a:rPr sz="1600" b="1">
                <a:solidFill>
                  <a:schemeClr val="accent1"/>
                </a:solidFill>
              </a:rPr>
              <a:t>품질·운영</a:t>
            </a:r>
          </a:p>
        </p:txBody>
      </p:sp>
      <p:cxnSp>
        <p:nvCxnSpPr>
          <p:cNvPr id="44" name="품질·운영 구분선"/>
          <p:cNvCxnSpPr/>
          <p:nvPr/>
        </p:nvCxnSpPr>
        <p:spPr>
          <a:xfrm>
            <a:off x="628650" y="616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45" name="보안·운영 모니터링 박스"/>
          <p:cNvSpPr/>
          <p:nvPr/>
        </p:nvSpPr>
        <p:spPr>
          <a:xfrm>
            <a:off x="8716304" y="622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보안·운영 모니터링</a:t>
            </a:r>
          </a:p>
        </p:txBody>
      </p:sp>
      <p:sp>
        <p:nvSpPr>
          <p:cNvPr id="46" name="입력·출력 가드 박스"/>
          <p:cNvSpPr/>
          <p:nvPr/>
        </p:nvSpPr>
        <p:spPr>
          <a:xfrm>
            <a:off x="10498913" y="6220000"/>
            <a:ext cx="1782608"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입력·출력 가드</a:t>
            </a:r>
          </a:p>
        </p:txBody>
      </p:sp>
      <p:sp>
        <p:nvSpPr>
          <p:cNvPr id="47" name="발표·시연 준비 박스"/>
          <p:cNvSpPr/>
          <p:nvPr/>
        </p:nvSpPr>
        <p:spPr>
          <a:xfrm>
            <a:off x="12281521" y="6220000"/>
            <a:ext cx="66847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발표·시연 준비</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시스템 아키텍처</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질문 접수와 답변 생성을 나누고, AI 모델은 GPU 서버에 따로 둡니다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05</a:t>
            </a:r>
            <a:endParaRPr sz="1300" b="0">
              <a:solidFill>
                <a:schemeClr val="accent3"/>
              </a:solidFill>
            </a:endParaRPr>
          </a:p>
        </p:txBody>
      </p:sp>
      <p:sp>
        <p:nvSpPr>
          <p:cNvPr id="9" name="Rounded Rectangle 8"/>
          <p:cNvSpPr/>
          <p:nvPr/>
        </p:nvSpPr>
        <p:spPr>
          <a:xfrm>
            <a:off x="630936" y="2057400"/>
            <a:ext cx="141732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30936" y="3291840"/>
            <a:ext cx="1417320" cy="731520"/>
          </a:xfrm>
          <a:prstGeom prst="rect">
            <a:avLst/>
          </a:prstGeom>
          <a:noFill/>
        </p:spPr>
        <p:txBody>
          <a:bodyPr wrap="square" lIns="0" tIns="0" rIns="0" bIns="0" anchor="t">
            <a:spAutoFit/>
          </a:bodyPr>
          <a:lstStyle/>
          <a:p>
            <a:pPr algn="ctr"/>
            <a:r>
              <a:rPr sz="1500" b="1">
                <a:solidFill>
                  <a:srgbClr val="17171A"/>
                </a:solidFill>
              </a:rPr>
              <a:t>사용자</a:t>
            </a:r>
          </a:p>
          <a:p>
            <a:pPr algn="ctr"/>
            <a:r>
              <a:rPr sz="1200" b="0">
                <a:solidFill>
                  <a:srgbClr val="686B72"/>
                </a:solidFill>
              </a:rPr>
              <a:t>브라우저</a:t>
            </a:r>
          </a:p>
        </p:txBody>
      </p:sp>
      <p:sp>
        <p:nvSpPr>
          <p:cNvPr id="11" name="Right Arrow 10"/>
          <p:cNvSpPr/>
          <p:nvPr/>
        </p:nvSpPr>
        <p:spPr>
          <a:xfrm>
            <a:off x="2157984"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560320" y="2057400"/>
            <a:ext cx="214884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2724912" y="2240280"/>
            <a:ext cx="100584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FE 서버</a:t>
            </a:r>
          </a:p>
        </p:txBody>
      </p:sp>
      <p:sp>
        <p:nvSpPr>
          <p:cNvPr id="14" name="TextBox 13"/>
          <p:cNvSpPr txBox="1"/>
          <p:nvPr/>
        </p:nvSpPr>
        <p:spPr>
          <a:xfrm>
            <a:off x="2724912" y="2697480"/>
            <a:ext cx="1828800" cy="2377440"/>
          </a:xfrm>
          <a:prstGeom prst="rect">
            <a:avLst/>
          </a:prstGeom>
          <a:noFill/>
        </p:spPr>
        <p:txBody>
          <a:bodyPr wrap="square" lIns="0" tIns="0" rIns="0" bIns="0" anchor="t">
            <a:spAutoFit/>
          </a:bodyPr>
          <a:lstStyle/>
          <a:p>
            <a:pPr algn="l"/>
            <a:r>
              <a:rPr sz="1400" b="1">
                <a:solidFill>
                  <a:srgbClr val="17171A"/>
                </a:solidFill>
              </a:rPr>
              <a:t>Nginx</a:t>
            </a:r>
          </a:p>
          <a:p>
            <a:pPr algn="l"/>
            <a:r>
              <a:rPr sz="1200" b="0">
                <a:solidFill>
                  <a:srgbClr val="686B72"/>
                </a:solidFill>
              </a:rPr>
              <a:t>React 정적 파일</a:t>
            </a:r>
          </a:p>
          <a:p>
            <a:pPr algn="l"/>
            <a:endParaRPr sz="1200" b="0">
              <a:solidFill>
                <a:srgbClr val="686B72"/>
              </a:solidFill>
            </a:endParaRPr>
          </a:p>
          <a:p>
            <a:pPr algn="l"/>
            <a:r>
              <a:rPr sz="1400" b="1">
                <a:solidFill>
                  <a:srgbClr val="17171A"/>
                </a:solidFill>
              </a:rPr>
              <a:t>CSP 적용</a:t>
            </a:r>
          </a:p>
          <a:p>
            <a:pPr algn="l"/>
            <a:r>
              <a:rPr sz="1200" b="0">
                <a:solidFill>
                  <a:srgbClr val="686B72"/>
                </a:solidFill>
              </a:rPr>
              <a:t>외부 스크립트 차단</a:t>
            </a:r>
          </a:p>
          <a:p>
            <a:pPr algn="l"/>
            <a:endParaRPr sz="1200" b="0">
              <a:solidFill>
                <a:srgbClr val="686B72"/>
              </a:solidFill>
            </a:endParaRPr>
          </a:p>
          <a:p>
            <a:pPr algn="l"/>
            <a:r>
              <a:rPr sz="1400" b="1">
                <a:solidFill>
                  <a:srgbClr val="17171A"/>
                </a:solidFill>
              </a:rPr>
              <a:t>/api 프록시</a:t>
            </a:r>
          </a:p>
          <a:p>
            <a:pPr algn="l"/>
            <a:r>
              <a:rPr sz="1200" b="0">
                <a:solidFill>
                  <a:srgbClr val="686B72"/>
                </a:solidFill>
              </a:rPr>
              <a:t>BE 서버로 전달</a:t>
            </a:r>
          </a:p>
        </p:txBody>
      </p:sp>
      <p:sp>
        <p:nvSpPr>
          <p:cNvPr id="15" name="Right Arrow 14"/>
          <p:cNvSpPr/>
          <p:nvPr/>
        </p:nvSpPr>
        <p:spPr>
          <a:xfrm>
            <a:off x="4818888"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221224" y="2057400"/>
            <a:ext cx="411480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5385816" y="2240280"/>
            <a:ext cx="100584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BE 서버</a:t>
            </a:r>
          </a:p>
        </p:txBody>
      </p:sp>
      <p:sp>
        <p:nvSpPr>
          <p:cNvPr id="18" name="TextBox 17"/>
          <p:cNvSpPr txBox="1"/>
          <p:nvPr/>
        </p:nvSpPr>
        <p:spPr>
          <a:xfrm>
            <a:off x="6519672" y="2240280"/>
            <a:ext cx="2651760" cy="274320"/>
          </a:xfrm>
          <a:prstGeom prst="rect">
            <a:avLst/>
          </a:prstGeom>
          <a:noFill/>
        </p:spPr>
        <p:txBody>
          <a:bodyPr wrap="square" lIns="0" tIns="0" rIns="0" bIns="0" anchor="ctr">
            <a:spAutoFit/>
          </a:bodyPr>
          <a:lstStyle/>
          <a:p>
            <a:pPr algn="l"/>
            <a:r>
              <a:rPr sz="1100" b="0">
                <a:solidFill>
                  <a:srgbClr val="686B72"/>
                </a:solidFill>
              </a:rPr>
              <a:t>Nginx · 속도 제한 · 보안 헤더</a:t>
            </a:r>
          </a:p>
        </p:txBody>
      </p:sp>
      <p:sp>
        <p:nvSpPr>
          <p:cNvPr id="19" name="Rounded Rectangle 18"/>
          <p:cNvSpPr/>
          <p:nvPr/>
        </p:nvSpPr>
        <p:spPr>
          <a:xfrm>
            <a:off x="5385816" y="2743200"/>
            <a:ext cx="1691640" cy="1325880"/>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495544" y="2862072"/>
            <a:ext cx="1508760" cy="1143000"/>
          </a:xfrm>
          <a:prstGeom prst="rect">
            <a:avLst/>
          </a:prstGeom>
          <a:noFill/>
        </p:spPr>
        <p:txBody>
          <a:bodyPr wrap="square" lIns="0" tIns="0" rIns="0" bIns="0" anchor="t">
            <a:spAutoFit/>
          </a:bodyPr>
          <a:lstStyle/>
          <a:p>
            <a:pPr algn="l"/>
            <a:r>
              <a:rPr sz="1400" b="1">
                <a:solidFill>
                  <a:srgbClr val="17171A"/>
                </a:solidFill>
              </a:rPr>
              <a:t>API 서버</a:t>
            </a:r>
          </a:p>
          <a:p>
            <a:pPr algn="l"/>
            <a:r>
              <a:rPr sz="1200" b="0">
                <a:solidFill>
                  <a:srgbClr val="686B72"/>
                </a:solidFill>
              </a:rPr>
              <a:t>질문 접수</a:t>
            </a:r>
          </a:p>
          <a:p>
            <a:pPr algn="l"/>
            <a:r>
              <a:rPr sz="1200" b="0">
                <a:solidFill>
                  <a:srgbClr val="686B72"/>
                </a:solidFill>
              </a:rPr>
              <a:t>→ 202 + jobId</a:t>
            </a:r>
          </a:p>
        </p:txBody>
      </p:sp>
      <p:sp>
        <p:nvSpPr>
          <p:cNvPr id="21" name="Rounded Rectangle 20"/>
          <p:cNvSpPr/>
          <p:nvPr/>
        </p:nvSpPr>
        <p:spPr>
          <a:xfrm>
            <a:off x="7479792" y="2743200"/>
            <a:ext cx="1691640" cy="1325880"/>
          </a:xfrm>
          <a:prstGeom prst="roundRect">
            <a:avLst>
              <a:gd name="adj" fmla="val 8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589520" y="2862072"/>
            <a:ext cx="1508760" cy="1143000"/>
          </a:xfrm>
          <a:prstGeom prst="rect">
            <a:avLst/>
          </a:prstGeom>
          <a:noFill/>
        </p:spPr>
        <p:txBody>
          <a:bodyPr wrap="square" lIns="0" tIns="0" rIns="0" bIns="0" anchor="t">
            <a:spAutoFit/>
          </a:bodyPr>
          <a:lstStyle/>
          <a:p>
            <a:pPr algn="l"/>
            <a:r>
              <a:rPr sz="1400" b="1">
                <a:solidFill>
                  <a:srgbClr val="17171A"/>
                </a:solidFill>
              </a:rPr>
              <a:t>AI Worker</a:t>
            </a:r>
          </a:p>
          <a:p>
            <a:pPr algn="l"/>
            <a:r>
              <a:rPr sz="1200" b="0">
                <a:solidFill>
                  <a:srgbClr val="686B72"/>
                </a:solidFill>
              </a:rPr>
              <a:t>답변 생성</a:t>
            </a:r>
          </a:p>
          <a:p>
            <a:pPr algn="l"/>
            <a:r>
              <a:rPr sz="1200" b="0">
                <a:solidFill>
                  <a:srgbClr val="686B72"/>
                </a:solidFill>
              </a:rPr>
              <a:t>검색 · 검증 · LLM</a:t>
            </a:r>
          </a:p>
        </p:txBody>
      </p:sp>
      <p:sp>
        <p:nvSpPr>
          <p:cNvPr id="23" name="Right Arrow 22"/>
          <p:cNvSpPr/>
          <p:nvPr/>
        </p:nvSpPr>
        <p:spPr>
          <a:xfrm>
            <a:off x="7123176" y="3273552"/>
            <a:ext cx="310896" cy="256032"/>
          </a:xfrm>
          <a:prstGeom prst="rightArrow">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385816" y="4251960"/>
            <a:ext cx="3785615" cy="868680"/>
          </a:xfrm>
          <a:prstGeom prst="roundRect">
            <a:avLst>
              <a:gd name="adj" fmla="val 8000"/>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495544" y="4325112"/>
            <a:ext cx="3566160" cy="731520"/>
          </a:xfrm>
          <a:prstGeom prst="rect">
            <a:avLst/>
          </a:prstGeom>
          <a:noFill/>
        </p:spPr>
        <p:txBody>
          <a:bodyPr wrap="square" lIns="0" tIns="0" rIns="0" bIns="0" anchor="ctr">
            <a:spAutoFit/>
          </a:bodyPr>
          <a:lstStyle/>
          <a:p>
            <a:pPr algn="l"/>
            <a:r>
              <a:rPr sz="1300" b="1">
                <a:solidFill>
                  <a:srgbClr val="17171A"/>
                </a:solidFill>
              </a:rPr>
              <a:t>Redis Streams 대기열</a:t>
            </a:r>
          </a:p>
          <a:p>
            <a:pPr algn="l"/>
            <a:r>
              <a:rPr sz="1100" b="0">
                <a:solidFill>
                  <a:srgbClr val="686B72"/>
                </a:solidFill>
              </a:rPr>
              <a:t>API가 작업을 넣고 Worker가 꺼내 처리, 상태 원본은 PostgreSQL</a:t>
            </a:r>
          </a:p>
        </p:txBody>
      </p:sp>
      <p:sp>
        <p:nvSpPr>
          <p:cNvPr id="26" name="Right Arrow 25"/>
          <p:cNvSpPr/>
          <p:nvPr/>
        </p:nvSpPr>
        <p:spPr>
          <a:xfrm>
            <a:off x="9445752"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848088" y="2057400"/>
            <a:ext cx="3236976" cy="15087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unded Rectangle 27"/>
          <p:cNvSpPr/>
          <p:nvPr/>
        </p:nvSpPr>
        <p:spPr>
          <a:xfrm>
            <a:off x="10012680" y="2240280"/>
            <a:ext cx="118872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State 서버</a:t>
            </a:r>
          </a:p>
        </p:txBody>
      </p:sp>
      <p:sp>
        <p:nvSpPr>
          <p:cNvPr id="29" name="TextBox 28"/>
          <p:cNvSpPr txBox="1"/>
          <p:nvPr/>
        </p:nvSpPr>
        <p:spPr>
          <a:xfrm>
            <a:off x="10012680" y="2651760"/>
            <a:ext cx="2926080" cy="822960"/>
          </a:xfrm>
          <a:prstGeom prst="rect">
            <a:avLst/>
          </a:prstGeom>
          <a:noFill/>
        </p:spPr>
        <p:txBody>
          <a:bodyPr wrap="square" lIns="0" tIns="0" rIns="0" bIns="0" anchor="t">
            <a:spAutoFit/>
          </a:bodyPr>
          <a:lstStyle/>
          <a:p>
            <a:pPr algn="l"/>
            <a:r>
              <a:rPr sz="1400" b="1">
                <a:solidFill>
                  <a:srgbClr val="17171A"/>
                </a:solidFill>
              </a:rPr>
              <a:t>PostgreSQL</a:t>
            </a:r>
          </a:p>
          <a:p>
            <a:pPr algn="l"/>
            <a:r>
              <a:rPr sz="1200" b="0">
                <a:solidFill>
                  <a:srgbClr val="686B72"/>
                </a:solidFill>
              </a:rPr>
              <a:t>pgvector · PostGIS · Redis</a:t>
            </a:r>
          </a:p>
        </p:txBody>
      </p:sp>
      <p:sp>
        <p:nvSpPr>
          <p:cNvPr id="30" name="Rounded Rectangle 29"/>
          <p:cNvSpPr/>
          <p:nvPr/>
        </p:nvSpPr>
        <p:spPr>
          <a:xfrm>
            <a:off x="9848088" y="3794760"/>
            <a:ext cx="3236976" cy="15087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10012680" y="3977639"/>
            <a:ext cx="1188720" cy="274320"/>
          </a:xfrm>
          <a:prstGeom prst="roundRect">
            <a:avLst>
              <a:gd name="adj" fmla="val 50000"/>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GPU 서버</a:t>
            </a:r>
          </a:p>
        </p:txBody>
      </p:sp>
      <p:sp>
        <p:nvSpPr>
          <p:cNvPr id="32" name="TextBox 31"/>
          <p:cNvSpPr txBox="1"/>
          <p:nvPr/>
        </p:nvSpPr>
        <p:spPr>
          <a:xfrm>
            <a:off x="11311128" y="3977639"/>
            <a:ext cx="1645920" cy="274320"/>
          </a:xfrm>
          <a:prstGeom prst="rect">
            <a:avLst/>
          </a:prstGeom>
          <a:noFill/>
        </p:spPr>
        <p:txBody>
          <a:bodyPr wrap="square" lIns="0" tIns="0" rIns="0" bIns="0" anchor="ctr">
            <a:spAutoFit/>
          </a:bodyPr>
          <a:lstStyle/>
          <a:p>
            <a:pPr algn="l"/>
            <a:r>
              <a:rPr sz="1100" b="0">
                <a:solidFill>
                  <a:srgbClr val="686B72"/>
                </a:solidFill>
              </a:rPr>
              <a:t>NLB로 분산</a:t>
            </a:r>
          </a:p>
        </p:txBody>
      </p:sp>
      <p:sp>
        <p:nvSpPr>
          <p:cNvPr id="33" name="TextBox 32"/>
          <p:cNvSpPr txBox="1"/>
          <p:nvPr/>
        </p:nvSpPr>
        <p:spPr>
          <a:xfrm>
            <a:off x="10012680" y="4389120"/>
            <a:ext cx="2971800" cy="868680"/>
          </a:xfrm>
          <a:prstGeom prst="rect">
            <a:avLst/>
          </a:prstGeom>
          <a:noFill/>
        </p:spPr>
        <p:txBody>
          <a:bodyPr wrap="square" lIns="0" tIns="0" rIns="0" bIns="0" anchor="t">
            <a:spAutoFit/>
          </a:bodyPr>
          <a:lstStyle/>
          <a:p>
            <a:pPr algn="l"/>
            <a:r>
              <a:rPr sz="1400" b="1">
                <a:solidFill>
                  <a:srgbClr val="17171A"/>
                </a:solidFill>
              </a:rPr>
              <a:t>vLLM 채팅 · 임베딩</a:t>
            </a:r>
          </a:p>
          <a:p>
            <a:pPr algn="l"/>
            <a:r>
              <a:rPr sz="1200" b="0">
                <a:solidFill>
                  <a:srgbClr val="686B72"/>
                </a:solidFill>
              </a:rPr>
              <a:t>Qwen3-4B (4bit) · bge-m3</a:t>
            </a:r>
          </a:p>
          <a:p>
            <a:pPr algn="l"/>
            <a:r>
              <a:rPr sz="1200" b="0">
                <a:solidFill>
                  <a:srgbClr val="686B72"/>
                </a:solidFill>
              </a:rPr>
              <a:t>온디맨드 1대 + 스폿 최대 2대</a:t>
            </a:r>
          </a:p>
        </p:txBody>
      </p:sp>
      <p:sp>
        <p:nvSpPr>
          <p:cNvPr id="34" name="Rounded Rectangle 33"/>
          <p:cNvSpPr/>
          <p:nvPr/>
        </p:nvSpPr>
        <p:spPr>
          <a:xfrm>
            <a:off x="630936"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813815" y="5733288"/>
            <a:ext cx="3602736" cy="685800"/>
          </a:xfrm>
          <a:prstGeom prst="rect">
            <a:avLst/>
          </a:prstGeom>
          <a:noFill/>
        </p:spPr>
        <p:txBody>
          <a:bodyPr wrap="square" lIns="0" tIns="0" rIns="0" bIns="0" anchor="ctr">
            <a:spAutoFit/>
          </a:bodyPr>
          <a:lstStyle/>
          <a:p>
            <a:pPr algn="l"/>
            <a:r>
              <a:rPr sz="1300" b="1">
                <a:solidFill>
                  <a:srgbClr val="D91370"/>
                </a:solidFill>
              </a:rPr>
              <a:t>CI/CD</a:t>
            </a:r>
          </a:p>
          <a:p>
            <a:pPr algn="l"/>
            <a:r>
              <a:rPr sz="1200" b="0">
                <a:solidFill>
                  <a:srgbClr val="17171A"/>
                </a:solidFill>
              </a:rPr>
              <a:t>GitHub Actions → ECR → SSM 배포</a:t>
            </a:r>
          </a:p>
        </p:txBody>
      </p:sp>
      <p:sp>
        <p:nvSpPr>
          <p:cNvPr id="36" name="Rounded Rectangle 35"/>
          <p:cNvSpPr/>
          <p:nvPr/>
        </p:nvSpPr>
        <p:spPr>
          <a:xfrm>
            <a:off x="4873752"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5056632" y="5733288"/>
            <a:ext cx="3602736" cy="685800"/>
          </a:xfrm>
          <a:prstGeom prst="rect">
            <a:avLst/>
          </a:prstGeom>
          <a:noFill/>
        </p:spPr>
        <p:txBody>
          <a:bodyPr wrap="square" lIns="0" tIns="0" rIns="0" bIns="0" anchor="ctr">
            <a:spAutoFit/>
          </a:bodyPr>
          <a:lstStyle/>
          <a:p>
            <a:pPr algn="l"/>
            <a:r>
              <a:rPr sz="1300" b="1">
                <a:solidFill>
                  <a:srgbClr val="D91370"/>
                </a:solidFill>
              </a:rPr>
              <a:t>인프라 코드</a:t>
            </a:r>
          </a:p>
          <a:p>
            <a:pPr algn="l"/>
            <a:r>
              <a:rPr sz="1200" b="0">
                <a:solidFill>
                  <a:srgbClr val="17171A"/>
                </a:solidFill>
              </a:rPr>
              <a:t>Terraform으로 네트워크(VPC) · GPU 서버 생성</a:t>
            </a:r>
          </a:p>
        </p:txBody>
      </p:sp>
      <p:sp>
        <p:nvSpPr>
          <p:cNvPr id="38" name="Rounded Rectangle 37"/>
          <p:cNvSpPr/>
          <p:nvPr/>
        </p:nvSpPr>
        <p:spPr>
          <a:xfrm>
            <a:off x="9116567"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9299447" y="5733288"/>
            <a:ext cx="3602736" cy="685800"/>
          </a:xfrm>
          <a:prstGeom prst="rect">
            <a:avLst/>
          </a:prstGeom>
          <a:noFill/>
        </p:spPr>
        <p:txBody>
          <a:bodyPr wrap="square" lIns="0" tIns="0" rIns="0" bIns="0" anchor="ctr">
            <a:spAutoFit/>
          </a:bodyPr>
          <a:lstStyle/>
          <a:p>
            <a:pPr algn="l"/>
            <a:r>
              <a:rPr sz="1300" b="1">
                <a:solidFill>
                  <a:srgbClr val="D91370"/>
                </a:solidFill>
              </a:rPr>
              <a:t>모니터링</a:t>
            </a:r>
          </a:p>
          <a:p>
            <a:pPr algn="l"/>
            <a:r>
              <a:rPr sz="1200" b="0">
                <a:solidFill>
                  <a:srgbClr val="17171A"/>
                </a:solidFill>
              </a:rPr>
              <a:t>Prometheus 수집 + Alertmanager 알림</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질문 하나가 답변이 되기까지</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접수 → 대기열 → 검색 → 검증 → 생성, 근거가 없으면 미응답으로 남깁니다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06</a:t>
            </a:r>
            <a:endParaRPr sz="1300" b="0">
              <a:solidFill>
                <a:schemeClr val="accent3"/>
              </a:solidFill>
            </a:endParaRPr>
          </a:p>
        </p:txBody>
      </p:sp>
      <p:sp>
        <p:nvSpPr>
          <p:cNvPr id="9" name="Rounded Rectangle 8"/>
          <p:cNvSpPr/>
          <p:nvPr/>
        </p:nvSpPr>
        <p:spPr>
          <a:xfrm>
            <a:off x="630936" y="2057400"/>
            <a:ext cx="1828800" cy="274320"/>
          </a:xfrm>
          <a:prstGeom prst="roundRect">
            <a:avLst>
              <a:gd name="adj" fmla="val 50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D91370"/>
                </a:solidFill>
              </a:rPr>
              <a:t>API 서버</a:t>
            </a:r>
          </a:p>
        </p:txBody>
      </p:sp>
      <p:sp>
        <p:nvSpPr>
          <p:cNvPr id="10" name="Rounded Rectangle 9"/>
          <p:cNvSpPr/>
          <p:nvPr/>
        </p:nvSpPr>
        <p:spPr>
          <a:xfrm>
            <a:off x="630936"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813815"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1</a:t>
            </a:r>
          </a:p>
        </p:txBody>
      </p:sp>
      <p:sp>
        <p:nvSpPr>
          <p:cNvPr id="12" name="TextBox 11"/>
          <p:cNvSpPr txBox="1"/>
          <p:nvPr/>
        </p:nvSpPr>
        <p:spPr>
          <a:xfrm>
            <a:off x="1289304" y="2651760"/>
            <a:ext cx="1097280" cy="384048"/>
          </a:xfrm>
          <a:prstGeom prst="rect">
            <a:avLst/>
          </a:prstGeom>
          <a:noFill/>
        </p:spPr>
        <p:txBody>
          <a:bodyPr wrap="square" lIns="0" tIns="0" rIns="0" bIns="0" anchor="ctr">
            <a:spAutoFit/>
          </a:bodyPr>
          <a:lstStyle/>
          <a:p>
            <a:pPr algn="l"/>
            <a:r>
              <a:rPr sz="1600" b="1">
                <a:solidFill>
                  <a:srgbClr val="17171A"/>
                </a:solidFill>
              </a:rPr>
              <a:t>접수</a:t>
            </a:r>
          </a:p>
        </p:txBody>
      </p:sp>
      <p:sp>
        <p:nvSpPr>
          <p:cNvPr id="13" name="TextBox 12"/>
          <p:cNvSpPr txBox="1"/>
          <p:nvPr/>
        </p:nvSpPr>
        <p:spPr>
          <a:xfrm>
            <a:off x="813815"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입력 가드 · 금지어</a:t>
            </a:r>
          </a:p>
          <a:p>
            <a:pPr algn="l">
              <a:spcAft>
                <a:spcPts val="500"/>
              </a:spcAft>
            </a:pPr>
            <a:r>
              <a:rPr sz="1200" b="0">
                <a:solidFill>
                  <a:srgbClr val="17171A"/>
                </a:solidFill>
              </a:rPr>
              <a:t>개인정보 마스킹</a:t>
            </a:r>
          </a:p>
          <a:p>
            <a:pPr algn="l">
              <a:spcAft>
                <a:spcPts val="500"/>
              </a:spcAft>
            </a:pPr>
            <a:r>
              <a:rPr sz="1200" b="0">
                <a:solidFill>
                  <a:srgbClr val="17171A"/>
                </a:solidFill>
              </a:rPr>
              <a:t>작업 저장</a:t>
            </a:r>
          </a:p>
          <a:p>
            <a:pPr algn="l">
              <a:spcAft>
                <a:spcPts val="500"/>
              </a:spcAft>
            </a:pPr>
            <a:r>
              <a:rPr sz="1200" b="0">
                <a:solidFill>
                  <a:srgbClr val="17171A"/>
                </a:solidFill>
              </a:rPr>
              <a:t>→ 202 바로 응답</a:t>
            </a:r>
          </a:p>
        </p:txBody>
      </p:sp>
      <p:sp>
        <p:nvSpPr>
          <p:cNvPr id="14" name="Right Arrow 13"/>
          <p:cNvSpPr/>
          <p:nvPr/>
        </p:nvSpPr>
        <p:spPr>
          <a:xfrm>
            <a:off x="2496312"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756001" y="2057400"/>
            <a:ext cx="1828800" cy="274320"/>
          </a:xfrm>
          <a:prstGeom prst="roundRect">
            <a:avLst>
              <a:gd name="adj" fmla="val 50000"/>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86B72"/>
                </a:solidFill>
              </a:rPr>
              <a:t>Redis Streams</a:t>
            </a:r>
          </a:p>
        </p:txBody>
      </p:sp>
      <p:sp>
        <p:nvSpPr>
          <p:cNvPr id="16" name="Rounded Rectangle 15"/>
          <p:cNvSpPr/>
          <p:nvPr/>
        </p:nvSpPr>
        <p:spPr>
          <a:xfrm>
            <a:off x="2756001"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2938881"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2</a:t>
            </a:r>
          </a:p>
        </p:txBody>
      </p:sp>
      <p:sp>
        <p:nvSpPr>
          <p:cNvPr id="18" name="TextBox 17"/>
          <p:cNvSpPr txBox="1"/>
          <p:nvPr/>
        </p:nvSpPr>
        <p:spPr>
          <a:xfrm>
            <a:off x="3414369" y="2651760"/>
            <a:ext cx="1097280" cy="384048"/>
          </a:xfrm>
          <a:prstGeom prst="rect">
            <a:avLst/>
          </a:prstGeom>
          <a:noFill/>
        </p:spPr>
        <p:txBody>
          <a:bodyPr wrap="square" lIns="0" tIns="0" rIns="0" bIns="0" anchor="ctr">
            <a:spAutoFit/>
          </a:bodyPr>
          <a:lstStyle/>
          <a:p>
            <a:pPr algn="l"/>
            <a:r>
              <a:rPr sz="1600" b="1">
                <a:solidFill>
                  <a:srgbClr val="17171A"/>
                </a:solidFill>
              </a:rPr>
              <a:t>대기열</a:t>
            </a:r>
          </a:p>
        </p:txBody>
      </p:sp>
      <p:sp>
        <p:nvSpPr>
          <p:cNvPr id="19" name="TextBox 18"/>
          <p:cNvSpPr txBox="1"/>
          <p:nvPr/>
        </p:nvSpPr>
        <p:spPr>
          <a:xfrm>
            <a:off x="2938881"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Worker에 작업 전달</a:t>
            </a:r>
          </a:p>
          <a:p>
            <a:pPr algn="l">
              <a:spcAft>
                <a:spcPts val="500"/>
              </a:spcAft>
            </a:pPr>
            <a:r>
              <a:rPr sz="1200" b="0">
                <a:solidFill>
                  <a:srgbClr val="17171A"/>
                </a:solidFill>
              </a:rPr>
              <a:t>상태 원본은 DB</a:t>
            </a:r>
          </a:p>
        </p:txBody>
      </p:sp>
      <p:sp>
        <p:nvSpPr>
          <p:cNvPr id="20" name="Right Arrow 19"/>
          <p:cNvSpPr/>
          <p:nvPr/>
        </p:nvSpPr>
        <p:spPr>
          <a:xfrm>
            <a:off x="4621377"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881067"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22" name="Rounded Rectangle 21"/>
          <p:cNvSpPr/>
          <p:nvPr/>
        </p:nvSpPr>
        <p:spPr>
          <a:xfrm>
            <a:off x="4881067"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5063947"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3</a:t>
            </a:r>
          </a:p>
        </p:txBody>
      </p:sp>
      <p:sp>
        <p:nvSpPr>
          <p:cNvPr id="24" name="TextBox 23"/>
          <p:cNvSpPr txBox="1"/>
          <p:nvPr/>
        </p:nvSpPr>
        <p:spPr>
          <a:xfrm>
            <a:off x="5539435" y="2651760"/>
            <a:ext cx="1097280" cy="384048"/>
          </a:xfrm>
          <a:prstGeom prst="rect">
            <a:avLst/>
          </a:prstGeom>
          <a:noFill/>
        </p:spPr>
        <p:txBody>
          <a:bodyPr wrap="square" lIns="0" tIns="0" rIns="0" bIns="0" anchor="ctr">
            <a:spAutoFit/>
          </a:bodyPr>
          <a:lstStyle/>
          <a:p>
            <a:pPr algn="l"/>
            <a:r>
              <a:rPr sz="1600" b="1">
                <a:solidFill>
                  <a:srgbClr val="17171A"/>
                </a:solidFill>
              </a:rPr>
              <a:t>검색</a:t>
            </a:r>
          </a:p>
        </p:txBody>
      </p:sp>
      <p:sp>
        <p:nvSpPr>
          <p:cNvPr id="25" name="TextBox 24"/>
          <p:cNvSpPr txBox="1"/>
          <p:nvPr/>
        </p:nvSpPr>
        <p:spPr>
          <a:xfrm>
            <a:off x="5063947"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질문 임베딩</a:t>
            </a:r>
          </a:p>
          <a:p>
            <a:pPr algn="l">
              <a:spcAft>
                <a:spcPts val="500"/>
              </a:spcAft>
            </a:pPr>
            <a:r>
              <a:rPr sz="1200" b="0">
                <a:solidFill>
                  <a:srgbClr val="17171A"/>
                </a:solidFill>
              </a:rPr>
              <a:t>pgvector HNSW</a:t>
            </a:r>
          </a:p>
          <a:p>
            <a:pPr algn="l">
              <a:spcAft>
                <a:spcPts val="500"/>
              </a:spcAft>
            </a:pPr>
            <a:r>
              <a:rPr sz="1200" b="0">
                <a:solidFill>
                  <a:srgbClr val="17171A"/>
                </a:solidFill>
              </a:rPr>
              <a:t>코사인 유사도 검색</a:t>
            </a:r>
          </a:p>
        </p:txBody>
      </p:sp>
      <p:sp>
        <p:nvSpPr>
          <p:cNvPr id="26" name="Right Arrow 25"/>
          <p:cNvSpPr/>
          <p:nvPr/>
        </p:nvSpPr>
        <p:spPr>
          <a:xfrm>
            <a:off x="6746443"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7006132"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28" name="Rounded Rectangle 27"/>
          <p:cNvSpPr/>
          <p:nvPr/>
        </p:nvSpPr>
        <p:spPr>
          <a:xfrm>
            <a:off x="7006132"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7189012"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4</a:t>
            </a:r>
          </a:p>
        </p:txBody>
      </p:sp>
      <p:sp>
        <p:nvSpPr>
          <p:cNvPr id="30" name="TextBox 29"/>
          <p:cNvSpPr txBox="1"/>
          <p:nvPr/>
        </p:nvSpPr>
        <p:spPr>
          <a:xfrm>
            <a:off x="7664500" y="2651760"/>
            <a:ext cx="1097280" cy="384048"/>
          </a:xfrm>
          <a:prstGeom prst="rect">
            <a:avLst/>
          </a:prstGeom>
          <a:noFill/>
        </p:spPr>
        <p:txBody>
          <a:bodyPr wrap="square" lIns="0" tIns="0" rIns="0" bIns="0" anchor="ctr">
            <a:spAutoFit/>
          </a:bodyPr>
          <a:lstStyle/>
          <a:p>
            <a:pPr algn="l"/>
            <a:r>
              <a:rPr sz="1600" b="1">
                <a:solidFill>
                  <a:srgbClr val="17171A"/>
                </a:solidFill>
              </a:rPr>
              <a:t>검증</a:t>
            </a:r>
          </a:p>
        </p:txBody>
      </p:sp>
      <p:sp>
        <p:nvSpPr>
          <p:cNvPr id="31" name="TextBox 30"/>
          <p:cNvSpPr txBox="1"/>
          <p:nvPr/>
        </p:nvSpPr>
        <p:spPr>
          <a:xfrm>
            <a:off x="7189012"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질문 유사도 기준</a:t>
            </a:r>
          </a:p>
          <a:p>
            <a:pPr algn="l">
              <a:spcAft>
                <a:spcPts val="500"/>
              </a:spcAft>
            </a:pPr>
            <a:r>
              <a:rPr sz="1200" b="0">
                <a:solidFill>
                  <a:srgbClr val="17171A"/>
                </a:solidFill>
              </a:rPr>
              <a:t>답변 문장 기준</a:t>
            </a:r>
          </a:p>
          <a:p>
            <a:pPr algn="l">
              <a:spcAft>
                <a:spcPts val="500"/>
              </a:spcAft>
            </a:pPr>
            <a:r>
              <a:rPr sz="1200" b="0">
                <a:solidFill>
                  <a:srgbClr val="17171A"/>
                </a:solidFill>
              </a:rPr>
              <a:t>통과한 FAQ만 사용</a:t>
            </a:r>
          </a:p>
        </p:txBody>
      </p:sp>
      <p:sp>
        <p:nvSpPr>
          <p:cNvPr id="32" name="Right Arrow 31"/>
          <p:cNvSpPr/>
          <p:nvPr/>
        </p:nvSpPr>
        <p:spPr>
          <a:xfrm>
            <a:off x="8871508"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9131198"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34" name="Rounded Rectangle 33"/>
          <p:cNvSpPr/>
          <p:nvPr/>
        </p:nvSpPr>
        <p:spPr>
          <a:xfrm>
            <a:off x="9131198"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9314078"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5</a:t>
            </a:r>
          </a:p>
        </p:txBody>
      </p:sp>
      <p:sp>
        <p:nvSpPr>
          <p:cNvPr id="36" name="TextBox 35"/>
          <p:cNvSpPr txBox="1"/>
          <p:nvPr/>
        </p:nvSpPr>
        <p:spPr>
          <a:xfrm>
            <a:off x="9789566" y="2651760"/>
            <a:ext cx="1097280" cy="384048"/>
          </a:xfrm>
          <a:prstGeom prst="rect">
            <a:avLst/>
          </a:prstGeom>
          <a:noFill/>
        </p:spPr>
        <p:txBody>
          <a:bodyPr wrap="square" lIns="0" tIns="0" rIns="0" bIns="0" anchor="ctr">
            <a:spAutoFit/>
          </a:bodyPr>
          <a:lstStyle/>
          <a:p>
            <a:pPr algn="l"/>
            <a:r>
              <a:rPr sz="1600" b="1">
                <a:solidFill>
                  <a:srgbClr val="17171A"/>
                </a:solidFill>
              </a:rPr>
              <a:t>생성</a:t>
            </a:r>
          </a:p>
        </p:txBody>
      </p:sp>
      <p:sp>
        <p:nvSpPr>
          <p:cNvPr id="37" name="TextBox 36"/>
          <p:cNvSpPr txBox="1"/>
          <p:nvPr/>
        </p:nvSpPr>
        <p:spPr>
          <a:xfrm>
            <a:off x="9314078"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의도별 자료 수집</a:t>
            </a:r>
          </a:p>
          <a:p>
            <a:pPr algn="l">
              <a:spcAft>
                <a:spcPts val="500"/>
              </a:spcAft>
            </a:pPr>
            <a:r>
              <a:rPr sz="1200" b="0">
                <a:solidFill>
                  <a:srgbClr val="17171A"/>
                </a:solidFill>
              </a:rPr>
              <a:t>FAQ · 매장 · 내 정보</a:t>
            </a:r>
          </a:p>
          <a:p>
            <a:pPr algn="l">
              <a:spcAft>
                <a:spcPts val="500"/>
              </a:spcAft>
            </a:pPr>
            <a:r>
              <a:rPr sz="1200" b="0">
                <a:solidFill>
                  <a:srgbClr val="17171A"/>
                </a:solidFill>
              </a:rPr>
              <a:t>LLM 답변</a:t>
            </a:r>
          </a:p>
          <a:p>
            <a:pPr algn="l">
              <a:spcAft>
                <a:spcPts val="500"/>
              </a:spcAft>
            </a:pPr>
            <a:r>
              <a:rPr sz="1200" b="0">
                <a:solidFill>
                  <a:srgbClr val="17171A"/>
                </a:solidFill>
              </a:rPr>
              <a:t>→ 출력 가드</a:t>
            </a:r>
          </a:p>
        </p:txBody>
      </p:sp>
      <p:sp>
        <p:nvSpPr>
          <p:cNvPr id="38" name="Right Arrow 37"/>
          <p:cNvSpPr/>
          <p:nvPr/>
        </p:nvSpPr>
        <p:spPr>
          <a:xfrm>
            <a:off x="10996574"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11256263"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40" name="Rounded Rectangle 39"/>
          <p:cNvSpPr/>
          <p:nvPr/>
        </p:nvSpPr>
        <p:spPr>
          <a:xfrm>
            <a:off x="11256263"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Oval 40"/>
          <p:cNvSpPr/>
          <p:nvPr/>
        </p:nvSpPr>
        <p:spPr>
          <a:xfrm>
            <a:off x="11439143"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6</a:t>
            </a:r>
          </a:p>
        </p:txBody>
      </p:sp>
      <p:sp>
        <p:nvSpPr>
          <p:cNvPr id="42" name="TextBox 41"/>
          <p:cNvSpPr txBox="1"/>
          <p:nvPr/>
        </p:nvSpPr>
        <p:spPr>
          <a:xfrm>
            <a:off x="11914632" y="2651760"/>
            <a:ext cx="1097280" cy="384048"/>
          </a:xfrm>
          <a:prstGeom prst="rect">
            <a:avLst/>
          </a:prstGeom>
          <a:noFill/>
        </p:spPr>
        <p:txBody>
          <a:bodyPr wrap="square" lIns="0" tIns="0" rIns="0" bIns="0" anchor="ctr">
            <a:spAutoFit/>
          </a:bodyPr>
          <a:lstStyle/>
          <a:p>
            <a:pPr algn="l"/>
            <a:r>
              <a:rPr sz="1600" b="1">
                <a:solidFill>
                  <a:srgbClr val="17171A"/>
                </a:solidFill>
              </a:rPr>
              <a:t>완료</a:t>
            </a:r>
          </a:p>
        </p:txBody>
      </p:sp>
      <p:sp>
        <p:nvSpPr>
          <p:cNvPr id="43" name="TextBox 42"/>
          <p:cNvSpPr txBox="1"/>
          <p:nvPr/>
        </p:nvSpPr>
        <p:spPr>
          <a:xfrm>
            <a:off x="11439143"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작업 · 시도 · 로그</a:t>
            </a:r>
          </a:p>
          <a:p>
            <a:pPr algn="l">
              <a:spcAft>
                <a:spcPts val="500"/>
              </a:spcAft>
            </a:pPr>
            <a:r>
              <a:rPr sz="1200" b="0">
                <a:solidFill>
                  <a:srgbClr val="17171A"/>
                </a:solidFill>
              </a:rPr>
              <a:t>한 번에 기록</a:t>
            </a:r>
          </a:p>
          <a:p>
            <a:pPr algn="l">
              <a:spcAft>
                <a:spcPts val="500"/>
              </a:spcAft>
            </a:pPr>
            <a:r>
              <a:rPr sz="1200" b="0">
                <a:solidFill>
                  <a:srgbClr val="17171A"/>
                </a:solidFill>
              </a:rPr>
              <a:t>화면은 jobId로 조회</a:t>
            </a:r>
          </a:p>
        </p:txBody>
      </p:sp>
      <p:sp>
        <p:nvSpPr>
          <p:cNvPr id="44" name="Down Arrow 43"/>
          <p:cNvSpPr/>
          <p:nvPr/>
        </p:nvSpPr>
        <p:spPr>
          <a:xfrm>
            <a:off x="7801660" y="4800600"/>
            <a:ext cx="237744" cy="274320"/>
          </a:xfrm>
          <a:prstGeom prst="downArrow">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6731812" y="5148072"/>
            <a:ext cx="2377440" cy="329184"/>
          </a:xfrm>
          <a:prstGeom prst="roundRect">
            <a:avLst>
              <a:gd name="adj" fmla="val 50000"/>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근거 없음 → 미응답 질문 저장</a:t>
            </a:r>
          </a:p>
        </p:txBody>
      </p:sp>
      <p:sp>
        <p:nvSpPr>
          <p:cNvPr id="46" name="Rounded Rectangle 45"/>
          <p:cNvSpPr/>
          <p:nvPr/>
        </p:nvSpPr>
        <p:spPr>
          <a:xfrm>
            <a:off x="630936" y="5852160"/>
            <a:ext cx="6949440" cy="777240"/>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822960" y="5852160"/>
            <a:ext cx="6675120" cy="777240"/>
          </a:xfrm>
          <a:prstGeom prst="rect">
            <a:avLst/>
          </a:prstGeom>
          <a:noFill/>
        </p:spPr>
        <p:txBody>
          <a:bodyPr wrap="square" lIns="0" tIns="0" rIns="0" bIns="0" anchor="ctr">
            <a:spAutoFit/>
          </a:bodyPr>
          <a:lstStyle/>
          <a:p>
            <a:pPr algn="l"/>
            <a:r>
              <a:rPr sz="1300" b="1">
                <a:solidFill>
                  <a:srgbClr val="17171A"/>
                </a:solidFill>
              </a:rPr>
              <a:t>같은 작업 메시지가 두 번 와도 결과는 한 번만 기록</a:t>
            </a:r>
          </a:p>
          <a:p>
            <a:pPr algn="l"/>
            <a:r>
              <a:rPr sz="1200" b="0">
                <a:solidFill>
                  <a:srgbClr val="686B72"/>
                </a:solidFill>
              </a:rPr>
              <a:t>Worker가 죽었다 살아나도 답변이 중복되거나 사라지지 않습니다</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데이터베이스 설계 (ERD)</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팀 전체 스키마를 한 곳에서 관리하고, 모든 변경을 마이그레이션으로 남겼습니다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07</a:t>
            </a:r>
            <a:endParaRPr sz="1300" b="0">
              <a:solidFill>
                <a:schemeClr val="accent3"/>
              </a:solidFill>
            </a:endParaRPr>
          </a:p>
        </p:txBody>
      </p:sp>
      <p:sp>
        <p:nvSpPr>
          <p:cNvPr id="9" name="ERD 이미지 자리"/>
          <p:cNvSpPr/>
          <p:nvPr/>
        </p:nvSpPr>
        <p:spPr>
          <a:xfrm>
            <a:off x="630936" y="2057400"/>
            <a:ext cx="6400800" cy="4160520"/>
          </a:xfrm>
          <a:prstGeom prst="roundRect">
            <a:avLst>
              <a:gd name="adj" fmla="val 8000"/>
            </a:avLst>
          </a:prstGeom>
          <a:solidFill>
            <a:srgbClr val="FFFFFF"/>
          </a:solidFill>
          <a:ln w="12700">
            <a:solidFill>
              <a:srgbClr val="C9CBD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30936" y="3794760"/>
            <a:ext cx="6400800" cy="731520"/>
          </a:xfrm>
          <a:prstGeom prst="rect">
            <a:avLst/>
          </a:prstGeom>
          <a:noFill/>
        </p:spPr>
        <p:txBody>
          <a:bodyPr wrap="square" lIns="0" tIns="0" rIns="0" bIns="0" anchor="t">
            <a:spAutoFit/>
          </a:bodyPr>
          <a:lstStyle/>
          <a:p>
            <a:pPr algn="ctr"/>
            <a:r>
              <a:rPr sz="1600" b="1">
                <a:solidFill>
                  <a:srgbClr val="686B72"/>
                </a:solidFill>
              </a:rPr>
              <a:t>ERD 이미지 자리</a:t>
            </a:r>
          </a:p>
          <a:p>
            <a:pPr algn="ctr"/>
            <a:r>
              <a:rPr sz="1200" b="0">
                <a:solidFill>
                  <a:srgbClr val="686B72"/>
                </a:solidFill>
              </a:rPr>
              <a:t>ERD Designer에서 V52 기준으로 내보내 넣기</a:t>
            </a:r>
          </a:p>
        </p:txBody>
      </p:sp>
      <p:sp>
        <p:nvSpPr>
          <p:cNvPr id="11" name="TextBox 10"/>
          <p:cNvSpPr txBox="1"/>
          <p:nvPr/>
        </p:nvSpPr>
        <p:spPr>
          <a:xfrm>
            <a:off x="630936" y="6355080"/>
            <a:ext cx="6400800" cy="548640"/>
          </a:xfrm>
          <a:prstGeom prst="rect">
            <a:avLst/>
          </a:prstGeom>
          <a:noFill/>
        </p:spPr>
        <p:txBody>
          <a:bodyPr wrap="square" lIns="0" tIns="0" rIns="0" bIns="0" anchor="t">
            <a:spAutoFit/>
          </a:bodyPr>
          <a:lstStyle/>
          <a:p>
            <a:pPr algn="l"/>
            <a:r>
              <a:rPr sz="1100" b="0">
                <a:solidFill>
                  <a:srgbClr val="686B72"/>
                </a:solidFill>
              </a:rPr>
              <a:t>영역 13개: 임베딩 · 미응답 · FAQ · 챗봇 대화 · 회원·인증 · 매장·예약 · 운영 정책 · 상품 · 가입·요금 · 문의·이벤트 · 상담사 상담 · 가드 리뷰 · 급상승 질문</a:t>
            </a:r>
          </a:p>
        </p:txBody>
      </p:sp>
      <p:sp>
        <p:nvSpPr>
          <p:cNvPr id="12" name="Rounded Rectangle 11"/>
          <p:cNvSpPr/>
          <p:nvPr/>
        </p:nvSpPr>
        <p:spPr>
          <a:xfrm>
            <a:off x="7306056"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306056" y="2176272"/>
            <a:ext cx="1307592" cy="548640"/>
          </a:xfrm>
          <a:prstGeom prst="rect">
            <a:avLst/>
          </a:prstGeom>
          <a:noFill/>
        </p:spPr>
        <p:txBody>
          <a:bodyPr wrap="square" lIns="0" tIns="0" rIns="0" bIns="0" anchor="ctr">
            <a:spAutoFit/>
          </a:bodyPr>
          <a:lstStyle/>
          <a:p>
            <a:pPr algn="ctr"/>
            <a:r>
              <a:rPr sz="2600" b="1">
                <a:solidFill>
                  <a:srgbClr val="F72585"/>
                </a:solidFill>
              </a:rPr>
              <a:t>69</a:t>
            </a:r>
          </a:p>
        </p:txBody>
      </p:sp>
      <p:sp>
        <p:nvSpPr>
          <p:cNvPr id="14" name="TextBox 13"/>
          <p:cNvSpPr txBox="1"/>
          <p:nvPr/>
        </p:nvSpPr>
        <p:spPr>
          <a:xfrm>
            <a:off x="7306056" y="2743200"/>
            <a:ext cx="1307592" cy="274320"/>
          </a:xfrm>
          <a:prstGeom prst="rect">
            <a:avLst/>
          </a:prstGeom>
          <a:noFill/>
        </p:spPr>
        <p:txBody>
          <a:bodyPr wrap="square" lIns="0" tIns="0" rIns="0" bIns="0" anchor="t">
            <a:spAutoFit/>
          </a:bodyPr>
          <a:lstStyle/>
          <a:p>
            <a:pPr algn="ctr"/>
            <a:r>
              <a:rPr sz="1100" b="0">
                <a:solidFill>
                  <a:srgbClr val="686B72"/>
                </a:solidFill>
              </a:rPr>
              <a:t>테이블</a:t>
            </a:r>
          </a:p>
        </p:txBody>
      </p:sp>
      <p:sp>
        <p:nvSpPr>
          <p:cNvPr id="15" name="Rounded Rectangle 14"/>
          <p:cNvSpPr/>
          <p:nvPr/>
        </p:nvSpPr>
        <p:spPr>
          <a:xfrm>
            <a:off x="8796528"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796528" y="2176272"/>
            <a:ext cx="1307592" cy="548640"/>
          </a:xfrm>
          <a:prstGeom prst="rect">
            <a:avLst/>
          </a:prstGeom>
          <a:noFill/>
        </p:spPr>
        <p:txBody>
          <a:bodyPr wrap="square" lIns="0" tIns="0" rIns="0" bIns="0" anchor="ctr">
            <a:spAutoFit/>
          </a:bodyPr>
          <a:lstStyle/>
          <a:p>
            <a:pPr algn="ctr"/>
            <a:r>
              <a:rPr sz="2600" b="1">
                <a:solidFill>
                  <a:srgbClr val="F72585"/>
                </a:solidFill>
              </a:rPr>
              <a:t>646</a:t>
            </a:r>
          </a:p>
        </p:txBody>
      </p:sp>
      <p:sp>
        <p:nvSpPr>
          <p:cNvPr id="17" name="TextBox 16"/>
          <p:cNvSpPr txBox="1"/>
          <p:nvPr/>
        </p:nvSpPr>
        <p:spPr>
          <a:xfrm>
            <a:off x="8796528" y="2743200"/>
            <a:ext cx="1307592" cy="274320"/>
          </a:xfrm>
          <a:prstGeom prst="rect">
            <a:avLst/>
          </a:prstGeom>
          <a:noFill/>
        </p:spPr>
        <p:txBody>
          <a:bodyPr wrap="square" lIns="0" tIns="0" rIns="0" bIns="0" anchor="t">
            <a:spAutoFit/>
          </a:bodyPr>
          <a:lstStyle/>
          <a:p>
            <a:pPr algn="ctr"/>
            <a:r>
              <a:rPr sz="1100" b="0">
                <a:solidFill>
                  <a:srgbClr val="686B72"/>
                </a:solidFill>
              </a:rPr>
              <a:t>컬럼</a:t>
            </a:r>
          </a:p>
        </p:txBody>
      </p:sp>
      <p:sp>
        <p:nvSpPr>
          <p:cNvPr id="18" name="Rounded Rectangle 17"/>
          <p:cNvSpPr/>
          <p:nvPr/>
        </p:nvSpPr>
        <p:spPr>
          <a:xfrm>
            <a:off x="10287000"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0287000" y="2176272"/>
            <a:ext cx="1307592" cy="548640"/>
          </a:xfrm>
          <a:prstGeom prst="rect">
            <a:avLst/>
          </a:prstGeom>
          <a:noFill/>
        </p:spPr>
        <p:txBody>
          <a:bodyPr wrap="square" lIns="0" tIns="0" rIns="0" bIns="0" anchor="ctr">
            <a:spAutoFit/>
          </a:bodyPr>
          <a:lstStyle/>
          <a:p>
            <a:pPr algn="ctr"/>
            <a:r>
              <a:rPr sz="2600" b="1">
                <a:solidFill>
                  <a:srgbClr val="F72585"/>
                </a:solidFill>
              </a:rPr>
              <a:t>110</a:t>
            </a:r>
          </a:p>
        </p:txBody>
      </p:sp>
      <p:sp>
        <p:nvSpPr>
          <p:cNvPr id="20" name="TextBox 19"/>
          <p:cNvSpPr txBox="1"/>
          <p:nvPr/>
        </p:nvSpPr>
        <p:spPr>
          <a:xfrm>
            <a:off x="10287000" y="2743200"/>
            <a:ext cx="1307592" cy="274320"/>
          </a:xfrm>
          <a:prstGeom prst="rect">
            <a:avLst/>
          </a:prstGeom>
          <a:noFill/>
        </p:spPr>
        <p:txBody>
          <a:bodyPr wrap="square" lIns="0" tIns="0" rIns="0" bIns="0" anchor="t">
            <a:spAutoFit/>
          </a:bodyPr>
          <a:lstStyle/>
          <a:p>
            <a:pPr algn="ctr"/>
            <a:r>
              <a:rPr sz="1100" b="0">
                <a:solidFill>
                  <a:srgbClr val="686B72"/>
                </a:solidFill>
              </a:rPr>
              <a:t>관계 (FK)</a:t>
            </a:r>
          </a:p>
        </p:txBody>
      </p:sp>
      <p:sp>
        <p:nvSpPr>
          <p:cNvPr id="21" name="Rounded Rectangle 20"/>
          <p:cNvSpPr/>
          <p:nvPr/>
        </p:nvSpPr>
        <p:spPr>
          <a:xfrm>
            <a:off x="11777472"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1777472" y="2176272"/>
            <a:ext cx="1307592" cy="548640"/>
          </a:xfrm>
          <a:prstGeom prst="rect">
            <a:avLst/>
          </a:prstGeom>
          <a:noFill/>
        </p:spPr>
        <p:txBody>
          <a:bodyPr wrap="square" lIns="0" tIns="0" rIns="0" bIns="0" anchor="ctr">
            <a:spAutoFit/>
          </a:bodyPr>
          <a:lstStyle/>
          <a:p>
            <a:pPr algn="ctr"/>
            <a:r>
              <a:rPr sz="2600" b="1">
                <a:solidFill>
                  <a:srgbClr val="F72585"/>
                </a:solidFill>
              </a:rPr>
              <a:t>V52</a:t>
            </a:r>
          </a:p>
        </p:txBody>
      </p:sp>
      <p:sp>
        <p:nvSpPr>
          <p:cNvPr id="23" name="TextBox 22"/>
          <p:cNvSpPr txBox="1"/>
          <p:nvPr/>
        </p:nvSpPr>
        <p:spPr>
          <a:xfrm>
            <a:off x="11777472" y="2743200"/>
            <a:ext cx="1307592" cy="274320"/>
          </a:xfrm>
          <a:prstGeom prst="rect">
            <a:avLst/>
          </a:prstGeom>
          <a:noFill/>
        </p:spPr>
        <p:txBody>
          <a:bodyPr wrap="square" lIns="0" tIns="0" rIns="0" bIns="0" anchor="t">
            <a:spAutoFit/>
          </a:bodyPr>
          <a:lstStyle/>
          <a:p>
            <a:pPr algn="ctr"/>
            <a:r>
              <a:rPr sz="1100" b="0">
                <a:solidFill>
                  <a:srgbClr val="686B72"/>
                </a:solidFill>
              </a:rPr>
              <a:t>마이그레이션</a:t>
            </a:r>
          </a:p>
        </p:txBody>
      </p:sp>
      <p:graphicFrame>
        <p:nvGraphicFramePr>
          <p:cNvPr id="24" name="Table 23"/>
          <p:cNvGraphicFramePr>
            <a:graphicFrameLocks noGrp="1"/>
          </p:cNvGraphicFramePr>
          <p:nvPr/>
        </p:nvGraphicFramePr>
        <p:xfrm>
          <a:off x="7306056" y="3337560"/>
          <a:ext cx="5779008" cy="2880360"/>
        </p:xfrm>
        <a:graphic>
          <a:graphicData uri="http://schemas.openxmlformats.org/drawingml/2006/table">
            <a:tbl>
              <a:tblPr>
                <a:tableStyleId>{5C22544A-7EE6-4342-B048-85BDC9FD1C3A}</a:tableStyleId>
              </a:tblPr>
              <a:tblGrid>
                <a:gridCol w="1234440">
                  <a:extLst>
                    <a:ext uri="{9D8B030D-6E8A-4147-A177-3AD203B41FA5}">
                      <a16:colId xmlns:a16="http://schemas.microsoft.com/office/drawing/2014/main" val="20000"/>
                    </a:ext>
                  </a:extLst>
                </a:gridCol>
                <a:gridCol w="4544568">
                  <a:extLst>
                    <a:ext uri="{9D8B030D-6E8A-4147-A177-3AD203B41FA5}">
                      <a16:colId xmlns:a16="http://schemas.microsoft.com/office/drawing/2014/main" val="20001"/>
                    </a:ext>
                  </a:extLst>
                </a:gridCol>
              </a:tblGrid>
              <a:tr h="411480">
                <a:tc>
                  <a:txBody>
                    <a:bodyPr/>
                    <a:lstStyle/>
                    <a:p>
                      <a:r>
                        <a:rPr sz="1200" b="1">
                          <a:solidFill>
                            <a:srgbClr val="FFFFFF"/>
                          </a:solidFill>
                        </a:rPr>
                        <a:t>규칙</a:t>
                      </a:r>
                    </a:p>
                  </a:txBody>
                  <a:tcPr marL="109728" marR="109728" anchor="ctr">
                    <a:solidFill>
                      <a:srgbClr val="17171A"/>
                    </a:solidFill>
                  </a:tcPr>
                </a:tc>
                <a:tc>
                  <a:txBody>
                    <a:bodyPr/>
                    <a:lstStyle/>
                    <a:p>
                      <a:r>
                        <a:rPr sz="1200" b="1">
                          <a:solidFill>
                            <a:srgbClr val="FFFFFF"/>
                          </a:solidFill>
                        </a:rPr>
                        <a:t>내용</a:t>
                      </a:r>
                    </a:p>
                  </a:txBody>
                  <a:tcPr marL="109728" marR="109728" anchor="ctr">
                    <a:solidFill>
                      <a:srgbClr val="17171A"/>
                    </a:solidFill>
                  </a:tcPr>
                </a:tc>
                <a:extLst>
                  <a:ext uri="{0D108BD9-81ED-4DB2-BD59-A6C34878D82A}">
                    <a16:rowId xmlns:a16="http://schemas.microsoft.com/office/drawing/2014/main" val="10000"/>
                  </a:ext>
                </a:extLst>
              </a:tr>
              <a:tr h="411480">
                <a:tc>
                  <a:txBody>
                    <a:bodyPr/>
                    <a:lstStyle/>
                    <a:p>
                      <a:r>
                        <a:rPr sz="1200" b="1">
                          <a:solidFill>
                            <a:srgbClr val="D91370"/>
                          </a:solidFill>
                        </a:rPr>
                        <a:t>PK</a:t>
                      </a:r>
                    </a:p>
                  </a:txBody>
                  <a:tcPr marL="109728" marR="109728" anchor="ctr">
                    <a:solidFill>
                      <a:srgbClr val="FFFFFF"/>
                    </a:solidFill>
                  </a:tcPr>
                </a:tc>
                <a:tc>
                  <a:txBody>
                    <a:bodyPr/>
                    <a:lstStyle/>
                    <a:p>
                      <a:r>
                        <a:rPr sz="1200">
                          <a:solidFill>
                            <a:srgbClr val="17171A"/>
                          </a:solidFill>
                        </a:rPr>
                        <a:t>BIGINT 내부 키 + 외부 노출은 UUID</a:t>
                      </a:r>
                    </a:p>
                  </a:txBody>
                  <a:tcPr marL="109728" marR="109728" anchor="ctr">
                    <a:solidFill>
                      <a:srgbClr val="FFFFFF"/>
                    </a:solidFill>
                  </a:tcPr>
                </a:tc>
                <a:extLst>
                  <a:ext uri="{0D108BD9-81ED-4DB2-BD59-A6C34878D82A}">
                    <a16:rowId xmlns:a16="http://schemas.microsoft.com/office/drawing/2014/main" val="10001"/>
                  </a:ext>
                </a:extLst>
              </a:tr>
              <a:tr h="411480">
                <a:tc>
                  <a:txBody>
                    <a:bodyPr/>
                    <a:lstStyle/>
                    <a:p>
                      <a:r>
                        <a:rPr sz="1200" b="1">
                          <a:solidFill>
                            <a:srgbClr val="D91370"/>
                          </a:solidFill>
                        </a:rPr>
                        <a:t>삭제</a:t>
                      </a:r>
                    </a:p>
                  </a:txBody>
                  <a:tcPr marL="109728" marR="109728" anchor="ctr">
                    <a:solidFill>
                      <a:srgbClr val="F6F7F8"/>
                    </a:solidFill>
                  </a:tcPr>
                </a:tc>
                <a:tc>
                  <a:txBody>
                    <a:bodyPr/>
                    <a:lstStyle/>
                    <a:p>
                      <a:r>
                        <a:rPr sz="1200">
                          <a:solidFill>
                            <a:srgbClr val="17171A"/>
                          </a:solidFill>
                        </a:rPr>
                        <a:t>soft delete 후 보관 기간 지나면 물리 삭제</a:t>
                      </a:r>
                    </a:p>
                  </a:txBody>
                  <a:tcPr marL="109728" marR="109728" anchor="ctr">
                    <a:solidFill>
                      <a:srgbClr val="F6F7F8"/>
                    </a:solidFill>
                  </a:tcPr>
                </a:tc>
                <a:extLst>
                  <a:ext uri="{0D108BD9-81ED-4DB2-BD59-A6C34878D82A}">
                    <a16:rowId xmlns:a16="http://schemas.microsoft.com/office/drawing/2014/main" val="10002"/>
                  </a:ext>
                </a:extLst>
              </a:tr>
              <a:tr h="411480">
                <a:tc>
                  <a:txBody>
                    <a:bodyPr/>
                    <a:lstStyle/>
                    <a:p>
                      <a:r>
                        <a:rPr sz="1200" b="1">
                          <a:solidFill>
                            <a:srgbClr val="D91370"/>
                          </a:solidFill>
                        </a:rPr>
                        <a:t>Enum</a:t>
                      </a:r>
                    </a:p>
                  </a:txBody>
                  <a:tcPr marL="109728" marR="109728" anchor="ctr">
                    <a:solidFill>
                      <a:srgbClr val="FFFFFF"/>
                    </a:solidFill>
                  </a:tcPr>
                </a:tc>
                <a:tc>
                  <a:txBody>
                    <a:bodyPr/>
                    <a:lstStyle/>
                    <a:p>
                      <a:r>
                        <a:rPr sz="1200">
                          <a:solidFill>
                            <a:srgbClr val="17171A"/>
                          </a:solidFill>
                        </a:rPr>
                        <a:t>VARCHAR + CHECK로 잘못된 값 차단</a:t>
                      </a:r>
                    </a:p>
                  </a:txBody>
                  <a:tcPr marL="109728" marR="109728" anchor="ctr">
                    <a:solidFill>
                      <a:srgbClr val="FFFFFF"/>
                    </a:solidFill>
                  </a:tcPr>
                </a:tc>
                <a:extLst>
                  <a:ext uri="{0D108BD9-81ED-4DB2-BD59-A6C34878D82A}">
                    <a16:rowId xmlns:a16="http://schemas.microsoft.com/office/drawing/2014/main" val="10003"/>
                  </a:ext>
                </a:extLst>
              </a:tr>
              <a:tr h="411480">
                <a:tc>
                  <a:txBody>
                    <a:bodyPr/>
                    <a:lstStyle/>
                    <a:p>
                      <a:r>
                        <a:rPr sz="1200" b="1">
                          <a:solidFill>
                            <a:srgbClr val="D91370"/>
                          </a:solidFill>
                        </a:rPr>
                        <a:t>벡터</a:t>
                      </a:r>
                    </a:p>
                  </a:txBody>
                  <a:tcPr marL="109728" marR="109728" anchor="ctr">
                    <a:solidFill>
                      <a:srgbClr val="F6F7F8"/>
                    </a:solidFill>
                  </a:tcPr>
                </a:tc>
                <a:tc>
                  <a:txBody>
                    <a:bodyPr/>
                    <a:lstStyle/>
                    <a:p>
                      <a:r>
                        <a:rPr sz="1200">
                          <a:solidFill>
                            <a:srgbClr val="17171A"/>
                          </a:solidFill>
                        </a:rPr>
                        <a:t>vector(1024) · HNSW · 코사인</a:t>
                      </a:r>
                    </a:p>
                  </a:txBody>
                  <a:tcPr marL="109728" marR="109728" anchor="ctr">
                    <a:solidFill>
                      <a:srgbClr val="F6F7F8"/>
                    </a:solidFill>
                  </a:tcPr>
                </a:tc>
                <a:extLst>
                  <a:ext uri="{0D108BD9-81ED-4DB2-BD59-A6C34878D82A}">
                    <a16:rowId xmlns:a16="http://schemas.microsoft.com/office/drawing/2014/main" val="10004"/>
                  </a:ext>
                </a:extLst>
              </a:tr>
              <a:tr h="411480">
                <a:tc>
                  <a:txBody>
                    <a:bodyPr/>
                    <a:lstStyle/>
                    <a:p>
                      <a:r>
                        <a:rPr sz="1200" b="1">
                          <a:solidFill>
                            <a:srgbClr val="D91370"/>
                          </a:solidFill>
                        </a:rPr>
                        <a:t>임베딩</a:t>
                      </a:r>
                    </a:p>
                  </a:txBody>
                  <a:tcPr marL="109728" marR="109728" anchor="ctr">
                    <a:solidFill>
                      <a:srgbClr val="FFFFFF"/>
                    </a:solidFill>
                  </a:tcPr>
                </a:tc>
                <a:tc>
                  <a:txBody>
                    <a:bodyPr/>
                    <a:lstStyle/>
                    <a:p>
                      <a:r>
                        <a:rPr sz="1200">
                          <a:solidFill>
                            <a:srgbClr val="17171A"/>
                          </a:solidFill>
                        </a:rPr>
                        <a:t>모델별 Profile 분리 (교체 대비)</a:t>
                      </a:r>
                    </a:p>
                  </a:txBody>
                  <a:tcPr marL="109728" marR="109728" anchor="ctr">
                    <a:solidFill>
                      <a:srgbClr val="FFFFFF"/>
                    </a:solidFill>
                  </a:tcPr>
                </a:tc>
                <a:extLst>
                  <a:ext uri="{0D108BD9-81ED-4DB2-BD59-A6C34878D82A}">
                    <a16:rowId xmlns:a16="http://schemas.microsoft.com/office/drawing/2014/main" val="10005"/>
                  </a:ext>
                </a:extLst>
              </a:tr>
              <a:tr h="411480">
                <a:tc>
                  <a:txBody>
                    <a:bodyPr/>
                    <a:lstStyle/>
                    <a:p>
                      <a:r>
                        <a:rPr sz="1200" b="1">
                          <a:solidFill>
                            <a:srgbClr val="D91370"/>
                          </a:solidFill>
                        </a:rPr>
                        <a:t>중복 방지</a:t>
                      </a:r>
                    </a:p>
                  </a:txBody>
                  <a:tcPr marL="109728" marR="109728" anchor="ctr">
                    <a:solidFill>
                      <a:srgbClr val="F6F7F8"/>
                    </a:solidFill>
                  </a:tcPr>
                </a:tc>
                <a:tc>
                  <a:txBody>
                    <a:bodyPr/>
                    <a:lstStyle/>
                    <a:p>
                      <a:r>
                        <a:rPr sz="1200">
                          <a:solidFill>
                            <a:srgbClr val="17171A"/>
                          </a:solidFill>
                        </a:rPr>
                        <a:t>조건부 UNIQUE 인덱스 18개</a:t>
                      </a:r>
                    </a:p>
                  </a:txBody>
                  <a:tcPr marL="109728" marR="109728" anchor="ctr">
                    <a:solidFill>
                      <a:srgbClr val="F6F7F8"/>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66975"/>
            <a:ext cx="9000000" cy="247650"/>
          </a:xfrm>
          <a:prstGeom prst="rect">
            <a:avLst/>
          </a:prstGeom>
          <a:noFill/>
        </p:spPr>
        <p:txBody>
          <a:bodyPr wrap="square" lIns="0" tIns="0" rIns="0" bIns="0" anchor="ctr">
            <a:spAutoFit/>
          </a:bodyPr>
          <a:lstStyle/>
          <a:p>
            <a:pPr lvl="0" algn="l">
              <a:defRPr/>
            </a:pPr>
            <a:r>
              <a:rPr sz="1600" b="1">
                <a:solidFill>
                  <a:schemeClr val="accent1"/>
                </a:solidFill>
              </a:rPr>
              <a:t>PART 0</a:t>
            </a:r>
            <a:r>
              <a:rPr lang="en-US" altLang="ko-KR" sz="1600" b="1">
                <a:solidFill>
                  <a:schemeClr val="accent1"/>
                </a:solidFill>
              </a:rPr>
              <a:t>4</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수행 경과</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08</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wn-text-1">
            <a:extLst>
              <a:ext uri="{FF2B5EF4-FFF2-40B4-BE49-F238E27FC236}">
                <a16:creationId xmlns:a16="http://schemas.microsoft.com/office/drawing/2014/main" id="{8D383B70-8DEC-4095-976F-29CF4BD4FD36}"/>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
            <a:extLst>
              <a:ext uri="{FF2B5EF4-FFF2-40B4-BE49-F238E27FC236}">
                <a16:creationId xmlns:a16="http://schemas.microsoft.com/office/drawing/2014/main" id="{4EF25AD0-6895-4B2F-8FE2-C27E984CF441}"/>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14B OFF 1차 선정과 4B 튜닝 검토</a:t>
            </a:r>
          </a:p>
        </p:txBody>
      </p:sp>
      <p:sp>
        <p:nvSpPr>
          <p:cNvPr id="3" name="own-text-3">
            <a:extLst>
              <a:ext uri="{FF2B5EF4-FFF2-40B4-BE49-F238E27FC236}">
                <a16:creationId xmlns:a16="http://schemas.microsoft.com/office/drawing/2014/main" id="{57ECF9AE-F192-4D23-9125-F5BE05F3A9EC}"/>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소형 모델의 단독 통과가 어려웠던 엄격한 품질·보류 기준에서, 후속 튜닝과 코드 교정을 검토</a:t>
            </a:r>
          </a:p>
        </p:txBody>
      </p:sp>
      <p:sp>
        <p:nvSpPr>
          <p:cNvPr id="4" name="own-text-4">
            <a:extLst>
              <a:ext uri="{FF2B5EF4-FFF2-40B4-BE49-F238E27FC236}">
                <a16:creationId xmlns:a16="http://schemas.microsoft.com/office/drawing/2014/main" id="{7E84D252-8DF8-4DA4-A8A6-3230748E6118}"/>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
            <a:extLst>
              <a:ext uri="{FF2B5EF4-FFF2-40B4-BE49-F238E27FC236}">
                <a16:creationId xmlns:a16="http://schemas.microsoft.com/office/drawing/2014/main" id="{2EE2C679-E031-42FE-A4EE-62EDD81783AF}"/>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09</a:t>
            </a:r>
            <a:endParaRPr sz="1300" b="0">
              <a:solidFill>
                <a:srgbClr val="686B72"/>
              </a:solidFill>
              <a:latin typeface="맑은 고딕"/>
              <a:ea typeface="맑은 고딕"/>
              <a:cs typeface="맑은 고딕"/>
            </a:endParaRPr>
          </a:p>
        </p:txBody>
      </p:sp>
      <p:sp>
        <p:nvSpPr>
          <p:cNvPr id="6" name="own-text-6">
            <a:extLst>
              <a:ext uri="{FF2B5EF4-FFF2-40B4-BE49-F238E27FC236}">
                <a16:creationId xmlns:a16="http://schemas.microsoft.com/office/drawing/2014/main" id="{D51167AD-E206-4646-82A5-B3323DC7500A}"/>
              </a:ext>
            </a:extLst>
          </p:cNvPr>
          <p:cNvSpPr>
            <a:spLocks noGrp="1"/>
          </p:cNvSpPr>
          <p:nvPr/>
        </p:nvSpPr>
        <p:spPr>
          <a:xfrm>
            <a:off x="628650" y="6515100"/>
            <a:ext cx="12458700" cy="457200"/>
          </a:xfrm>
          <a:prstGeom prst="rect">
            <a:avLst/>
          </a:prstGeom>
          <a:noFill/>
          <a:ln w="0">
            <a:noFill/>
          </a:ln>
        </p:spPr>
        <p:txBody>
          <a:bodyPr wrap="square" lIns="0" tIns="0" rIns="0" bIns="0" anchor="t">
            <a:noAutofit/>
          </a:bodyPr>
          <a:lstStyle>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단일·유사·다중 FAQ, 개인화·조건·예외, 근거 부재·충돌, 멀티턴, 공격·범위 밖, API(13유형)</a:t>
            </a:r>
          </a:p>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평가: 필수 사실·조건·답변 가능 여부를 만족하면 정답, 근거 밖 내용은 환각. 형식·일관성·지연·메모리·동시성도 고려.</a:t>
            </a:r>
          </a:p>
        </p:txBody>
      </p:sp>
      <p:graphicFrame>
        <p:nvGraphicFramePr>
          <p:cNvPr id="7" name="표 6">
            <a:extLst>
              <a:ext uri="{FF2B5EF4-FFF2-40B4-BE49-F238E27FC236}">
                <a16:creationId xmlns:a16="http://schemas.microsoft.com/office/drawing/2014/main" id="{ECD8D6E8-F8DF-4B17-988B-20FE14880ECC}"/>
              </a:ext>
            </a:extLst>
          </p:cNvPr>
          <p:cNvGraphicFramePr/>
          <p:nvPr/>
        </p:nvGraphicFramePr>
        <p:xfrm>
          <a:off x="628650" y="2076450"/>
          <a:ext cx="7239000" cy="3886200"/>
        </p:xfrm>
        <a:graphic>
          <a:graphicData uri="http://schemas.openxmlformats.org/drawingml/2006/table">
            <a:tbl>
              <a:tblPr/>
              <a:tblGrid>
                <a:gridCol w="2028825">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952500">
                  <a:extLst>
                    <a:ext uri="{9D8B030D-6E8A-4147-A177-3AD203B41FA5}">
                      <a16:colId xmlns:a16="http://schemas.microsoft.com/office/drawing/2014/main" val="20002"/>
                    </a:ext>
                  </a:extLst>
                </a:gridCol>
                <a:gridCol w="952500">
                  <a:extLst>
                    <a:ext uri="{9D8B030D-6E8A-4147-A177-3AD203B41FA5}">
                      <a16:colId xmlns:a16="http://schemas.microsoft.com/office/drawing/2014/main" val="20003"/>
                    </a:ext>
                  </a:extLst>
                </a:gridCol>
                <a:gridCol w="2352675">
                  <a:extLst>
                    <a:ext uri="{9D8B030D-6E8A-4147-A177-3AD203B41FA5}">
                      <a16:colId xmlns:a16="http://schemas.microsoft.com/office/drawing/2014/main" val="20004"/>
                    </a:ext>
                  </a:extLst>
                </a:gridCol>
              </a:tblGrid>
              <a:tr h="323850">
                <a:tc>
                  <a:txBody>
                    <a:bodyPr/>
                    <a:lstStyle/>
                    <a:p>
                      <a:r>
                        <a:rPr sz="1373"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정답률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환각률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P95(초)</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제외·후순위 근거</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23850">
                <a:tc>
                  <a:txBody>
                    <a:bodyPr/>
                    <a:lstStyle/>
                    <a:p>
                      <a:r>
                        <a:rPr sz="1373" b="0">
                          <a:solidFill>
                            <a:srgbClr val="17171A"/>
                          </a:solidFill>
                          <a:latin typeface="맑은 고딕"/>
                          <a:ea typeface="맑은 고딕"/>
                          <a:cs typeface="맑은 고딕"/>
                        </a:rPr>
                        <a:t>Qwen3 1.7B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56.7%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1.43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내용 품질 부족</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323850">
                <a:tc>
                  <a:txBody>
                    <a:bodyPr/>
                    <a:lstStyle/>
                    <a:p>
                      <a:r>
                        <a:rPr sz="1373" b="1">
                          <a:solidFill>
                            <a:srgbClr val="F72585"/>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31.3%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50.3%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2.78</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4B 튜닝 후보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323850">
                <a:tc>
                  <a:txBody>
                    <a:bodyPr/>
                    <a:lstStyle/>
                    <a:p>
                      <a:r>
                        <a:rPr sz="1373"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43.7%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29.0%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2.92</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4B 튜닝 후보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r h="323850">
                <a:tc>
                  <a:txBody>
                    <a:bodyPr/>
                    <a:lstStyle/>
                    <a:p>
                      <a:r>
                        <a:rPr sz="1373" b="0">
                          <a:solidFill>
                            <a:srgbClr val="17171A"/>
                          </a:solidFill>
                          <a:latin typeface="맑은 고딕"/>
                          <a:ea typeface="맑은 고딕"/>
                          <a:cs typeface="맑은 고딕"/>
                        </a:rPr>
                        <a:t>EXAONE 7.8B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37.3%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53.3%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5.65</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보류 88건 실패</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323850">
                <a:tc>
                  <a:txBody>
                    <a:bodyPr/>
                    <a:lstStyle/>
                    <a:p>
                      <a:r>
                        <a:rPr sz="1373" b="0">
                          <a:solidFill>
                            <a:srgbClr val="17171A"/>
                          </a:solidFill>
                          <a:latin typeface="맑은 고딕"/>
                          <a:ea typeface="맑은 고딕"/>
                          <a:cs typeface="맑은 고딕"/>
                        </a:rPr>
                        <a:t>Qwen3 8B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43.7%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26.0%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4.53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튜닝 후 확장 후보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323850">
                <a:tc>
                  <a:txBody>
                    <a:bodyPr/>
                    <a:lstStyle/>
                    <a:p>
                      <a:r>
                        <a:rPr sz="1373" b="0">
                          <a:solidFill>
                            <a:srgbClr val="17171A"/>
                          </a:solidFill>
                          <a:latin typeface="맑은 고딕"/>
                          <a:ea typeface="맑은 고딕"/>
                          <a:cs typeface="맑은 고딕"/>
                        </a:rPr>
                        <a:t>Gemma3 12B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64.0%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21.3%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7.28</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크기·조건 판단</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323850">
                <a:tc>
                  <a:txBody>
                    <a:bodyPr/>
                    <a:lstStyle/>
                    <a:p>
                      <a:r>
                        <a:rPr sz="1373" b="1">
                          <a:solidFill>
                            <a:srgbClr val="FFFFFF"/>
                          </a:solidFill>
                          <a:latin typeface="맑은 고딕"/>
                          <a:ea typeface="맑은 고딕"/>
                          <a:cs typeface="맑은 고딕"/>
                        </a:rPr>
                        <a:t>Qwen3 14B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70.7%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23.7%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8.11</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1차 MVP 선정</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17171A"/>
                    </a:solidFill>
                  </a:tcPr>
                </a:tc>
                <a:extLst>
                  <a:ext uri="{0D108BD9-81ED-4DB2-BD59-A6C34878D82A}">
                    <a16:rowId xmlns:a16="http://schemas.microsoft.com/office/drawing/2014/main" val="10007"/>
                  </a:ext>
                </a:extLst>
              </a:tr>
              <a:tr h="323850">
                <a:tc>
                  <a:txBody>
                    <a:bodyPr/>
                    <a:lstStyle/>
                    <a:p>
                      <a:r>
                        <a:rPr sz="1373" b="0">
                          <a:solidFill>
                            <a:srgbClr val="17171A"/>
                          </a:solidFill>
                          <a:latin typeface="맑은 고딕"/>
                          <a:ea typeface="맑은 고딕"/>
                          <a:cs typeface="맑은 고딕"/>
                        </a:rPr>
                        <a:t>Qwen3 1.7B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39.0%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43.0%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5.04</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내용 품질 부족</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extLst>
                  <a:ext uri="{0D108BD9-81ED-4DB2-BD59-A6C34878D82A}">
                    <a16:rowId xmlns:a16="http://schemas.microsoft.com/office/drawing/2014/main" val="10008"/>
                  </a:ext>
                </a:extLst>
              </a:tr>
              <a:tr h="323850">
                <a:tc>
                  <a:txBody>
                    <a:bodyPr/>
                    <a:lstStyle/>
                    <a:p>
                      <a:r>
                        <a:rPr sz="1373" b="0">
                          <a:solidFill>
                            <a:srgbClr val="17171A"/>
                          </a:solidFill>
                          <a:latin typeface="맑은 고딕"/>
                          <a:ea typeface="맑은 고딕"/>
                          <a:cs typeface="맑은 고딕"/>
                        </a:rPr>
                        <a:t>Qwen3 4B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72.3%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13.7%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47.62</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품질 우수·지연 큼</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extLst>
                  <a:ext uri="{0D108BD9-81ED-4DB2-BD59-A6C34878D82A}">
                    <a16:rowId xmlns:a16="http://schemas.microsoft.com/office/drawing/2014/main" val="10009"/>
                  </a:ext>
                </a:extLst>
              </a:tr>
              <a:tr h="323850">
                <a:tc>
                  <a:txBody>
                    <a:bodyPr/>
                    <a:lstStyle/>
                    <a:p>
                      <a:r>
                        <a:rPr sz="1373" b="0">
                          <a:solidFill>
                            <a:srgbClr val="17171A"/>
                          </a:solidFill>
                          <a:latin typeface="맑은 고딕"/>
                          <a:ea typeface="맑은 고딕"/>
                          <a:cs typeface="맑은 고딕"/>
                        </a:rPr>
                        <a:t>Qwen3 8B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59.7%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26.8%</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18.33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품질·지연 검토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extLst>
                  <a:ext uri="{0D108BD9-81ED-4DB2-BD59-A6C34878D82A}">
                    <a16:rowId xmlns:a16="http://schemas.microsoft.com/office/drawing/2014/main" val="10010"/>
                  </a:ext>
                </a:extLst>
              </a:tr>
              <a:tr h="323850">
                <a:tc>
                  <a:txBody>
                    <a:bodyPr/>
                    <a:lstStyle/>
                    <a:p>
                      <a:r>
                        <a:rPr sz="1373" b="0">
                          <a:solidFill>
                            <a:srgbClr val="17171A"/>
                          </a:solidFill>
                          <a:latin typeface="맑은 고딕"/>
                          <a:ea typeface="맑은 고딕"/>
                          <a:cs typeface="맑은 고딕"/>
                        </a:rPr>
                        <a:t>Qwen3 14B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75.6%</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24.7%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28.49</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품질 우수·지연 큼</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extLst>
                  <a:ext uri="{0D108BD9-81ED-4DB2-BD59-A6C34878D82A}">
                    <a16:rowId xmlns:a16="http://schemas.microsoft.com/office/drawing/2014/main" val="10011"/>
                  </a:ext>
                </a:extLst>
              </a:tr>
            </a:tbl>
          </a:graphicData>
        </a:graphic>
      </p:graphicFrame>
      <p:sp>
        <p:nvSpPr>
          <p:cNvPr id="8" name="own-text-7">
            <a:extLst>
              <a:ext uri="{FF2B5EF4-FFF2-40B4-BE49-F238E27FC236}">
                <a16:creationId xmlns:a16="http://schemas.microsoft.com/office/drawing/2014/main" id="{657E453C-C2C4-4935-B4C1-FF989067D9F7}"/>
              </a:ext>
            </a:extLst>
          </p:cNvPr>
          <p:cNvSpPr>
            <a:spLocks noGrp="1"/>
          </p:cNvSpPr>
          <p:nvPr/>
        </p:nvSpPr>
        <p:spPr>
          <a:xfrm>
            <a:off x="628650" y="6057900"/>
            <a:ext cx="7239000" cy="428625"/>
          </a:xfrm>
          <a:prstGeom prst="rect">
            <a:avLst/>
          </a:prstGeom>
          <a:noFill/>
          <a:ln w="0">
            <a:noFill/>
          </a:ln>
        </p:spPr>
        <p:txBody>
          <a:bodyPr wrap="square" lIns="0" tIns="0" rIns="0" bIns="0" anchor="t">
            <a:noAutofit/>
          </a:bodyPr>
          <a:lstStyle>
            <a:defPPr algn="l">
              <a:defRPr sz="1252" b="0">
                <a:solidFill>
                  <a:srgbClr val="686B72"/>
                </a:solidFill>
                <a:latin typeface="맑은 고딕"/>
                <a:ea typeface="맑은 고딕"/>
                <a:cs typeface="맑은 고딕"/>
              </a:defRPr>
            </a:defPPr>
            <a:lvl1pPr algn="l">
              <a:defRPr sz="1252" b="0">
                <a:solidFill>
                  <a:srgbClr val="686B72"/>
                </a:solidFill>
                <a:latin typeface="맑은 고딕"/>
                <a:ea typeface="맑은 고딕"/>
                <a:cs typeface="맑은 고딕"/>
              </a:defRPr>
            </a:lvl1pPr>
            <a:lvl2pPr algn="l">
              <a:defRPr sz="1252" b="0">
                <a:solidFill>
                  <a:srgbClr val="686B72"/>
                </a:solidFill>
                <a:latin typeface="맑은 고딕"/>
                <a:ea typeface="맑은 고딕"/>
                <a:cs typeface="맑은 고딕"/>
              </a:defRPr>
            </a:lvl2pPr>
            <a:lvl3pPr algn="l">
              <a:defRPr sz="1252" b="0">
                <a:solidFill>
                  <a:srgbClr val="686B72"/>
                </a:solidFill>
                <a:latin typeface="맑은 고딕"/>
                <a:ea typeface="맑은 고딕"/>
                <a:cs typeface="맑은 고딕"/>
              </a:defRPr>
            </a:lvl3pPr>
            <a:lvl4pPr algn="l">
              <a:defRPr sz="1252" b="0">
                <a:solidFill>
                  <a:srgbClr val="686B72"/>
                </a:solidFill>
                <a:latin typeface="맑은 고딕"/>
                <a:ea typeface="맑은 고딕"/>
                <a:cs typeface="맑은 고딕"/>
              </a:defRPr>
            </a:lvl4pPr>
            <a:lvl5pPr algn="l">
              <a:defRPr sz="1252" b="0">
                <a:solidFill>
                  <a:srgbClr val="686B72"/>
                </a:solidFill>
                <a:latin typeface="맑은 고딕"/>
                <a:ea typeface="맑은 고딕"/>
                <a:cs typeface="맑은 고딕"/>
              </a:defRPr>
            </a:lvl5pPr>
            <a:lvl6pPr algn="l">
              <a:defRPr sz="1252" b="0">
                <a:solidFill>
                  <a:srgbClr val="686B72"/>
                </a:solidFill>
                <a:latin typeface="맑은 고딕"/>
                <a:ea typeface="맑은 고딕"/>
                <a:cs typeface="맑은 고딕"/>
              </a:defRPr>
            </a:lvl6pPr>
            <a:lvl7pPr algn="l">
              <a:defRPr sz="1252" b="0">
                <a:solidFill>
                  <a:srgbClr val="686B72"/>
                </a:solidFill>
                <a:latin typeface="맑은 고딕"/>
                <a:ea typeface="맑은 고딕"/>
                <a:cs typeface="맑은 고딕"/>
              </a:defRPr>
            </a:lvl7pPr>
            <a:lvl8pPr algn="l">
              <a:defRPr sz="1252" b="0">
                <a:solidFill>
                  <a:srgbClr val="686B72"/>
                </a:solidFill>
                <a:latin typeface="맑은 고딕"/>
                <a:ea typeface="맑은 고딕"/>
                <a:cs typeface="맑은 고딕"/>
              </a:defRPr>
            </a:lvl8pPr>
            <a:lvl9pPr algn="l">
              <a:defRPr sz="1252" b="0">
                <a:solidFill>
                  <a:srgbClr val="686B72"/>
                </a:solidFill>
                <a:latin typeface="맑은 고딕"/>
                <a:ea typeface="맑은 고딕"/>
                <a:cs typeface="맑은 고딕"/>
              </a:defRPr>
            </a:lvl9pPr>
          </a:lstStyle>
          <a:p>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앞서 Qwen 0.6B·Gemma 270M/1B·EXAONE 2.4B는 형식·내용 문제로 제외</a:t>
            </a:r>
          </a:p>
          <a:p>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해당 후보는 전수 정답률·환각률 평가가 없어 표에 넣지 않음</a:t>
            </a:r>
          </a:p>
        </p:txBody>
      </p:sp>
      <p:sp>
        <p:nvSpPr>
          <p:cNvPr id="9" name="own-text-8">
            <a:extLst>
              <a:ext uri="{FF2B5EF4-FFF2-40B4-BE49-F238E27FC236}">
                <a16:creationId xmlns:a16="http://schemas.microsoft.com/office/drawing/2014/main" id="{46BBC641-2559-4CD9-9EB6-724F134DB7A9}"/>
              </a:ext>
            </a:extLst>
          </p:cNvPr>
          <p:cNvSpPr>
            <a:spLocks noGrp="1"/>
          </p:cNvSpPr>
          <p:nvPr/>
        </p:nvSpPr>
        <p:spPr>
          <a:xfrm>
            <a:off x="8248650" y="2076450"/>
            <a:ext cx="4857750" cy="581025"/>
          </a:xfrm>
          <a:prstGeom prst="rect">
            <a:avLst/>
          </a:prstGeom>
          <a:noFill/>
          <a:ln w="0">
            <a:noFill/>
          </a:ln>
        </p:spPr>
        <p:txBody>
          <a:bodyPr wrap="square" lIns="0" tIns="0" rIns="0" bIns="0" anchor="t">
            <a:noAutofit/>
          </a:bodyPr>
          <a:lstStyle>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품질 기준으로 14B OFF를 1차 선정</a:t>
            </a:r>
          </a:p>
        </p:txBody>
      </p:sp>
      <p:graphicFrame>
        <p:nvGraphicFramePr>
          <p:cNvPr id="10" name="Chart">
            <a:extLst>
              <a:ext uri="{FF2B5EF4-FFF2-40B4-BE49-F238E27FC236}">
                <a16:creationId xmlns:a16="http://schemas.microsoft.com/office/drawing/2014/main" id="{A58A48AD-EA1A-4AFD-80EF-DB67CAE6685E}"/>
              </a:ext>
            </a:extLst>
          </p:cNvPr>
          <p:cNvGraphicFramePr/>
          <p:nvPr/>
        </p:nvGraphicFramePr>
        <p:xfrm>
          <a:off x="8248650" y="2771775"/>
          <a:ext cx="4857750" cy="2457450"/>
        </p:xfrm>
        <a:graphic>
          <a:graphicData uri="http://schemas.openxmlformats.org/drawingml/2006/chart">
            <c:chart xmlns:c="http://schemas.openxmlformats.org/drawingml/2006/chart" xmlns:r="http://schemas.openxmlformats.org/officeDocument/2006/relationships" r:id="rId3"/>
          </a:graphicData>
        </a:graphic>
      </p:graphicFrame>
      <p:sp>
        <p:nvSpPr>
          <p:cNvPr id="11" name="own-text-9">
            <a:extLst>
              <a:ext uri="{FF2B5EF4-FFF2-40B4-BE49-F238E27FC236}">
                <a16:creationId xmlns:a16="http://schemas.microsoft.com/office/drawing/2014/main" id="{58F31E3B-8929-491C-AC1B-D2078D56DEF9}"/>
              </a:ext>
            </a:extLst>
          </p:cNvPr>
          <p:cNvSpPr>
            <a:spLocks noGrp="1"/>
          </p:cNvSpPr>
          <p:nvPr/>
        </p:nvSpPr>
        <p:spPr>
          <a:xfrm>
            <a:off x="8248650" y="5391150"/>
            <a:ext cx="4857750" cy="514350"/>
          </a:xfrm>
          <a:prstGeom prst="rect">
            <a:avLst/>
          </a:prstGeom>
          <a:noFill/>
          <a:ln w="0">
            <a:noFill/>
          </a:ln>
        </p:spPr>
        <p:txBody>
          <a:bodyPr wrap="square" lIns="0" tIns="0" rIns="0" bIns="0" anchor="t">
            <a:noAutofit/>
          </a:bodyPr>
          <a:lstStyle>
            <a:defPPr algn="l">
              <a:defRPr sz="1395" b="0">
                <a:solidFill>
                  <a:srgbClr val="686B72"/>
                </a:solidFill>
                <a:latin typeface="맑은 고딕"/>
                <a:ea typeface="맑은 고딕"/>
                <a:cs typeface="맑은 고딕"/>
              </a:defRPr>
            </a:defPPr>
            <a:lvl1pPr algn="l">
              <a:defRPr sz="1395" b="0">
                <a:solidFill>
                  <a:srgbClr val="686B72"/>
                </a:solidFill>
                <a:latin typeface="맑은 고딕"/>
                <a:ea typeface="맑은 고딕"/>
                <a:cs typeface="맑은 고딕"/>
              </a:defRPr>
            </a:lvl1pPr>
            <a:lvl2pPr algn="l">
              <a:defRPr sz="1395" b="0">
                <a:solidFill>
                  <a:srgbClr val="686B72"/>
                </a:solidFill>
                <a:latin typeface="맑은 고딕"/>
                <a:ea typeface="맑은 고딕"/>
                <a:cs typeface="맑은 고딕"/>
              </a:defRPr>
            </a:lvl2pPr>
            <a:lvl3pPr algn="l">
              <a:defRPr sz="1395" b="0">
                <a:solidFill>
                  <a:srgbClr val="686B72"/>
                </a:solidFill>
                <a:latin typeface="맑은 고딕"/>
                <a:ea typeface="맑은 고딕"/>
                <a:cs typeface="맑은 고딕"/>
              </a:defRPr>
            </a:lvl3pPr>
            <a:lvl4pPr algn="l">
              <a:defRPr sz="1395" b="0">
                <a:solidFill>
                  <a:srgbClr val="686B72"/>
                </a:solidFill>
                <a:latin typeface="맑은 고딕"/>
                <a:ea typeface="맑은 고딕"/>
                <a:cs typeface="맑은 고딕"/>
              </a:defRPr>
            </a:lvl4pPr>
            <a:lvl5pPr algn="l">
              <a:defRPr sz="1395" b="0">
                <a:solidFill>
                  <a:srgbClr val="686B72"/>
                </a:solidFill>
                <a:latin typeface="맑은 고딕"/>
                <a:ea typeface="맑은 고딕"/>
                <a:cs typeface="맑은 고딕"/>
              </a:defRPr>
            </a:lvl5pPr>
            <a:lvl6pPr algn="l">
              <a:defRPr sz="1395" b="0">
                <a:solidFill>
                  <a:srgbClr val="686B72"/>
                </a:solidFill>
                <a:latin typeface="맑은 고딕"/>
                <a:ea typeface="맑은 고딕"/>
                <a:cs typeface="맑은 고딕"/>
              </a:defRPr>
            </a:lvl6pPr>
            <a:lvl7pPr algn="l">
              <a:defRPr sz="1395" b="0">
                <a:solidFill>
                  <a:srgbClr val="686B72"/>
                </a:solidFill>
                <a:latin typeface="맑은 고딕"/>
                <a:ea typeface="맑은 고딕"/>
                <a:cs typeface="맑은 고딕"/>
              </a:defRPr>
            </a:lvl7pPr>
            <a:lvl8pPr algn="l">
              <a:defRPr sz="1395" b="0">
                <a:solidFill>
                  <a:srgbClr val="686B72"/>
                </a:solidFill>
                <a:latin typeface="맑은 고딕"/>
                <a:ea typeface="맑은 고딕"/>
                <a:cs typeface="맑은 고딕"/>
              </a:defRPr>
            </a:lvl8pPr>
            <a:lvl9pPr algn="l">
              <a:defRPr sz="1395" b="0">
                <a:solidFill>
                  <a:srgbClr val="686B72"/>
                </a:solidFill>
                <a:latin typeface="맑은 고딕"/>
                <a:ea typeface="맑은 고딕"/>
                <a:cs typeface="맑은 고딕"/>
              </a:defRPr>
            </a:lvl9pPr>
          </a:lstStyle>
          <a:p>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동시 32명, 초당 완료 요청 수</a:t>
            </a:r>
          </a:p>
          <a:p>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L4·30초 시험·이전 Qwen3 계열</a:t>
            </a:r>
          </a:p>
        </p:txBody>
      </p:sp>
      <p:sp>
        <p:nvSpPr>
          <p:cNvPr id="12" name="own-text-10">
            <a:extLst>
              <a:ext uri="{FF2B5EF4-FFF2-40B4-BE49-F238E27FC236}">
                <a16:creationId xmlns:a16="http://schemas.microsoft.com/office/drawing/2014/main" id="{02CE0329-72FE-48A0-8FD6-D0FA12CCB5DD}"/>
              </a:ext>
            </a:extLst>
          </p:cNvPr>
          <p:cNvSpPr>
            <a:spLocks noGrp="1"/>
          </p:cNvSpPr>
          <p:nvPr/>
        </p:nvSpPr>
        <p:spPr>
          <a:xfrm>
            <a:off x="8248650" y="5962650"/>
            <a:ext cx="4857750" cy="590550"/>
          </a:xfrm>
          <a:prstGeom prst="rect">
            <a:avLst/>
          </a:prstGeom>
          <a:noFill/>
          <a:ln w="0">
            <a:noFill/>
          </a:ln>
        </p:spPr>
        <p:txBody>
          <a:bodyPr wrap="square" lIns="0" tIns="0" rIns="0" bIns="0" anchor="t">
            <a:noAutofit/>
          </a:bodyPr>
          <a:lstStyle>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동시 서빙 부담을 줄이기 위해</a:t>
            </a:r>
          </a:p>
          <a:p>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4B 모델의 튜닝 가능성을 재검토</a:t>
            </a:r>
          </a:p>
        </p:txBody>
      </p:sp>
    </p:spTree>
    <p:extLst>
      <p:ext uri="{BB962C8B-B14F-4D97-AF65-F5344CB8AC3E}">
        <p14:creationId xmlns:p14="http://schemas.microsoft.com/office/powerpoint/2010/main" val="29447938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wn-text-11">
            <a:extLst>
              <a:ext uri="{FF2B5EF4-FFF2-40B4-BE49-F238E27FC236}">
                <a16:creationId xmlns:a16="http://schemas.microsoft.com/office/drawing/2014/main" id="{84259CE2-D48A-41A3-B938-0355C1B319AB}"/>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12">
            <a:extLst>
              <a:ext uri="{FF2B5EF4-FFF2-40B4-BE49-F238E27FC236}">
                <a16:creationId xmlns:a16="http://schemas.microsoft.com/office/drawing/2014/main" id="{9F6C9DD5-0403-4A67-A5A2-FE2E8FAD7E6E}"/>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Gemma와 Qwen, 4B 튜닝 대상 선정</a:t>
            </a:r>
          </a:p>
        </p:txBody>
      </p:sp>
      <p:sp>
        <p:nvSpPr>
          <p:cNvPr id="3" name="own-text-13">
            <a:extLst>
              <a:ext uri="{FF2B5EF4-FFF2-40B4-BE49-F238E27FC236}">
                <a16:creationId xmlns:a16="http://schemas.microsoft.com/office/drawing/2014/main" id="{9816980D-24D7-4CCE-A245-39301A5EAAFA}"/>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같은 v4 조건에서 보류 안정성·오답 유형·프롬프트 교정 가능성을 비교</a:t>
            </a:r>
          </a:p>
        </p:txBody>
      </p:sp>
      <p:sp>
        <p:nvSpPr>
          <p:cNvPr id="4" name="own-text-14">
            <a:extLst>
              <a:ext uri="{FF2B5EF4-FFF2-40B4-BE49-F238E27FC236}">
                <a16:creationId xmlns:a16="http://schemas.microsoft.com/office/drawing/2014/main" id="{F2546C84-B1A4-4863-9F03-475967C39A56}"/>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15">
            <a:extLst>
              <a:ext uri="{FF2B5EF4-FFF2-40B4-BE49-F238E27FC236}">
                <a16:creationId xmlns:a16="http://schemas.microsoft.com/office/drawing/2014/main" id="{E7D5C094-294F-45D8-B49B-AA33A9D690AA}"/>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10</a:t>
            </a:r>
            <a:endParaRPr sz="1300" b="0">
              <a:solidFill>
                <a:srgbClr val="686B72"/>
              </a:solidFill>
              <a:latin typeface="맑은 고딕"/>
              <a:ea typeface="맑은 고딕"/>
              <a:cs typeface="맑은 고딕"/>
            </a:endParaRPr>
          </a:p>
        </p:txBody>
      </p:sp>
      <p:sp>
        <p:nvSpPr>
          <p:cNvPr id="6" name="own-text-16">
            <a:extLst>
              <a:ext uri="{FF2B5EF4-FFF2-40B4-BE49-F238E27FC236}">
                <a16:creationId xmlns:a16="http://schemas.microsoft.com/office/drawing/2014/main" id="{C64B139F-9552-4076-A9A1-5E7DAB679103}"/>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답변·계산 정답률은 실제 답한 표본으로 선택 편향 포함. 보류 정답 830건은 자료 부족·충돌·범위 밖 문항.</a:t>
            </a:r>
          </a:p>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답이 없는 문항은 두 모델 공통 670건. 답변 가능 출력은 모델 상태값 기준. 정답과 환각은 별도 판정.</a:t>
            </a:r>
          </a:p>
        </p:txBody>
      </p:sp>
      <p:graphicFrame>
        <p:nvGraphicFramePr>
          <p:cNvPr id="7" name="표 6">
            <a:extLst>
              <a:ext uri="{FF2B5EF4-FFF2-40B4-BE49-F238E27FC236}">
                <a16:creationId xmlns:a16="http://schemas.microsoft.com/office/drawing/2014/main" id="{89FE7996-9CD1-4175-AF9F-FC416B95F252}"/>
              </a:ext>
            </a:extLst>
          </p:cNvPr>
          <p:cNvGraphicFramePr/>
          <p:nvPr/>
        </p:nvGraphicFramePr>
        <p:xfrm>
          <a:off x="628650" y="2076450"/>
          <a:ext cx="8001000" cy="3619500"/>
        </p:xfrm>
        <a:graphic>
          <a:graphicData uri="http://schemas.openxmlformats.org/drawingml/2006/table">
            <a:tbl>
              <a:tblPr/>
              <a:tblGrid>
                <a:gridCol w="4724400">
                  <a:extLst>
                    <a:ext uri="{9D8B030D-6E8A-4147-A177-3AD203B41FA5}">
                      <a16:colId xmlns:a16="http://schemas.microsoft.com/office/drawing/2014/main" val="20000"/>
                    </a:ext>
                  </a:extLst>
                </a:gridCol>
                <a:gridCol w="1638300">
                  <a:extLst>
                    <a:ext uri="{9D8B030D-6E8A-4147-A177-3AD203B41FA5}">
                      <a16:colId xmlns:a16="http://schemas.microsoft.com/office/drawing/2014/main" val="20001"/>
                    </a:ext>
                  </a:extLst>
                </a:gridCol>
                <a:gridCol w="1638300">
                  <a:extLst>
                    <a:ext uri="{9D8B030D-6E8A-4147-A177-3AD203B41FA5}">
                      <a16:colId xmlns:a16="http://schemas.microsoft.com/office/drawing/2014/main" val="20002"/>
                    </a:ext>
                  </a:extLst>
                </a:gridCol>
              </a:tblGrid>
              <a:tr h="452438">
                <a:tc>
                  <a:txBody>
                    <a:bodyPr/>
                    <a:lstStyle/>
                    <a:p>
                      <a:r>
                        <a:rPr sz="1598" b="1">
                          <a:solidFill>
                            <a:srgbClr val="FFFFFF"/>
                          </a:solidFill>
                          <a:latin typeface="맑은 고딕"/>
                          <a:ea typeface="맑은 고딕"/>
                          <a:cs typeface="맑은 고딕"/>
                        </a:rPr>
                        <a:t>v4 기준선 비교</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Gemma3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Qwen3 OFF</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52438">
                <a:tc>
                  <a:txBody>
                    <a:bodyPr/>
                    <a:lstStyle/>
                    <a:p>
                      <a:r>
                        <a:rPr sz="1598" b="1">
                          <a:solidFill>
                            <a:srgbClr val="F72585"/>
                          </a:solidFill>
                          <a:latin typeface="맑은 고딕"/>
                          <a:ea typeface="맑은 고딕"/>
                          <a:cs typeface="맑은 고딕"/>
                        </a:rPr>
                        <a:t>오답 중 답할 수 있는데 보류</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3.5%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36.6%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1"/>
                  </a:ext>
                </a:extLst>
              </a:tr>
              <a:tr h="452438">
                <a:tc>
                  <a:txBody>
                    <a:bodyPr/>
                    <a:lstStyle/>
                    <a:p>
                      <a:r>
                        <a:rPr sz="1598" b="1">
                          <a:solidFill>
                            <a:srgbClr val="F72585"/>
                          </a:solidFill>
                          <a:latin typeface="맑은 고딕"/>
                          <a:ea typeface="맑은 고딕"/>
                          <a:cs typeface="맑은 고딕"/>
                        </a:rPr>
                        <a:t>답변했을 때의 정답률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69.9%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77.0%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452438">
                <a:tc>
                  <a:txBody>
                    <a:bodyPr/>
                    <a:lstStyle/>
                    <a:p>
                      <a:r>
                        <a:rPr sz="1598" b="0">
                          <a:solidFill>
                            <a:srgbClr val="17171A"/>
                          </a:solidFill>
                          <a:latin typeface="맑은 고딕"/>
                          <a:ea typeface="맑은 고딕"/>
                          <a:cs typeface="맑은 고딕"/>
                        </a:rPr>
                        <a:t>계산형 답변의 정답률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48.0%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55.5%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52438">
                <a:tc>
                  <a:txBody>
                    <a:bodyPr/>
                    <a:lstStyle/>
                    <a:p>
                      <a:r>
                        <a:rPr sz="1598" b="0">
                          <a:solidFill>
                            <a:srgbClr val="17171A"/>
                          </a:solidFill>
                          <a:latin typeface="맑은 고딕"/>
                          <a:ea typeface="맑은 고딕"/>
                          <a:cs typeface="맑은 고딕"/>
                        </a:rPr>
                        <a:t>보류가 정답인 문항의 정답률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79.5%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87.2%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452438">
                <a:tc>
                  <a:txBody>
                    <a:bodyPr/>
                    <a:lstStyle/>
                    <a:p>
                      <a:r>
                        <a:rPr sz="1598" b="0">
                          <a:solidFill>
                            <a:srgbClr val="17171A"/>
                          </a:solidFill>
                          <a:latin typeface="맑은 고딕"/>
                          <a:ea typeface="맑은 고딕"/>
                          <a:cs typeface="맑은 고딕"/>
                        </a:rPr>
                        <a:t>답이 없는 문항의 오답률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10.6%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452438">
                <a:tc>
                  <a:txBody>
                    <a:bodyPr/>
                    <a:lstStyle/>
                    <a:p>
                      <a:r>
                        <a:rPr sz="1598" b="0">
                          <a:solidFill>
                            <a:srgbClr val="17171A"/>
                          </a:solidFill>
                          <a:latin typeface="맑은 고딕"/>
                          <a:ea typeface="맑은 고딕"/>
                          <a:cs typeface="맑은 고딕"/>
                        </a:rPr>
                        <a:t>답이 없는 문항의 환각률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31.9%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21.3%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452438">
                <a:tc>
                  <a:txBody>
                    <a:bodyPr/>
                    <a:lstStyle/>
                    <a:p>
                      <a:r>
                        <a:rPr sz="1598" b="0">
                          <a:solidFill>
                            <a:srgbClr val="17171A"/>
                          </a:solidFill>
                          <a:latin typeface="맑은 고딕"/>
                          <a:ea typeface="맑은 고딕"/>
                          <a:cs typeface="맑은 고딕"/>
                        </a:rPr>
                        <a:t>답변 가능 출력의 환각률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8.3%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8" name="own-text-17">
            <a:extLst>
              <a:ext uri="{FF2B5EF4-FFF2-40B4-BE49-F238E27FC236}">
                <a16:creationId xmlns:a16="http://schemas.microsoft.com/office/drawing/2014/main" id="{ED743BAD-A014-4AC1-9DFC-FDDE6F367AF0}"/>
              </a:ext>
            </a:extLst>
          </p:cNvPr>
          <p:cNvSpPr>
            <a:spLocks noGrp="1"/>
          </p:cNvSpPr>
          <p:nvPr/>
        </p:nvSpPr>
        <p:spPr>
          <a:xfrm>
            <a:off x="9086850" y="2076450"/>
            <a:ext cx="4000500" cy="333375"/>
          </a:xfrm>
          <a:prstGeom prst="rect">
            <a:avLst/>
          </a:prstGeom>
          <a:noFill/>
          <a:ln w="0">
            <a:noFill/>
          </a:ln>
        </p:spPr>
        <p:txBody>
          <a:bodyPr wrap="square" lIns="0" tIns="0" rIns="0" bIns="0" anchor="t">
            <a:noAutofit/>
          </a:bodyPr>
          <a:lstStyle>
            <a:defPPr algn="l">
              <a:defRPr sz="1748" b="1">
                <a:solidFill>
                  <a:srgbClr val="17171A"/>
                </a:solidFill>
                <a:latin typeface="맑은 고딕"/>
                <a:ea typeface="맑은 고딕"/>
                <a:cs typeface="맑은 고딕"/>
              </a:defRPr>
            </a:defPPr>
            <a:lvl1pPr algn="l">
              <a:defRPr sz="1748" b="1">
                <a:solidFill>
                  <a:srgbClr val="17171A"/>
                </a:solidFill>
                <a:latin typeface="맑은 고딕"/>
                <a:ea typeface="맑은 고딕"/>
                <a:cs typeface="맑은 고딕"/>
              </a:defRPr>
            </a:lvl1pPr>
            <a:lvl2pPr algn="l">
              <a:defRPr sz="1748" b="1">
                <a:solidFill>
                  <a:srgbClr val="17171A"/>
                </a:solidFill>
                <a:latin typeface="맑은 고딕"/>
                <a:ea typeface="맑은 고딕"/>
                <a:cs typeface="맑은 고딕"/>
              </a:defRPr>
            </a:lvl2pPr>
            <a:lvl3pPr algn="l">
              <a:defRPr sz="1748" b="1">
                <a:solidFill>
                  <a:srgbClr val="17171A"/>
                </a:solidFill>
                <a:latin typeface="맑은 고딕"/>
                <a:ea typeface="맑은 고딕"/>
                <a:cs typeface="맑은 고딕"/>
              </a:defRPr>
            </a:lvl3pPr>
            <a:lvl4pPr algn="l">
              <a:defRPr sz="1748" b="1">
                <a:solidFill>
                  <a:srgbClr val="17171A"/>
                </a:solidFill>
                <a:latin typeface="맑은 고딕"/>
                <a:ea typeface="맑은 고딕"/>
                <a:cs typeface="맑은 고딕"/>
              </a:defRPr>
            </a:lvl4pPr>
            <a:lvl5pPr algn="l">
              <a:defRPr sz="1748" b="1">
                <a:solidFill>
                  <a:srgbClr val="17171A"/>
                </a:solidFill>
                <a:latin typeface="맑은 고딕"/>
                <a:ea typeface="맑은 고딕"/>
                <a:cs typeface="맑은 고딕"/>
              </a:defRPr>
            </a:lvl5pPr>
            <a:lvl6pPr algn="l">
              <a:defRPr sz="1748" b="1">
                <a:solidFill>
                  <a:srgbClr val="17171A"/>
                </a:solidFill>
                <a:latin typeface="맑은 고딕"/>
                <a:ea typeface="맑은 고딕"/>
                <a:cs typeface="맑은 고딕"/>
              </a:defRPr>
            </a:lvl6pPr>
            <a:lvl7pPr algn="l">
              <a:defRPr sz="1748" b="1">
                <a:solidFill>
                  <a:srgbClr val="17171A"/>
                </a:solidFill>
                <a:latin typeface="맑은 고딕"/>
                <a:ea typeface="맑은 고딕"/>
                <a:cs typeface="맑은 고딕"/>
              </a:defRPr>
            </a:lvl7pPr>
            <a:lvl8pPr algn="l">
              <a:defRPr sz="1748" b="1">
                <a:solidFill>
                  <a:srgbClr val="17171A"/>
                </a:solidFill>
                <a:latin typeface="맑은 고딕"/>
                <a:ea typeface="맑은 고딕"/>
                <a:cs typeface="맑은 고딕"/>
              </a:defRPr>
            </a:lvl8pPr>
            <a:lvl9pPr algn="l">
              <a:defRPr sz="1748" b="1">
                <a:solidFill>
                  <a:srgbClr val="17171A"/>
                </a:solidFill>
                <a:latin typeface="맑은 고딕"/>
                <a:ea typeface="맑은 고딕"/>
                <a:cs typeface="맑은 고딕"/>
              </a:defRPr>
            </a:lvl9pPr>
          </a:lstStyle>
          <a:p>
            <a:pPr algn="l">
              <a:defRPr sz="1748" b="1">
                <a:solidFill>
                  <a:srgbClr val="17171A"/>
                </a:solidFill>
                <a:latin typeface="맑은 고딕"/>
                <a:ea typeface="맑은 고딕"/>
                <a:cs typeface="맑은 고딕"/>
              </a:defRPr>
            </a:pPr>
            <a:r>
              <a:rPr sz="1748" b="1">
                <a:solidFill>
                  <a:srgbClr val="17171A"/>
                </a:solidFill>
                <a:latin typeface="맑은 고딕"/>
                <a:ea typeface="맑은 고딕"/>
                <a:cs typeface="맑은 고딕"/>
              </a:rPr>
              <a:t>4B 후보 재평가 (약 2,600건)</a:t>
            </a:r>
          </a:p>
        </p:txBody>
      </p:sp>
      <p:graphicFrame>
        <p:nvGraphicFramePr>
          <p:cNvPr id="9" name="표 8">
            <a:extLst>
              <a:ext uri="{FF2B5EF4-FFF2-40B4-BE49-F238E27FC236}">
                <a16:creationId xmlns:a16="http://schemas.microsoft.com/office/drawing/2014/main" id="{8BF3AE3C-BDCC-411D-8CF3-EB258375CF2C}"/>
              </a:ext>
            </a:extLst>
          </p:cNvPr>
          <p:cNvGraphicFramePr/>
          <p:nvPr/>
        </p:nvGraphicFramePr>
        <p:xfrm>
          <a:off x="9086850" y="2514600"/>
          <a:ext cx="4000500" cy="1066800"/>
        </p:xfrm>
        <a:graphic>
          <a:graphicData uri="http://schemas.openxmlformats.org/drawingml/2006/table">
            <a:tbl>
              <a:tblPr/>
              <a:tblGrid>
                <a:gridCol w="1847850">
                  <a:extLst>
                    <a:ext uri="{9D8B030D-6E8A-4147-A177-3AD203B41FA5}">
                      <a16:colId xmlns:a16="http://schemas.microsoft.com/office/drawing/2014/main" val="20000"/>
                    </a:ext>
                  </a:extLst>
                </a:gridCol>
                <a:gridCol w="1076325">
                  <a:extLst>
                    <a:ext uri="{9D8B030D-6E8A-4147-A177-3AD203B41FA5}">
                      <a16:colId xmlns:a16="http://schemas.microsoft.com/office/drawing/2014/main" val="20001"/>
                    </a:ext>
                  </a:extLst>
                </a:gridCol>
                <a:gridCol w="1076325">
                  <a:extLst>
                    <a:ext uri="{9D8B030D-6E8A-4147-A177-3AD203B41FA5}">
                      <a16:colId xmlns:a16="http://schemas.microsoft.com/office/drawing/2014/main" val="20002"/>
                    </a:ext>
                  </a:extLst>
                </a:gridCol>
              </a:tblGrid>
              <a:tr h="355600">
                <a:tc>
                  <a:txBody>
                    <a:bodyPr/>
                    <a:lstStyle/>
                    <a:p>
                      <a:r>
                        <a:rPr sz="1448"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448" b="1">
                          <a:solidFill>
                            <a:srgbClr val="FFFFFF"/>
                          </a:solidFill>
                          <a:latin typeface="맑은 고딕"/>
                          <a:ea typeface="맑은 고딕"/>
                          <a:cs typeface="맑은 고딕"/>
                        </a:rPr>
                        <a:t>정답률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448" b="1">
                          <a:solidFill>
                            <a:srgbClr val="FFFFFF"/>
                          </a:solidFill>
                          <a:latin typeface="맑은 고딕"/>
                          <a:ea typeface="맑은 고딕"/>
                          <a:cs typeface="맑은 고딕"/>
                        </a:rPr>
                        <a:t>환각률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55600">
                <a:tc>
                  <a:txBody>
                    <a:bodyPr/>
                    <a:lstStyle/>
                    <a:p>
                      <a:r>
                        <a:rPr sz="1448" b="0">
                          <a:solidFill>
                            <a:srgbClr val="17171A"/>
                          </a:solidFill>
                          <a:latin typeface="맑은 고딕"/>
                          <a:ea typeface="맑은 고딕"/>
                          <a:cs typeface="맑은 고딕"/>
                        </a:rPr>
                        <a:t>Gemma3</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448" b="0">
                          <a:solidFill>
                            <a:srgbClr val="17171A"/>
                          </a:solidFill>
                          <a:latin typeface="맑은 고딕"/>
                          <a:ea typeface="맑은 고딕"/>
                          <a:cs typeface="맑은 고딕"/>
                        </a:rPr>
                        <a:t>65.1%</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448" b="0">
                          <a:solidFill>
                            <a:srgbClr val="17171A"/>
                          </a:solidFill>
                          <a:latin typeface="맑은 고딕"/>
                          <a:ea typeface="맑은 고딕"/>
                          <a:cs typeface="맑은 고딕"/>
                        </a:rPr>
                        <a:t>24.1%</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355600">
                <a:tc>
                  <a:txBody>
                    <a:bodyPr/>
                    <a:lstStyle/>
                    <a:p>
                      <a:r>
                        <a:rPr sz="1448" b="1">
                          <a:solidFill>
                            <a:srgbClr val="F72585"/>
                          </a:solidFill>
                          <a:latin typeface="맑은 고딕"/>
                          <a:ea typeface="맑은 고딕"/>
                          <a:cs typeface="맑은 고딕"/>
                        </a:rPr>
                        <a:t>Qwen3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448" b="1">
                          <a:solidFill>
                            <a:srgbClr val="F72585"/>
                          </a:solidFill>
                          <a:latin typeface="맑은 고딕"/>
                          <a:ea typeface="맑은 고딕"/>
                          <a:cs typeface="맑은 고딕"/>
                        </a:rPr>
                        <a:t>63.0%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448" b="1">
                          <a:solidFill>
                            <a:srgbClr val="F72585"/>
                          </a:solidFill>
                          <a:latin typeface="맑은 고딕"/>
                          <a:ea typeface="맑은 고딕"/>
                          <a:cs typeface="맑은 고딕"/>
                        </a:rPr>
                        <a:t>22.0%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bl>
          </a:graphicData>
        </a:graphic>
      </p:graphicFrame>
      <p:sp>
        <p:nvSpPr>
          <p:cNvPr id="10" name="own-text-18">
            <a:extLst>
              <a:ext uri="{FF2B5EF4-FFF2-40B4-BE49-F238E27FC236}">
                <a16:creationId xmlns:a16="http://schemas.microsoft.com/office/drawing/2014/main" id="{D0A4A04D-AAD0-4A94-8FA0-6A440D4CDADD}"/>
              </a:ext>
            </a:extLst>
          </p:cNvPr>
          <p:cNvSpPr>
            <a:spLocks noGrp="1"/>
          </p:cNvSpPr>
          <p:nvPr/>
        </p:nvSpPr>
        <p:spPr>
          <a:xfrm>
            <a:off x="9086850" y="3800475"/>
            <a:ext cx="4000500" cy="314325"/>
          </a:xfrm>
          <a:prstGeom prst="rect">
            <a:avLst/>
          </a:prstGeom>
          <a:noFill/>
          <a:ln w="0">
            <a:noFill/>
          </a:ln>
        </p:spPr>
        <p:txBody>
          <a:bodyPr wrap="square" lIns="0" tIns="0" rIns="0" bIns="0" anchor="t">
            <a:noAutofit/>
          </a:bodyPr>
          <a:lstStyle>
            <a:defPPr algn="l">
              <a:defRPr sz="1748" b="1">
                <a:solidFill>
                  <a:srgbClr val="17171A"/>
                </a:solidFill>
                <a:latin typeface="맑은 고딕"/>
                <a:ea typeface="맑은 고딕"/>
                <a:cs typeface="맑은 고딕"/>
              </a:defRPr>
            </a:defPPr>
            <a:lvl1pPr algn="l">
              <a:defRPr sz="1748" b="1">
                <a:solidFill>
                  <a:srgbClr val="17171A"/>
                </a:solidFill>
                <a:latin typeface="맑은 고딕"/>
                <a:ea typeface="맑은 고딕"/>
                <a:cs typeface="맑은 고딕"/>
              </a:defRPr>
            </a:lvl1pPr>
            <a:lvl2pPr algn="l">
              <a:defRPr sz="1748" b="1">
                <a:solidFill>
                  <a:srgbClr val="17171A"/>
                </a:solidFill>
                <a:latin typeface="맑은 고딕"/>
                <a:ea typeface="맑은 고딕"/>
                <a:cs typeface="맑은 고딕"/>
              </a:defRPr>
            </a:lvl2pPr>
            <a:lvl3pPr algn="l">
              <a:defRPr sz="1748" b="1">
                <a:solidFill>
                  <a:srgbClr val="17171A"/>
                </a:solidFill>
                <a:latin typeface="맑은 고딕"/>
                <a:ea typeface="맑은 고딕"/>
                <a:cs typeface="맑은 고딕"/>
              </a:defRPr>
            </a:lvl3pPr>
            <a:lvl4pPr algn="l">
              <a:defRPr sz="1748" b="1">
                <a:solidFill>
                  <a:srgbClr val="17171A"/>
                </a:solidFill>
                <a:latin typeface="맑은 고딕"/>
                <a:ea typeface="맑은 고딕"/>
                <a:cs typeface="맑은 고딕"/>
              </a:defRPr>
            </a:lvl4pPr>
            <a:lvl5pPr algn="l">
              <a:defRPr sz="1748" b="1">
                <a:solidFill>
                  <a:srgbClr val="17171A"/>
                </a:solidFill>
                <a:latin typeface="맑은 고딕"/>
                <a:ea typeface="맑은 고딕"/>
                <a:cs typeface="맑은 고딕"/>
              </a:defRPr>
            </a:lvl5pPr>
            <a:lvl6pPr algn="l">
              <a:defRPr sz="1748" b="1">
                <a:solidFill>
                  <a:srgbClr val="17171A"/>
                </a:solidFill>
                <a:latin typeface="맑은 고딕"/>
                <a:ea typeface="맑은 고딕"/>
                <a:cs typeface="맑은 고딕"/>
              </a:defRPr>
            </a:lvl6pPr>
            <a:lvl7pPr algn="l">
              <a:defRPr sz="1748" b="1">
                <a:solidFill>
                  <a:srgbClr val="17171A"/>
                </a:solidFill>
                <a:latin typeface="맑은 고딕"/>
                <a:ea typeface="맑은 고딕"/>
                <a:cs typeface="맑은 고딕"/>
              </a:defRPr>
            </a:lvl7pPr>
            <a:lvl8pPr algn="l">
              <a:defRPr sz="1748" b="1">
                <a:solidFill>
                  <a:srgbClr val="17171A"/>
                </a:solidFill>
                <a:latin typeface="맑은 고딕"/>
                <a:ea typeface="맑은 고딕"/>
                <a:cs typeface="맑은 고딕"/>
              </a:defRPr>
            </a:lvl8pPr>
            <a:lvl9pPr algn="l">
              <a:defRPr sz="1748" b="1">
                <a:solidFill>
                  <a:srgbClr val="17171A"/>
                </a:solidFill>
                <a:latin typeface="맑은 고딕"/>
                <a:ea typeface="맑은 고딕"/>
                <a:cs typeface="맑은 고딕"/>
              </a:defRPr>
            </a:lvl9pPr>
          </a:lstStyle>
          <a:p>
            <a:pPr algn="l">
              <a:defRPr sz="1748" b="1">
                <a:solidFill>
                  <a:srgbClr val="17171A"/>
                </a:solidFill>
                <a:latin typeface="맑은 고딕"/>
                <a:ea typeface="맑은 고딕"/>
                <a:cs typeface="맑은 고딕"/>
              </a:defRPr>
            </a:pPr>
            <a:r>
              <a:rPr sz="1748" b="1">
                <a:solidFill>
                  <a:srgbClr val="17171A"/>
                </a:solidFill>
                <a:latin typeface="맑은 고딕"/>
                <a:ea typeface="맑은 고딕"/>
                <a:cs typeface="맑은 고딕"/>
              </a:rPr>
              <a:t>Gemma의 약점</a:t>
            </a:r>
          </a:p>
        </p:txBody>
      </p:sp>
      <p:sp>
        <p:nvSpPr>
          <p:cNvPr id="11" name="own-text-19">
            <a:extLst>
              <a:ext uri="{FF2B5EF4-FFF2-40B4-BE49-F238E27FC236}">
                <a16:creationId xmlns:a16="http://schemas.microsoft.com/office/drawing/2014/main" id="{A92B45C8-1FD8-4355-8CE0-76D2D73A0EAA}"/>
              </a:ext>
            </a:extLst>
          </p:cNvPr>
          <p:cNvSpPr>
            <a:spLocks noGrp="1"/>
          </p:cNvSpPr>
          <p:nvPr/>
        </p:nvSpPr>
        <p:spPr>
          <a:xfrm>
            <a:off x="9086850" y="4248150"/>
            <a:ext cx="4000500" cy="990600"/>
          </a:xfrm>
          <a:prstGeom prst="rect">
            <a:avLst/>
          </a:prstGeom>
          <a:noFill/>
          <a:ln w="0">
            <a:noFill/>
          </a:ln>
        </p:spPr>
        <p:txBody>
          <a:bodyPr wrap="square" lIns="0" tIns="0" rIns="0" bIns="0" anchor="t">
            <a:noAutofit/>
          </a:bodyPr>
          <a:lstStyle>
            <a:defPPr algn="l">
              <a:defRPr sz="1448" b="0">
                <a:solidFill>
                  <a:srgbClr val="686B72"/>
                </a:solidFill>
                <a:latin typeface="맑은 고딕"/>
                <a:ea typeface="맑은 고딕"/>
                <a:cs typeface="맑은 고딕"/>
              </a:defRPr>
            </a:defPPr>
            <a:lvl1pPr algn="l">
              <a:defRPr sz="1448" b="0">
                <a:solidFill>
                  <a:srgbClr val="686B72"/>
                </a:solidFill>
                <a:latin typeface="맑은 고딕"/>
                <a:ea typeface="맑은 고딕"/>
                <a:cs typeface="맑은 고딕"/>
              </a:defRPr>
            </a:lvl1pPr>
            <a:lvl2pPr algn="l">
              <a:defRPr sz="1448" b="0">
                <a:solidFill>
                  <a:srgbClr val="686B72"/>
                </a:solidFill>
                <a:latin typeface="맑은 고딕"/>
                <a:ea typeface="맑은 고딕"/>
                <a:cs typeface="맑은 고딕"/>
              </a:defRPr>
            </a:lvl2pPr>
            <a:lvl3pPr algn="l">
              <a:defRPr sz="1448" b="0">
                <a:solidFill>
                  <a:srgbClr val="686B72"/>
                </a:solidFill>
                <a:latin typeface="맑은 고딕"/>
                <a:ea typeface="맑은 고딕"/>
                <a:cs typeface="맑은 고딕"/>
              </a:defRPr>
            </a:lvl3pPr>
            <a:lvl4pPr algn="l">
              <a:defRPr sz="1448" b="0">
                <a:solidFill>
                  <a:srgbClr val="686B72"/>
                </a:solidFill>
                <a:latin typeface="맑은 고딕"/>
                <a:ea typeface="맑은 고딕"/>
                <a:cs typeface="맑은 고딕"/>
              </a:defRPr>
            </a:lvl4pPr>
            <a:lvl5pPr algn="l">
              <a:defRPr sz="1448" b="0">
                <a:solidFill>
                  <a:srgbClr val="686B72"/>
                </a:solidFill>
                <a:latin typeface="맑은 고딕"/>
                <a:ea typeface="맑은 고딕"/>
                <a:cs typeface="맑은 고딕"/>
              </a:defRPr>
            </a:lvl5pPr>
            <a:lvl6pPr algn="l">
              <a:defRPr sz="1448" b="0">
                <a:solidFill>
                  <a:srgbClr val="686B72"/>
                </a:solidFill>
                <a:latin typeface="맑은 고딕"/>
                <a:ea typeface="맑은 고딕"/>
                <a:cs typeface="맑은 고딕"/>
              </a:defRPr>
            </a:lvl6pPr>
            <a:lvl7pPr algn="l">
              <a:defRPr sz="1448" b="0">
                <a:solidFill>
                  <a:srgbClr val="686B72"/>
                </a:solidFill>
                <a:latin typeface="맑은 고딕"/>
                <a:ea typeface="맑은 고딕"/>
                <a:cs typeface="맑은 고딕"/>
              </a:defRPr>
            </a:lvl7pPr>
            <a:lvl8pPr algn="l">
              <a:defRPr sz="1448" b="0">
                <a:solidFill>
                  <a:srgbClr val="686B72"/>
                </a:solidFill>
                <a:latin typeface="맑은 고딕"/>
                <a:ea typeface="맑은 고딕"/>
                <a:cs typeface="맑은 고딕"/>
              </a:defRPr>
            </a:lvl8pPr>
            <a:lvl9pPr algn="l">
              <a:defRPr sz="1448" b="0">
                <a:solidFill>
                  <a:srgbClr val="686B72"/>
                </a:solidFill>
                <a:latin typeface="맑은 고딕"/>
                <a:ea typeface="맑은 고딕"/>
                <a:cs typeface="맑은 고딕"/>
              </a:defRPr>
            </a:lvl9pPr>
          </a:lstStyle>
          <a:p>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계산 오적용·답 없는 문항의 오답·환각</a:t>
            </a:r>
          </a:p>
          <a:p>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자료 부족 3유형 비중 28.3%→23.1%</a:t>
            </a:r>
          </a:p>
          <a:p>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문항·보류 지침도 바뀐 시험에서</a:t>
            </a:r>
          </a:p>
          <a:p>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전체 환각률 50.3%→24.1%</a:t>
            </a:r>
          </a:p>
        </p:txBody>
      </p:sp>
      <p:sp>
        <p:nvSpPr>
          <p:cNvPr id="12" name="own-text-20">
            <a:extLst>
              <a:ext uri="{FF2B5EF4-FFF2-40B4-BE49-F238E27FC236}">
                <a16:creationId xmlns:a16="http://schemas.microsoft.com/office/drawing/2014/main" id="{15A3A219-8CEE-4154-AB7D-B5B7A35BDA7C}"/>
              </a:ext>
            </a:extLst>
          </p:cNvPr>
          <p:cNvSpPr>
            <a:spLocks noGrp="1"/>
          </p:cNvSpPr>
          <p:nvPr/>
        </p:nvSpPr>
        <p:spPr>
          <a:xfrm>
            <a:off x="9086850" y="5419725"/>
            <a:ext cx="4000500" cy="314325"/>
          </a:xfrm>
          <a:prstGeom prst="rect">
            <a:avLst/>
          </a:prstGeom>
          <a:noFill/>
          <a:ln w="0">
            <a:noFill/>
          </a:ln>
        </p:spPr>
        <p:txBody>
          <a:bodyPr wrap="square" lIns="0" tIns="0" rIns="0" bIns="0" anchor="t">
            <a:noAutofit/>
          </a:bodyPr>
          <a:lstStyle>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Qwen의 프롬프트 교정 여지</a:t>
            </a:r>
          </a:p>
        </p:txBody>
      </p:sp>
      <p:sp>
        <p:nvSpPr>
          <p:cNvPr id="13" name="own-text-21">
            <a:extLst>
              <a:ext uri="{FF2B5EF4-FFF2-40B4-BE49-F238E27FC236}">
                <a16:creationId xmlns:a16="http://schemas.microsoft.com/office/drawing/2014/main" id="{1B523CCC-7BFC-4885-93B8-806200527D6B}"/>
              </a:ext>
            </a:extLst>
          </p:cNvPr>
          <p:cNvSpPr>
            <a:spLocks noGrp="1"/>
          </p:cNvSpPr>
          <p:nvPr/>
        </p:nvSpPr>
        <p:spPr>
          <a:xfrm>
            <a:off x="9086850" y="5848350"/>
            <a:ext cx="4000500" cy="714375"/>
          </a:xfrm>
          <a:prstGeom prst="rect">
            <a:avLst/>
          </a:prstGeom>
          <a:noFill/>
          <a:ln w="0">
            <a:noFill/>
          </a:ln>
        </p:spPr>
        <p:txBody>
          <a:bodyPr wrap="square" lIns="0" tIns="0" rIns="0" bIns="0" anchor="t">
            <a:noAutofit/>
          </a:bodyPr>
          <a:lstStyle>
            <a:defPPr algn="l">
              <a:defRPr sz="1500" b="1">
                <a:solidFill>
                  <a:srgbClr val="17171A"/>
                </a:solidFill>
                <a:latin typeface="맑은 고딕"/>
                <a:ea typeface="맑은 고딕"/>
                <a:cs typeface="맑은 고딕"/>
              </a:defRPr>
            </a:defPPr>
            <a:lvl1pPr algn="l">
              <a:defRPr sz="1500" b="1">
                <a:solidFill>
                  <a:srgbClr val="17171A"/>
                </a:solidFill>
                <a:latin typeface="맑은 고딕"/>
                <a:ea typeface="맑은 고딕"/>
                <a:cs typeface="맑은 고딕"/>
              </a:defRPr>
            </a:lvl1pPr>
            <a:lvl2pPr algn="l">
              <a:defRPr sz="1500" b="1">
                <a:solidFill>
                  <a:srgbClr val="17171A"/>
                </a:solidFill>
                <a:latin typeface="맑은 고딕"/>
                <a:ea typeface="맑은 고딕"/>
                <a:cs typeface="맑은 고딕"/>
              </a:defRPr>
            </a:lvl2pPr>
            <a:lvl3pPr algn="l">
              <a:defRPr sz="1500" b="1">
                <a:solidFill>
                  <a:srgbClr val="17171A"/>
                </a:solidFill>
                <a:latin typeface="맑은 고딕"/>
                <a:ea typeface="맑은 고딕"/>
                <a:cs typeface="맑은 고딕"/>
              </a:defRPr>
            </a:lvl3pPr>
            <a:lvl4pPr algn="l">
              <a:defRPr sz="1500" b="1">
                <a:solidFill>
                  <a:srgbClr val="17171A"/>
                </a:solidFill>
                <a:latin typeface="맑은 고딕"/>
                <a:ea typeface="맑은 고딕"/>
                <a:cs typeface="맑은 고딕"/>
              </a:defRPr>
            </a:lvl4pPr>
            <a:lvl5pPr algn="l">
              <a:defRPr sz="1500" b="1">
                <a:solidFill>
                  <a:srgbClr val="17171A"/>
                </a:solidFill>
                <a:latin typeface="맑은 고딕"/>
                <a:ea typeface="맑은 고딕"/>
                <a:cs typeface="맑은 고딕"/>
              </a:defRPr>
            </a:lvl5pPr>
            <a:lvl6pPr algn="l">
              <a:defRPr sz="1500" b="1">
                <a:solidFill>
                  <a:srgbClr val="17171A"/>
                </a:solidFill>
                <a:latin typeface="맑은 고딕"/>
                <a:ea typeface="맑은 고딕"/>
                <a:cs typeface="맑은 고딕"/>
              </a:defRPr>
            </a:lvl6pPr>
            <a:lvl7pPr algn="l">
              <a:defRPr sz="1500" b="1">
                <a:solidFill>
                  <a:srgbClr val="17171A"/>
                </a:solidFill>
                <a:latin typeface="맑은 고딕"/>
                <a:ea typeface="맑은 고딕"/>
                <a:cs typeface="맑은 고딕"/>
              </a:defRPr>
            </a:lvl7pPr>
            <a:lvl8pPr algn="l">
              <a:defRPr sz="1500" b="1">
                <a:solidFill>
                  <a:srgbClr val="17171A"/>
                </a:solidFill>
                <a:latin typeface="맑은 고딕"/>
                <a:ea typeface="맑은 고딕"/>
                <a:cs typeface="맑은 고딕"/>
              </a:defRPr>
            </a:lvl8pPr>
            <a:lvl9pPr algn="l">
              <a:defRPr sz="1500" b="1">
                <a:solidFill>
                  <a:srgbClr val="17171A"/>
                </a:solidFill>
                <a:latin typeface="맑은 고딕"/>
                <a:ea typeface="맑은 고딕"/>
                <a:cs typeface="맑은 고딕"/>
              </a:defRPr>
            </a:lvl9pPr>
          </a:lstStyle>
          <a:p>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과잉 보류 352건 중 255건은 환각 없음</a:t>
            </a:r>
          </a:p>
          <a:p>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근거 우선 선택·과도한 되묻기가</a:t>
            </a:r>
          </a:p>
          <a:p>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답변을 막는 구조를 확인</a:t>
            </a:r>
          </a:p>
        </p:txBody>
      </p:sp>
      <p:sp>
        <p:nvSpPr>
          <p:cNvPr id="14" name="own-text-22">
            <a:extLst>
              <a:ext uri="{FF2B5EF4-FFF2-40B4-BE49-F238E27FC236}">
                <a16:creationId xmlns:a16="http://schemas.microsoft.com/office/drawing/2014/main" id="{A8F855F8-62D2-49E9-BCDC-DFD9F39F88D8}"/>
              </a:ext>
            </a:extLst>
          </p:cNvPr>
          <p:cNvSpPr>
            <a:spLocks noGrp="1"/>
          </p:cNvSpPr>
          <p:nvPr/>
        </p:nvSpPr>
        <p:spPr>
          <a:xfrm>
            <a:off x="628650" y="5886450"/>
            <a:ext cx="8001000" cy="68580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전체 정답률 2.1%p 차이보다</a:t>
            </a:r>
          </a:p>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보류 안정성과 교정 가능성을 우선</a:t>
            </a:r>
          </a:p>
        </p:txBody>
      </p:sp>
    </p:spTree>
    <p:extLst>
      <p:ext uri="{BB962C8B-B14F-4D97-AF65-F5344CB8AC3E}">
        <p14:creationId xmlns:p14="http://schemas.microsoft.com/office/powerpoint/2010/main" val="35899229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wn-text-23">
            <a:extLst>
              <a:ext uri="{FF2B5EF4-FFF2-40B4-BE49-F238E27FC236}">
                <a16:creationId xmlns:a16="http://schemas.microsoft.com/office/drawing/2014/main" id="{34495E97-1188-49D8-BC10-AAB93CC2A12C}"/>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4">
            <a:extLst>
              <a:ext uri="{FF2B5EF4-FFF2-40B4-BE49-F238E27FC236}">
                <a16:creationId xmlns:a16="http://schemas.microsoft.com/office/drawing/2014/main" id="{9CDA40C8-B2C6-4F81-9C8E-6689C9F0A847}"/>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2차 모델 비교와 Instruct Q4 선정</a:t>
            </a:r>
          </a:p>
        </p:txBody>
      </p:sp>
      <p:sp>
        <p:nvSpPr>
          <p:cNvPr id="3" name="own-text-25">
            <a:extLst>
              <a:ext uri="{FF2B5EF4-FFF2-40B4-BE49-F238E27FC236}">
                <a16:creationId xmlns:a16="http://schemas.microsoft.com/office/drawing/2014/main" id="{F17F0039-9CE2-4AA0-A40C-21AA3AA731D0}"/>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기본 프롬프트의 Instruct도 OFF 개선안보다 정확했고, 상태 판단과 근거 선택도 개선</a:t>
            </a:r>
          </a:p>
        </p:txBody>
      </p:sp>
      <p:sp>
        <p:nvSpPr>
          <p:cNvPr id="4" name="own-text-26">
            <a:extLst>
              <a:ext uri="{FF2B5EF4-FFF2-40B4-BE49-F238E27FC236}">
                <a16:creationId xmlns:a16="http://schemas.microsoft.com/office/drawing/2014/main" id="{7A152C5C-BE3A-49BF-A70A-188966967255}"/>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27">
            <a:extLst>
              <a:ext uri="{FF2B5EF4-FFF2-40B4-BE49-F238E27FC236}">
                <a16:creationId xmlns:a16="http://schemas.microsoft.com/office/drawing/2014/main" id="{7D354733-2317-48D5-A246-9A2AF6BC95CC}"/>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11</a:t>
            </a:r>
            <a:endParaRPr sz="1300" b="0">
              <a:solidFill>
                <a:srgbClr val="686B72"/>
              </a:solidFill>
              <a:latin typeface="맑은 고딕"/>
              <a:ea typeface="맑은 고딕"/>
              <a:cs typeface="맑은 고딕"/>
            </a:endParaRPr>
          </a:p>
        </p:txBody>
      </p:sp>
      <p:sp>
        <p:nvSpPr>
          <p:cNvPr id="6" name="own-text-28">
            <a:extLst>
              <a:ext uri="{FF2B5EF4-FFF2-40B4-BE49-F238E27FC236}">
                <a16:creationId xmlns:a16="http://schemas.microsoft.com/office/drawing/2014/main" id="{A2E00F56-9505-49F6-AA7D-9F30832CCCDE}"/>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404건(오답 집중 표본 포함). 상태는 기대 동작의 엄격 일치, 근거는 정답 문서만 1개 이상 인용한 비율(대상 205건).</a:t>
            </a:r>
          </a:p>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하단 Q4·Q8 품질·자원 및 오답 원인 비교는 별도 1,300문항 기준.</a:t>
            </a:r>
          </a:p>
        </p:txBody>
      </p:sp>
      <p:graphicFrame>
        <p:nvGraphicFramePr>
          <p:cNvPr id="7" name="표 6">
            <a:extLst>
              <a:ext uri="{FF2B5EF4-FFF2-40B4-BE49-F238E27FC236}">
                <a16:creationId xmlns:a16="http://schemas.microsoft.com/office/drawing/2014/main" id="{AB9F504E-4A76-462F-9F0C-85DF51C7C91C}"/>
              </a:ext>
            </a:extLst>
          </p:cNvPr>
          <p:cNvGraphicFramePr/>
          <p:nvPr/>
        </p:nvGraphicFramePr>
        <p:xfrm>
          <a:off x="628650" y="2076450"/>
          <a:ext cx="12458700" cy="2476500"/>
        </p:xfrm>
        <a:graphic>
          <a:graphicData uri="http://schemas.openxmlformats.org/drawingml/2006/table">
            <a:tbl>
              <a:tblPr/>
              <a:tblGrid>
                <a:gridCol w="476250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gridCol w="2038350">
                  <a:extLst>
                    <a:ext uri="{9D8B030D-6E8A-4147-A177-3AD203B41FA5}">
                      <a16:colId xmlns:a16="http://schemas.microsoft.com/office/drawing/2014/main" val="20003"/>
                    </a:ext>
                  </a:extLst>
                </a:gridCol>
                <a:gridCol w="2038350">
                  <a:extLst>
                    <a:ext uri="{9D8B030D-6E8A-4147-A177-3AD203B41FA5}">
                      <a16:colId xmlns:a16="http://schemas.microsoft.com/office/drawing/2014/main" val="20004"/>
                    </a:ext>
                  </a:extLst>
                </a:gridCol>
              </a:tblGrid>
              <a:tr h="412750">
                <a:tc>
                  <a:txBody>
                    <a:bodyPr/>
                    <a:lstStyle/>
                    <a:p>
                      <a:r>
                        <a:rPr sz="1523" b="1">
                          <a:solidFill>
                            <a:srgbClr val="FFFFFF"/>
                          </a:solidFill>
                          <a:latin typeface="맑은 고딕"/>
                          <a:ea typeface="맑은 고딕"/>
                          <a:cs typeface="맑은 고딕"/>
                        </a:rPr>
                        <a:t>모델·프롬프트</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23" b="1">
                          <a:solidFill>
                            <a:srgbClr val="FFFFFF"/>
                          </a:solidFill>
                          <a:latin typeface="맑은 고딕"/>
                          <a:ea typeface="맑은 고딕"/>
                          <a:cs typeface="맑은 고딕"/>
                        </a:rPr>
                        <a:t>정답률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23" b="1">
                          <a:solidFill>
                            <a:srgbClr val="FFFFFF"/>
                          </a:solidFill>
                          <a:latin typeface="맑은 고딕"/>
                          <a:ea typeface="맑은 고딕"/>
                          <a:cs typeface="맑은 고딕"/>
                        </a:rPr>
                        <a:t>환각률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23" b="1">
                          <a:solidFill>
                            <a:srgbClr val="FFFFFF"/>
                          </a:solidFill>
                          <a:latin typeface="맑은 고딕"/>
                          <a:ea typeface="맑은 고딕"/>
                          <a:cs typeface="맑은 고딕"/>
                        </a:rPr>
                        <a:t>상태 판단</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23" b="1">
                          <a:solidFill>
                            <a:srgbClr val="FFFFFF"/>
                          </a:solidFill>
                          <a:latin typeface="맑은 고딕"/>
                          <a:ea typeface="맑은 고딕"/>
                          <a:cs typeface="맑은 고딕"/>
                        </a:rPr>
                        <a:t>근거 선택</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12750">
                <a:tc>
                  <a:txBody>
                    <a:bodyPr/>
                    <a:lstStyle/>
                    <a:p>
                      <a:r>
                        <a:rPr sz="1523" b="0">
                          <a:solidFill>
                            <a:srgbClr val="17171A"/>
                          </a:solidFill>
                          <a:latin typeface="맑은 고딕"/>
                          <a:ea typeface="맑은 고딕"/>
                          <a:cs typeface="맑은 고딕"/>
                        </a:rPr>
                        <a:t>Qwen3 4B OFF · 기존</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62.9%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23.8%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62.4%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39.0%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12750">
                <a:tc>
                  <a:txBody>
                    <a:bodyPr/>
                    <a:lstStyle/>
                    <a:p>
                      <a:r>
                        <a:rPr sz="1523" b="0">
                          <a:solidFill>
                            <a:srgbClr val="17171A"/>
                          </a:solidFill>
                          <a:latin typeface="맑은 고딕"/>
                          <a:ea typeface="맑은 고딕"/>
                          <a:cs typeface="맑은 고딕"/>
                        </a:rPr>
                        <a:t>Qwen3 4B OFF · 프롬프트 개선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77.5%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24.5%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77.5%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49.3%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12750">
                <a:tc>
                  <a:txBody>
                    <a:bodyPr/>
                    <a:lstStyle/>
                    <a:p>
                      <a:r>
                        <a:rPr sz="1523" b="0">
                          <a:solidFill>
                            <a:srgbClr val="17171A"/>
                          </a:solidFill>
                          <a:latin typeface="맑은 고딕"/>
                          <a:ea typeface="맑은 고딕"/>
                          <a:cs typeface="맑은 고딕"/>
                        </a:rPr>
                        <a:t>Gemma3 4B · QAT</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71.8%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42.6%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78.0%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93.2%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12750">
                <a:tc>
                  <a:txBody>
                    <a:bodyPr/>
                    <a:lstStyle/>
                    <a:p>
                      <a:r>
                        <a:rPr sz="1523" b="1">
                          <a:solidFill>
                            <a:srgbClr val="F72585"/>
                          </a:solidFill>
                          <a:latin typeface="맑은 고딕"/>
                          <a:ea typeface="맑은 고딕"/>
                          <a:cs typeface="맑은 고딕"/>
                        </a:rPr>
                        <a:t>Qwen3 4B Instruct Q4_K_M · 기존</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23" b="1">
                          <a:solidFill>
                            <a:srgbClr val="F72585"/>
                          </a:solidFill>
                          <a:latin typeface="맑은 고딕"/>
                          <a:ea typeface="맑은 고딕"/>
                          <a:cs typeface="맑은 고딕"/>
                        </a:rPr>
                        <a:t>85.1%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23" b="1">
                          <a:solidFill>
                            <a:srgbClr val="F72585"/>
                          </a:solidFill>
                          <a:latin typeface="맑은 고딕"/>
                          <a:ea typeface="맑은 고딕"/>
                          <a:cs typeface="맑은 고딕"/>
                        </a:rPr>
                        <a:t>23.0%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23" b="1">
                          <a:solidFill>
                            <a:srgbClr val="F72585"/>
                          </a:solidFill>
                          <a:latin typeface="맑은 고딕"/>
                          <a:ea typeface="맑은 고딕"/>
                          <a:cs typeface="맑은 고딕"/>
                        </a:rPr>
                        <a:t>88.4%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23" b="1">
                          <a:solidFill>
                            <a:srgbClr val="F72585"/>
                          </a:solidFill>
                          <a:latin typeface="맑은 고딕"/>
                          <a:ea typeface="맑은 고딕"/>
                          <a:cs typeface="맑은 고딕"/>
                        </a:rPr>
                        <a:t>87.8%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4"/>
                  </a:ext>
                </a:extLst>
              </a:tr>
              <a:tr h="412750">
                <a:tc>
                  <a:txBody>
                    <a:bodyPr/>
                    <a:lstStyle/>
                    <a:p>
                      <a:r>
                        <a:rPr sz="1523" b="0">
                          <a:solidFill>
                            <a:srgbClr val="17171A"/>
                          </a:solidFill>
                          <a:latin typeface="맑은 고딕"/>
                          <a:ea typeface="맑은 고딕"/>
                          <a:cs typeface="맑은 고딕"/>
                        </a:rPr>
                        <a:t>Qwen3 4B Instruct · Q8</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87.6%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22.3%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91.6%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90.2%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8" name="own-text-29">
            <a:extLst>
              <a:ext uri="{FF2B5EF4-FFF2-40B4-BE49-F238E27FC236}">
                <a16:creationId xmlns:a16="http://schemas.microsoft.com/office/drawing/2014/main" id="{7E3D3612-BC1C-4CC8-A06C-D121F65382E8}"/>
              </a:ext>
            </a:extLst>
          </p:cNvPr>
          <p:cNvSpPr>
            <a:spLocks noGrp="1"/>
          </p:cNvSpPr>
          <p:nvPr/>
        </p:nvSpPr>
        <p:spPr>
          <a:xfrm>
            <a:off x="628650" y="4876800"/>
            <a:ext cx="6000750" cy="333375"/>
          </a:xfrm>
          <a:prstGeom prst="rect">
            <a:avLst/>
          </a:prstGeom>
          <a:noFill/>
          <a:ln w="0">
            <a:noFill/>
          </a:ln>
        </p:spPr>
        <p:txBody>
          <a:bodyPr wrap="square" lIns="0" tIns="0" rIns="0" bIns="0" anchor="t">
            <a:noAutofit/>
          </a:bodyPr>
          <a:lstStyle>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Q4와 Q8의 품질·자원 비교</a:t>
            </a:r>
          </a:p>
        </p:txBody>
      </p:sp>
      <p:sp>
        <p:nvSpPr>
          <p:cNvPr id="9" name="own-text-30">
            <a:extLst>
              <a:ext uri="{FF2B5EF4-FFF2-40B4-BE49-F238E27FC236}">
                <a16:creationId xmlns:a16="http://schemas.microsoft.com/office/drawing/2014/main" id="{941FA769-8B81-479D-8B3F-8AFFEC7E1A86}"/>
              </a:ext>
            </a:extLst>
          </p:cNvPr>
          <p:cNvSpPr>
            <a:spLocks noGrp="1"/>
          </p:cNvSpPr>
          <p:nvPr/>
        </p:nvSpPr>
        <p:spPr>
          <a:xfrm>
            <a:off x="628650" y="5295900"/>
            <a:ext cx="6000750" cy="590550"/>
          </a:xfrm>
          <a:prstGeom prst="rect">
            <a:avLst/>
          </a:prstGeom>
          <a:noFill/>
          <a:ln w="0">
            <a:noFill/>
          </a:ln>
        </p:spPr>
        <p:txBody>
          <a:bodyPr wrap="square" lIns="0" tIns="0" rIns="0" bIns="0" anchor="t">
            <a:noAutofit/>
          </a:bodyPr>
          <a:lstStyle>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정답률 77.5% / 78.8%</a:t>
            </a:r>
          </a:p>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환각률 26.2% / 26.5%</a:t>
            </a:r>
          </a:p>
        </p:txBody>
      </p:sp>
      <p:sp>
        <p:nvSpPr>
          <p:cNvPr id="10" name="own-text-31">
            <a:extLst>
              <a:ext uri="{FF2B5EF4-FFF2-40B4-BE49-F238E27FC236}">
                <a16:creationId xmlns:a16="http://schemas.microsoft.com/office/drawing/2014/main" id="{6A869ECB-4C9A-4658-A897-D72BFA3BC022}"/>
              </a:ext>
            </a:extLst>
          </p:cNvPr>
          <p:cNvSpPr>
            <a:spLocks noGrp="1"/>
          </p:cNvSpPr>
          <p:nvPr/>
        </p:nvSpPr>
        <p:spPr>
          <a:xfrm>
            <a:off x="628650" y="5981700"/>
            <a:ext cx="6000750" cy="523875"/>
          </a:xfrm>
          <a:prstGeom prst="rect">
            <a:avLst/>
          </a:prstGeom>
          <a:noFill/>
          <a:ln w="0">
            <a:noFill/>
          </a:ln>
        </p:spPr>
        <p:txBody>
          <a:bodyPr wrap="square" lIns="0" tIns="0" rIns="0" bIns="0" anchor="t">
            <a:noAutofit/>
          </a:bodyPr>
          <a:lstStyle>
            <a:defPPr algn="l">
              <a:defRPr sz="1523" b="0">
                <a:solidFill>
                  <a:srgbClr val="686B72"/>
                </a:solidFill>
                <a:latin typeface="맑은 고딕"/>
                <a:ea typeface="맑은 고딕"/>
                <a:cs typeface="맑은 고딕"/>
              </a:defRPr>
            </a:defPPr>
            <a:lvl1pPr algn="l">
              <a:defRPr sz="1523" b="0">
                <a:solidFill>
                  <a:srgbClr val="686B72"/>
                </a:solidFill>
                <a:latin typeface="맑은 고딕"/>
                <a:ea typeface="맑은 고딕"/>
                <a:cs typeface="맑은 고딕"/>
              </a:defRPr>
            </a:lvl1pPr>
            <a:lvl2pPr algn="l">
              <a:defRPr sz="1523" b="0">
                <a:solidFill>
                  <a:srgbClr val="686B72"/>
                </a:solidFill>
                <a:latin typeface="맑은 고딕"/>
                <a:ea typeface="맑은 고딕"/>
                <a:cs typeface="맑은 고딕"/>
              </a:defRPr>
            </a:lvl2pPr>
            <a:lvl3pPr algn="l">
              <a:defRPr sz="1523" b="0">
                <a:solidFill>
                  <a:srgbClr val="686B72"/>
                </a:solidFill>
                <a:latin typeface="맑은 고딕"/>
                <a:ea typeface="맑은 고딕"/>
                <a:cs typeface="맑은 고딕"/>
              </a:defRPr>
            </a:lvl3pPr>
            <a:lvl4pPr algn="l">
              <a:defRPr sz="1523" b="0">
                <a:solidFill>
                  <a:srgbClr val="686B72"/>
                </a:solidFill>
                <a:latin typeface="맑은 고딕"/>
                <a:ea typeface="맑은 고딕"/>
                <a:cs typeface="맑은 고딕"/>
              </a:defRPr>
            </a:lvl4pPr>
            <a:lvl5pPr algn="l">
              <a:defRPr sz="1523" b="0">
                <a:solidFill>
                  <a:srgbClr val="686B72"/>
                </a:solidFill>
                <a:latin typeface="맑은 고딕"/>
                <a:ea typeface="맑은 고딕"/>
                <a:cs typeface="맑은 고딕"/>
              </a:defRPr>
            </a:lvl5pPr>
            <a:lvl6pPr algn="l">
              <a:defRPr sz="1523" b="0">
                <a:solidFill>
                  <a:srgbClr val="686B72"/>
                </a:solidFill>
                <a:latin typeface="맑은 고딕"/>
                <a:ea typeface="맑은 고딕"/>
                <a:cs typeface="맑은 고딕"/>
              </a:defRPr>
            </a:lvl6pPr>
            <a:lvl7pPr algn="l">
              <a:defRPr sz="1523" b="0">
                <a:solidFill>
                  <a:srgbClr val="686B72"/>
                </a:solidFill>
                <a:latin typeface="맑은 고딕"/>
                <a:ea typeface="맑은 고딕"/>
                <a:cs typeface="맑은 고딕"/>
              </a:defRPr>
            </a:lvl7pPr>
            <a:lvl8pPr algn="l">
              <a:defRPr sz="1523" b="0">
                <a:solidFill>
                  <a:srgbClr val="686B72"/>
                </a:solidFill>
                <a:latin typeface="맑은 고딕"/>
                <a:ea typeface="맑은 고딕"/>
                <a:cs typeface="맑은 고딕"/>
              </a:defRPr>
            </a:lvl8pPr>
            <a:lvl9pPr algn="l">
              <a:defRPr sz="1523" b="0">
                <a:solidFill>
                  <a:srgbClr val="686B72"/>
                </a:solidFill>
                <a:latin typeface="맑은 고딕"/>
                <a:ea typeface="맑은 고딕"/>
                <a:cs typeface="맑은 고딕"/>
              </a:defRPr>
            </a:lvl9pPr>
          </a:lstStyle>
          <a:p>
            <a:pPr algn="l">
              <a:defRPr sz="1523" b="0">
                <a:solidFill>
                  <a:srgbClr val="686B72"/>
                </a:solidFill>
                <a:latin typeface="맑은 고딕"/>
                <a:ea typeface="맑은 고딕"/>
                <a:cs typeface="맑은 고딕"/>
              </a:defRPr>
            </a:pPr>
            <a:r>
              <a:rPr sz="1523" b="0">
                <a:solidFill>
                  <a:srgbClr val="686B72"/>
                </a:solidFill>
                <a:latin typeface="맑은 고딕"/>
                <a:ea typeface="맑은 고딕"/>
                <a:cs typeface="맑은 고딕"/>
              </a:rPr>
              <a:t>평균 응답 2.61초 / 3.49초·가중치 2.5GB / 4.3GB</a:t>
            </a:r>
          </a:p>
          <a:p>
            <a:pPr algn="l">
              <a:defRPr sz="1523" b="0">
                <a:solidFill>
                  <a:srgbClr val="686B72"/>
                </a:solidFill>
                <a:latin typeface="맑은 고딕"/>
                <a:ea typeface="맑은 고딕"/>
                <a:cs typeface="맑은 고딕"/>
              </a:defRPr>
            </a:pPr>
            <a:r>
              <a:rPr sz="1523" b="0">
                <a:solidFill>
                  <a:srgbClr val="686B72"/>
                </a:solidFill>
                <a:latin typeface="맑은 고딕"/>
                <a:ea typeface="맑은 고딕"/>
                <a:cs typeface="맑은 고딕"/>
              </a:rPr>
              <a:t>품질 차이가 뚜렷하지 않아 동시 서빙 여유를 고려</a:t>
            </a:r>
          </a:p>
        </p:txBody>
      </p:sp>
      <p:sp>
        <p:nvSpPr>
          <p:cNvPr id="11" name="own-text-32">
            <a:extLst>
              <a:ext uri="{FF2B5EF4-FFF2-40B4-BE49-F238E27FC236}">
                <a16:creationId xmlns:a16="http://schemas.microsoft.com/office/drawing/2014/main" id="{F5A6B50D-974C-49DF-B08A-7D8BD332CDF6}"/>
              </a:ext>
            </a:extLst>
          </p:cNvPr>
          <p:cNvSpPr>
            <a:spLocks noGrp="1"/>
          </p:cNvSpPr>
          <p:nvPr/>
        </p:nvSpPr>
        <p:spPr>
          <a:xfrm>
            <a:off x="7086600" y="4876800"/>
            <a:ext cx="6000750" cy="333375"/>
          </a:xfrm>
          <a:prstGeom prst="rect">
            <a:avLst/>
          </a:prstGeom>
          <a:noFill/>
          <a:ln w="0">
            <a:noFill/>
          </a:ln>
        </p:spPr>
        <p:txBody>
          <a:bodyPr wrap="square" lIns="0" tIns="0" rIns="0" bIns="0" anchor="t">
            <a:noAutofit/>
          </a:bodyPr>
          <a:lstStyle>
            <a:defPPr algn="l">
              <a:defRPr sz="1800" b="1">
                <a:solidFill>
                  <a:srgbClr val="F72585"/>
                </a:solidFill>
                <a:latin typeface="맑은 고딕"/>
                <a:ea typeface="맑은 고딕"/>
                <a:cs typeface="맑은 고딕"/>
              </a:defRPr>
            </a:defPPr>
            <a:lvl1pPr algn="l">
              <a:defRPr sz="1800" b="1">
                <a:solidFill>
                  <a:srgbClr val="F72585"/>
                </a:solidFill>
                <a:latin typeface="맑은 고딕"/>
                <a:ea typeface="맑은 고딕"/>
                <a:cs typeface="맑은 고딕"/>
              </a:defRPr>
            </a:lvl1pPr>
            <a:lvl2pPr algn="l">
              <a:defRPr sz="1800" b="1">
                <a:solidFill>
                  <a:srgbClr val="F72585"/>
                </a:solidFill>
                <a:latin typeface="맑은 고딕"/>
                <a:ea typeface="맑은 고딕"/>
                <a:cs typeface="맑은 고딕"/>
              </a:defRPr>
            </a:lvl2pPr>
            <a:lvl3pPr algn="l">
              <a:defRPr sz="1800" b="1">
                <a:solidFill>
                  <a:srgbClr val="F72585"/>
                </a:solidFill>
                <a:latin typeface="맑은 고딕"/>
                <a:ea typeface="맑은 고딕"/>
                <a:cs typeface="맑은 고딕"/>
              </a:defRPr>
            </a:lvl3pPr>
            <a:lvl4pPr algn="l">
              <a:defRPr sz="1800" b="1">
                <a:solidFill>
                  <a:srgbClr val="F72585"/>
                </a:solidFill>
                <a:latin typeface="맑은 고딕"/>
                <a:ea typeface="맑은 고딕"/>
                <a:cs typeface="맑은 고딕"/>
              </a:defRPr>
            </a:lvl4pPr>
            <a:lvl5pPr algn="l">
              <a:defRPr sz="1800" b="1">
                <a:solidFill>
                  <a:srgbClr val="F72585"/>
                </a:solidFill>
                <a:latin typeface="맑은 고딕"/>
                <a:ea typeface="맑은 고딕"/>
                <a:cs typeface="맑은 고딕"/>
              </a:defRPr>
            </a:lvl5pPr>
            <a:lvl6pPr algn="l">
              <a:defRPr sz="1800" b="1">
                <a:solidFill>
                  <a:srgbClr val="F72585"/>
                </a:solidFill>
                <a:latin typeface="맑은 고딕"/>
                <a:ea typeface="맑은 고딕"/>
                <a:cs typeface="맑은 고딕"/>
              </a:defRPr>
            </a:lvl6pPr>
            <a:lvl7pPr algn="l">
              <a:defRPr sz="1800" b="1">
                <a:solidFill>
                  <a:srgbClr val="F72585"/>
                </a:solidFill>
                <a:latin typeface="맑은 고딕"/>
                <a:ea typeface="맑은 고딕"/>
                <a:cs typeface="맑은 고딕"/>
              </a:defRPr>
            </a:lvl7pPr>
            <a:lvl8pPr algn="l">
              <a:defRPr sz="1800" b="1">
                <a:solidFill>
                  <a:srgbClr val="F72585"/>
                </a:solidFill>
                <a:latin typeface="맑은 고딕"/>
                <a:ea typeface="맑은 고딕"/>
                <a:cs typeface="맑은 고딕"/>
              </a:defRPr>
            </a:lvl8pPr>
            <a:lvl9pPr algn="l">
              <a:defRPr sz="1800" b="1">
                <a:solidFill>
                  <a:srgbClr val="F72585"/>
                </a:solidFill>
                <a:latin typeface="맑은 고딕"/>
                <a:ea typeface="맑은 고딕"/>
                <a:cs typeface="맑은 고딕"/>
              </a:defRPr>
            </a:lvl9pPr>
          </a:lstStyle>
          <a:p>
            <a:pPr algn="l">
              <a:defRPr sz="1800" b="1">
                <a:solidFill>
                  <a:srgbClr val="F72585"/>
                </a:solidFill>
                <a:latin typeface="맑은 고딕"/>
                <a:ea typeface="맑은 고딕"/>
                <a:cs typeface="맑은 고딕"/>
              </a:defRPr>
            </a:pPr>
            <a:r>
              <a:rPr sz="1800" b="1">
                <a:solidFill>
                  <a:srgbClr val="F72585"/>
                </a:solidFill>
                <a:latin typeface="맑은 고딕"/>
                <a:ea typeface="맑은 고딕"/>
                <a:cs typeface="맑은 고딕"/>
              </a:rPr>
              <a:t>Instruct 고도화의 한계와 방향</a:t>
            </a:r>
          </a:p>
        </p:txBody>
      </p:sp>
      <p:sp>
        <p:nvSpPr>
          <p:cNvPr id="12" name="own-text-33">
            <a:extLst>
              <a:ext uri="{FF2B5EF4-FFF2-40B4-BE49-F238E27FC236}">
                <a16:creationId xmlns:a16="http://schemas.microsoft.com/office/drawing/2014/main" id="{A7C25135-C9CC-4B0B-806B-10F5FD857F1A}"/>
              </a:ext>
            </a:extLst>
          </p:cNvPr>
          <p:cNvSpPr>
            <a:spLocks noGrp="1"/>
          </p:cNvSpPr>
          <p:nvPr/>
        </p:nvSpPr>
        <p:spPr>
          <a:xfrm>
            <a:off x="7086600" y="5295900"/>
            <a:ext cx="6000750" cy="590550"/>
          </a:xfrm>
          <a:prstGeom prst="rect">
            <a:avLst/>
          </a:prstGeom>
          <a:noFill/>
          <a:ln w="0">
            <a:noFill/>
          </a:ln>
        </p:spPr>
        <p:txBody>
          <a:bodyPr wrap="square" lIns="0" tIns="0" rIns="0" bIns="0" anchor="t">
            <a:noAutofit/>
          </a:bodyPr>
          <a:lstStyle>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오답 중 과잉 보류 37.7%에서 6.1%로 감소</a:t>
            </a:r>
          </a:p>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보류만 풀어 정답을 늘릴 교정 여지가 줄어듦</a:t>
            </a:r>
          </a:p>
        </p:txBody>
      </p:sp>
      <p:sp>
        <p:nvSpPr>
          <p:cNvPr id="13" name="own-text-34">
            <a:extLst>
              <a:ext uri="{FF2B5EF4-FFF2-40B4-BE49-F238E27FC236}">
                <a16:creationId xmlns:a16="http://schemas.microsoft.com/office/drawing/2014/main" id="{24F1DE1E-D1DB-49D2-80E1-D5E23BE001E8}"/>
              </a:ext>
            </a:extLst>
          </p:cNvPr>
          <p:cNvSpPr>
            <a:spLocks noGrp="1"/>
          </p:cNvSpPr>
          <p:nvPr/>
        </p:nvSpPr>
        <p:spPr>
          <a:xfrm>
            <a:off x="7086600" y="6076950"/>
            <a:ext cx="6000750" cy="361950"/>
          </a:xfrm>
          <a:prstGeom prst="rect">
            <a:avLst/>
          </a:prstGeom>
          <a:noFill/>
          <a:ln w="0">
            <a:noFill/>
          </a:ln>
        </p:spPr>
        <p:txBody>
          <a:bodyPr wrap="square" lIns="0" tIns="0" rIns="0" bIns="0" anchor="t">
            <a:noAutofit/>
          </a:bodyPr>
          <a:lstStyle>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정답률 상승보다 환각 감소에 집중</a:t>
            </a:r>
          </a:p>
        </p:txBody>
      </p:sp>
    </p:spTree>
    <p:extLst>
      <p:ext uri="{BB962C8B-B14F-4D97-AF65-F5344CB8AC3E}">
        <p14:creationId xmlns:p14="http://schemas.microsoft.com/office/powerpoint/2010/main" val="10544934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wn-text-35">
            <a:extLst>
              <a:ext uri="{FF2B5EF4-FFF2-40B4-BE49-F238E27FC236}">
                <a16:creationId xmlns:a16="http://schemas.microsoft.com/office/drawing/2014/main" id="{7017BDDE-C41F-474E-B3F1-02C49D898459}"/>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프롬프트</a:t>
            </a:r>
          </a:p>
        </p:txBody>
      </p:sp>
      <p:sp>
        <p:nvSpPr>
          <p:cNvPr id="2" name="own-text-36">
            <a:extLst>
              <a:ext uri="{FF2B5EF4-FFF2-40B4-BE49-F238E27FC236}">
                <a16:creationId xmlns:a16="http://schemas.microsoft.com/office/drawing/2014/main" id="{DA33C740-7E58-4A8F-B72A-787DB4355991}"/>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프롬프트 개선으로 환각과 되묻기 감소</a:t>
            </a:r>
          </a:p>
        </p:txBody>
      </p:sp>
      <p:sp>
        <p:nvSpPr>
          <p:cNvPr id="3" name="own-text-37">
            <a:extLst>
              <a:ext uri="{FF2B5EF4-FFF2-40B4-BE49-F238E27FC236}">
                <a16:creationId xmlns:a16="http://schemas.microsoft.com/office/drawing/2014/main" id="{5E5FA566-06DE-4803-BD01-79DB8A4EAA65}"/>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Qwen3 4B Instruct Q4, 동일 900문항의 기본 프롬프트와 개선 프롬프트 비교</a:t>
            </a:r>
          </a:p>
        </p:txBody>
      </p:sp>
      <p:sp>
        <p:nvSpPr>
          <p:cNvPr id="4" name="own-text-38">
            <a:extLst>
              <a:ext uri="{FF2B5EF4-FFF2-40B4-BE49-F238E27FC236}">
                <a16:creationId xmlns:a16="http://schemas.microsoft.com/office/drawing/2014/main" id="{E6AC7F4D-C368-40AC-9148-97718F78E76B}"/>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39">
            <a:extLst>
              <a:ext uri="{FF2B5EF4-FFF2-40B4-BE49-F238E27FC236}">
                <a16:creationId xmlns:a16="http://schemas.microsoft.com/office/drawing/2014/main" id="{4095D508-8E8E-43A6-9527-5594DD77CFBF}"/>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12</a:t>
            </a:r>
            <a:endParaRPr sz="1300" b="0">
              <a:solidFill>
                <a:srgbClr val="686B72"/>
              </a:solidFill>
              <a:latin typeface="맑은 고딕"/>
              <a:ea typeface="맑은 고딕"/>
              <a:cs typeface="맑은 고딕"/>
            </a:endParaRPr>
          </a:p>
        </p:txBody>
      </p:sp>
      <p:sp>
        <p:nvSpPr>
          <p:cNvPr id="6" name="own-text-40">
            <a:extLst>
              <a:ext uri="{FF2B5EF4-FFF2-40B4-BE49-F238E27FC236}">
                <a16:creationId xmlns:a16="http://schemas.microsoft.com/office/drawing/2014/main" id="{C73C9CED-71AC-4FCE-8BA3-731C3922E42E}"/>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정답 수는 늘지 않았고, 무관 FAQ 유형은 94/100에서 82/100으로 하락. 기본·개선 프롬프트의 같은 900문항 비교.</a:t>
            </a:r>
          </a:p>
        </p:txBody>
      </p:sp>
      <p:sp>
        <p:nvSpPr>
          <p:cNvPr id="7" name="own-text-41">
            <a:extLst>
              <a:ext uri="{FF2B5EF4-FFF2-40B4-BE49-F238E27FC236}">
                <a16:creationId xmlns:a16="http://schemas.microsoft.com/office/drawing/2014/main" id="{1C0F66C1-E8CF-4172-8279-D7CAF9E02228}"/>
              </a:ext>
            </a:extLst>
          </p:cNvPr>
          <p:cNvSpPr>
            <a:spLocks noGrp="1"/>
          </p:cNvSpPr>
          <p:nvPr/>
        </p:nvSpPr>
        <p:spPr>
          <a:xfrm>
            <a:off x="628650" y="2076450"/>
            <a:ext cx="5715000" cy="304800"/>
          </a:xfrm>
          <a:prstGeom prst="rect">
            <a:avLst/>
          </a:prstGeom>
          <a:noFill/>
          <a:ln w="0">
            <a:noFill/>
          </a:ln>
        </p:spPr>
        <p:txBody>
          <a:bodyPr wrap="square" lIns="0" tIns="0" rIns="0" bIns="0" anchor="t">
            <a:noAutofit/>
          </a:bodyPr>
          <a:lstStyle>
            <a:defPPr algn="l">
              <a:defRPr sz="1748" b="1">
                <a:solidFill>
                  <a:srgbClr val="686B72"/>
                </a:solidFill>
                <a:latin typeface="맑은 고딕"/>
                <a:ea typeface="맑은 고딕"/>
                <a:cs typeface="맑은 고딕"/>
              </a:defRPr>
            </a:defPPr>
            <a:lvl1pPr algn="l">
              <a:defRPr sz="1748" b="1">
                <a:solidFill>
                  <a:srgbClr val="686B72"/>
                </a:solidFill>
                <a:latin typeface="맑은 고딕"/>
                <a:ea typeface="맑은 고딕"/>
                <a:cs typeface="맑은 고딕"/>
              </a:defRPr>
            </a:lvl1pPr>
            <a:lvl2pPr algn="l">
              <a:defRPr sz="1748" b="1">
                <a:solidFill>
                  <a:srgbClr val="686B72"/>
                </a:solidFill>
                <a:latin typeface="맑은 고딕"/>
                <a:ea typeface="맑은 고딕"/>
                <a:cs typeface="맑은 고딕"/>
              </a:defRPr>
            </a:lvl2pPr>
            <a:lvl3pPr algn="l">
              <a:defRPr sz="1748" b="1">
                <a:solidFill>
                  <a:srgbClr val="686B72"/>
                </a:solidFill>
                <a:latin typeface="맑은 고딕"/>
                <a:ea typeface="맑은 고딕"/>
                <a:cs typeface="맑은 고딕"/>
              </a:defRPr>
            </a:lvl3pPr>
            <a:lvl4pPr algn="l">
              <a:defRPr sz="1748" b="1">
                <a:solidFill>
                  <a:srgbClr val="686B72"/>
                </a:solidFill>
                <a:latin typeface="맑은 고딕"/>
                <a:ea typeface="맑은 고딕"/>
                <a:cs typeface="맑은 고딕"/>
              </a:defRPr>
            </a:lvl4pPr>
            <a:lvl5pPr algn="l">
              <a:defRPr sz="1748" b="1">
                <a:solidFill>
                  <a:srgbClr val="686B72"/>
                </a:solidFill>
                <a:latin typeface="맑은 고딕"/>
                <a:ea typeface="맑은 고딕"/>
                <a:cs typeface="맑은 고딕"/>
              </a:defRPr>
            </a:lvl5pPr>
            <a:lvl6pPr algn="l">
              <a:defRPr sz="1748" b="1">
                <a:solidFill>
                  <a:srgbClr val="686B72"/>
                </a:solidFill>
                <a:latin typeface="맑은 고딕"/>
                <a:ea typeface="맑은 고딕"/>
                <a:cs typeface="맑은 고딕"/>
              </a:defRPr>
            </a:lvl6pPr>
            <a:lvl7pPr algn="l">
              <a:defRPr sz="1748" b="1">
                <a:solidFill>
                  <a:srgbClr val="686B72"/>
                </a:solidFill>
                <a:latin typeface="맑은 고딕"/>
                <a:ea typeface="맑은 고딕"/>
                <a:cs typeface="맑은 고딕"/>
              </a:defRPr>
            </a:lvl7pPr>
            <a:lvl8pPr algn="l">
              <a:defRPr sz="1748" b="1">
                <a:solidFill>
                  <a:srgbClr val="686B72"/>
                </a:solidFill>
                <a:latin typeface="맑은 고딕"/>
                <a:ea typeface="맑은 고딕"/>
                <a:cs typeface="맑은 고딕"/>
              </a:defRPr>
            </a:lvl8pPr>
            <a:lvl9pPr algn="l">
              <a:defRPr sz="1748" b="1">
                <a:solidFill>
                  <a:srgbClr val="686B72"/>
                </a:solidFill>
                <a:latin typeface="맑은 고딕"/>
                <a:ea typeface="맑은 고딕"/>
                <a:cs typeface="맑은 고딕"/>
              </a:defRPr>
            </a:lvl9pPr>
          </a:lstStyle>
          <a:p>
            <a:pPr algn="l">
              <a:defRPr sz="1748" b="1">
                <a:solidFill>
                  <a:srgbClr val="686B72"/>
                </a:solidFill>
                <a:latin typeface="맑은 고딕"/>
                <a:ea typeface="맑은 고딕"/>
                <a:cs typeface="맑은 고딕"/>
              </a:defRPr>
            </a:pPr>
            <a:r>
              <a:rPr sz="1748" b="1">
                <a:solidFill>
                  <a:srgbClr val="686B72"/>
                </a:solidFill>
                <a:latin typeface="맑은 고딕"/>
                <a:ea typeface="맑은 고딕"/>
                <a:cs typeface="맑은 고딕"/>
              </a:rPr>
              <a:t>환각·되묻기 발생률 (%)</a:t>
            </a:r>
          </a:p>
        </p:txBody>
      </p:sp>
      <p:graphicFrame>
        <p:nvGraphicFramePr>
          <p:cNvPr id="8" name="Chart">
            <a:extLst>
              <a:ext uri="{FF2B5EF4-FFF2-40B4-BE49-F238E27FC236}">
                <a16:creationId xmlns:a16="http://schemas.microsoft.com/office/drawing/2014/main" id="{A6344A07-2660-4CA9-B556-01A2AC51C7D2}"/>
              </a:ext>
            </a:extLst>
          </p:cNvPr>
          <p:cNvGraphicFramePr/>
          <p:nvPr/>
        </p:nvGraphicFramePr>
        <p:xfrm>
          <a:off x="628650" y="2543175"/>
          <a:ext cx="5753100" cy="2952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표 8">
            <a:extLst>
              <a:ext uri="{FF2B5EF4-FFF2-40B4-BE49-F238E27FC236}">
                <a16:creationId xmlns:a16="http://schemas.microsoft.com/office/drawing/2014/main" id="{7D3174F1-AA0A-4C75-82DF-830DFD03621C}"/>
              </a:ext>
            </a:extLst>
          </p:cNvPr>
          <p:cNvGraphicFramePr/>
          <p:nvPr/>
        </p:nvGraphicFramePr>
        <p:xfrm>
          <a:off x="6953250" y="2076450"/>
          <a:ext cx="6134100" cy="3429000"/>
        </p:xfrm>
        <a:graphic>
          <a:graphicData uri="http://schemas.openxmlformats.org/drawingml/2006/table">
            <a:tbl>
              <a:tblPr/>
              <a:tblGrid>
                <a:gridCol w="27051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tblGrid>
              <a:tr h="571500">
                <a:tc>
                  <a:txBody>
                    <a:bodyPr/>
                    <a:lstStyle/>
                    <a:p>
                      <a:r>
                        <a:rPr sz="1800" b="1">
                          <a:solidFill>
                            <a:srgbClr val="FFFFFF"/>
                          </a:solidFill>
                          <a:latin typeface="맑은 고딕"/>
                          <a:ea typeface="맑은 고딕"/>
                          <a:cs typeface="맑은 고딕"/>
                        </a:rPr>
                        <a:t>동일 900문항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기본</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개선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571500">
                <a:tc>
                  <a:txBody>
                    <a:bodyPr/>
                    <a:lstStyle/>
                    <a:p>
                      <a:r>
                        <a:rPr sz="1800"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703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698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571500">
                <a:tc>
                  <a:txBody>
                    <a:bodyPr/>
                    <a:lstStyle/>
                    <a:p>
                      <a:r>
                        <a:rPr sz="1800" b="1">
                          <a:solidFill>
                            <a:srgbClr val="F72585"/>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184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571500">
                <a:tc>
                  <a:txBody>
                    <a:bodyPr/>
                    <a:lstStyle/>
                    <a:p>
                      <a:r>
                        <a:rPr sz="1800" b="1">
                          <a:solidFill>
                            <a:srgbClr val="F72585"/>
                          </a:solidFill>
                          <a:latin typeface="맑은 고딕"/>
                          <a:ea typeface="맑은 고딕"/>
                          <a:cs typeface="맑은 고딕"/>
                        </a:rPr>
                        <a:t>되묻기</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126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r h="571500">
                <a:tc>
                  <a:txBody>
                    <a:bodyPr/>
                    <a:lstStyle/>
                    <a:p>
                      <a:r>
                        <a:rPr sz="1800" b="0">
                          <a:solidFill>
                            <a:srgbClr val="17171A"/>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147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77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571500">
                <a:tc>
                  <a:txBody>
                    <a:bodyPr/>
                    <a:lstStyle/>
                    <a:p>
                      <a:r>
                        <a:rPr sz="1800" b="0">
                          <a:solidFill>
                            <a:srgbClr val="17171A"/>
                          </a:solidFill>
                          <a:latin typeface="맑은 고딕"/>
                          <a:ea typeface="맑은 고딕"/>
                          <a:cs typeface="맑은 고딕"/>
                        </a:rPr>
                        <a:t>반복 표현</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303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234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0" name="own-text-42">
            <a:extLst>
              <a:ext uri="{FF2B5EF4-FFF2-40B4-BE49-F238E27FC236}">
                <a16:creationId xmlns:a16="http://schemas.microsoft.com/office/drawing/2014/main" id="{EBCB6B6E-F435-4B0D-9120-CA917B860A65}"/>
              </a:ext>
            </a:extLst>
          </p:cNvPr>
          <p:cNvSpPr>
            <a:spLocks noGrp="1"/>
          </p:cNvSpPr>
          <p:nvPr/>
        </p:nvSpPr>
        <p:spPr>
          <a:xfrm>
            <a:off x="628650" y="5772150"/>
            <a:ext cx="5810250" cy="409575"/>
          </a:xfrm>
          <a:prstGeom prst="rect">
            <a:avLst/>
          </a:prstGeom>
          <a:noFill/>
          <a:ln w="0">
            <a:noFill/>
          </a:ln>
        </p:spPr>
        <p:txBody>
          <a:bodyPr wrap="square" lIns="0" tIns="0" rIns="0" bIns="0" anchor="t">
            <a:noAutofit/>
          </a:bodyPr>
          <a:lstStyle>
            <a:defPPr algn="l">
              <a:defRPr sz="2603" b="1">
                <a:solidFill>
                  <a:srgbClr val="F72585"/>
                </a:solidFill>
                <a:latin typeface="맑은 고딕"/>
                <a:ea typeface="맑은 고딕"/>
                <a:cs typeface="맑은 고딕"/>
              </a:defRPr>
            </a:defPPr>
            <a:lvl1pPr algn="l">
              <a:defRPr sz="2603" b="1">
                <a:solidFill>
                  <a:srgbClr val="F72585"/>
                </a:solidFill>
                <a:latin typeface="맑은 고딕"/>
                <a:ea typeface="맑은 고딕"/>
                <a:cs typeface="맑은 고딕"/>
              </a:defRPr>
            </a:lvl1pPr>
            <a:lvl2pPr algn="l">
              <a:defRPr sz="2603" b="1">
                <a:solidFill>
                  <a:srgbClr val="F72585"/>
                </a:solidFill>
                <a:latin typeface="맑은 고딕"/>
                <a:ea typeface="맑은 고딕"/>
                <a:cs typeface="맑은 고딕"/>
              </a:defRPr>
            </a:lvl2pPr>
            <a:lvl3pPr algn="l">
              <a:defRPr sz="2603" b="1">
                <a:solidFill>
                  <a:srgbClr val="F72585"/>
                </a:solidFill>
                <a:latin typeface="맑은 고딕"/>
                <a:ea typeface="맑은 고딕"/>
                <a:cs typeface="맑은 고딕"/>
              </a:defRPr>
            </a:lvl3pPr>
            <a:lvl4pPr algn="l">
              <a:defRPr sz="2603" b="1">
                <a:solidFill>
                  <a:srgbClr val="F72585"/>
                </a:solidFill>
                <a:latin typeface="맑은 고딕"/>
                <a:ea typeface="맑은 고딕"/>
                <a:cs typeface="맑은 고딕"/>
              </a:defRPr>
            </a:lvl4pPr>
            <a:lvl5pPr algn="l">
              <a:defRPr sz="2603" b="1">
                <a:solidFill>
                  <a:srgbClr val="F72585"/>
                </a:solidFill>
                <a:latin typeface="맑은 고딕"/>
                <a:ea typeface="맑은 고딕"/>
                <a:cs typeface="맑은 고딕"/>
              </a:defRPr>
            </a:lvl5pPr>
            <a:lvl6pPr algn="l">
              <a:defRPr sz="2603" b="1">
                <a:solidFill>
                  <a:srgbClr val="F72585"/>
                </a:solidFill>
                <a:latin typeface="맑은 고딕"/>
                <a:ea typeface="맑은 고딕"/>
                <a:cs typeface="맑은 고딕"/>
              </a:defRPr>
            </a:lvl6pPr>
            <a:lvl7pPr algn="l">
              <a:defRPr sz="2603" b="1">
                <a:solidFill>
                  <a:srgbClr val="F72585"/>
                </a:solidFill>
                <a:latin typeface="맑은 고딕"/>
                <a:ea typeface="맑은 고딕"/>
                <a:cs typeface="맑은 고딕"/>
              </a:defRPr>
            </a:lvl7pPr>
            <a:lvl8pPr algn="l">
              <a:defRPr sz="2603" b="1">
                <a:solidFill>
                  <a:srgbClr val="F72585"/>
                </a:solidFill>
                <a:latin typeface="맑은 고딕"/>
                <a:ea typeface="맑은 고딕"/>
                <a:cs typeface="맑은 고딕"/>
              </a:defRPr>
            </a:lvl8pPr>
            <a:lvl9pPr algn="l">
              <a:defRPr sz="2603" b="1">
                <a:solidFill>
                  <a:srgbClr val="F72585"/>
                </a:solidFill>
                <a:latin typeface="맑은 고딕"/>
                <a:ea typeface="맑은 고딕"/>
                <a:cs typeface="맑은 고딕"/>
              </a:defRPr>
            </a:lvl9pPr>
          </a:lstStyle>
          <a:p>
            <a:pPr algn="l">
              <a:defRPr sz="2603" b="1">
                <a:solidFill>
                  <a:srgbClr val="F72585"/>
                </a:solidFill>
                <a:latin typeface="맑은 고딕"/>
                <a:ea typeface="맑은 고딕"/>
                <a:cs typeface="맑은 고딕"/>
              </a:defRPr>
            </a:pPr>
            <a:r>
              <a:rPr sz="2603" b="1">
                <a:solidFill>
                  <a:srgbClr val="F72585"/>
                </a:solidFill>
                <a:latin typeface="맑은 고딕"/>
                <a:ea typeface="맑은 고딕"/>
                <a:cs typeface="맑은 고딕"/>
              </a:rPr>
              <a:t>환각 6.89%p 감소</a:t>
            </a:r>
          </a:p>
        </p:txBody>
      </p:sp>
      <p:sp>
        <p:nvSpPr>
          <p:cNvPr id="11" name="own-text-43">
            <a:extLst>
              <a:ext uri="{FF2B5EF4-FFF2-40B4-BE49-F238E27FC236}">
                <a16:creationId xmlns:a16="http://schemas.microsoft.com/office/drawing/2014/main" id="{9A1D4A7B-A0D9-419D-87D9-BD84F8C30A2F}"/>
              </a:ext>
            </a:extLst>
          </p:cNvPr>
          <p:cNvSpPr>
            <a:spLocks noGrp="1"/>
          </p:cNvSpPr>
          <p:nvPr/>
        </p:nvSpPr>
        <p:spPr>
          <a:xfrm>
            <a:off x="6953250" y="5800725"/>
            <a:ext cx="6134100" cy="619125"/>
          </a:xfrm>
          <a:prstGeom prst="rect">
            <a:avLst/>
          </a:prstGeom>
          <a:noFill/>
          <a:ln w="0">
            <a:noFill/>
          </a:ln>
        </p:spPr>
        <p:txBody>
          <a:bodyPr wrap="square" lIns="0" tIns="0" rIns="0" bIns="0" anchor="t">
            <a:noAutofit/>
          </a:bodyPr>
          <a:lstStyle>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필수 조건·최종 값 유지</a:t>
            </a:r>
          </a:p>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한계 고지는 한곳에서 한 문장으로</a:t>
            </a:r>
          </a:p>
        </p:txBody>
      </p:sp>
    </p:spTree>
    <p:extLst>
      <p:ext uri="{BB962C8B-B14F-4D97-AF65-F5344CB8AC3E}">
        <p14:creationId xmlns:p14="http://schemas.microsoft.com/office/powerpoint/2010/main" val="2107858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직선 화살표 연결선 22">
            <a:extLst>
              <a:ext uri="{FF2B5EF4-FFF2-40B4-BE49-F238E27FC236}">
                <a16:creationId xmlns:a16="http://schemas.microsoft.com/office/drawing/2014/main" id="{1F2FEC30-79C9-41DA-BC79-5508876D3112}"/>
              </a:ext>
            </a:extLst>
          </p:cNvPr>
          <p:cNvCxnSpPr>
            <a:stCxn id="18" idx="0"/>
            <a:endCxn id="10" idx="2"/>
          </p:cNvCxnSpPr>
          <p:nvPr/>
        </p:nvCxnSpPr>
        <p:spPr>
          <a:xfrm flipV="1">
            <a:off x="9024938" y="2895600"/>
            <a:ext cx="0" cy="704850"/>
          </a:xfrm>
          <a:prstGeom prst="straightConnector1">
            <a:avLst/>
          </a:prstGeom>
          <a:ln w="19050">
            <a:solidFill>
              <a:srgbClr val="F72585"/>
            </a:solidFill>
            <a:prstDash val="solid"/>
            <a:tailEnd type="triangle" w="sm" len="sm"/>
          </a:ln>
        </p:spPr>
      </p:cxnSp>
      <p:cxnSp>
        <p:nvCxnSpPr>
          <p:cNvPr id="22" name="직선 화살표 연결선 21">
            <a:extLst>
              <a:ext uri="{FF2B5EF4-FFF2-40B4-BE49-F238E27FC236}">
                <a16:creationId xmlns:a16="http://schemas.microsoft.com/office/drawing/2014/main" id="{C55C91DE-F459-4AD8-A59D-F874D74D48A6}"/>
              </a:ext>
            </a:extLst>
          </p:cNvPr>
          <p:cNvCxnSpPr>
            <a:stCxn id="17" idx="3"/>
            <a:endCxn id="18" idx="1"/>
          </p:cNvCxnSpPr>
          <p:nvPr/>
        </p:nvCxnSpPr>
        <p:spPr>
          <a:xfrm>
            <a:off x="7439025" y="3948113"/>
            <a:ext cx="438150" cy="0"/>
          </a:xfrm>
          <a:prstGeom prst="straightConnector1">
            <a:avLst/>
          </a:prstGeom>
          <a:ln w="19050">
            <a:solidFill>
              <a:srgbClr val="F72585"/>
            </a:solidFill>
            <a:prstDash val="solid"/>
            <a:tailEnd type="triangle" w="sm" len="sm"/>
          </a:ln>
        </p:spPr>
      </p:cxnSp>
      <p:cxnSp>
        <p:nvCxnSpPr>
          <p:cNvPr id="21" name="직선 화살표 연결선 20">
            <a:extLst>
              <a:ext uri="{FF2B5EF4-FFF2-40B4-BE49-F238E27FC236}">
                <a16:creationId xmlns:a16="http://schemas.microsoft.com/office/drawing/2014/main" id="{D58D970A-753B-4468-9BA6-17EB08DEBFCE}"/>
              </a:ext>
            </a:extLst>
          </p:cNvPr>
          <p:cNvCxnSpPr>
            <a:stCxn id="16" idx="3"/>
            <a:endCxn id="17" idx="1"/>
          </p:cNvCxnSpPr>
          <p:nvPr/>
        </p:nvCxnSpPr>
        <p:spPr>
          <a:xfrm>
            <a:off x="4705350" y="3948113"/>
            <a:ext cx="438150" cy="0"/>
          </a:xfrm>
          <a:prstGeom prst="straightConnector1">
            <a:avLst/>
          </a:prstGeom>
          <a:ln w="19050">
            <a:solidFill>
              <a:srgbClr val="F72585"/>
            </a:solidFill>
            <a:prstDash val="solid"/>
            <a:tailEnd type="triangle" w="sm" len="sm"/>
          </a:ln>
        </p:spPr>
      </p:cxnSp>
      <p:cxnSp>
        <p:nvCxnSpPr>
          <p:cNvPr id="20" name="연결선: 꺾임 19">
            <a:extLst>
              <a:ext uri="{FF2B5EF4-FFF2-40B4-BE49-F238E27FC236}">
                <a16:creationId xmlns:a16="http://schemas.microsoft.com/office/drawing/2014/main" id="{EEA0D98B-21C7-49E3-BFF5-BDC12A765AB6}"/>
              </a:ext>
            </a:extLst>
          </p:cNvPr>
          <p:cNvCxnSpPr>
            <a:stCxn id="9" idx="2"/>
            <a:endCxn id="16" idx="0"/>
          </p:cNvCxnSpPr>
          <p:nvPr/>
        </p:nvCxnSpPr>
        <p:spPr>
          <a:xfrm flipH="1">
            <a:off x="3795713" y="2895600"/>
            <a:ext cx="2495550" cy="704850"/>
          </a:xfrm>
          <a:prstGeom prst="bentConnector4">
            <a:avLst>
              <a:gd name="adj1" fmla="val 0"/>
              <a:gd name="adj2" fmla="val 50000"/>
            </a:avLst>
          </a:prstGeom>
          <a:ln w="19050">
            <a:solidFill>
              <a:srgbClr val="F72585"/>
            </a:solidFill>
            <a:prstDash val="solid"/>
            <a:tailEnd type="triangle" w="sm" len="sm"/>
          </a:ln>
        </p:spPr>
      </p:cxnSp>
      <p:cxnSp>
        <p:nvCxnSpPr>
          <p:cNvPr id="19" name="직선 화살표 연결선 18">
            <a:extLst>
              <a:ext uri="{FF2B5EF4-FFF2-40B4-BE49-F238E27FC236}">
                <a16:creationId xmlns:a16="http://schemas.microsoft.com/office/drawing/2014/main" id="{5D45B30F-DC0A-430F-9A92-6203B088A7C4}"/>
              </a:ext>
            </a:extLst>
          </p:cNvPr>
          <p:cNvCxnSpPr>
            <a:stCxn id="8" idx="2"/>
            <a:endCxn id="16" idx="0"/>
          </p:cNvCxnSpPr>
          <p:nvPr/>
        </p:nvCxnSpPr>
        <p:spPr>
          <a:xfrm>
            <a:off x="3795713" y="2895600"/>
            <a:ext cx="0" cy="704850"/>
          </a:xfrm>
          <a:prstGeom prst="straightConnector1">
            <a:avLst/>
          </a:prstGeom>
          <a:ln w="19050">
            <a:solidFill>
              <a:srgbClr val="F72585"/>
            </a:solidFill>
            <a:prstDash val="solid"/>
            <a:tailEnd type="triangle" w="sm" len="sm"/>
          </a:ln>
        </p:spPr>
      </p:cxnSp>
      <p:cxnSp>
        <p:nvCxnSpPr>
          <p:cNvPr id="15" name="직선 화살표 연결선 14">
            <a:extLst>
              <a:ext uri="{FF2B5EF4-FFF2-40B4-BE49-F238E27FC236}">
                <a16:creationId xmlns:a16="http://schemas.microsoft.com/office/drawing/2014/main" id="{478634C8-F31B-4B60-92B1-EAA43A40B37C}"/>
              </a:ext>
            </a:extLst>
          </p:cNvPr>
          <p:cNvCxnSpPr>
            <a:stCxn id="10" idx="3"/>
            <a:endCxn id="11" idx="1"/>
          </p:cNvCxnSpPr>
          <p:nvPr/>
        </p:nvCxnSpPr>
        <p:spPr>
          <a:xfrm>
            <a:off x="10172700" y="2547938"/>
            <a:ext cx="438150" cy="0"/>
          </a:xfrm>
          <a:prstGeom prst="straightConnector1">
            <a:avLst/>
          </a:prstGeom>
          <a:ln w="19050">
            <a:solidFill>
              <a:srgbClr val="F72585"/>
            </a:solidFill>
            <a:prstDash val="solid"/>
            <a:tailEnd type="triangle" w="sm" len="sm"/>
          </a:ln>
        </p:spPr>
      </p:cxnSp>
      <p:cxnSp>
        <p:nvCxnSpPr>
          <p:cNvPr id="14" name="직선 화살표 연결선 13">
            <a:extLst>
              <a:ext uri="{FF2B5EF4-FFF2-40B4-BE49-F238E27FC236}">
                <a16:creationId xmlns:a16="http://schemas.microsoft.com/office/drawing/2014/main" id="{F3EEA71E-F2B3-46F1-9E1D-F75A1A5B3D05}"/>
              </a:ext>
            </a:extLst>
          </p:cNvPr>
          <p:cNvCxnSpPr>
            <a:stCxn id="9" idx="3"/>
            <a:endCxn id="10" idx="1"/>
          </p:cNvCxnSpPr>
          <p:nvPr/>
        </p:nvCxnSpPr>
        <p:spPr>
          <a:xfrm>
            <a:off x="7439025" y="2547938"/>
            <a:ext cx="438150" cy="0"/>
          </a:xfrm>
          <a:prstGeom prst="straightConnector1">
            <a:avLst/>
          </a:prstGeom>
          <a:ln w="19050">
            <a:solidFill>
              <a:srgbClr val="F72585"/>
            </a:solidFill>
            <a:prstDash val="solid"/>
            <a:tailEnd type="triangle" w="sm" len="sm"/>
          </a:ln>
        </p:spPr>
      </p:cxnSp>
      <p:cxnSp>
        <p:nvCxnSpPr>
          <p:cNvPr id="13" name="직선 화살표 연결선 12">
            <a:extLst>
              <a:ext uri="{FF2B5EF4-FFF2-40B4-BE49-F238E27FC236}">
                <a16:creationId xmlns:a16="http://schemas.microsoft.com/office/drawing/2014/main" id="{2756DC8E-2AC8-4882-8843-9468B1D934DD}"/>
              </a:ext>
            </a:extLst>
          </p:cNvPr>
          <p:cNvCxnSpPr>
            <a:stCxn id="8" idx="3"/>
            <a:endCxn id="9" idx="1"/>
          </p:cNvCxnSpPr>
          <p:nvPr/>
        </p:nvCxnSpPr>
        <p:spPr>
          <a:xfrm>
            <a:off x="4705350" y="2547938"/>
            <a:ext cx="438150" cy="0"/>
          </a:xfrm>
          <a:prstGeom prst="straightConnector1">
            <a:avLst/>
          </a:prstGeom>
          <a:ln w="19050">
            <a:solidFill>
              <a:srgbClr val="F72585"/>
            </a:solidFill>
            <a:prstDash val="solid"/>
            <a:tailEnd type="triangle" w="sm" len="sm"/>
          </a:ln>
        </p:spPr>
      </p:cxnSp>
      <p:cxnSp>
        <p:nvCxnSpPr>
          <p:cNvPr id="12" name="직선 화살표 연결선 11">
            <a:extLst>
              <a:ext uri="{FF2B5EF4-FFF2-40B4-BE49-F238E27FC236}">
                <a16:creationId xmlns:a16="http://schemas.microsoft.com/office/drawing/2014/main" id="{CA3D5822-99C1-48FD-B23F-DEE2D9D2F5C1}"/>
              </a:ext>
            </a:extLst>
          </p:cNvPr>
          <p:cNvCxnSpPr>
            <a:stCxn id="7" idx="3"/>
            <a:endCxn id="8" idx="1"/>
          </p:cNvCxnSpPr>
          <p:nvPr/>
        </p:nvCxnSpPr>
        <p:spPr>
          <a:xfrm>
            <a:off x="2447925" y="2547938"/>
            <a:ext cx="438150" cy="0"/>
          </a:xfrm>
          <a:prstGeom prst="straightConnector1">
            <a:avLst/>
          </a:prstGeom>
          <a:ln w="19050">
            <a:solidFill>
              <a:srgbClr val="F72585"/>
            </a:solidFill>
            <a:prstDash val="solid"/>
            <a:tailEnd type="triangle" w="sm" len="sm"/>
          </a:ln>
        </p:spPr>
      </p:cxnSp>
      <p:sp>
        <p:nvSpPr>
          <p:cNvPr id="27" name="own-text-44">
            <a:extLst>
              <a:ext uri="{FF2B5EF4-FFF2-40B4-BE49-F238E27FC236}">
                <a16:creationId xmlns:a16="http://schemas.microsoft.com/office/drawing/2014/main" id="{A4CFEBD3-D9D6-4564-B164-F06F7771B1D5}"/>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45">
            <a:extLst>
              <a:ext uri="{FF2B5EF4-FFF2-40B4-BE49-F238E27FC236}">
                <a16:creationId xmlns:a16="http://schemas.microsoft.com/office/drawing/2014/main" id="{BA0DB51A-6957-419C-9D8E-F8BC653B75FC}"/>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판정 LLM 파이프라인과 검색 효과</a:t>
            </a:r>
          </a:p>
        </p:txBody>
      </p:sp>
      <p:sp>
        <p:nvSpPr>
          <p:cNvPr id="3" name="own-text-46">
            <a:extLst>
              <a:ext uri="{FF2B5EF4-FFF2-40B4-BE49-F238E27FC236}">
                <a16:creationId xmlns:a16="http://schemas.microsoft.com/office/drawing/2014/main" id="{9F6DC47A-EAC5-42C3-8E43-9ADE58DA2D8A}"/>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분류기로 필요한 질문을 고르고, 판정 검색어는 코드 검사 후 FAQ 검색에 사용</a:t>
            </a:r>
          </a:p>
        </p:txBody>
      </p:sp>
      <p:sp>
        <p:nvSpPr>
          <p:cNvPr id="4" name="own-text-47">
            <a:extLst>
              <a:ext uri="{FF2B5EF4-FFF2-40B4-BE49-F238E27FC236}">
                <a16:creationId xmlns:a16="http://schemas.microsoft.com/office/drawing/2014/main" id="{F355D132-D851-4FCB-BDD7-EBD6E56FA26C}"/>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48">
            <a:extLst>
              <a:ext uri="{FF2B5EF4-FFF2-40B4-BE49-F238E27FC236}">
                <a16:creationId xmlns:a16="http://schemas.microsoft.com/office/drawing/2014/main" id="{380E1D30-5EDC-4843-9C82-914FE07DCA6E}"/>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13</a:t>
            </a:r>
            <a:endParaRPr sz="1300" b="0">
              <a:solidFill>
                <a:srgbClr val="686B72"/>
              </a:solidFill>
              <a:latin typeface="맑은 고딕"/>
              <a:ea typeface="맑은 고딕"/>
              <a:cs typeface="맑은 고딕"/>
            </a:endParaRPr>
          </a:p>
        </p:txBody>
      </p:sp>
      <p:sp>
        <p:nvSpPr>
          <p:cNvPr id="6" name="own-text-49">
            <a:extLst>
              <a:ext uri="{FF2B5EF4-FFF2-40B4-BE49-F238E27FC236}">
                <a16:creationId xmlns:a16="http://schemas.microsoft.com/office/drawing/2014/main" id="{5868DE7D-8E6F-43A9-BB9E-AA3F12636DA7}"/>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기능 평가 200건과 별도 질문 분리 100건을 시험. 아래는 질문 분리 100건 전체의 같은 질문·정답 FAQ 비교.</a:t>
            </a:r>
          </a:p>
        </p:txBody>
      </p:sp>
      <p:sp>
        <p:nvSpPr>
          <p:cNvPr id="7" name="pipeline-50">
            <a:extLst>
              <a:ext uri="{FF2B5EF4-FFF2-40B4-BE49-F238E27FC236}">
                <a16:creationId xmlns:a16="http://schemas.microsoft.com/office/drawing/2014/main" id="{4A7B4573-92DE-4485-A150-4D7106B9639F}"/>
              </a:ext>
            </a:extLst>
          </p:cNvPr>
          <p:cNvSpPr>
            <a:spLocks noGrp="1"/>
          </p:cNvSpPr>
          <p:nvPr/>
        </p:nvSpPr>
        <p:spPr>
          <a:xfrm>
            <a:off x="628650" y="2200275"/>
            <a:ext cx="181927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8" name="pipeline-51">
            <a:extLst>
              <a:ext uri="{FF2B5EF4-FFF2-40B4-BE49-F238E27FC236}">
                <a16:creationId xmlns:a16="http://schemas.microsoft.com/office/drawing/2014/main" id="{72EA0F0E-E6E4-4F06-B32C-00255F488D45}"/>
              </a:ext>
            </a:extLst>
          </p:cNvPr>
          <p:cNvSpPr>
            <a:spLocks noGrp="1"/>
          </p:cNvSpPr>
          <p:nvPr/>
        </p:nvSpPr>
        <p:spPr>
          <a:xfrm>
            <a:off x="2886075" y="2200275"/>
            <a:ext cx="1819275" cy="695325"/>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분류기</a:t>
            </a:r>
          </a:p>
        </p:txBody>
      </p:sp>
      <p:sp>
        <p:nvSpPr>
          <p:cNvPr id="9" name="pipeline-52">
            <a:extLst>
              <a:ext uri="{FF2B5EF4-FFF2-40B4-BE49-F238E27FC236}">
                <a16:creationId xmlns:a16="http://schemas.microsoft.com/office/drawing/2014/main" id="{0C1AF927-0F4A-4D22-93EB-FF2514B12181}"/>
              </a:ext>
            </a:extLst>
          </p:cNvPr>
          <p:cNvSpPr>
            <a:spLocks noGrp="1"/>
          </p:cNvSpPr>
          <p:nvPr/>
        </p:nvSpPr>
        <p:spPr>
          <a:xfrm>
            <a:off x="5143500" y="2200275"/>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원문 우선 검색</a:t>
            </a:r>
          </a:p>
        </p:txBody>
      </p:sp>
      <p:sp>
        <p:nvSpPr>
          <p:cNvPr id="10" name="pipeline-53">
            <a:extLst>
              <a:ext uri="{FF2B5EF4-FFF2-40B4-BE49-F238E27FC236}">
                <a16:creationId xmlns:a16="http://schemas.microsoft.com/office/drawing/2014/main" id="{DBF05A9D-76AF-4EF6-8006-A174D1C34BBA}"/>
              </a:ext>
            </a:extLst>
          </p:cNvPr>
          <p:cNvSpPr>
            <a:spLocks noGrp="1"/>
          </p:cNvSpPr>
          <p:nvPr/>
        </p:nvSpPr>
        <p:spPr>
          <a:xfrm>
            <a:off x="7877175" y="2200275"/>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FAQ·문장 검사</a:t>
            </a:r>
          </a:p>
        </p:txBody>
      </p:sp>
      <p:sp>
        <p:nvSpPr>
          <p:cNvPr id="11" name="pipeline-54">
            <a:extLst>
              <a:ext uri="{FF2B5EF4-FFF2-40B4-BE49-F238E27FC236}">
                <a16:creationId xmlns:a16="http://schemas.microsoft.com/office/drawing/2014/main" id="{20F41504-92C8-4581-A9E7-CD83609E3A66}"/>
              </a:ext>
            </a:extLst>
          </p:cNvPr>
          <p:cNvSpPr>
            <a:spLocks noGrp="1"/>
          </p:cNvSpPr>
          <p:nvPr/>
        </p:nvSpPr>
        <p:spPr>
          <a:xfrm>
            <a:off x="10610850" y="2200275"/>
            <a:ext cx="2476500" cy="695325"/>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6" name="pipeline-55">
            <a:extLst>
              <a:ext uri="{FF2B5EF4-FFF2-40B4-BE49-F238E27FC236}">
                <a16:creationId xmlns:a16="http://schemas.microsoft.com/office/drawing/2014/main" id="{52EABC47-BAC1-4741-BB9B-5807F3818BDD}"/>
              </a:ext>
            </a:extLst>
          </p:cNvPr>
          <p:cNvSpPr>
            <a:spLocks noGrp="1"/>
          </p:cNvSpPr>
          <p:nvPr/>
        </p:nvSpPr>
        <p:spPr>
          <a:xfrm>
            <a:off x="2886075" y="3600450"/>
            <a:ext cx="1819275" cy="695325"/>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판정 LLM</a:t>
            </a:r>
          </a:p>
        </p:txBody>
      </p:sp>
      <p:sp>
        <p:nvSpPr>
          <p:cNvPr id="17" name="pipeline-56">
            <a:extLst>
              <a:ext uri="{FF2B5EF4-FFF2-40B4-BE49-F238E27FC236}">
                <a16:creationId xmlns:a16="http://schemas.microsoft.com/office/drawing/2014/main" id="{BF0941D9-6CE2-4BF7-B38C-9B5A2B00E51A}"/>
              </a:ext>
            </a:extLst>
          </p:cNvPr>
          <p:cNvSpPr>
            <a:spLocks noGrp="1"/>
          </p:cNvSpPr>
          <p:nvPr/>
        </p:nvSpPr>
        <p:spPr>
          <a:xfrm>
            <a:off x="5143500" y="3600450"/>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검색어 변형 검사</a:t>
            </a:r>
          </a:p>
        </p:txBody>
      </p:sp>
      <p:sp>
        <p:nvSpPr>
          <p:cNvPr id="18" name="pipeline-57">
            <a:extLst>
              <a:ext uri="{FF2B5EF4-FFF2-40B4-BE49-F238E27FC236}">
                <a16:creationId xmlns:a16="http://schemas.microsoft.com/office/drawing/2014/main" id="{5BA958C9-F834-4CEA-AADE-BF2ADEE88DF8}"/>
              </a:ext>
            </a:extLst>
          </p:cNvPr>
          <p:cNvSpPr>
            <a:spLocks noGrp="1"/>
          </p:cNvSpPr>
          <p:nvPr/>
        </p:nvSpPr>
        <p:spPr>
          <a:xfrm>
            <a:off x="7877175" y="3600450"/>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하위 질문별 검색</a:t>
            </a:r>
          </a:p>
        </p:txBody>
      </p:sp>
      <p:sp>
        <p:nvSpPr>
          <p:cNvPr id="24" name="own-text-58">
            <a:extLst>
              <a:ext uri="{FF2B5EF4-FFF2-40B4-BE49-F238E27FC236}">
                <a16:creationId xmlns:a16="http://schemas.microsoft.com/office/drawing/2014/main" id="{ABD0EE6E-AA9A-46EC-9276-3FFC24051D01}"/>
              </a:ext>
            </a:extLst>
          </p:cNvPr>
          <p:cNvSpPr>
            <a:spLocks noGrp="1"/>
          </p:cNvSpPr>
          <p:nvPr/>
        </p:nvSpPr>
        <p:spPr>
          <a:xfrm>
            <a:off x="628650" y="3571875"/>
            <a:ext cx="2047875" cy="695325"/>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분리·멀티턴 표지</a:t>
            </a:r>
          </a:p>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또는 첫 검색 실패</a:t>
            </a:r>
          </a:p>
        </p:txBody>
      </p:sp>
      <p:sp>
        <p:nvSpPr>
          <p:cNvPr id="25" name="own-text-59">
            <a:extLst>
              <a:ext uri="{FF2B5EF4-FFF2-40B4-BE49-F238E27FC236}">
                <a16:creationId xmlns:a16="http://schemas.microsoft.com/office/drawing/2014/main" id="{F63081FD-B1BD-4200-8306-F36A8A2AA109}"/>
              </a:ext>
            </a:extLst>
          </p:cNvPr>
          <p:cNvSpPr>
            <a:spLocks noGrp="1"/>
          </p:cNvSpPr>
          <p:nvPr/>
        </p:nvSpPr>
        <p:spPr>
          <a:xfrm>
            <a:off x="10610850" y="3571875"/>
            <a:ext cx="2476500" cy="695325"/>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질문 원문·원문 조각과</a:t>
            </a:r>
          </a:p>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통과한 자료를 전달</a:t>
            </a:r>
          </a:p>
        </p:txBody>
      </p:sp>
      <p:graphicFrame>
        <p:nvGraphicFramePr>
          <p:cNvPr id="26" name="표 25">
            <a:extLst>
              <a:ext uri="{FF2B5EF4-FFF2-40B4-BE49-F238E27FC236}">
                <a16:creationId xmlns:a16="http://schemas.microsoft.com/office/drawing/2014/main" id="{FEBE4F8E-05AD-4E47-98E5-D988793759DB}"/>
              </a:ext>
            </a:extLst>
          </p:cNvPr>
          <p:cNvGraphicFramePr/>
          <p:nvPr/>
        </p:nvGraphicFramePr>
        <p:xfrm>
          <a:off x="628650" y="4886325"/>
          <a:ext cx="12458700" cy="1571625"/>
        </p:xfrm>
        <a:graphic>
          <a:graphicData uri="http://schemas.openxmlformats.org/drawingml/2006/table">
            <a:tbl>
              <a:tblPr/>
              <a:tblGrid>
                <a:gridCol w="48387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392906">
                <a:tc>
                  <a:txBody>
                    <a:bodyPr/>
                    <a:lstStyle/>
                    <a:p>
                      <a:r>
                        <a:rPr sz="1598" b="1">
                          <a:solidFill>
                            <a:srgbClr val="FFFFFF"/>
                          </a:solidFill>
                          <a:latin typeface="맑은 고딕"/>
                          <a:ea typeface="맑은 고딕"/>
                          <a:cs typeface="맑은 고딕"/>
                        </a:rPr>
                        <a:t>질문 분리 전체 100건</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판정 없이 검색</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개선 판정</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92906">
                <a:tc>
                  <a:txBody>
                    <a:bodyPr/>
                    <a:lstStyle/>
                    <a:p>
                      <a:r>
                        <a:rPr sz="1598" b="1">
                          <a:solidFill>
                            <a:srgbClr val="F72585"/>
                          </a:solidFill>
                          <a:latin typeface="맑은 고딕"/>
                          <a:ea typeface="맑은 고딕"/>
                          <a:cs typeface="맑은 고딕"/>
                        </a:rPr>
                        <a:t>모든 정답 FAQ 검색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69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84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1"/>
                  </a:ext>
                </a:extLst>
              </a:tr>
              <a:tr h="392906">
                <a:tc>
                  <a:txBody>
                    <a:bodyPr/>
                    <a:lstStyle/>
                    <a:p>
                      <a:r>
                        <a:rPr sz="1598" b="0">
                          <a:solidFill>
                            <a:srgbClr val="17171A"/>
                          </a:solidFill>
                          <a:latin typeface="맑은 고딕"/>
                          <a:ea typeface="맑은 고딕"/>
                          <a:cs typeface="맑은 고딕"/>
                        </a:rPr>
                        <a:t>의도별 정답 FAQ 검색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161 / 201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182 / 201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392906">
                <a:tc>
                  <a:txBody>
                    <a:bodyPr/>
                    <a:lstStyle/>
                    <a:p>
                      <a:r>
                        <a:rPr sz="1598" b="1">
                          <a:solidFill>
                            <a:srgbClr val="F72585"/>
                          </a:solidFill>
                          <a:latin typeface="맑은 고딕"/>
                          <a:ea typeface="맑은 고딕"/>
                          <a:cs typeface="맑은 고딕"/>
                        </a:rPr>
                        <a:t>질문 개수 맞게 나눔</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90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0365853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직선 화살표 연결선 9">
            <a:extLst>
              <a:ext uri="{FF2B5EF4-FFF2-40B4-BE49-F238E27FC236}">
                <a16:creationId xmlns:a16="http://schemas.microsoft.com/office/drawing/2014/main" id="{432F44E1-0482-4E08-999D-61B3FB5DBC5F}"/>
              </a:ext>
            </a:extLst>
          </p:cNvPr>
          <p:cNvCxnSpPr>
            <a:stCxn id="8" idx="3"/>
            <a:endCxn id="9" idx="1"/>
          </p:cNvCxnSpPr>
          <p:nvPr/>
        </p:nvCxnSpPr>
        <p:spPr>
          <a:xfrm>
            <a:off x="2914650" y="3043238"/>
            <a:ext cx="1143000" cy="0"/>
          </a:xfrm>
          <a:prstGeom prst="straightConnector1">
            <a:avLst/>
          </a:prstGeom>
          <a:ln w="19050">
            <a:solidFill>
              <a:srgbClr val="F72585"/>
            </a:solidFill>
            <a:prstDash val="solid"/>
            <a:tailEnd type="triangle" w="sm" len="sm"/>
          </a:ln>
        </p:spPr>
      </p:cxnSp>
      <p:sp>
        <p:nvSpPr>
          <p:cNvPr id="19" name="own-text-60">
            <a:extLst>
              <a:ext uri="{FF2B5EF4-FFF2-40B4-BE49-F238E27FC236}">
                <a16:creationId xmlns:a16="http://schemas.microsoft.com/office/drawing/2014/main" id="{39085686-1D7A-4C3D-9065-6296898F5FC7}"/>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61">
            <a:extLst>
              <a:ext uri="{FF2B5EF4-FFF2-40B4-BE49-F238E27FC236}">
                <a16:creationId xmlns:a16="http://schemas.microsoft.com/office/drawing/2014/main" id="{1C2911EE-B2B3-484E-A0D1-EEA71A350233}"/>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원문 보존과 분류기로 줄인 호출</a:t>
            </a:r>
          </a:p>
        </p:txBody>
      </p:sp>
      <p:sp>
        <p:nvSpPr>
          <p:cNvPr id="3" name="own-text-62">
            <a:extLst>
              <a:ext uri="{FF2B5EF4-FFF2-40B4-BE49-F238E27FC236}">
                <a16:creationId xmlns:a16="http://schemas.microsoft.com/office/drawing/2014/main" id="{29213BDE-F2CC-4E21-BA16-47B854126412}"/>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재작성 오류의 답변 전파를 줄이고, 명확한 단건 질문은 판정 LLM을 생략</a:t>
            </a:r>
          </a:p>
        </p:txBody>
      </p:sp>
      <p:sp>
        <p:nvSpPr>
          <p:cNvPr id="4" name="own-text-63">
            <a:extLst>
              <a:ext uri="{FF2B5EF4-FFF2-40B4-BE49-F238E27FC236}">
                <a16:creationId xmlns:a16="http://schemas.microsoft.com/office/drawing/2014/main" id="{A2231DF6-7593-422F-B3A8-420A3E9F50BF}"/>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64">
            <a:extLst>
              <a:ext uri="{FF2B5EF4-FFF2-40B4-BE49-F238E27FC236}">
                <a16:creationId xmlns:a16="http://schemas.microsoft.com/office/drawing/2014/main" id="{2441F478-6D24-4FA0-934C-79C46B1B29E3}"/>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14</a:t>
            </a:r>
            <a:endParaRPr sz="1300" b="0">
              <a:solidFill>
                <a:srgbClr val="686B72"/>
              </a:solidFill>
              <a:latin typeface="맑은 고딕"/>
              <a:ea typeface="맑은 고딕"/>
              <a:cs typeface="맑은 고딕"/>
            </a:endParaRPr>
          </a:p>
        </p:txBody>
      </p:sp>
      <p:sp>
        <p:nvSpPr>
          <p:cNvPr id="6" name="own-text-65">
            <a:extLst>
              <a:ext uri="{FF2B5EF4-FFF2-40B4-BE49-F238E27FC236}">
                <a16:creationId xmlns:a16="http://schemas.microsoft.com/office/drawing/2014/main" id="{63909BB5-DD00-4BD8-B37F-E0C1F046C420}"/>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변형 전파 8건·3건은 선정 사례의 수동 검토. 가드 9건은 300개 출력의 탐지 사례이며 전수 환각 감소율이 아님.</a:t>
            </a:r>
          </a:p>
        </p:txBody>
      </p:sp>
      <p:sp>
        <p:nvSpPr>
          <p:cNvPr id="7" name="own-text-66">
            <a:extLst>
              <a:ext uri="{FF2B5EF4-FFF2-40B4-BE49-F238E27FC236}">
                <a16:creationId xmlns:a16="http://schemas.microsoft.com/office/drawing/2014/main" id="{A22EC96D-4668-4F42-9ADE-2485E03BFFDD}"/>
              </a:ext>
            </a:extLst>
          </p:cNvPr>
          <p:cNvSpPr>
            <a:spLocks noGrp="1"/>
          </p:cNvSpPr>
          <p:nvPr/>
        </p:nvSpPr>
        <p:spPr>
          <a:xfrm>
            <a:off x="628650" y="2105025"/>
            <a:ext cx="6000750" cy="361950"/>
          </a:xfrm>
          <a:prstGeom prst="rect">
            <a:avLst/>
          </a:prstGeom>
          <a:noFill/>
          <a:ln w="0">
            <a:noFill/>
          </a:ln>
        </p:spPr>
        <p:txBody>
          <a:bodyPr wrap="square" lIns="0" tIns="0" rIns="0" bIns="0" anchor="t">
            <a:noAutofit/>
          </a:bodyPr>
          <a:lstStyle>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답변에는 사용자 원문·원문 조각</a:t>
            </a:r>
          </a:p>
        </p:txBody>
      </p:sp>
      <p:sp>
        <p:nvSpPr>
          <p:cNvPr id="8" name="pipeline-67">
            <a:extLst>
              <a:ext uri="{FF2B5EF4-FFF2-40B4-BE49-F238E27FC236}">
                <a16:creationId xmlns:a16="http://schemas.microsoft.com/office/drawing/2014/main" id="{CACCDB6E-82D5-4287-ABA9-EC0EA68F39EE}"/>
              </a:ext>
            </a:extLst>
          </p:cNvPr>
          <p:cNvSpPr>
            <a:spLocks noGrp="1"/>
          </p:cNvSpPr>
          <p:nvPr/>
        </p:nvSpPr>
        <p:spPr>
          <a:xfrm>
            <a:off x="628650" y="2686050"/>
            <a:ext cx="2286000" cy="71437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9" name="pipeline-68">
            <a:extLst>
              <a:ext uri="{FF2B5EF4-FFF2-40B4-BE49-F238E27FC236}">
                <a16:creationId xmlns:a16="http://schemas.microsoft.com/office/drawing/2014/main" id="{C1C61D99-21EF-44A1-8D00-E4CD834665A1}"/>
              </a:ext>
            </a:extLst>
          </p:cNvPr>
          <p:cNvSpPr>
            <a:spLocks noGrp="1"/>
          </p:cNvSpPr>
          <p:nvPr/>
        </p:nvSpPr>
        <p:spPr>
          <a:xfrm>
            <a:off x="4057650" y="2686050"/>
            <a:ext cx="2381250" cy="714375"/>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1" name="own-text-69">
            <a:extLst>
              <a:ext uri="{FF2B5EF4-FFF2-40B4-BE49-F238E27FC236}">
                <a16:creationId xmlns:a16="http://schemas.microsoft.com/office/drawing/2014/main" id="{8187C76A-0E51-4E11-B4A8-3F79F57EBDDC}"/>
              </a:ext>
            </a:extLst>
          </p:cNvPr>
          <p:cNvSpPr>
            <a:spLocks noGrp="1"/>
          </p:cNvSpPr>
          <p:nvPr/>
        </p:nvSpPr>
        <p:spPr>
          <a:xfrm>
            <a:off x="628650" y="3648075"/>
            <a:ext cx="5810250" cy="352425"/>
          </a:xfrm>
          <a:prstGeom prst="rect">
            <a:avLst/>
          </a:prstGeom>
          <a:noFill/>
          <a:ln w="0">
            <a:noFill/>
          </a:ln>
        </p:spPr>
        <p:txBody>
          <a:bodyPr wrap="square" lIns="0" tIns="0" rIns="0" bIns="0" anchor="t">
            <a:noAutofit/>
          </a:bodyPr>
          <a:lstStyle>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가공한 검색어는 FAQ 검색에만 사용</a:t>
            </a:r>
          </a:p>
        </p:txBody>
      </p:sp>
      <p:sp>
        <p:nvSpPr>
          <p:cNvPr id="12" name="own-text-70">
            <a:extLst>
              <a:ext uri="{FF2B5EF4-FFF2-40B4-BE49-F238E27FC236}">
                <a16:creationId xmlns:a16="http://schemas.microsoft.com/office/drawing/2014/main" id="{B7DA6811-6259-495B-A2E3-B66D6805B20D}"/>
              </a:ext>
            </a:extLst>
          </p:cNvPr>
          <p:cNvSpPr>
            <a:spLocks noGrp="1"/>
          </p:cNvSpPr>
          <p:nvPr/>
        </p:nvSpPr>
        <p:spPr>
          <a:xfrm>
            <a:off x="628650" y="4229100"/>
            <a:ext cx="5810250" cy="304800"/>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변형이 답변에 전파된 선정 사례</a:t>
            </a:r>
          </a:p>
        </p:txBody>
      </p:sp>
      <p:sp>
        <p:nvSpPr>
          <p:cNvPr id="13" name="own-text-71">
            <a:extLst>
              <a:ext uri="{FF2B5EF4-FFF2-40B4-BE49-F238E27FC236}">
                <a16:creationId xmlns:a16="http://schemas.microsoft.com/office/drawing/2014/main" id="{C83D70FB-4C10-4850-9014-FF014B620795}"/>
              </a:ext>
            </a:extLst>
          </p:cNvPr>
          <p:cNvSpPr>
            <a:spLocks noGrp="1"/>
          </p:cNvSpPr>
          <p:nvPr/>
        </p:nvSpPr>
        <p:spPr>
          <a:xfrm>
            <a:off x="628650" y="4629150"/>
            <a:ext cx="5810250" cy="552450"/>
          </a:xfrm>
          <a:prstGeom prst="rect">
            <a:avLst/>
          </a:prstGeom>
          <a:noFill/>
          <a:ln w="0">
            <a:noFill/>
          </a:ln>
        </p:spPr>
        <p:txBody>
          <a:bodyPr wrap="square" lIns="0" tIns="0" rIns="0" bIns="0" anchor="t">
            <a:noAutofit/>
          </a:bodyPr>
          <a:lstStyle>
            <a:defPPr algn="l">
              <a:defRPr sz="3000" b="1">
                <a:solidFill>
                  <a:srgbClr val="F72585"/>
                </a:solidFill>
                <a:latin typeface="맑은 고딕"/>
                <a:ea typeface="맑은 고딕"/>
                <a:cs typeface="맑은 고딕"/>
              </a:defRPr>
            </a:defPPr>
            <a:lvl1pPr algn="l">
              <a:defRPr sz="3000" b="1">
                <a:solidFill>
                  <a:srgbClr val="F72585"/>
                </a:solidFill>
                <a:latin typeface="맑은 고딕"/>
                <a:ea typeface="맑은 고딕"/>
                <a:cs typeface="맑은 고딕"/>
              </a:defRPr>
            </a:lvl1pPr>
            <a:lvl2pPr algn="l">
              <a:defRPr sz="3000" b="1">
                <a:solidFill>
                  <a:srgbClr val="F72585"/>
                </a:solidFill>
                <a:latin typeface="맑은 고딕"/>
                <a:ea typeface="맑은 고딕"/>
                <a:cs typeface="맑은 고딕"/>
              </a:defRPr>
            </a:lvl2pPr>
            <a:lvl3pPr algn="l">
              <a:defRPr sz="3000" b="1">
                <a:solidFill>
                  <a:srgbClr val="F72585"/>
                </a:solidFill>
                <a:latin typeface="맑은 고딕"/>
                <a:ea typeface="맑은 고딕"/>
                <a:cs typeface="맑은 고딕"/>
              </a:defRPr>
            </a:lvl3pPr>
            <a:lvl4pPr algn="l">
              <a:defRPr sz="3000" b="1">
                <a:solidFill>
                  <a:srgbClr val="F72585"/>
                </a:solidFill>
                <a:latin typeface="맑은 고딕"/>
                <a:ea typeface="맑은 고딕"/>
                <a:cs typeface="맑은 고딕"/>
              </a:defRPr>
            </a:lvl4pPr>
            <a:lvl5pPr algn="l">
              <a:defRPr sz="3000" b="1">
                <a:solidFill>
                  <a:srgbClr val="F72585"/>
                </a:solidFill>
                <a:latin typeface="맑은 고딕"/>
                <a:ea typeface="맑은 고딕"/>
                <a:cs typeface="맑은 고딕"/>
              </a:defRPr>
            </a:lvl5pPr>
            <a:lvl6pPr algn="l">
              <a:defRPr sz="3000" b="1">
                <a:solidFill>
                  <a:srgbClr val="F72585"/>
                </a:solidFill>
                <a:latin typeface="맑은 고딕"/>
                <a:ea typeface="맑은 고딕"/>
                <a:cs typeface="맑은 고딕"/>
              </a:defRPr>
            </a:lvl6pPr>
            <a:lvl7pPr algn="l">
              <a:defRPr sz="3000" b="1">
                <a:solidFill>
                  <a:srgbClr val="F72585"/>
                </a:solidFill>
                <a:latin typeface="맑은 고딕"/>
                <a:ea typeface="맑은 고딕"/>
                <a:cs typeface="맑은 고딕"/>
              </a:defRPr>
            </a:lvl7pPr>
            <a:lvl8pPr algn="l">
              <a:defRPr sz="3000" b="1">
                <a:solidFill>
                  <a:srgbClr val="F72585"/>
                </a:solidFill>
                <a:latin typeface="맑은 고딕"/>
                <a:ea typeface="맑은 고딕"/>
                <a:cs typeface="맑은 고딕"/>
              </a:defRPr>
            </a:lvl8pPr>
            <a:lvl9pPr algn="l">
              <a:defRPr sz="3000" b="1">
                <a:solidFill>
                  <a:srgbClr val="F72585"/>
                </a:solidFill>
                <a:latin typeface="맑은 고딕"/>
                <a:ea typeface="맑은 고딕"/>
                <a:cs typeface="맑은 고딕"/>
              </a:defRPr>
            </a:lvl9pPr>
          </a:lstStyle>
          <a:p>
            <a:pPr algn="l">
              <a:defRPr sz="3000" b="1">
                <a:solidFill>
                  <a:srgbClr val="F72585"/>
                </a:solidFill>
                <a:latin typeface="맑은 고딕"/>
                <a:ea typeface="맑은 고딕"/>
                <a:cs typeface="맑은 고딕"/>
              </a:defRPr>
            </a:pPr>
            <a:r>
              <a:rPr sz="3000" b="1">
                <a:solidFill>
                  <a:srgbClr val="F72585"/>
                </a:solidFill>
                <a:latin typeface="맑은 고딕"/>
                <a:ea typeface="맑은 고딕"/>
                <a:cs typeface="맑은 고딕"/>
              </a:rPr>
              <a:t>8건에서 3건</a:t>
            </a:r>
          </a:p>
        </p:txBody>
      </p:sp>
      <p:sp>
        <p:nvSpPr>
          <p:cNvPr id="14" name="own-text-72">
            <a:extLst>
              <a:ext uri="{FF2B5EF4-FFF2-40B4-BE49-F238E27FC236}">
                <a16:creationId xmlns:a16="http://schemas.microsoft.com/office/drawing/2014/main" id="{D55F41AC-1F28-42CA-AEE7-C1543F9693FC}"/>
              </a:ext>
            </a:extLst>
          </p:cNvPr>
          <p:cNvSpPr>
            <a:spLocks noGrp="1"/>
          </p:cNvSpPr>
          <p:nvPr/>
        </p:nvSpPr>
        <p:spPr>
          <a:xfrm>
            <a:off x="628650" y="5372100"/>
            <a:ext cx="5810250" cy="704850"/>
          </a:xfrm>
          <a:prstGeom prst="rect">
            <a:avLst/>
          </a:prstGeom>
          <a:noFill/>
          <a:ln w="0">
            <a:noFill/>
          </a:ln>
        </p:spPr>
        <p:txBody>
          <a:bodyPr wrap="square" lIns="0" tIns="0" rIns="0" bIns="0" anchor="t">
            <a:noAutofit/>
          </a:bodyPr>
          <a:lstStyle>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원문·원문을 보존한 질문 조각 모두 76/100</a:t>
            </a:r>
          </a:p>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검색어 검사로 실제 변형 9/300건 탐지</a:t>
            </a:r>
          </a:p>
        </p:txBody>
      </p:sp>
      <p:sp>
        <p:nvSpPr>
          <p:cNvPr id="15" name="own-text-73">
            <a:extLst>
              <a:ext uri="{FF2B5EF4-FFF2-40B4-BE49-F238E27FC236}">
                <a16:creationId xmlns:a16="http://schemas.microsoft.com/office/drawing/2014/main" id="{3160DF03-50C4-4350-8730-3F837D6F5A1C}"/>
              </a:ext>
            </a:extLst>
          </p:cNvPr>
          <p:cNvSpPr>
            <a:spLocks noGrp="1"/>
          </p:cNvSpPr>
          <p:nvPr/>
        </p:nvSpPr>
        <p:spPr>
          <a:xfrm>
            <a:off x="7086600" y="2105025"/>
            <a:ext cx="6000750" cy="361950"/>
          </a:xfrm>
          <a:prstGeom prst="rect">
            <a:avLst/>
          </a:prstGeom>
          <a:noFill/>
          <a:ln w="0">
            <a:noFill/>
          </a:ln>
        </p:spPr>
        <p:txBody>
          <a:bodyPr wrap="square" lIns="0" tIns="0" rIns="0" bIns="0" anchor="t">
            <a:noAutofit/>
          </a:bodyPr>
          <a:lstStyle>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판정 LLM 호출 생략</a:t>
            </a:r>
          </a:p>
        </p:txBody>
      </p:sp>
      <p:graphicFrame>
        <p:nvGraphicFramePr>
          <p:cNvPr id="16" name="표 15">
            <a:extLst>
              <a:ext uri="{FF2B5EF4-FFF2-40B4-BE49-F238E27FC236}">
                <a16:creationId xmlns:a16="http://schemas.microsoft.com/office/drawing/2014/main" id="{77735986-2F76-4148-8647-B67843A6546B}"/>
              </a:ext>
            </a:extLst>
          </p:cNvPr>
          <p:cNvGraphicFramePr/>
          <p:nvPr/>
        </p:nvGraphicFramePr>
        <p:xfrm>
          <a:off x="7086600" y="2686050"/>
          <a:ext cx="6000750" cy="2400300"/>
        </p:xfrm>
        <a:graphic>
          <a:graphicData uri="http://schemas.openxmlformats.org/drawingml/2006/table">
            <a:tbl>
              <a:tblPr/>
              <a:tblGrid>
                <a:gridCol w="2876550">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1466850">
                  <a:extLst>
                    <a:ext uri="{9D8B030D-6E8A-4147-A177-3AD203B41FA5}">
                      <a16:colId xmlns:a16="http://schemas.microsoft.com/office/drawing/2014/main" val="20002"/>
                    </a:ext>
                  </a:extLst>
                </a:gridCol>
              </a:tblGrid>
              <a:tr h="600075">
                <a:tc>
                  <a:txBody>
                    <a:bodyPr/>
                    <a:lstStyle/>
                    <a:p>
                      <a:r>
                        <a:rPr sz="1748" b="1">
                          <a:solidFill>
                            <a:srgbClr val="FFFFFF"/>
                          </a:solidFill>
                          <a:latin typeface="맑은 고딕"/>
                          <a:ea typeface="맑은 고딕"/>
                          <a:cs typeface="맑은 고딕"/>
                        </a:rPr>
                        <a:t>평가 집합</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748" b="1">
                          <a:solidFill>
                            <a:srgbClr val="FFFFFF"/>
                          </a:solidFill>
                          <a:latin typeface="맑은 고딕"/>
                          <a:ea typeface="맑은 고딕"/>
                          <a:cs typeface="맑은 고딕"/>
                        </a:rPr>
                        <a:t>생략</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748" b="1">
                          <a:solidFill>
                            <a:srgbClr val="FFFFFF"/>
                          </a:solidFill>
                          <a:latin typeface="맑은 고딕"/>
                          <a:ea typeface="맑은 고딕"/>
                          <a:cs typeface="맑은 고딕"/>
                        </a:rPr>
                        <a:t>비율</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600075">
                <a:tc>
                  <a:txBody>
                    <a:bodyPr/>
                    <a:lstStyle/>
                    <a:p>
                      <a:r>
                        <a:rPr sz="1748" b="0">
                          <a:solidFill>
                            <a:srgbClr val="17171A"/>
                          </a:solidFill>
                          <a:latin typeface="맑은 고딕"/>
                          <a:ea typeface="맑은 고딕"/>
                          <a:cs typeface="맑은 고딕"/>
                        </a:rPr>
                        <a:t>이력 없는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748" b="0">
                          <a:solidFill>
                            <a:srgbClr val="17171A"/>
                          </a:solidFill>
                          <a:latin typeface="맑은 고딕"/>
                          <a:ea typeface="맑은 고딕"/>
                          <a:cs typeface="맑은 고딕"/>
                        </a:rPr>
                        <a:t>66 / 141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748" b="0">
                          <a:solidFill>
                            <a:srgbClr val="17171A"/>
                          </a:solidFill>
                          <a:latin typeface="맑은 고딕"/>
                          <a:ea typeface="맑은 고딕"/>
                          <a:cs typeface="맑은 고딕"/>
                        </a:rPr>
                        <a:t>46.8%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600075">
                <a:tc>
                  <a:txBody>
                    <a:bodyPr/>
                    <a:lstStyle/>
                    <a:p>
                      <a:r>
                        <a:rPr sz="1748" b="1">
                          <a:solidFill>
                            <a:srgbClr val="F72585"/>
                          </a:solidFill>
                          <a:latin typeface="맑은 고딕"/>
                          <a:ea typeface="맑은 고딕"/>
                          <a:cs typeface="맑은 고딕"/>
                        </a:rPr>
                        <a:t>파이프라인 최종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174 / 390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44.6%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600075">
                <a:tc>
                  <a:txBody>
                    <a:bodyPr/>
                    <a:lstStyle/>
                    <a:p>
                      <a:r>
                        <a:rPr sz="1748" b="1">
                          <a:solidFill>
                            <a:srgbClr val="F72585"/>
                          </a:solidFill>
                          <a:latin typeface="맑은 고딕"/>
                          <a:ea typeface="맑은 고딕"/>
                          <a:cs typeface="맑은 고딕"/>
                        </a:rPr>
                        <a:t>기본 단건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49 / 50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98.0%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bl>
          </a:graphicData>
        </a:graphic>
      </p:graphicFrame>
      <p:sp>
        <p:nvSpPr>
          <p:cNvPr id="17" name="own-text-74">
            <a:extLst>
              <a:ext uri="{FF2B5EF4-FFF2-40B4-BE49-F238E27FC236}">
                <a16:creationId xmlns:a16="http://schemas.microsoft.com/office/drawing/2014/main" id="{1DA9CA55-A044-4D71-AA4F-6A75B0B3AFA7}"/>
              </a:ext>
            </a:extLst>
          </p:cNvPr>
          <p:cNvSpPr>
            <a:spLocks noGrp="1"/>
          </p:cNvSpPr>
          <p:nvPr/>
        </p:nvSpPr>
        <p:spPr>
          <a:xfrm>
            <a:off x="7086600" y="5457825"/>
            <a:ext cx="6000750" cy="38100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390건에서 216건만 판정 호출</a:t>
            </a:r>
          </a:p>
        </p:txBody>
      </p:sp>
      <p:sp>
        <p:nvSpPr>
          <p:cNvPr id="18" name="own-text-75">
            <a:extLst>
              <a:ext uri="{FF2B5EF4-FFF2-40B4-BE49-F238E27FC236}">
                <a16:creationId xmlns:a16="http://schemas.microsoft.com/office/drawing/2014/main" id="{027A461A-1A87-4C0B-83DD-ECAE0265EB92}"/>
              </a:ext>
            </a:extLst>
          </p:cNvPr>
          <p:cNvSpPr>
            <a:spLocks noGrp="1"/>
          </p:cNvSpPr>
          <p:nvPr/>
        </p:nvSpPr>
        <p:spPr>
          <a:xfrm>
            <a:off x="7086600" y="5972175"/>
            <a:ext cx="6000750" cy="52387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생략률은 판정 호출 기준</a:t>
            </a:r>
          </a:p>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답변·도구·재호출을 합친 전체 호출 절감률과 구분</a:t>
            </a:r>
          </a:p>
        </p:txBody>
      </p:sp>
    </p:spTree>
    <p:extLst>
      <p:ext uri="{BB962C8B-B14F-4D97-AF65-F5344CB8AC3E}">
        <p14:creationId xmlns:p14="http://schemas.microsoft.com/office/powerpoint/2010/main" val="9567947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직선 화살표 연결선 10">
            <a:extLst>
              <a:ext uri="{FF2B5EF4-FFF2-40B4-BE49-F238E27FC236}">
                <a16:creationId xmlns:a16="http://schemas.microsoft.com/office/drawing/2014/main" id="{CBA14021-8C26-4318-9EFB-79353F522EF7}"/>
              </a:ext>
            </a:extLst>
          </p:cNvPr>
          <p:cNvCxnSpPr>
            <a:stCxn id="8" idx="3"/>
            <a:endCxn id="9" idx="1"/>
          </p:cNvCxnSpPr>
          <p:nvPr/>
        </p:nvCxnSpPr>
        <p:spPr>
          <a:xfrm>
            <a:off x="9410700" y="2447925"/>
            <a:ext cx="752475" cy="0"/>
          </a:xfrm>
          <a:prstGeom prst="straightConnector1">
            <a:avLst/>
          </a:prstGeom>
          <a:ln w="19050">
            <a:solidFill>
              <a:srgbClr val="F72585"/>
            </a:solidFill>
            <a:prstDash val="solid"/>
            <a:tailEnd type="triangle" w="sm" len="sm"/>
          </a:ln>
        </p:spPr>
      </p:cxnSp>
      <p:cxnSp>
        <p:nvCxnSpPr>
          <p:cNvPr id="10" name="직선 화살표 연결선 9">
            <a:extLst>
              <a:ext uri="{FF2B5EF4-FFF2-40B4-BE49-F238E27FC236}">
                <a16:creationId xmlns:a16="http://schemas.microsoft.com/office/drawing/2014/main" id="{57AAC884-DE73-497E-8379-E135B358A7F9}"/>
              </a:ext>
            </a:extLst>
          </p:cNvPr>
          <p:cNvCxnSpPr>
            <a:stCxn id="7" idx="3"/>
            <a:endCxn id="8" idx="1"/>
          </p:cNvCxnSpPr>
          <p:nvPr/>
        </p:nvCxnSpPr>
        <p:spPr>
          <a:xfrm>
            <a:off x="5676900" y="2447925"/>
            <a:ext cx="809625" cy="0"/>
          </a:xfrm>
          <a:prstGeom prst="straightConnector1">
            <a:avLst/>
          </a:prstGeom>
          <a:ln w="19050">
            <a:solidFill>
              <a:srgbClr val="F72585"/>
            </a:solidFill>
            <a:prstDash val="solid"/>
            <a:tailEnd type="triangle" w="sm" len="sm"/>
          </a:ln>
        </p:spPr>
      </p:cxnSp>
      <p:sp>
        <p:nvSpPr>
          <p:cNvPr id="15" name="own-text-76">
            <a:extLst>
              <a:ext uri="{FF2B5EF4-FFF2-40B4-BE49-F238E27FC236}">
                <a16:creationId xmlns:a16="http://schemas.microsoft.com/office/drawing/2014/main" id="{4DF7E398-F17B-48CD-B141-239BE35E1AC1}"/>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77">
            <a:extLst>
              <a:ext uri="{FF2B5EF4-FFF2-40B4-BE49-F238E27FC236}">
                <a16:creationId xmlns:a16="http://schemas.microsoft.com/office/drawing/2014/main" id="{727277A2-E17C-4554-B696-289659FF993D}"/>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질문별로 답변 칸을 나눠 출력 제어</a:t>
            </a:r>
          </a:p>
        </p:txBody>
      </p:sp>
      <p:sp>
        <p:nvSpPr>
          <p:cNvPr id="3" name="own-text-78">
            <a:extLst>
              <a:ext uri="{FF2B5EF4-FFF2-40B4-BE49-F238E27FC236}">
                <a16:creationId xmlns:a16="http://schemas.microsoft.com/office/drawing/2014/main" id="{E334E0A1-E1AC-4C92-B97A-EE940E81A16D}"/>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질문마다 답변과 답변 가능 여부를 따로 받고, 답할 수 있는 본문만 합친 뒤 안내를 부착</a:t>
            </a:r>
          </a:p>
        </p:txBody>
      </p:sp>
      <p:sp>
        <p:nvSpPr>
          <p:cNvPr id="4" name="own-text-79">
            <a:extLst>
              <a:ext uri="{FF2B5EF4-FFF2-40B4-BE49-F238E27FC236}">
                <a16:creationId xmlns:a16="http://schemas.microsoft.com/office/drawing/2014/main" id="{F9E4590B-3173-4D46-80AB-65087D8E70F1}"/>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80">
            <a:extLst>
              <a:ext uri="{FF2B5EF4-FFF2-40B4-BE49-F238E27FC236}">
                <a16:creationId xmlns:a16="http://schemas.microsoft.com/office/drawing/2014/main" id="{F8FEA25A-C558-4042-B7C2-FB24BE88FA60}"/>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15</a:t>
            </a:r>
            <a:endParaRPr sz="1300" b="0">
              <a:solidFill>
                <a:srgbClr val="686B72"/>
              </a:solidFill>
              <a:latin typeface="맑은 고딕"/>
              <a:ea typeface="맑은 고딕"/>
              <a:cs typeface="맑은 고딕"/>
            </a:endParaRPr>
          </a:p>
        </p:txBody>
      </p:sp>
      <p:sp>
        <p:nvSpPr>
          <p:cNvPr id="6" name="own-text-81">
            <a:extLst>
              <a:ext uri="{FF2B5EF4-FFF2-40B4-BE49-F238E27FC236}">
                <a16:creationId xmlns:a16="http://schemas.microsoft.com/office/drawing/2014/main" id="{005F5FC8-0652-4FAA-8C2D-65E1FA8DBB9A}"/>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채점 337문항. 세 방식 모두 분류기 적용. 반복 표현은 모델 본문에서 자료 부족 고지문이 두 문장 이상인 경우.</a:t>
            </a:r>
          </a:p>
        </p:txBody>
      </p:sp>
      <p:sp>
        <p:nvSpPr>
          <p:cNvPr id="7" name="pipeline-82">
            <a:extLst>
              <a:ext uri="{FF2B5EF4-FFF2-40B4-BE49-F238E27FC236}">
                <a16:creationId xmlns:a16="http://schemas.microsoft.com/office/drawing/2014/main" id="{90973ED7-BD43-46F8-B31C-6B5B2B4E1829}"/>
              </a:ext>
            </a:extLst>
          </p:cNvPr>
          <p:cNvSpPr>
            <a:spLocks noGrp="1"/>
          </p:cNvSpPr>
          <p:nvPr/>
        </p:nvSpPr>
        <p:spPr>
          <a:xfrm>
            <a:off x="628650" y="2047875"/>
            <a:ext cx="5048250" cy="800100"/>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1: 답할 수 있음</a:t>
            </a:r>
          </a:p>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2: 근거가 없어 답변 보류</a:t>
            </a:r>
          </a:p>
        </p:txBody>
      </p:sp>
      <p:sp>
        <p:nvSpPr>
          <p:cNvPr id="8" name="pipeline-83">
            <a:extLst>
              <a:ext uri="{FF2B5EF4-FFF2-40B4-BE49-F238E27FC236}">
                <a16:creationId xmlns:a16="http://schemas.microsoft.com/office/drawing/2014/main" id="{CFEE7EB2-0BC6-4102-B15D-C23B28901052}"/>
              </a:ext>
            </a:extLst>
          </p:cNvPr>
          <p:cNvSpPr>
            <a:spLocks noGrp="1"/>
          </p:cNvSpPr>
          <p:nvPr/>
        </p:nvSpPr>
        <p:spPr>
          <a:xfrm>
            <a:off x="6486525" y="2047875"/>
            <a:ext cx="2924175" cy="800100"/>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598" b="1">
                <a:solidFill>
                  <a:srgbClr val="17171A"/>
                </a:solidFill>
                <a:latin typeface="맑은 고딕"/>
                <a:ea typeface="맑은 고딕"/>
                <a:cs typeface="맑은 고딕"/>
              </a:defRPr>
            </a:defPPr>
            <a:lvl1pPr algn="ctr">
              <a:defRPr sz="1598" b="1">
                <a:solidFill>
                  <a:srgbClr val="17171A"/>
                </a:solidFill>
                <a:latin typeface="맑은 고딕"/>
                <a:ea typeface="맑은 고딕"/>
                <a:cs typeface="맑은 고딕"/>
              </a:defRPr>
            </a:lvl1pPr>
            <a:lvl2pPr algn="ctr">
              <a:defRPr sz="1598" b="1">
                <a:solidFill>
                  <a:srgbClr val="17171A"/>
                </a:solidFill>
                <a:latin typeface="맑은 고딕"/>
                <a:ea typeface="맑은 고딕"/>
                <a:cs typeface="맑은 고딕"/>
              </a:defRPr>
            </a:lvl2pPr>
            <a:lvl3pPr algn="ctr">
              <a:defRPr sz="1598" b="1">
                <a:solidFill>
                  <a:srgbClr val="17171A"/>
                </a:solidFill>
                <a:latin typeface="맑은 고딕"/>
                <a:ea typeface="맑은 고딕"/>
                <a:cs typeface="맑은 고딕"/>
              </a:defRPr>
            </a:lvl3pPr>
            <a:lvl4pPr algn="ctr">
              <a:defRPr sz="1598" b="1">
                <a:solidFill>
                  <a:srgbClr val="17171A"/>
                </a:solidFill>
                <a:latin typeface="맑은 고딕"/>
                <a:ea typeface="맑은 고딕"/>
                <a:cs typeface="맑은 고딕"/>
              </a:defRPr>
            </a:lvl4pPr>
            <a:lvl5pPr algn="ctr">
              <a:defRPr sz="1598" b="1">
                <a:solidFill>
                  <a:srgbClr val="17171A"/>
                </a:solidFill>
                <a:latin typeface="맑은 고딕"/>
                <a:ea typeface="맑은 고딕"/>
                <a:cs typeface="맑은 고딕"/>
              </a:defRPr>
            </a:lvl5pPr>
            <a:lvl6pPr algn="ctr">
              <a:defRPr sz="1598" b="1">
                <a:solidFill>
                  <a:srgbClr val="17171A"/>
                </a:solidFill>
                <a:latin typeface="맑은 고딕"/>
                <a:ea typeface="맑은 고딕"/>
                <a:cs typeface="맑은 고딕"/>
              </a:defRPr>
            </a:lvl6pPr>
            <a:lvl7pPr algn="ctr">
              <a:defRPr sz="1598" b="1">
                <a:solidFill>
                  <a:srgbClr val="17171A"/>
                </a:solidFill>
                <a:latin typeface="맑은 고딕"/>
                <a:ea typeface="맑은 고딕"/>
                <a:cs typeface="맑은 고딕"/>
              </a:defRPr>
            </a:lvl7pPr>
            <a:lvl8pPr algn="ctr">
              <a:defRPr sz="1598" b="1">
                <a:solidFill>
                  <a:srgbClr val="17171A"/>
                </a:solidFill>
                <a:latin typeface="맑은 고딕"/>
                <a:ea typeface="맑은 고딕"/>
                <a:cs typeface="맑은 고딕"/>
              </a:defRPr>
            </a:lvl8pPr>
            <a:lvl9pPr algn="ctr">
              <a:defRPr sz="1598" b="1">
                <a:solidFill>
                  <a:srgbClr val="17171A"/>
                </a:solidFill>
                <a:latin typeface="맑은 고딕"/>
                <a:ea typeface="맑은 고딕"/>
                <a:cs typeface="맑은 고딕"/>
              </a:defRPr>
            </a:lvl9pPr>
          </a:lstStyle>
          <a:p>
            <a:pPr algn="ctr">
              <a:defRPr sz="1598" b="1">
                <a:solidFill>
                  <a:srgbClr val="17171A"/>
                </a:solidFill>
                <a:latin typeface="맑은 고딕"/>
                <a:ea typeface="맑은 고딕"/>
                <a:cs typeface="맑은 고딕"/>
              </a:defRPr>
            </a:pPr>
            <a:r>
              <a:rPr sz="1598" b="1">
                <a:solidFill>
                  <a:srgbClr val="17171A"/>
                </a:solidFill>
                <a:latin typeface="맑은 고딕"/>
                <a:ea typeface="맑은 고딕"/>
                <a:cs typeface="맑은 고딕"/>
              </a:rPr>
              <a:t>답할 수 있는 본문만 합침</a:t>
            </a:r>
          </a:p>
        </p:txBody>
      </p:sp>
      <p:sp>
        <p:nvSpPr>
          <p:cNvPr id="9" name="pipeline-84">
            <a:extLst>
              <a:ext uri="{FF2B5EF4-FFF2-40B4-BE49-F238E27FC236}">
                <a16:creationId xmlns:a16="http://schemas.microsoft.com/office/drawing/2014/main" id="{DAEAD8E2-40A0-485F-A1F2-C19D363AFAC3}"/>
              </a:ext>
            </a:extLst>
          </p:cNvPr>
          <p:cNvSpPr>
            <a:spLocks noGrp="1"/>
          </p:cNvSpPr>
          <p:nvPr/>
        </p:nvSpPr>
        <p:spPr>
          <a:xfrm>
            <a:off x="10163175" y="2047875"/>
            <a:ext cx="2924175" cy="800100"/>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598" b="1">
                <a:solidFill>
                  <a:srgbClr val="FFFFFF"/>
                </a:solidFill>
                <a:latin typeface="맑은 고딕"/>
                <a:ea typeface="맑은 고딕"/>
                <a:cs typeface="맑은 고딕"/>
              </a:defRPr>
            </a:defPPr>
            <a:lvl1pPr algn="ctr">
              <a:defRPr sz="1598" b="1">
                <a:solidFill>
                  <a:srgbClr val="FFFFFF"/>
                </a:solidFill>
                <a:latin typeface="맑은 고딕"/>
                <a:ea typeface="맑은 고딕"/>
                <a:cs typeface="맑은 고딕"/>
              </a:defRPr>
            </a:lvl1pPr>
            <a:lvl2pPr algn="ctr">
              <a:defRPr sz="1598" b="1">
                <a:solidFill>
                  <a:srgbClr val="FFFFFF"/>
                </a:solidFill>
                <a:latin typeface="맑은 고딕"/>
                <a:ea typeface="맑은 고딕"/>
                <a:cs typeface="맑은 고딕"/>
              </a:defRPr>
            </a:lvl2pPr>
            <a:lvl3pPr algn="ctr">
              <a:defRPr sz="1598" b="1">
                <a:solidFill>
                  <a:srgbClr val="FFFFFF"/>
                </a:solidFill>
                <a:latin typeface="맑은 고딕"/>
                <a:ea typeface="맑은 고딕"/>
                <a:cs typeface="맑은 고딕"/>
              </a:defRPr>
            </a:lvl3pPr>
            <a:lvl4pPr algn="ctr">
              <a:defRPr sz="1598" b="1">
                <a:solidFill>
                  <a:srgbClr val="FFFFFF"/>
                </a:solidFill>
                <a:latin typeface="맑은 고딕"/>
                <a:ea typeface="맑은 고딕"/>
                <a:cs typeface="맑은 고딕"/>
              </a:defRPr>
            </a:lvl4pPr>
            <a:lvl5pPr algn="ctr">
              <a:defRPr sz="1598" b="1">
                <a:solidFill>
                  <a:srgbClr val="FFFFFF"/>
                </a:solidFill>
                <a:latin typeface="맑은 고딕"/>
                <a:ea typeface="맑은 고딕"/>
                <a:cs typeface="맑은 고딕"/>
              </a:defRPr>
            </a:lvl5pPr>
            <a:lvl6pPr algn="ctr">
              <a:defRPr sz="1598" b="1">
                <a:solidFill>
                  <a:srgbClr val="FFFFFF"/>
                </a:solidFill>
                <a:latin typeface="맑은 고딕"/>
                <a:ea typeface="맑은 고딕"/>
                <a:cs typeface="맑은 고딕"/>
              </a:defRPr>
            </a:lvl6pPr>
            <a:lvl7pPr algn="ctr">
              <a:defRPr sz="1598" b="1">
                <a:solidFill>
                  <a:srgbClr val="FFFFFF"/>
                </a:solidFill>
                <a:latin typeface="맑은 고딕"/>
                <a:ea typeface="맑은 고딕"/>
                <a:cs typeface="맑은 고딕"/>
              </a:defRPr>
            </a:lvl7pPr>
            <a:lvl8pPr algn="ctr">
              <a:defRPr sz="1598" b="1">
                <a:solidFill>
                  <a:srgbClr val="FFFFFF"/>
                </a:solidFill>
                <a:latin typeface="맑은 고딕"/>
                <a:ea typeface="맑은 고딕"/>
                <a:cs typeface="맑은 고딕"/>
              </a:defRPr>
            </a:lvl8pPr>
            <a:lvl9pPr algn="ctr">
              <a:defRPr sz="1598" b="1">
                <a:solidFill>
                  <a:srgbClr val="FFFFFF"/>
                </a:solidFill>
                <a:latin typeface="맑은 고딕"/>
                <a:ea typeface="맑은 고딕"/>
                <a:cs typeface="맑은 고딕"/>
              </a:defRPr>
            </a:lvl9pPr>
          </a:lstStyle>
          <a:p>
            <a:pPr algn="ctr">
              <a:defRPr sz="1598" b="1">
                <a:solidFill>
                  <a:srgbClr val="FFFFFF"/>
                </a:solidFill>
                <a:latin typeface="맑은 고딕"/>
                <a:ea typeface="맑은 고딕"/>
                <a:cs typeface="맑은 고딕"/>
              </a:defRPr>
            </a:pPr>
            <a:r>
              <a:rPr sz="1598" b="1">
                <a:solidFill>
                  <a:srgbClr val="FFFFFF"/>
                </a:solidFill>
                <a:latin typeface="맑은 고딕"/>
                <a:ea typeface="맑은 고딕"/>
                <a:cs typeface="맑은 고딕"/>
              </a:rPr>
              <a:t>서버가 안내 문구 추가</a:t>
            </a:r>
          </a:p>
        </p:txBody>
      </p:sp>
      <p:graphicFrame>
        <p:nvGraphicFramePr>
          <p:cNvPr id="12" name="표 11">
            <a:extLst>
              <a:ext uri="{FF2B5EF4-FFF2-40B4-BE49-F238E27FC236}">
                <a16:creationId xmlns:a16="http://schemas.microsoft.com/office/drawing/2014/main" id="{8B4FC840-D4B9-4AEC-832B-B29F2A72D995}"/>
              </a:ext>
            </a:extLst>
          </p:cNvPr>
          <p:cNvGraphicFramePr/>
          <p:nvPr/>
        </p:nvGraphicFramePr>
        <p:xfrm>
          <a:off x="628650" y="3276600"/>
          <a:ext cx="12458700" cy="2543175"/>
        </p:xfrm>
        <a:graphic>
          <a:graphicData uri="http://schemas.openxmlformats.org/drawingml/2006/table">
            <a:tbl>
              <a:tblPr/>
              <a:tblGrid>
                <a:gridCol w="4286250">
                  <a:extLst>
                    <a:ext uri="{9D8B030D-6E8A-4147-A177-3AD203B41FA5}">
                      <a16:colId xmlns:a16="http://schemas.microsoft.com/office/drawing/2014/main" val="20000"/>
                    </a:ext>
                  </a:extLst>
                </a:gridCol>
                <a:gridCol w="2724150">
                  <a:extLst>
                    <a:ext uri="{9D8B030D-6E8A-4147-A177-3AD203B41FA5}">
                      <a16:colId xmlns:a16="http://schemas.microsoft.com/office/drawing/2014/main" val="20001"/>
                    </a:ext>
                  </a:extLst>
                </a:gridCol>
                <a:gridCol w="2724150">
                  <a:extLst>
                    <a:ext uri="{9D8B030D-6E8A-4147-A177-3AD203B41FA5}">
                      <a16:colId xmlns:a16="http://schemas.microsoft.com/office/drawing/2014/main" val="20002"/>
                    </a:ext>
                  </a:extLst>
                </a:gridCol>
                <a:gridCol w="2724150">
                  <a:extLst>
                    <a:ext uri="{9D8B030D-6E8A-4147-A177-3AD203B41FA5}">
                      <a16:colId xmlns:a16="http://schemas.microsoft.com/office/drawing/2014/main" val="20003"/>
                    </a:ext>
                  </a:extLst>
                </a:gridCol>
              </a:tblGrid>
              <a:tr h="423863">
                <a:tc>
                  <a:txBody>
                    <a:bodyPr/>
                    <a:lstStyle/>
                    <a:p>
                      <a:r>
                        <a:rPr sz="1598" b="1">
                          <a:solidFill>
                            <a:srgbClr val="FFFFFF"/>
                          </a:solidFill>
                          <a:latin typeface="맑은 고딕"/>
                          <a:ea typeface="맑은 고딕"/>
                          <a:cs typeface="맑은 고딕"/>
                        </a:rPr>
                        <a:t>동일 337문항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답변·판정 모두 통합</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판정만 질문별 분리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답변·판정 모두 분리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23863">
                <a:tc>
                  <a:txBody>
                    <a:bodyPr/>
                    <a:lstStyle/>
                    <a:p>
                      <a:r>
                        <a:rPr sz="1598"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276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257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270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23863">
                <a:tc>
                  <a:txBody>
                    <a:bodyPr/>
                    <a:lstStyle/>
                    <a:p>
                      <a:r>
                        <a:rPr sz="1598" b="0">
                          <a:solidFill>
                            <a:srgbClr val="17171A"/>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44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30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33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23863">
                <a:tc>
                  <a:txBody>
                    <a:bodyPr/>
                    <a:lstStyle/>
                    <a:p>
                      <a:r>
                        <a:rPr sz="1598" b="1">
                          <a:solidFill>
                            <a:srgbClr val="F72585"/>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17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r h="423863">
                <a:tc>
                  <a:txBody>
                    <a:bodyPr/>
                    <a:lstStyle/>
                    <a:p>
                      <a:r>
                        <a:rPr sz="1598" b="1">
                          <a:solidFill>
                            <a:srgbClr val="F72585"/>
                          </a:solidFill>
                          <a:latin typeface="맑은 고딕"/>
                          <a:ea typeface="맑은 고딕"/>
                          <a:cs typeface="맑은 고딕"/>
                        </a:rPr>
                        <a:t>반복 표현(고지문)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12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4"/>
                  </a:ext>
                </a:extLst>
              </a:tr>
              <a:tr h="423863">
                <a:tc>
                  <a:txBody>
                    <a:bodyPr/>
                    <a:lstStyle/>
                    <a:p>
                      <a:r>
                        <a:rPr sz="1598" b="0">
                          <a:solidFill>
                            <a:srgbClr val="17171A"/>
                          </a:solidFill>
                          <a:latin typeface="맑은 고딕"/>
                          <a:ea typeface="맑은 고딕"/>
                          <a:cs typeface="맑은 고딕"/>
                        </a:rPr>
                        <a:t>일반 문장 재진술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3" name="own-text-85">
            <a:extLst>
              <a:ext uri="{FF2B5EF4-FFF2-40B4-BE49-F238E27FC236}">
                <a16:creationId xmlns:a16="http://schemas.microsoft.com/office/drawing/2014/main" id="{1745F212-53BB-40CC-8F8D-5B34503EDB06}"/>
              </a:ext>
            </a:extLst>
          </p:cNvPr>
          <p:cNvSpPr>
            <a:spLocks noGrp="1"/>
          </p:cNvSpPr>
          <p:nvPr/>
        </p:nvSpPr>
        <p:spPr>
          <a:xfrm>
            <a:off x="628650" y="6086475"/>
            <a:ext cx="7715250" cy="36195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모델·코드 이중 고지 67건에서 1건</a:t>
            </a:r>
          </a:p>
        </p:txBody>
      </p:sp>
      <p:sp>
        <p:nvSpPr>
          <p:cNvPr id="14" name="own-text-86">
            <a:extLst>
              <a:ext uri="{FF2B5EF4-FFF2-40B4-BE49-F238E27FC236}">
                <a16:creationId xmlns:a16="http://schemas.microsoft.com/office/drawing/2014/main" id="{5F76292F-9B5C-4839-B4E4-1F06AD867201}"/>
              </a:ext>
            </a:extLst>
          </p:cNvPr>
          <p:cNvSpPr>
            <a:spLocks noGrp="1"/>
          </p:cNvSpPr>
          <p:nvPr/>
        </p:nvSpPr>
        <p:spPr>
          <a:xfrm>
            <a:off x="8524875" y="6096000"/>
            <a:ext cx="4562475" cy="476250"/>
          </a:xfrm>
          <a:prstGeom prst="rect">
            <a:avLst/>
          </a:prstGeom>
          <a:noFill/>
          <a:ln w="0">
            <a:noFill/>
          </a:ln>
        </p:spPr>
        <p:txBody>
          <a:bodyPr wrap="square" lIns="0" tIns="0" rIns="0" bIns="0" anchor="t">
            <a:noAutofit/>
          </a:bodyPr>
          <a:lstStyle>
            <a:defPPr algn="l">
              <a:defRPr sz="1500" b="1">
                <a:solidFill>
                  <a:srgbClr val="17171A"/>
                </a:solidFill>
                <a:latin typeface="맑은 고딕"/>
                <a:ea typeface="맑은 고딕"/>
                <a:cs typeface="맑은 고딕"/>
              </a:defRPr>
            </a:defPPr>
            <a:lvl1pPr algn="l">
              <a:defRPr sz="1500" b="1">
                <a:solidFill>
                  <a:srgbClr val="17171A"/>
                </a:solidFill>
                <a:latin typeface="맑은 고딕"/>
                <a:ea typeface="맑은 고딕"/>
                <a:cs typeface="맑은 고딕"/>
              </a:defRPr>
            </a:lvl1pPr>
            <a:lvl2pPr algn="l">
              <a:defRPr sz="1500" b="1">
                <a:solidFill>
                  <a:srgbClr val="17171A"/>
                </a:solidFill>
                <a:latin typeface="맑은 고딕"/>
                <a:ea typeface="맑은 고딕"/>
                <a:cs typeface="맑은 고딕"/>
              </a:defRPr>
            </a:lvl2pPr>
            <a:lvl3pPr algn="l">
              <a:defRPr sz="1500" b="1">
                <a:solidFill>
                  <a:srgbClr val="17171A"/>
                </a:solidFill>
                <a:latin typeface="맑은 고딕"/>
                <a:ea typeface="맑은 고딕"/>
                <a:cs typeface="맑은 고딕"/>
              </a:defRPr>
            </a:lvl3pPr>
            <a:lvl4pPr algn="l">
              <a:defRPr sz="1500" b="1">
                <a:solidFill>
                  <a:srgbClr val="17171A"/>
                </a:solidFill>
                <a:latin typeface="맑은 고딕"/>
                <a:ea typeface="맑은 고딕"/>
                <a:cs typeface="맑은 고딕"/>
              </a:defRPr>
            </a:lvl4pPr>
            <a:lvl5pPr algn="l">
              <a:defRPr sz="1500" b="1">
                <a:solidFill>
                  <a:srgbClr val="17171A"/>
                </a:solidFill>
                <a:latin typeface="맑은 고딕"/>
                <a:ea typeface="맑은 고딕"/>
                <a:cs typeface="맑은 고딕"/>
              </a:defRPr>
            </a:lvl5pPr>
            <a:lvl6pPr algn="l">
              <a:defRPr sz="1500" b="1">
                <a:solidFill>
                  <a:srgbClr val="17171A"/>
                </a:solidFill>
                <a:latin typeface="맑은 고딕"/>
                <a:ea typeface="맑은 고딕"/>
                <a:cs typeface="맑은 고딕"/>
              </a:defRPr>
            </a:lvl6pPr>
            <a:lvl7pPr algn="l">
              <a:defRPr sz="1500" b="1">
                <a:solidFill>
                  <a:srgbClr val="17171A"/>
                </a:solidFill>
                <a:latin typeface="맑은 고딕"/>
                <a:ea typeface="맑은 고딕"/>
                <a:cs typeface="맑은 고딕"/>
              </a:defRPr>
            </a:lvl7pPr>
            <a:lvl8pPr algn="l">
              <a:defRPr sz="1500" b="1">
                <a:solidFill>
                  <a:srgbClr val="17171A"/>
                </a:solidFill>
                <a:latin typeface="맑은 고딕"/>
                <a:ea typeface="맑은 고딕"/>
                <a:cs typeface="맑은 고딕"/>
              </a:defRPr>
            </a:lvl8pPr>
            <a:lvl9pPr algn="l">
              <a:defRPr sz="1500" b="1">
                <a:solidFill>
                  <a:srgbClr val="17171A"/>
                </a:solidFill>
                <a:latin typeface="맑은 고딕"/>
                <a:ea typeface="맑은 고딕"/>
                <a:cs typeface="맑은 고딕"/>
              </a:defRPr>
            </a:lvl9pPr>
          </a:lstStyle>
          <a:p>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판정만 나눴을 때 대비 오류 12건에서 1건</a:t>
            </a:r>
          </a:p>
        </p:txBody>
      </p:sp>
    </p:spTree>
    <p:extLst>
      <p:ext uri="{BB962C8B-B14F-4D97-AF65-F5344CB8AC3E}">
        <p14:creationId xmlns:p14="http://schemas.microsoft.com/office/powerpoint/2010/main" val="1688381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게스트 채팅과 회원 채팅</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비회원은 질문 횟수가 제한되고, 회원은 대화 이력을 이어갈 수 있습니다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16</a:t>
            </a:r>
            <a:endParaRPr sz="1300" b="0">
              <a:solidFill>
                <a:schemeClr val="accent3"/>
              </a:solidFill>
            </a:endParaRPr>
          </a:p>
        </p:txBody>
      </p:sp>
      <p:pic>
        <p:nvPicPr>
          <p:cNvPr id="40" name="그림 39"/>
          <p:cNvPicPr>
            <a:picLocks noChangeAspect="1"/>
          </p:cNvPicPr>
          <p:nvPr/>
        </p:nvPicPr>
        <p:blipFill rotWithShape="1">
          <a:blip r:embed="rId2"/>
          <a:stretch>
            <a:fillRect/>
          </a:stretch>
        </p:blipFill>
        <p:spPr>
          <a:xfrm>
            <a:off x="4878650" y="2628994"/>
            <a:ext cx="7800000" cy="1975106"/>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1" name="그림 40"/>
          <p:cNvPicPr>
            <a:picLocks noChangeAspect="1"/>
          </p:cNvPicPr>
          <p:nvPr/>
        </p:nvPicPr>
        <p:blipFill rotWithShape="1">
          <a:blip r:embed="rId3"/>
          <a:stretch>
            <a:fillRect/>
          </a:stretch>
        </p:blipFill>
        <p:spPr>
          <a:xfrm>
            <a:off x="4878650" y="5304100"/>
            <a:ext cx="7800000" cy="1516906"/>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42" name="캡션 1"/>
          <p:cNvSpPr/>
          <p:nvPr/>
        </p:nvSpPr>
        <p:spPr>
          <a:xfrm>
            <a:off x="5078650" y="2148994"/>
            <a:ext cx="326100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게스트 채팅 화면 · 횟수 제한 안내</a:t>
            </a:r>
          </a:p>
        </p:txBody>
      </p:sp>
      <p:sp>
        <p:nvSpPr>
          <p:cNvPr id="43" name="캡션 번호 1"/>
          <p:cNvSpPr/>
          <p:nvPr/>
        </p:nvSpPr>
        <p:spPr>
          <a:xfrm>
            <a:off x="4878650" y="212899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44" name="캡션 2"/>
          <p:cNvSpPr/>
          <p:nvPr/>
        </p:nvSpPr>
        <p:spPr>
          <a:xfrm>
            <a:off x="5078650" y="4824100"/>
            <a:ext cx="308320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회원 채팅 화면 · 최근 대화 목록</a:t>
            </a:r>
          </a:p>
        </p:txBody>
      </p:sp>
      <p:sp>
        <p:nvSpPr>
          <p:cNvPr id="45" name="캡션 번호 2"/>
          <p:cNvSpPr/>
          <p:nvPr/>
        </p:nvSpPr>
        <p:spPr>
          <a:xfrm>
            <a:off x="4878650" y="48041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46" name="게스트 채팅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게스트 채팅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9" name="게스트 채팅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게스트 채팅</a:t>
            </a:r>
          </a:p>
        </p:txBody>
      </p:sp>
      <p:sp>
        <p:nvSpPr>
          <p:cNvPr id="50" name="게스트 채팅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로그인 없이 바로 질문, 횟수 제한</a:t>
            </a:r>
          </a:p>
        </p:txBody>
      </p:sp>
      <p:sp>
        <p:nvSpPr>
          <p:cNvPr id="51" name="회원 채팅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회원 채팅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54" name="회원 채팅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회원 채팅</a:t>
            </a:r>
          </a:p>
        </p:txBody>
      </p:sp>
      <p:sp>
        <p:nvSpPr>
          <p:cNvPr id="55" name="회원 채팅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대화 이력 저장</a:t>
            </a:r>
          </a:p>
        </p:txBody>
      </p:sp>
      <p:sp>
        <p:nvSpPr>
          <p:cNvPr id="56" name="대화 세션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대화 세션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59" name="대화 세션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대화 세션</a:t>
            </a:r>
          </a:p>
        </p:txBody>
      </p:sp>
      <p:sp>
        <p:nvSpPr>
          <p:cNvPr id="60" name="대화 세션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맥락 유지, 답변 상태 안내</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질문 분리와 멀티턴 상담</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여러 개를 한 번에 물어도, 앞 대화에 이어 물어도 맥락에 맞게 답변합니다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17</a:t>
            </a:r>
            <a:endParaRPr sz="1300" b="0">
              <a:solidFill>
                <a:schemeClr val="accent3"/>
              </a:solidFill>
            </a:endParaRPr>
          </a:p>
        </p:txBody>
      </p:sp>
      <p:pic>
        <p:nvPicPr>
          <p:cNvPr id="34" name="그림 33"/>
          <p:cNvPicPr>
            <a:picLocks noChangeAspect="1"/>
          </p:cNvPicPr>
          <p:nvPr/>
        </p:nvPicPr>
        <p:blipFill rotWithShape="1">
          <a:blip r:embed="rId2"/>
          <a:stretch>
            <a:fillRect/>
          </a:stretch>
        </p:blipFill>
        <p:spPr>
          <a:xfrm>
            <a:off x="4878650" y="2550000"/>
            <a:ext cx="3954350" cy="1349974"/>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0" name="그림 39"/>
          <p:cNvPicPr>
            <a:picLocks noChangeAspect="1"/>
          </p:cNvPicPr>
          <p:nvPr/>
        </p:nvPicPr>
        <p:blipFill rotWithShape="1">
          <a:blip r:embed="rId3"/>
          <a:stretch>
            <a:fillRect/>
          </a:stretch>
        </p:blipFill>
        <p:spPr>
          <a:xfrm>
            <a:off x="9133000" y="2550000"/>
            <a:ext cx="3954350" cy="835681"/>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2" name="그림 41"/>
          <p:cNvPicPr>
            <a:picLocks noChangeAspect="1"/>
          </p:cNvPicPr>
          <p:nvPr/>
        </p:nvPicPr>
        <p:blipFill rotWithShape="1">
          <a:blip r:embed="rId4"/>
          <a:stretch>
            <a:fillRect/>
          </a:stretch>
        </p:blipFill>
        <p:spPr>
          <a:xfrm>
            <a:off x="9133000" y="3715681"/>
            <a:ext cx="3954350" cy="1005551"/>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43" name="멀티턴 화살표"/>
          <p:cNvSpPr/>
          <p:nvPr/>
        </p:nvSpPr>
        <p:spPr>
          <a:xfrm>
            <a:off x="10960175" y="3445681"/>
            <a:ext cx="300000" cy="210000"/>
          </a:xfrm>
          <a:prstGeom prst="flowChartMerg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4" name="캡션 1"/>
          <p:cNvSpPr/>
          <p:nvPr/>
        </p:nvSpPr>
        <p:spPr>
          <a:xfrm>
            <a:off x="5078650" y="2070000"/>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질문 분리 답변 화면</a:t>
            </a:r>
          </a:p>
        </p:txBody>
      </p:sp>
      <p:sp>
        <p:nvSpPr>
          <p:cNvPr id="45"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46" name="캡션 2"/>
          <p:cNvSpPr/>
          <p:nvPr/>
        </p:nvSpPr>
        <p:spPr>
          <a:xfrm>
            <a:off x="9333000" y="2070000"/>
            <a:ext cx="18990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멀티턴 대화 화면</a:t>
            </a:r>
          </a:p>
        </p:txBody>
      </p:sp>
      <p:sp>
        <p:nvSpPr>
          <p:cNvPr id="47" name="캡션 번호 2"/>
          <p:cNvSpPr/>
          <p:nvPr/>
        </p:nvSpPr>
        <p:spPr>
          <a:xfrm>
            <a:off x="913300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48" name="질문 분리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질문 분리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51" name="질문 분리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질문 분리</a:t>
            </a:r>
          </a:p>
        </p:txBody>
      </p:sp>
      <p:sp>
        <p:nvSpPr>
          <p:cNvPr id="52" name="질문 분리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답변 가능한 질문부터 먼저 답변</a:t>
            </a:r>
          </a:p>
        </p:txBody>
      </p:sp>
      <p:sp>
        <p:nvSpPr>
          <p:cNvPr id="53" name="멀티턴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멀티턴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56" name="멀티턴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멀티턴</a:t>
            </a:r>
          </a:p>
        </p:txBody>
      </p:sp>
      <p:sp>
        <p:nvSpPr>
          <p:cNvPr id="57" name="멀티턴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이전 대화 맥락을 반영한 후속 질문</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입력 · 출력 가드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위험한 질문은 입력 단계에서, 근거 없는 답변은 출력 단계에서 막습니다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18</a:t>
            </a:r>
            <a:endParaRPr sz="1300" b="0">
              <a:solidFill>
                <a:schemeClr val="accent3"/>
              </a:solidFill>
            </a:endParaRPr>
          </a:p>
        </p:txBody>
      </p:sp>
      <p:pic>
        <p:nvPicPr>
          <p:cNvPr id="34" name="그림 33"/>
          <p:cNvPicPr>
            <a:picLocks noChangeAspect="1"/>
          </p:cNvPicPr>
          <p:nvPr/>
        </p:nvPicPr>
        <p:blipFill rotWithShape="1">
          <a:blip r:embed="rId2"/>
          <a:stretch>
            <a:fillRect/>
          </a:stretch>
        </p:blipFill>
        <p:spPr>
          <a:xfrm>
            <a:off x="4878650" y="2560994"/>
            <a:ext cx="7000000" cy="1244680"/>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35" name="그림 34"/>
          <p:cNvPicPr>
            <a:picLocks noChangeAspect="1"/>
          </p:cNvPicPr>
          <p:nvPr/>
        </p:nvPicPr>
        <p:blipFill rotWithShape="1">
          <a:blip r:embed="rId3"/>
          <a:stretch>
            <a:fillRect/>
          </a:stretch>
        </p:blipFill>
        <p:spPr>
          <a:xfrm>
            <a:off x="4878650" y="4555674"/>
            <a:ext cx="7000000" cy="2333332"/>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36" name="캡션 1"/>
          <p:cNvSpPr/>
          <p:nvPr/>
        </p:nvSpPr>
        <p:spPr>
          <a:xfrm>
            <a:off x="5078650" y="2080994"/>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입력 가드 차단 화면</a:t>
            </a:r>
          </a:p>
        </p:txBody>
      </p:sp>
      <p:sp>
        <p:nvSpPr>
          <p:cNvPr id="37" name="캡션 번호 1"/>
          <p:cNvSpPr/>
          <p:nvPr/>
        </p:nvSpPr>
        <p:spPr>
          <a:xfrm>
            <a:off x="4878650" y="206099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38" name="캡션 2"/>
          <p:cNvSpPr/>
          <p:nvPr/>
        </p:nvSpPr>
        <p:spPr>
          <a:xfrm>
            <a:off x="5078650" y="4075674"/>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출력 가드 적용 화면</a:t>
            </a:r>
          </a:p>
        </p:txBody>
      </p:sp>
      <p:sp>
        <p:nvSpPr>
          <p:cNvPr id="39" name="캡션 번호 2"/>
          <p:cNvSpPr/>
          <p:nvPr/>
        </p:nvSpPr>
        <p:spPr>
          <a:xfrm>
            <a:off x="4878650" y="405567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40" name="입력 가드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입력 가드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3" name="입력 가드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입력 가드</a:t>
            </a:r>
          </a:p>
        </p:txBody>
      </p:sp>
      <p:sp>
        <p:nvSpPr>
          <p:cNvPr id="44" name="입력 가드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금지어·우회 표현 탐지, 마스킹</a:t>
            </a:r>
          </a:p>
        </p:txBody>
      </p:sp>
      <p:sp>
        <p:nvSpPr>
          <p:cNvPr id="45" name="출력 가드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출력 가드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48" name="출력 가드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출력 가드</a:t>
            </a:r>
          </a:p>
        </p:txBody>
      </p:sp>
      <p:sp>
        <p:nvSpPr>
          <p:cNvPr id="49" name="출력 가드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형식 오류·내부 정보 노출 차단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보안</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보안: 위협별 대응</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로그인부터 개인정보까지, 위협마다 막는 지점을 정해 두었습니다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19</a:t>
            </a:r>
            <a:endParaRPr sz="1300" b="0">
              <a:solidFill>
                <a:schemeClr val="accent3"/>
              </a:solidFill>
            </a:endParaRPr>
          </a:p>
        </p:txBody>
      </p:sp>
      <p:graphicFrame>
        <p:nvGraphicFramePr>
          <p:cNvPr id="9" name="Table 8"/>
          <p:cNvGraphicFramePr>
            <a:graphicFrameLocks noGrp="1"/>
          </p:cNvGraphicFramePr>
          <p:nvPr/>
        </p:nvGraphicFramePr>
        <p:xfrm>
          <a:off x="630936" y="2057400"/>
          <a:ext cx="7498079" cy="4096512"/>
        </p:xfrm>
        <a:graphic>
          <a:graphicData uri="http://schemas.openxmlformats.org/drawingml/2006/table">
            <a:tbl>
              <a:tblPr>
                <a:tableStyleId>{5C22544A-7EE6-4342-B048-85BDC9FD1C3A}</a:tableStyleId>
              </a:tblPr>
              <a:tblGrid>
                <a:gridCol w="1051560">
                  <a:extLst>
                    <a:ext uri="{9D8B030D-6E8A-4147-A177-3AD203B41FA5}">
                      <a16:colId xmlns:a16="http://schemas.microsoft.com/office/drawing/2014/main" val="20000"/>
                    </a:ext>
                  </a:extLst>
                </a:gridCol>
                <a:gridCol w="1874519">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512064">
                <a:tc>
                  <a:txBody>
                    <a:bodyPr/>
                    <a:lstStyle/>
                    <a:p>
                      <a:r>
                        <a:rPr sz="1200" b="1">
                          <a:solidFill>
                            <a:srgbClr val="FFFFFF"/>
                          </a:solidFill>
                        </a:rPr>
                        <a:t>계층</a:t>
                      </a:r>
                    </a:p>
                  </a:txBody>
                  <a:tcPr marL="109728" marR="109728" anchor="ctr">
                    <a:solidFill>
                      <a:srgbClr val="17171A"/>
                    </a:solidFill>
                  </a:tcPr>
                </a:tc>
                <a:tc>
                  <a:txBody>
                    <a:bodyPr/>
                    <a:lstStyle/>
                    <a:p>
                      <a:r>
                        <a:rPr sz="1200" b="1">
                          <a:solidFill>
                            <a:srgbClr val="FFFFFF"/>
                          </a:solidFill>
                        </a:rPr>
                        <a:t>위협</a:t>
                      </a:r>
                    </a:p>
                  </a:txBody>
                  <a:tcPr marL="109728" marR="109728" anchor="ctr">
                    <a:solidFill>
                      <a:srgbClr val="17171A"/>
                    </a:solidFill>
                  </a:tcPr>
                </a:tc>
                <a:tc>
                  <a:txBody>
                    <a:bodyPr/>
                    <a:lstStyle/>
                    <a:p>
                      <a:r>
                        <a:rPr sz="1200" b="1">
                          <a:solidFill>
                            <a:srgbClr val="FFFFFF"/>
                          </a:solidFill>
                        </a:rPr>
                        <a:t>대응</a:t>
                      </a:r>
                    </a:p>
                  </a:txBody>
                  <a:tcPr marL="109728" marR="109728" anchor="ctr">
                    <a:solidFill>
                      <a:srgbClr val="17171A"/>
                    </a:solidFill>
                  </a:tcPr>
                </a:tc>
                <a:extLst>
                  <a:ext uri="{0D108BD9-81ED-4DB2-BD59-A6C34878D82A}">
                    <a16:rowId xmlns:a16="http://schemas.microsoft.com/office/drawing/2014/main" val="10000"/>
                  </a:ext>
                </a:extLst>
              </a:tr>
              <a:tr h="512064">
                <a:tc>
                  <a:txBody>
                    <a:bodyPr/>
                    <a:lstStyle/>
                    <a:p>
                      <a:r>
                        <a:rPr sz="1200" b="1">
                          <a:solidFill>
                            <a:srgbClr val="D91370"/>
                          </a:solidFill>
                        </a:rPr>
                        <a:t>로그인</a:t>
                      </a:r>
                    </a:p>
                  </a:txBody>
                  <a:tcPr marL="109728" marR="109728" anchor="ctr">
                    <a:solidFill>
                      <a:srgbClr val="FFFFFF"/>
                    </a:solidFill>
                  </a:tcPr>
                </a:tc>
                <a:tc>
                  <a:txBody>
                    <a:bodyPr/>
                    <a:lstStyle/>
                    <a:p>
                      <a:r>
                        <a:rPr sz="1200">
                          <a:solidFill>
                            <a:srgbClr val="17171A"/>
                          </a:solidFill>
                        </a:rPr>
                        <a:t>비밀번호 대입</a:t>
                      </a:r>
                    </a:p>
                  </a:txBody>
                  <a:tcPr marL="109728" marR="109728" anchor="ctr">
                    <a:solidFill>
                      <a:srgbClr val="FFFFFF"/>
                    </a:solidFill>
                  </a:tcPr>
                </a:tc>
                <a:tc>
                  <a:txBody>
                    <a:bodyPr/>
                    <a:lstStyle/>
                    <a:p>
                      <a:r>
                        <a:rPr sz="1200">
                          <a:solidFill>
                            <a:srgbClr val="17171A"/>
                          </a:solidFill>
                        </a:rPr>
                        <a:t>같은 이메일 5회 · 같은 IP 20회 실패 시 15분 차단</a:t>
                      </a:r>
                    </a:p>
                  </a:txBody>
                  <a:tcPr marL="109728" marR="109728" anchor="ctr">
                    <a:solidFill>
                      <a:srgbClr val="FFFFFF"/>
                    </a:solidFill>
                  </a:tcPr>
                </a:tc>
                <a:extLst>
                  <a:ext uri="{0D108BD9-81ED-4DB2-BD59-A6C34878D82A}">
                    <a16:rowId xmlns:a16="http://schemas.microsoft.com/office/drawing/2014/main" val="10001"/>
                  </a:ext>
                </a:extLst>
              </a:tr>
              <a:tr h="512064">
                <a:tc>
                  <a:txBody>
                    <a:bodyPr/>
                    <a:lstStyle/>
                    <a:p>
                      <a:r>
                        <a:rPr sz="1200" b="1">
                          <a:solidFill>
                            <a:srgbClr val="D91370"/>
                          </a:solidFill>
                        </a:rPr>
                        <a:t>토큰</a:t>
                      </a:r>
                    </a:p>
                  </a:txBody>
                  <a:tcPr marL="109728" marR="109728" anchor="ctr">
                    <a:solidFill>
                      <a:srgbClr val="F6F7F8"/>
                    </a:solidFill>
                  </a:tcPr>
                </a:tc>
                <a:tc>
                  <a:txBody>
                    <a:bodyPr/>
                    <a:lstStyle/>
                    <a:p>
                      <a:r>
                        <a:rPr sz="1200">
                          <a:solidFill>
                            <a:srgbClr val="17171A"/>
                          </a:solidFill>
                        </a:rPr>
                        <a:t>Refresh Token 탈취</a:t>
                      </a:r>
                    </a:p>
                  </a:txBody>
                  <a:tcPr marL="109728" marR="109728" anchor="ctr">
                    <a:solidFill>
                      <a:srgbClr val="F6F7F8"/>
                    </a:solidFill>
                  </a:tcPr>
                </a:tc>
                <a:tc>
                  <a:txBody>
                    <a:bodyPr/>
                    <a:lstStyle/>
                    <a:p>
                      <a:r>
                        <a:rPr sz="1200">
                          <a:solidFill>
                            <a:srgbClr val="17171A"/>
                          </a:solidFill>
                        </a:rPr>
                        <a:t>SHA-256 해시만 저장, 옛 토큰 재사용 시 전부 폐기</a:t>
                      </a:r>
                    </a:p>
                  </a:txBody>
                  <a:tcPr marL="109728" marR="109728" anchor="ctr">
                    <a:solidFill>
                      <a:srgbClr val="F6F7F8"/>
                    </a:solidFill>
                  </a:tcPr>
                </a:tc>
                <a:extLst>
                  <a:ext uri="{0D108BD9-81ED-4DB2-BD59-A6C34878D82A}">
                    <a16:rowId xmlns:a16="http://schemas.microsoft.com/office/drawing/2014/main" val="10002"/>
                  </a:ext>
                </a:extLst>
              </a:tr>
              <a:tr h="512064">
                <a:tc>
                  <a:txBody>
                    <a:bodyPr/>
                    <a:lstStyle/>
                    <a:p>
                      <a:r>
                        <a:rPr sz="1200" b="1">
                          <a:solidFill>
                            <a:srgbClr val="D91370"/>
                          </a:solidFill>
                        </a:rPr>
                        <a:t>토큰</a:t>
                      </a:r>
                    </a:p>
                  </a:txBody>
                  <a:tcPr marL="109728" marR="109728" anchor="ctr">
                    <a:solidFill>
                      <a:srgbClr val="FFFFFF"/>
                    </a:solidFill>
                  </a:tcPr>
                </a:tc>
                <a:tc>
                  <a:txBody>
                    <a:bodyPr/>
                    <a:lstStyle/>
                    <a:p>
                      <a:r>
                        <a:rPr sz="1200">
                          <a:solidFill>
                            <a:srgbClr val="17171A"/>
                          </a:solidFill>
                        </a:rPr>
                        <a:t>로그아웃 뒤 재사용</a:t>
                      </a:r>
                    </a:p>
                  </a:txBody>
                  <a:tcPr marL="109728" marR="109728" anchor="ctr">
                    <a:solidFill>
                      <a:srgbClr val="FFFFFF"/>
                    </a:solidFill>
                  </a:tcPr>
                </a:tc>
                <a:tc>
                  <a:txBody>
                    <a:bodyPr/>
                    <a:lstStyle/>
                    <a:p>
                      <a:r>
                        <a:rPr sz="1200">
                          <a:solidFill>
                            <a:srgbClr val="17171A"/>
                          </a:solidFill>
                        </a:rPr>
                        <a:t>로그아웃 전 발급 토큰은 만료 전이어도 거부</a:t>
                      </a:r>
                    </a:p>
                  </a:txBody>
                  <a:tcPr marL="109728" marR="109728" anchor="ctr">
                    <a:solidFill>
                      <a:srgbClr val="FFFFFF"/>
                    </a:solidFill>
                  </a:tcPr>
                </a:tc>
                <a:extLst>
                  <a:ext uri="{0D108BD9-81ED-4DB2-BD59-A6C34878D82A}">
                    <a16:rowId xmlns:a16="http://schemas.microsoft.com/office/drawing/2014/main" val="10003"/>
                  </a:ext>
                </a:extLst>
              </a:tr>
              <a:tr h="512064">
                <a:tc>
                  <a:txBody>
                    <a:bodyPr/>
                    <a:lstStyle/>
                    <a:p>
                      <a:r>
                        <a:rPr sz="1200" b="1">
                          <a:solidFill>
                            <a:srgbClr val="D91370"/>
                          </a:solidFill>
                        </a:rPr>
                        <a:t>브라우저</a:t>
                      </a:r>
                    </a:p>
                  </a:txBody>
                  <a:tcPr marL="109728" marR="109728" anchor="ctr">
                    <a:solidFill>
                      <a:srgbClr val="F6F7F8"/>
                    </a:solidFill>
                  </a:tcPr>
                </a:tc>
                <a:tc>
                  <a:txBody>
                    <a:bodyPr/>
                    <a:lstStyle/>
                    <a:p>
                      <a:r>
                        <a:rPr sz="1200">
                          <a:solidFill>
                            <a:srgbClr val="17171A"/>
                          </a:solidFill>
                        </a:rPr>
                        <a:t>외부 스크립트 (XSS)</a:t>
                      </a:r>
                    </a:p>
                  </a:txBody>
                  <a:tcPr marL="109728" marR="109728" anchor="ctr">
                    <a:solidFill>
                      <a:srgbClr val="F6F7F8"/>
                    </a:solidFill>
                  </a:tcPr>
                </a:tc>
                <a:tc>
                  <a:txBody>
                    <a:bodyPr/>
                    <a:lstStyle/>
                    <a:p>
                      <a:r>
                        <a:rPr sz="1200">
                          <a:solidFill>
                            <a:srgbClr val="17171A"/>
                          </a:solidFill>
                        </a:rPr>
                        <a:t>CSP: 자기 자신 + 카카오만 허용, 외부 form 차단</a:t>
                      </a:r>
                    </a:p>
                  </a:txBody>
                  <a:tcPr marL="109728" marR="109728" anchor="ctr">
                    <a:solidFill>
                      <a:srgbClr val="F6F7F8"/>
                    </a:solidFill>
                  </a:tcPr>
                </a:tc>
                <a:extLst>
                  <a:ext uri="{0D108BD9-81ED-4DB2-BD59-A6C34878D82A}">
                    <a16:rowId xmlns:a16="http://schemas.microsoft.com/office/drawing/2014/main" val="10004"/>
                  </a:ext>
                </a:extLst>
              </a:tr>
              <a:tr h="512064">
                <a:tc>
                  <a:txBody>
                    <a:bodyPr/>
                    <a:lstStyle/>
                    <a:p>
                      <a:r>
                        <a:rPr sz="1200" b="1">
                          <a:solidFill>
                            <a:srgbClr val="D91370"/>
                          </a:solidFill>
                        </a:rPr>
                        <a:t>서버</a:t>
                      </a:r>
                    </a:p>
                  </a:txBody>
                  <a:tcPr marL="109728" marR="109728" anchor="ctr">
                    <a:solidFill>
                      <a:srgbClr val="FFFFFF"/>
                    </a:solidFill>
                  </a:tcPr>
                </a:tc>
                <a:tc>
                  <a:txBody>
                    <a:bodyPr/>
                    <a:lstStyle/>
                    <a:p>
                      <a:r>
                        <a:rPr sz="1200">
                          <a:solidFill>
                            <a:srgbClr val="17171A"/>
                          </a:solidFill>
                        </a:rPr>
                        <a:t>다른 사이트 호출</a:t>
                      </a:r>
                    </a:p>
                  </a:txBody>
                  <a:tcPr marL="109728" marR="109728" anchor="ctr">
                    <a:solidFill>
                      <a:srgbClr val="FFFFFF"/>
                    </a:solidFill>
                  </a:tcPr>
                </a:tc>
                <a:tc>
                  <a:txBody>
                    <a:bodyPr/>
                    <a:lstStyle/>
                    <a:p>
                      <a:r>
                        <a:rPr sz="1200">
                          <a:solidFill>
                            <a:srgbClr val="17171A"/>
                          </a:solidFill>
                        </a:rPr>
                        <a:t>허용 origin만 CORS 통과, 클릭재킹 차단 헤더</a:t>
                      </a:r>
                    </a:p>
                  </a:txBody>
                  <a:tcPr marL="109728" marR="109728" anchor="ctr">
                    <a:solidFill>
                      <a:srgbClr val="FFFFFF"/>
                    </a:solidFill>
                  </a:tcPr>
                </a:tc>
                <a:extLst>
                  <a:ext uri="{0D108BD9-81ED-4DB2-BD59-A6C34878D82A}">
                    <a16:rowId xmlns:a16="http://schemas.microsoft.com/office/drawing/2014/main" val="10005"/>
                  </a:ext>
                </a:extLst>
              </a:tr>
              <a:tr h="512064">
                <a:tc>
                  <a:txBody>
                    <a:bodyPr/>
                    <a:lstStyle/>
                    <a:p>
                      <a:r>
                        <a:rPr sz="1200" b="1">
                          <a:solidFill>
                            <a:srgbClr val="D91370"/>
                          </a:solidFill>
                        </a:rPr>
                        <a:t>서버</a:t>
                      </a:r>
                    </a:p>
                  </a:txBody>
                  <a:tcPr marL="109728" marR="109728" anchor="ctr">
                    <a:solidFill>
                      <a:srgbClr val="F6F7F8"/>
                    </a:solidFill>
                  </a:tcPr>
                </a:tc>
                <a:tc>
                  <a:txBody>
                    <a:bodyPr/>
                    <a:lstStyle/>
                    <a:p>
                      <a:r>
                        <a:rPr sz="1200">
                          <a:solidFill>
                            <a:srgbClr val="17171A"/>
                          </a:solidFill>
                        </a:rPr>
                        <a:t>요청 폭주</a:t>
                      </a:r>
                    </a:p>
                  </a:txBody>
                  <a:tcPr marL="109728" marR="109728" anchor="ctr">
                    <a:solidFill>
                      <a:srgbClr val="F6F7F8"/>
                    </a:solidFill>
                  </a:tcPr>
                </a:tc>
                <a:tc>
                  <a:txBody>
                    <a:bodyPr/>
                    <a:lstStyle/>
                    <a:p>
                      <a:r>
                        <a:rPr sz="1200">
                          <a:solidFill>
                            <a:srgbClr val="17171A"/>
                          </a:solidFill>
                        </a:rPr>
                        <a:t>게스트는 IP별, 회원은 토큰별 속도 제한</a:t>
                      </a:r>
                    </a:p>
                  </a:txBody>
                  <a:tcPr marL="109728" marR="109728" anchor="ctr">
                    <a:solidFill>
                      <a:srgbClr val="F6F7F8"/>
                    </a:solidFill>
                  </a:tcPr>
                </a:tc>
                <a:extLst>
                  <a:ext uri="{0D108BD9-81ED-4DB2-BD59-A6C34878D82A}">
                    <a16:rowId xmlns:a16="http://schemas.microsoft.com/office/drawing/2014/main" val="10006"/>
                  </a:ext>
                </a:extLst>
              </a:tr>
              <a:tr h="512064">
                <a:tc>
                  <a:txBody>
                    <a:bodyPr/>
                    <a:lstStyle/>
                    <a:p>
                      <a:r>
                        <a:rPr sz="1200" b="1">
                          <a:solidFill>
                            <a:srgbClr val="D91370"/>
                          </a:solidFill>
                        </a:rPr>
                        <a:t>데이터</a:t>
                      </a:r>
                    </a:p>
                  </a:txBody>
                  <a:tcPr marL="109728" marR="109728" anchor="ctr">
                    <a:solidFill>
                      <a:srgbClr val="FFFFFF"/>
                    </a:solidFill>
                  </a:tcPr>
                </a:tc>
                <a:tc>
                  <a:txBody>
                    <a:bodyPr/>
                    <a:lstStyle/>
                    <a:p>
                      <a:r>
                        <a:rPr sz="1200">
                          <a:solidFill>
                            <a:srgbClr val="17171A"/>
                          </a:solidFill>
                        </a:rPr>
                        <a:t>개인정보 노출</a:t>
                      </a:r>
                    </a:p>
                  </a:txBody>
                  <a:tcPr marL="109728" marR="109728" anchor="ctr">
                    <a:solidFill>
                      <a:srgbClr val="FFFFFF"/>
                    </a:solidFill>
                  </a:tcPr>
                </a:tc>
                <a:tc>
                  <a:txBody>
                    <a:bodyPr/>
                    <a:lstStyle/>
                    <a:p>
                      <a:r>
                        <a:rPr sz="1200">
                          <a:solidFill>
                            <a:srgbClr val="17171A"/>
                          </a:solidFill>
                        </a:rPr>
                        <a:t>질문 접수 즉시 마스킹, 이후 모든 단계는 마스킹본</a:t>
                      </a:r>
                    </a:p>
                  </a:txBody>
                  <a:tcPr marL="109728" marR="109728" anchor="ctr">
                    <a:solidFill>
                      <a:srgbClr val="FFFFFF"/>
                    </a:solidFill>
                  </a:tcPr>
                </a:tc>
                <a:extLst>
                  <a:ext uri="{0D108BD9-81ED-4DB2-BD59-A6C34878D82A}">
                    <a16:rowId xmlns:a16="http://schemas.microsoft.com/office/drawing/2014/main" val="10007"/>
                  </a:ext>
                </a:extLst>
              </a:tr>
            </a:tbl>
          </a:graphicData>
        </a:graphic>
      </p:graphicFrame>
      <p:sp>
        <p:nvSpPr>
          <p:cNvPr id="10" name="Rounded Rectangle 9"/>
          <p:cNvSpPr/>
          <p:nvPr/>
        </p:nvSpPr>
        <p:spPr>
          <a:xfrm>
            <a:off x="8357616" y="2057400"/>
            <a:ext cx="4727448" cy="260604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586216" y="2240280"/>
            <a:ext cx="4297680" cy="320040"/>
          </a:xfrm>
          <a:prstGeom prst="rect">
            <a:avLst/>
          </a:prstGeom>
          <a:noFill/>
        </p:spPr>
        <p:txBody>
          <a:bodyPr wrap="square" lIns="0" tIns="0" rIns="0" bIns="0" anchor="t">
            <a:spAutoFit/>
          </a:bodyPr>
          <a:lstStyle/>
          <a:p>
            <a:pPr algn="l"/>
            <a:r>
              <a:rPr sz="1400" b="1">
                <a:solidFill>
                  <a:srgbClr val="17171A"/>
                </a:solidFill>
              </a:rPr>
              <a:t>개인정보 마스킹 예시</a:t>
            </a:r>
          </a:p>
        </p:txBody>
      </p:sp>
      <p:sp>
        <p:nvSpPr>
          <p:cNvPr id="12" name="TextBox 11"/>
          <p:cNvSpPr txBox="1"/>
          <p:nvPr/>
        </p:nvSpPr>
        <p:spPr>
          <a:xfrm>
            <a:off x="8586216" y="2697480"/>
            <a:ext cx="868680" cy="365760"/>
          </a:xfrm>
          <a:prstGeom prst="rect">
            <a:avLst/>
          </a:prstGeom>
          <a:noFill/>
        </p:spPr>
        <p:txBody>
          <a:bodyPr wrap="square" lIns="0" tIns="0" rIns="0" bIns="0" anchor="ctr">
            <a:spAutoFit/>
          </a:bodyPr>
          <a:lstStyle/>
          <a:p>
            <a:pPr algn="l"/>
            <a:r>
              <a:rPr sz="1100" b="1">
                <a:solidFill>
                  <a:srgbClr val="D91370"/>
                </a:solidFill>
              </a:rPr>
              <a:t>휴대폰</a:t>
            </a:r>
          </a:p>
        </p:txBody>
      </p:sp>
      <p:sp>
        <p:nvSpPr>
          <p:cNvPr id="13" name="TextBox 12"/>
          <p:cNvSpPr txBox="1"/>
          <p:nvPr/>
        </p:nvSpPr>
        <p:spPr>
          <a:xfrm>
            <a:off x="9454896" y="2697480"/>
            <a:ext cx="1600200" cy="365760"/>
          </a:xfrm>
          <a:prstGeom prst="rect">
            <a:avLst/>
          </a:prstGeom>
          <a:noFill/>
        </p:spPr>
        <p:txBody>
          <a:bodyPr wrap="square" lIns="0" tIns="0" rIns="0" bIns="0" anchor="ctr">
            <a:spAutoFit/>
          </a:bodyPr>
          <a:lstStyle/>
          <a:p>
            <a:pPr algn="l"/>
            <a:r>
              <a:rPr sz="1100" b="0">
                <a:solidFill>
                  <a:srgbClr val="686B72"/>
                </a:solidFill>
              </a:rPr>
              <a:t>010-1234-5678</a:t>
            </a:r>
          </a:p>
        </p:txBody>
      </p:sp>
      <p:sp>
        <p:nvSpPr>
          <p:cNvPr id="14" name="TextBox 13"/>
          <p:cNvSpPr txBox="1"/>
          <p:nvPr/>
        </p:nvSpPr>
        <p:spPr>
          <a:xfrm>
            <a:off x="11055096" y="26974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15" name="TextBox 14"/>
          <p:cNvSpPr txBox="1"/>
          <p:nvPr/>
        </p:nvSpPr>
        <p:spPr>
          <a:xfrm>
            <a:off x="11283696" y="2697480"/>
            <a:ext cx="1691640" cy="365760"/>
          </a:xfrm>
          <a:prstGeom prst="rect">
            <a:avLst/>
          </a:prstGeom>
          <a:noFill/>
        </p:spPr>
        <p:txBody>
          <a:bodyPr wrap="square" lIns="0" tIns="0" rIns="0" bIns="0" anchor="ctr">
            <a:spAutoFit/>
          </a:bodyPr>
          <a:lstStyle/>
          <a:p>
            <a:pPr algn="l"/>
            <a:r>
              <a:rPr sz="1100" b="1">
                <a:solidFill>
                  <a:srgbClr val="17171A"/>
                </a:solidFill>
              </a:rPr>
              <a:t>010-****-5678</a:t>
            </a:r>
          </a:p>
        </p:txBody>
      </p:sp>
      <p:sp>
        <p:nvSpPr>
          <p:cNvPr id="16" name="TextBox 15"/>
          <p:cNvSpPr txBox="1"/>
          <p:nvPr/>
        </p:nvSpPr>
        <p:spPr>
          <a:xfrm>
            <a:off x="8586216" y="3154680"/>
            <a:ext cx="868680" cy="365760"/>
          </a:xfrm>
          <a:prstGeom prst="rect">
            <a:avLst/>
          </a:prstGeom>
          <a:noFill/>
        </p:spPr>
        <p:txBody>
          <a:bodyPr wrap="square" lIns="0" tIns="0" rIns="0" bIns="0" anchor="ctr">
            <a:spAutoFit/>
          </a:bodyPr>
          <a:lstStyle/>
          <a:p>
            <a:pPr algn="l"/>
            <a:r>
              <a:rPr sz="1100" b="1">
                <a:solidFill>
                  <a:srgbClr val="D91370"/>
                </a:solidFill>
              </a:rPr>
              <a:t>주민번호</a:t>
            </a:r>
          </a:p>
        </p:txBody>
      </p:sp>
      <p:sp>
        <p:nvSpPr>
          <p:cNvPr id="17" name="TextBox 16"/>
          <p:cNvSpPr txBox="1"/>
          <p:nvPr/>
        </p:nvSpPr>
        <p:spPr>
          <a:xfrm>
            <a:off x="9454896" y="3154680"/>
            <a:ext cx="1600200" cy="365760"/>
          </a:xfrm>
          <a:prstGeom prst="rect">
            <a:avLst/>
          </a:prstGeom>
          <a:noFill/>
        </p:spPr>
        <p:txBody>
          <a:bodyPr wrap="square" lIns="0" tIns="0" rIns="0" bIns="0" anchor="ctr">
            <a:spAutoFit/>
          </a:bodyPr>
          <a:lstStyle/>
          <a:p>
            <a:pPr algn="l"/>
            <a:r>
              <a:rPr sz="1100" b="0">
                <a:solidFill>
                  <a:srgbClr val="686B72"/>
                </a:solidFill>
              </a:rPr>
              <a:t>900101-1234567</a:t>
            </a:r>
          </a:p>
        </p:txBody>
      </p:sp>
      <p:sp>
        <p:nvSpPr>
          <p:cNvPr id="18" name="TextBox 17"/>
          <p:cNvSpPr txBox="1"/>
          <p:nvPr/>
        </p:nvSpPr>
        <p:spPr>
          <a:xfrm>
            <a:off x="11055096" y="31546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19" name="TextBox 18"/>
          <p:cNvSpPr txBox="1"/>
          <p:nvPr/>
        </p:nvSpPr>
        <p:spPr>
          <a:xfrm>
            <a:off x="11283696" y="3154680"/>
            <a:ext cx="1691640" cy="365760"/>
          </a:xfrm>
          <a:prstGeom prst="rect">
            <a:avLst/>
          </a:prstGeom>
          <a:noFill/>
        </p:spPr>
        <p:txBody>
          <a:bodyPr wrap="square" lIns="0" tIns="0" rIns="0" bIns="0" anchor="ctr">
            <a:spAutoFit/>
          </a:bodyPr>
          <a:lstStyle/>
          <a:p>
            <a:pPr algn="l"/>
            <a:r>
              <a:rPr sz="1100" b="1">
                <a:solidFill>
                  <a:srgbClr val="17171A"/>
                </a:solidFill>
              </a:rPr>
              <a:t>900101-*******</a:t>
            </a:r>
          </a:p>
        </p:txBody>
      </p:sp>
      <p:sp>
        <p:nvSpPr>
          <p:cNvPr id="20" name="TextBox 19"/>
          <p:cNvSpPr txBox="1"/>
          <p:nvPr/>
        </p:nvSpPr>
        <p:spPr>
          <a:xfrm>
            <a:off x="8586216" y="3611880"/>
            <a:ext cx="868680" cy="365760"/>
          </a:xfrm>
          <a:prstGeom prst="rect">
            <a:avLst/>
          </a:prstGeom>
          <a:noFill/>
        </p:spPr>
        <p:txBody>
          <a:bodyPr wrap="square" lIns="0" tIns="0" rIns="0" bIns="0" anchor="ctr">
            <a:spAutoFit/>
          </a:bodyPr>
          <a:lstStyle/>
          <a:p>
            <a:pPr algn="l"/>
            <a:r>
              <a:rPr sz="1100" b="1">
                <a:solidFill>
                  <a:srgbClr val="D91370"/>
                </a:solidFill>
              </a:rPr>
              <a:t>카드번호</a:t>
            </a:r>
          </a:p>
        </p:txBody>
      </p:sp>
      <p:sp>
        <p:nvSpPr>
          <p:cNvPr id="21" name="TextBox 20"/>
          <p:cNvSpPr txBox="1"/>
          <p:nvPr/>
        </p:nvSpPr>
        <p:spPr>
          <a:xfrm>
            <a:off x="9454896" y="3611880"/>
            <a:ext cx="1600200" cy="365760"/>
          </a:xfrm>
          <a:prstGeom prst="rect">
            <a:avLst/>
          </a:prstGeom>
          <a:noFill/>
        </p:spPr>
        <p:txBody>
          <a:bodyPr wrap="square" lIns="0" tIns="0" rIns="0" bIns="0" anchor="ctr">
            <a:spAutoFit/>
          </a:bodyPr>
          <a:lstStyle/>
          <a:p>
            <a:pPr algn="l"/>
            <a:r>
              <a:rPr sz="1100" b="0">
                <a:solidFill>
                  <a:srgbClr val="686B72"/>
                </a:solidFill>
              </a:rPr>
              <a:t>1234-5678-9012-3456</a:t>
            </a:r>
          </a:p>
        </p:txBody>
      </p:sp>
      <p:sp>
        <p:nvSpPr>
          <p:cNvPr id="22" name="TextBox 21"/>
          <p:cNvSpPr txBox="1"/>
          <p:nvPr/>
        </p:nvSpPr>
        <p:spPr>
          <a:xfrm>
            <a:off x="11055096" y="36118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23" name="TextBox 22"/>
          <p:cNvSpPr txBox="1"/>
          <p:nvPr/>
        </p:nvSpPr>
        <p:spPr>
          <a:xfrm>
            <a:off x="11283696" y="3611880"/>
            <a:ext cx="1691640" cy="365760"/>
          </a:xfrm>
          <a:prstGeom prst="rect">
            <a:avLst/>
          </a:prstGeom>
          <a:noFill/>
        </p:spPr>
        <p:txBody>
          <a:bodyPr wrap="square" lIns="0" tIns="0" rIns="0" bIns="0" anchor="ctr">
            <a:spAutoFit/>
          </a:bodyPr>
          <a:lstStyle/>
          <a:p>
            <a:pPr algn="l"/>
            <a:r>
              <a:rPr sz="1100" b="1">
                <a:solidFill>
                  <a:srgbClr val="17171A"/>
                </a:solidFill>
              </a:rPr>
              <a:t>****-****-****-3456</a:t>
            </a:r>
          </a:p>
        </p:txBody>
      </p:sp>
      <p:sp>
        <p:nvSpPr>
          <p:cNvPr id="24" name="TextBox 23"/>
          <p:cNvSpPr txBox="1"/>
          <p:nvPr/>
        </p:nvSpPr>
        <p:spPr>
          <a:xfrm>
            <a:off x="8586216" y="4069080"/>
            <a:ext cx="868680" cy="365760"/>
          </a:xfrm>
          <a:prstGeom prst="rect">
            <a:avLst/>
          </a:prstGeom>
          <a:noFill/>
        </p:spPr>
        <p:txBody>
          <a:bodyPr wrap="square" lIns="0" tIns="0" rIns="0" bIns="0" anchor="ctr">
            <a:spAutoFit/>
          </a:bodyPr>
          <a:lstStyle/>
          <a:p>
            <a:pPr algn="l"/>
            <a:r>
              <a:rPr sz="1100" b="1">
                <a:solidFill>
                  <a:srgbClr val="D91370"/>
                </a:solidFill>
              </a:rPr>
              <a:t>이메일</a:t>
            </a:r>
          </a:p>
        </p:txBody>
      </p:sp>
      <p:sp>
        <p:nvSpPr>
          <p:cNvPr id="25" name="TextBox 24"/>
          <p:cNvSpPr txBox="1"/>
          <p:nvPr/>
        </p:nvSpPr>
        <p:spPr>
          <a:xfrm>
            <a:off x="9454896" y="4069080"/>
            <a:ext cx="1600200" cy="365760"/>
          </a:xfrm>
          <a:prstGeom prst="rect">
            <a:avLst/>
          </a:prstGeom>
          <a:noFill/>
        </p:spPr>
        <p:txBody>
          <a:bodyPr wrap="square" lIns="0" tIns="0" rIns="0" bIns="0" anchor="ctr">
            <a:spAutoFit/>
          </a:bodyPr>
          <a:lstStyle/>
          <a:p>
            <a:pPr algn="l"/>
            <a:r>
              <a:rPr sz="1100" b="0">
                <a:solidFill>
                  <a:srgbClr val="686B72"/>
                </a:solidFill>
              </a:rPr>
              <a:t>abcd@naver.com</a:t>
            </a:r>
          </a:p>
        </p:txBody>
      </p:sp>
      <p:sp>
        <p:nvSpPr>
          <p:cNvPr id="26" name="TextBox 25"/>
          <p:cNvSpPr txBox="1"/>
          <p:nvPr/>
        </p:nvSpPr>
        <p:spPr>
          <a:xfrm>
            <a:off x="11055096" y="40690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27" name="TextBox 26"/>
          <p:cNvSpPr txBox="1"/>
          <p:nvPr/>
        </p:nvSpPr>
        <p:spPr>
          <a:xfrm>
            <a:off x="11283696" y="4069080"/>
            <a:ext cx="1691640" cy="365760"/>
          </a:xfrm>
          <a:prstGeom prst="rect">
            <a:avLst/>
          </a:prstGeom>
          <a:noFill/>
        </p:spPr>
        <p:txBody>
          <a:bodyPr wrap="square" lIns="0" tIns="0" rIns="0" bIns="0" anchor="ctr">
            <a:spAutoFit/>
          </a:bodyPr>
          <a:lstStyle/>
          <a:p>
            <a:pPr algn="l"/>
            <a:r>
              <a:rPr sz="1100" b="1">
                <a:solidFill>
                  <a:srgbClr val="17171A"/>
                </a:solidFill>
              </a:rPr>
              <a:t>a***@naver.com</a:t>
            </a:r>
          </a:p>
        </p:txBody>
      </p:sp>
      <p:sp>
        <p:nvSpPr>
          <p:cNvPr id="28" name="Rounded Rectangle 27"/>
          <p:cNvSpPr/>
          <p:nvPr/>
        </p:nvSpPr>
        <p:spPr>
          <a:xfrm>
            <a:off x="8357616" y="4892040"/>
            <a:ext cx="4727448" cy="1261872"/>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586216" y="5001768"/>
            <a:ext cx="4297680" cy="1051560"/>
          </a:xfrm>
          <a:prstGeom prst="rect">
            <a:avLst/>
          </a:prstGeom>
          <a:noFill/>
        </p:spPr>
        <p:txBody>
          <a:bodyPr wrap="square" lIns="0" tIns="0" rIns="0" bIns="0" anchor="ctr">
            <a:spAutoFit/>
          </a:bodyPr>
          <a:lstStyle/>
          <a:p>
            <a:pPr algn="l"/>
            <a:r>
              <a:rPr sz="1300" b="1">
                <a:solidFill>
                  <a:srgbClr val="D91370"/>
                </a:solidFill>
              </a:rPr>
              <a:t>Redis가 멈추면 차단은 경고만 남기고 통과</a:t>
            </a:r>
          </a:p>
          <a:p>
            <a:pPr algn="l"/>
            <a:r>
              <a:rPr sz="1200" b="0">
                <a:solidFill>
                  <a:srgbClr val="17171A"/>
                </a:solidFill>
              </a:rPr>
              <a:t>보안 장치가 장애 원인이 되지 않게,</a:t>
            </a:r>
          </a:p>
          <a:p>
            <a:pPr algn="l"/>
            <a:r>
              <a:rPr sz="1200" b="0">
                <a:solidFill>
                  <a:srgbClr val="17171A"/>
                </a:solidFill>
              </a:rPr>
              <a:t>위험은 토큰 유효 시간으로 한정했습니다</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매장 · 지도 · 길찾기 · 예약</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20</a:t>
            </a:r>
            <a:endParaRPr sz="1300" b="0">
              <a:solidFill>
                <a:schemeClr val="accent3"/>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인기 · 급상승 FAQ 랭킹</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많이 찾는 질문과 갑자기 늘어난 질문을 채팅 화면에서 바로 보여줍니다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21</a:t>
            </a:r>
            <a:endParaRPr sz="1300" b="0">
              <a:solidFill>
                <a:schemeClr val="accent3"/>
              </a:solidFill>
            </a:endParaRPr>
          </a:p>
        </p:txBody>
      </p:sp>
      <p:pic>
        <p:nvPicPr>
          <p:cNvPr id="26" name="그림 25"/>
          <p:cNvPicPr>
            <a:picLocks noChangeAspect="1"/>
          </p:cNvPicPr>
          <p:nvPr/>
        </p:nvPicPr>
        <p:blipFill rotWithShape="1">
          <a:blip r:embed="rId2"/>
          <a:stretch>
            <a:fillRect/>
          </a:stretch>
        </p:blipFill>
        <p:spPr>
          <a:xfrm>
            <a:off x="4878650" y="2550000"/>
            <a:ext cx="7322004" cy="4349999"/>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27" name="캡션"/>
          <p:cNvSpPr/>
          <p:nvPr/>
        </p:nvSpPr>
        <p:spPr>
          <a:xfrm>
            <a:off x="4878650" y="2090000"/>
            <a:ext cx="3228346"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230000" tIns="0" rIns="230000" bIns="0" rtlCol="0" anchor="ctr"/>
          <a:lstStyle/>
          <a:p>
            <a:pPr algn="l"/>
            <a:r>
              <a:rPr sz="1400" b="1">
                <a:solidFill>
                  <a:schemeClr val="bg1"/>
                </a:solidFill>
              </a:rPr>
              <a:t>인기·급상승·지역 급상승 랭킹 화면</a:t>
            </a:r>
          </a:p>
        </p:txBody>
      </p:sp>
      <p:sp>
        <p:nvSpPr>
          <p:cNvPr id="28" name="패널 번호 1"/>
          <p:cNvSpPr/>
          <p:nvPr/>
        </p:nvSpPr>
        <p:spPr>
          <a:xfrm>
            <a:off x="10046766" y="260835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1</a:t>
            </a:r>
          </a:p>
        </p:txBody>
      </p:sp>
      <p:sp>
        <p:nvSpPr>
          <p:cNvPr id="29" name="패널 번호 2"/>
          <p:cNvSpPr/>
          <p:nvPr/>
        </p:nvSpPr>
        <p:spPr>
          <a:xfrm>
            <a:off x="10046766" y="402359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2</a:t>
            </a:r>
          </a:p>
        </p:txBody>
      </p:sp>
      <p:sp>
        <p:nvSpPr>
          <p:cNvPr id="30" name="패널 번호 3"/>
          <p:cNvSpPr/>
          <p:nvPr/>
        </p:nvSpPr>
        <p:spPr>
          <a:xfrm>
            <a:off x="10046766" y="5453731"/>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3</a:t>
            </a:r>
          </a:p>
        </p:txBody>
      </p:sp>
      <p:sp>
        <p:nvSpPr>
          <p:cNvPr id="31" name="인기 FAQ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인기 FAQ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34" name="인기 FAQ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인기 FAQ</a:t>
            </a:r>
          </a:p>
        </p:txBody>
      </p:sp>
      <p:sp>
        <p:nvSpPr>
          <p:cNvPr id="35" name="인기 FAQ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최근 사용량 TOP 5</a:t>
            </a:r>
          </a:p>
        </p:txBody>
      </p:sp>
      <p:sp>
        <p:nvSpPr>
          <p:cNvPr id="36" name="급상승 FAQ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급상승 FAQ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39" name="급상승 FAQ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급상승 FAQ</a:t>
            </a:r>
          </a:p>
        </p:txBody>
      </p:sp>
      <p:sp>
        <p:nvSpPr>
          <p:cNvPr id="40" name="급상승 FAQ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이전 대비 사용량 급증 TOP 5</a:t>
            </a:r>
          </a:p>
        </p:txBody>
      </p:sp>
      <p:sp>
        <p:nvSpPr>
          <p:cNvPr id="41" name="지역 급상승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지역 급상승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44" name="지역 급상승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지역 급상승</a:t>
            </a:r>
          </a:p>
        </p:txBody>
      </p:sp>
      <p:sp>
        <p:nvSpPr>
          <p:cNvPr id="45" name="지역 급상승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내 지역(IP 기반) 급상승 TOP 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사용자 · 상품 정보 조회와 가입</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내 정보와 상품 정보를 질문으로 조회하고, 가입 · 해지까지 처리합니다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22</a:t>
            </a:r>
            <a:endParaRPr sz="1300" b="0">
              <a:solidFill>
                <a:schemeClr val="accent3"/>
              </a:solidFill>
            </a:endParaRPr>
          </a:p>
        </p:txBody>
      </p:sp>
      <p:pic>
        <p:nvPicPr>
          <p:cNvPr id="31" name="그림 30"/>
          <p:cNvPicPr>
            <a:picLocks noChangeAspect="1"/>
          </p:cNvPicPr>
          <p:nvPr/>
        </p:nvPicPr>
        <p:blipFill rotWithShape="1">
          <a:blip r:embed="rId2"/>
          <a:stretch>
            <a:fillRect/>
          </a:stretch>
        </p:blipFill>
        <p:spPr>
          <a:xfrm>
            <a:off x="8987350" y="5028378"/>
            <a:ext cx="4100000" cy="1904242"/>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32" name="그림 31"/>
          <p:cNvPicPr>
            <a:picLocks noChangeAspect="1"/>
          </p:cNvPicPr>
          <p:nvPr/>
        </p:nvPicPr>
        <p:blipFill rotWithShape="1">
          <a:blip r:embed="rId3"/>
          <a:stretch>
            <a:fillRect/>
          </a:stretch>
        </p:blipFill>
        <p:spPr>
          <a:xfrm>
            <a:off x="4878650" y="2550000"/>
            <a:ext cx="5400000" cy="1778378"/>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33" name="캡션 1"/>
          <p:cNvSpPr/>
          <p:nvPr/>
        </p:nvSpPr>
        <p:spPr>
          <a:xfrm>
            <a:off x="5078650" y="2070000"/>
            <a:ext cx="3280566"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사용자 정보 조회 화면 (정보 카드)</a:t>
            </a:r>
          </a:p>
        </p:txBody>
      </p:sp>
      <p:sp>
        <p:nvSpPr>
          <p:cNvPr id="34"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35" name="캡션 2"/>
          <p:cNvSpPr/>
          <p:nvPr/>
        </p:nvSpPr>
        <p:spPr>
          <a:xfrm>
            <a:off x="9187350" y="4548378"/>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상품 정보 조회 화면</a:t>
            </a:r>
          </a:p>
        </p:txBody>
      </p:sp>
      <p:sp>
        <p:nvSpPr>
          <p:cNvPr id="36" name="캡션 번호 2"/>
          <p:cNvSpPr/>
          <p:nvPr/>
        </p:nvSpPr>
        <p:spPr>
          <a:xfrm>
            <a:off x="8987350" y="4528378"/>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37" name="사용자 정보 조회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사용자 정보 조회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0" name="사용자 정보 조회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사용자 정보 조회</a:t>
            </a:r>
          </a:p>
        </p:txBody>
      </p:sp>
      <p:sp>
        <p:nvSpPr>
          <p:cNvPr id="41" name="사용자 정보 조회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요금·데이터 사용량·가입 상품 확인</a:t>
            </a:r>
          </a:p>
        </p:txBody>
      </p:sp>
      <p:sp>
        <p:nvSpPr>
          <p:cNvPr id="42" name="상품 정보 조회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상품 정보 조회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45" name="상품 정보 조회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상품 정보 조회</a:t>
            </a:r>
          </a:p>
        </p:txBody>
      </p:sp>
      <p:sp>
        <p:nvSpPr>
          <p:cNvPr id="46" name="상품 정보 조회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요금제·부가서비스를 질문으로 안내</a:t>
            </a:r>
          </a:p>
        </p:txBody>
      </p:sp>
      <p:sp>
        <p:nvSpPr>
          <p:cNvPr id="47" name="가입·해지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가입·해지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50" name="가입·해지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가입·해지</a:t>
            </a:r>
          </a:p>
        </p:txBody>
      </p:sp>
      <p:sp>
        <p:nvSpPr>
          <p:cNvPr id="51" name="가입·해지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상품 가입·해지·결합 처리</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고객센터 문의와 상담사 호출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문의를 남기고, 필요하면 상담사에게 연결합니다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23</a:t>
            </a:r>
            <a:endParaRPr sz="1300" b="0">
              <a:solidFill>
                <a:schemeClr val="accent3"/>
              </a:solidFill>
            </a:endParaRPr>
          </a:p>
        </p:txBody>
      </p:sp>
      <p:pic>
        <p:nvPicPr>
          <p:cNvPr id="25" name="그림 24"/>
          <p:cNvPicPr>
            <a:picLocks noChangeAspect="1"/>
          </p:cNvPicPr>
          <p:nvPr/>
        </p:nvPicPr>
        <p:blipFill rotWithShape="1">
          <a:blip r:embed="rId2"/>
          <a:stretch>
            <a:fillRect/>
          </a:stretch>
        </p:blipFill>
        <p:spPr>
          <a:xfrm>
            <a:off x="4878650" y="2550000"/>
            <a:ext cx="6400000" cy="2351144"/>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26" name="캡션 1"/>
          <p:cNvSpPr/>
          <p:nvPr/>
        </p:nvSpPr>
        <p:spPr>
          <a:xfrm>
            <a:off x="5078650" y="2070000"/>
            <a:ext cx="20768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고객센터 문의 화면</a:t>
            </a:r>
          </a:p>
        </p:txBody>
      </p:sp>
      <p:sp>
        <p:nvSpPr>
          <p:cNvPr id="27"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28" name="이미지 자리 2"/>
          <p:cNvSpPr/>
          <p:nvPr/>
        </p:nvSpPr>
        <p:spPr>
          <a:xfrm>
            <a:off x="4878650" y="5601144"/>
            <a:ext cx="6400000" cy="1300000"/>
          </a:xfrm>
          <a:prstGeom prst="roundRect">
            <a:avLst>
              <a:gd name="adj" fmla="val 4000"/>
            </a:avLst>
          </a:prstGeom>
          <a:solidFill>
            <a:schemeClr val="bg1"/>
          </a:solidFill>
          <a:ln w="19050">
            <a:solidFill>
              <a:schemeClr val="accent2"/>
            </a:solidFill>
            <a:prstDash val="dash"/>
          </a:ln>
          <a:effectLst>
            <a:outerShdw blurRad="254000" dist="88900" dir="5400000" algn="t" rotWithShape="0">
              <a:srgbClr val="17171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a:solidFill>
                  <a:schemeClr val="accent3"/>
                </a:solidFill>
              </a:rPr>
              <a:t>그림 2</a:t>
            </a:r>
          </a:p>
          <a:p>
            <a:pPr algn="ctr"/>
            <a:r>
              <a:rPr sz="1300">
                <a:solidFill>
                  <a:schemeClr val="accent3"/>
                </a:solidFill>
              </a:rPr>
              <a:t>준비 중</a:t>
            </a:r>
          </a:p>
        </p:txBody>
      </p:sp>
      <p:sp>
        <p:nvSpPr>
          <p:cNvPr id="29" name="캡션 2"/>
          <p:cNvSpPr/>
          <p:nvPr/>
        </p:nvSpPr>
        <p:spPr>
          <a:xfrm>
            <a:off x="5078650" y="5121144"/>
            <a:ext cx="230088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상담사 호출·상담 화면</a:t>
            </a:r>
          </a:p>
        </p:txBody>
      </p:sp>
      <p:sp>
        <p:nvSpPr>
          <p:cNvPr id="30" name="캡션 번호 2"/>
          <p:cNvSpPr/>
          <p:nvPr/>
        </p:nvSpPr>
        <p:spPr>
          <a:xfrm>
            <a:off x="4878650" y="510114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31" name="고객센터 문의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고객센터 문의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34" name="고객센터 문의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고객센터 문의</a:t>
            </a:r>
          </a:p>
        </p:txBody>
      </p:sp>
      <p:sp>
        <p:nvSpPr>
          <p:cNvPr id="35" name="고객센터 문의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문의 등록, 관리자 답변 확인</a:t>
            </a:r>
          </a:p>
        </p:txBody>
      </p:sp>
      <p:sp>
        <p:nvSpPr>
          <p:cNvPr id="36" name="상담사 호출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상담사 호출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39" name="상담사 호출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상담사 호출</a:t>
            </a:r>
          </a:p>
        </p:txBody>
      </p:sp>
      <p:sp>
        <p:nvSpPr>
          <p:cNvPr id="40" name="상담사 호출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챗봇에서 상담사로 연결</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FAQ 대시보드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FAQ 운영 현황을 한눈에: 사용량 · 유사도 · 개별 정보</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24</a:t>
            </a:r>
            <a:endParaRPr sz="1300" b="0">
              <a:solidFill>
                <a:schemeClr val="accent3"/>
              </a:solidFill>
            </a:endParaRPr>
          </a:p>
        </p:txBody>
      </p:sp>
      <p:sp>
        <p:nvSpPr>
          <p:cNvPr id="9" name="FAQ 사용량 카드"/>
          <p:cNvSpPr/>
          <p:nvPr/>
        </p:nvSpPr>
        <p:spPr>
          <a:xfrm>
            <a:off x="628650"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0" name="FAQ 사용량 번호"/>
          <p:cNvSpPr/>
          <p:nvPr/>
        </p:nvSpPr>
        <p:spPr>
          <a:xfrm>
            <a:off x="818650"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1</a:t>
            </a:r>
          </a:p>
        </p:txBody>
      </p:sp>
      <p:sp>
        <p:nvSpPr>
          <p:cNvPr id="11" name="FAQ 사용량 제목"/>
          <p:cNvSpPr txBox="1"/>
          <p:nvPr/>
        </p:nvSpPr>
        <p:spPr>
          <a:xfrm>
            <a:off x="1388650"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사용량</a:t>
            </a:r>
          </a:p>
        </p:txBody>
      </p:sp>
      <p:pic>
        <p:nvPicPr>
          <p:cNvPr id="24" name="그림 23"/>
          <p:cNvPicPr>
            <a:picLocks noChangeAspect="1"/>
          </p:cNvPicPr>
          <p:nvPr/>
        </p:nvPicPr>
        <p:blipFill rotWithShape="1">
          <a:blip r:embed="rId2"/>
          <a:stretch>
            <a:fillRect/>
          </a:stretch>
        </p:blipFill>
        <p:spPr>
          <a:xfrm>
            <a:off x="818650" y="2867485"/>
            <a:ext cx="3606233" cy="2865030"/>
          </a:xfrm>
          <a:prstGeom prst="roundRect">
            <a:avLst>
              <a:gd name="adj" fmla="val 3000"/>
            </a:avLst>
          </a:prstGeom>
          <a:ln w="12700">
            <a:solidFill>
              <a:schemeClr val="accent2"/>
            </a:solidFill>
          </a:ln>
        </p:spPr>
      </p:pic>
      <p:sp>
        <p:nvSpPr>
          <p:cNvPr id="25" name="FAQ 사용량 설명"/>
          <p:cNvSpPr txBox="1"/>
          <p:nvPr/>
        </p:nvSpPr>
        <p:spPr>
          <a:xfrm>
            <a:off x="818650"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FAQ별 검색 결과 포함 횟수 TOP/LOW 20</a:t>
            </a:r>
          </a:p>
          <a:p>
            <a:pPr marL="200000" lvl="0" indent="-200000" algn="l">
              <a:spcAft>
                <a:spcPts val="600"/>
              </a:spcAft>
              <a:buChar char="•"/>
              <a:defRPr/>
            </a:pPr>
            <a:r>
              <a:rPr sz="1200" b="0">
                <a:solidFill>
                  <a:schemeClr val="tx1"/>
                </a:solidFill>
              </a:rPr>
              <a:t>의도별(사용자·매장·상품 데이터)로 필터</a:t>
            </a:r>
          </a:p>
        </p:txBody>
      </p:sp>
      <p:sp>
        <p:nvSpPr>
          <p:cNvPr id="26" name="FAQ 유사도 카드"/>
          <p:cNvSpPr/>
          <p:nvPr/>
        </p:nvSpPr>
        <p:spPr>
          <a:xfrm>
            <a:off x="4864883"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7" name="FAQ 유사도 번호"/>
          <p:cNvSpPr/>
          <p:nvPr/>
        </p:nvSpPr>
        <p:spPr>
          <a:xfrm>
            <a:off x="5054883"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2</a:t>
            </a:r>
          </a:p>
        </p:txBody>
      </p:sp>
      <p:sp>
        <p:nvSpPr>
          <p:cNvPr id="28" name="FAQ 유사도 제목"/>
          <p:cNvSpPr txBox="1"/>
          <p:nvPr/>
        </p:nvSpPr>
        <p:spPr>
          <a:xfrm>
            <a:off x="5624883"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유사도</a:t>
            </a:r>
          </a:p>
        </p:txBody>
      </p:sp>
      <p:pic>
        <p:nvPicPr>
          <p:cNvPr id="34" name="그림 24"/>
          <p:cNvPicPr>
            <a:picLocks noChangeAspect="1"/>
          </p:cNvPicPr>
          <p:nvPr/>
        </p:nvPicPr>
        <p:blipFill rotWithShape="1">
          <a:blip r:embed="rId3"/>
          <a:stretch>
            <a:fillRect/>
          </a:stretch>
        </p:blipFill>
        <p:spPr>
          <a:xfrm>
            <a:off x="5054883" y="2862252"/>
            <a:ext cx="3606233" cy="2875496"/>
          </a:xfrm>
          <a:prstGeom prst="roundRect">
            <a:avLst>
              <a:gd name="adj" fmla="val 3000"/>
            </a:avLst>
          </a:prstGeom>
          <a:ln w="12700">
            <a:solidFill>
              <a:schemeClr val="accent2"/>
            </a:solidFill>
          </a:ln>
        </p:spPr>
      </p:pic>
      <p:sp>
        <p:nvSpPr>
          <p:cNvPr id="29" name="FAQ 유사도 설명"/>
          <p:cNvSpPr txBox="1"/>
          <p:nvPr/>
        </p:nvSpPr>
        <p:spPr>
          <a:xfrm>
            <a:off x="5054883"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FAQ별 평균 Similarity TOP/LOW 20</a:t>
            </a:r>
          </a:p>
          <a:p>
            <a:pPr marL="200000" lvl="0" indent="-200000" algn="l">
              <a:spcAft>
                <a:spcPts val="600"/>
              </a:spcAft>
              <a:buChar char="•"/>
              <a:defRPr/>
            </a:pPr>
            <a:r>
              <a:rPr sz="1200" b="0">
                <a:solidFill>
                  <a:schemeClr val="tx1"/>
                </a:solidFill>
              </a:rPr>
              <a:t>전체 FAQ 평균 값을 함께 표시</a:t>
            </a:r>
          </a:p>
        </p:txBody>
      </p:sp>
      <p:sp>
        <p:nvSpPr>
          <p:cNvPr id="30" name="FAQ 개별 정보 카드"/>
          <p:cNvSpPr/>
          <p:nvPr/>
        </p:nvSpPr>
        <p:spPr>
          <a:xfrm>
            <a:off x="9101116"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1" name="FAQ 개별 정보 번호"/>
          <p:cNvSpPr/>
          <p:nvPr/>
        </p:nvSpPr>
        <p:spPr>
          <a:xfrm>
            <a:off x="9291116"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3</a:t>
            </a:r>
          </a:p>
        </p:txBody>
      </p:sp>
      <p:sp>
        <p:nvSpPr>
          <p:cNvPr id="32" name="FAQ 개별 정보 제목"/>
          <p:cNvSpPr txBox="1"/>
          <p:nvPr/>
        </p:nvSpPr>
        <p:spPr>
          <a:xfrm>
            <a:off x="9861116"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개별 정보</a:t>
            </a:r>
          </a:p>
        </p:txBody>
      </p:sp>
      <p:pic>
        <p:nvPicPr>
          <p:cNvPr id="35" name="그림 25"/>
          <p:cNvPicPr>
            <a:picLocks noChangeAspect="1"/>
          </p:cNvPicPr>
          <p:nvPr/>
        </p:nvPicPr>
        <p:blipFill rotWithShape="1">
          <a:blip r:embed="rId4"/>
          <a:stretch>
            <a:fillRect/>
          </a:stretch>
        </p:blipFill>
        <p:spPr>
          <a:xfrm>
            <a:off x="9291116" y="2867485"/>
            <a:ext cx="3606233" cy="2865030"/>
          </a:xfrm>
          <a:prstGeom prst="roundRect">
            <a:avLst>
              <a:gd name="adj" fmla="val 3000"/>
            </a:avLst>
          </a:prstGeom>
          <a:ln w="12700">
            <a:solidFill>
              <a:schemeClr val="accent2"/>
            </a:solidFill>
          </a:ln>
        </p:spPr>
      </p:pic>
      <p:sp>
        <p:nvSpPr>
          <p:cNvPr id="33" name="FAQ 개별 정보 설명"/>
          <p:cNvSpPr txBox="1"/>
          <p:nvPr/>
        </p:nvSpPr>
        <p:spPr>
          <a:xfrm>
            <a:off x="9291116"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 ID로 상세 정보와 사용량 추이 조회</a:t>
            </a:r>
          </a:p>
          <a:p>
            <a:pPr marL="200000" lvl="0" indent="-200000" algn="l">
              <a:spcAft>
                <a:spcPts val="600"/>
              </a:spcAft>
              <a:buChar char="•"/>
              <a:defRPr/>
            </a:pPr>
            <a:r>
              <a:rPr sz="1200" b="0">
                <a:solidFill>
                  <a:schemeClr val="tx1"/>
                </a:solidFill>
              </a:rPr>
              <a:t>함께 등장한 FAQ Top 5 확인</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개선이 필요한 FAQ</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검색 품질 · 활용도 · 중복 가능성이 있는 FAQ를 찾아 보여줍니다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25</a:t>
            </a:r>
            <a:endParaRPr sz="1300" b="0">
              <a:solidFill>
                <a:schemeClr val="accent3"/>
              </a:solidFill>
            </a:endParaRPr>
          </a:p>
        </p:txBody>
      </p:sp>
      <p:sp>
        <p:nvSpPr>
          <p:cNvPr id="9" name="이미지 카드"/>
          <p:cNvSpPr/>
          <p:nvPr/>
        </p:nvSpPr>
        <p:spPr>
          <a:xfrm>
            <a:off x="628650" y="2050000"/>
            <a:ext cx="4900000"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그림 22"/>
          <p:cNvPicPr>
            <a:picLocks noChangeAspect="1"/>
          </p:cNvPicPr>
          <p:nvPr/>
        </p:nvPicPr>
        <p:blipFill rotWithShape="1">
          <a:blip r:embed="rId2"/>
          <a:stretch>
            <a:fillRect/>
          </a:stretch>
        </p:blipFill>
        <p:spPr>
          <a:xfrm>
            <a:off x="845805" y="2230000"/>
            <a:ext cx="4465689" cy="4390000"/>
          </a:xfrm>
          <a:prstGeom prst="roundRect">
            <a:avLst>
              <a:gd name="adj" fmla="val 3000"/>
            </a:avLst>
          </a:prstGeom>
          <a:ln w="12700">
            <a:solidFill>
              <a:schemeClr val="accent2"/>
            </a:solidFill>
          </a:ln>
        </p:spPr>
      </p:pic>
      <p:sp>
        <p:nvSpPr>
          <p:cNvPr id="24" name="화면 번호 1"/>
          <p:cNvSpPr/>
          <p:nvPr/>
        </p:nvSpPr>
        <p:spPr>
          <a:xfrm>
            <a:off x="3163563" y="2630287"/>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1</a:t>
            </a:r>
          </a:p>
        </p:txBody>
      </p:sp>
      <p:sp>
        <p:nvSpPr>
          <p:cNvPr id="25" name="화면 번호 2"/>
          <p:cNvSpPr/>
          <p:nvPr/>
        </p:nvSpPr>
        <p:spPr>
          <a:xfrm>
            <a:off x="590116" y="3311494"/>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2</a:t>
            </a:r>
          </a:p>
        </p:txBody>
      </p:sp>
      <p:sp>
        <p:nvSpPr>
          <p:cNvPr id="26" name="화면 번호 3"/>
          <p:cNvSpPr/>
          <p:nvPr/>
        </p:nvSpPr>
        <p:spPr>
          <a:xfrm>
            <a:off x="590116" y="532988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3</a:t>
            </a:r>
          </a:p>
        </p:txBody>
      </p:sp>
      <p:sp>
        <p:nvSpPr>
          <p:cNvPr id="27" name="화면 번호 4"/>
          <p:cNvSpPr/>
          <p:nvPr/>
        </p:nvSpPr>
        <p:spPr>
          <a:xfrm>
            <a:off x="5219798" y="418192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4</a:t>
            </a:r>
          </a:p>
        </p:txBody>
      </p:sp>
      <p:sp>
        <p:nvSpPr>
          <p:cNvPr id="28" name="개선 유형 필터 카드"/>
          <p:cNvSpPr/>
          <p:nvPr/>
        </p:nvSpPr>
        <p:spPr>
          <a:xfrm>
            <a:off x="5878650" y="205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개선 유형 필터 번호"/>
          <p:cNvSpPr/>
          <p:nvPr/>
        </p:nvSpPr>
        <p:spPr>
          <a:xfrm>
            <a:off x="6068650" y="237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1</a:t>
            </a:r>
          </a:p>
        </p:txBody>
      </p:sp>
      <p:sp>
        <p:nvSpPr>
          <p:cNvPr id="31" name="개선 유형 필터 제목"/>
          <p:cNvSpPr txBox="1"/>
          <p:nvPr/>
        </p:nvSpPr>
        <p:spPr>
          <a:xfrm>
            <a:off x="6738650" y="2160000"/>
            <a:ext cx="6148700" cy="340000"/>
          </a:xfrm>
          <a:prstGeom prst="rect">
            <a:avLst/>
          </a:prstGeom>
          <a:noFill/>
        </p:spPr>
        <p:txBody>
          <a:bodyPr wrap="square" lIns="0" tIns="0" rIns="0" bIns="0" anchor="ctr">
            <a:spAutoFit/>
          </a:bodyPr>
          <a:lstStyle/>
          <a:p>
            <a:pPr algn="l"/>
            <a:r>
              <a:rPr sz="1700" b="1">
                <a:solidFill>
                  <a:schemeClr val="tx2"/>
                </a:solidFill>
              </a:rPr>
              <a:t>개선 유형 필터</a:t>
            </a:r>
          </a:p>
        </p:txBody>
      </p:sp>
      <p:sp>
        <p:nvSpPr>
          <p:cNvPr id="32" name="개선 유형 필터 설명"/>
          <p:cNvSpPr txBox="1"/>
          <p:nvPr/>
        </p:nvSpPr>
        <p:spPr>
          <a:xfrm>
            <a:off x="6738650" y="2520000"/>
            <a:ext cx="6148700" cy="530000"/>
          </a:xfrm>
          <a:prstGeom prst="rect">
            <a:avLst/>
          </a:prstGeom>
          <a:noFill/>
        </p:spPr>
        <p:txBody>
          <a:bodyPr wrap="square" lIns="0" tIns="0" rIns="0" bIns="0" anchor="t">
            <a:spAutoFit/>
          </a:bodyPr>
          <a:lstStyle/>
          <a:p>
            <a:pPr algn="l"/>
            <a:r>
              <a:rPr sz="1250" b="0">
                <a:solidFill>
                  <a:schemeClr val="tx1"/>
                </a:solidFill>
              </a:rPr>
              <a:t>검색품질↓ · 활용도↓ · 중복의심 중에서 선택하고, 여러 유형을 고르면 모두 해당하는 FAQ를 보여줍니다.</a:t>
            </a:r>
          </a:p>
        </p:txBody>
      </p:sp>
      <p:sp>
        <p:nvSpPr>
          <p:cNvPr id="33" name="개선 필요 FAQ 목록 카드"/>
          <p:cNvSpPr/>
          <p:nvPr/>
        </p:nvSpPr>
        <p:spPr>
          <a:xfrm>
            <a:off x="5878650" y="327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개선 필요 FAQ 목록 번호"/>
          <p:cNvSpPr/>
          <p:nvPr/>
        </p:nvSpPr>
        <p:spPr>
          <a:xfrm>
            <a:off x="6068650" y="359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2</a:t>
            </a:r>
          </a:p>
        </p:txBody>
      </p:sp>
      <p:sp>
        <p:nvSpPr>
          <p:cNvPr id="36" name="개선 필요 FAQ 목록 제목"/>
          <p:cNvSpPr txBox="1"/>
          <p:nvPr/>
        </p:nvSpPr>
        <p:spPr>
          <a:xfrm>
            <a:off x="6738650" y="3380000"/>
            <a:ext cx="6148700" cy="340000"/>
          </a:xfrm>
          <a:prstGeom prst="rect">
            <a:avLst/>
          </a:prstGeom>
          <a:noFill/>
        </p:spPr>
        <p:txBody>
          <a:bodyPr wrap="square" lIns="0" tIns="0" rIns="0" bIns="0" anchor="ctr">
            <a:spAutoFit/>
          </a:bodyPr>
          <a:lstStyle/>
          <a:p>
            <a:pPr algn="l"/>
            <a:r>
              <a:rPr sz="1700" b="1">
                <a:solidFill>
                  <a:schemeClr val="tx2"/>
                </a:solidFill>
              </a:rPr>
              <a:t>개선 필요 FAQ 목록</a:t>
            </a:r>
          </a:p>
        </p:txBody>
      </p:sp>
      <p:sp>
        <p:nvSpPr>
          <p:cNvPr id="37" name="개선 필요 FAQ 목록 설명"/>
          <p:cNvSpPr txBox="1"/>
          <p:nvPr/>
        </p:nvSpPr>
        <p:spPr>
          <a:xfrm>
            <a:off x="6738650" y="3740000"/>
            <a:ext cx="6148700" cy="530000"/>
          </a:xfrm>
          <a:prstGeom prst="rect">
            <a:avLst/>
          </a:prstGeom>
          <a:noFill/>
        </p:spPr>
        <p:txBody>
          <a:bodyPr wrap="square" lIns="0" tIns="0" rIns="0" bIns="0" anchor="t">
            <a:spAutoFit/>
          </a:bodyPr>
          <a:lstStyle/>
          <a:p>
            <a:pPr algn="l"/>
            <a:r>
              <a:rPr sz="1250" b="0">
                <a:solidFill>
                  <a:schemeClr val="tx1"/>
                </a:solidFill>
              </a:rPr>
              <a:t>FAQ별 의도 · 버전 · 개선 유형을 태그로 표시하고, 행을 클릭하면 아래에서 상세 지표를 확인합니다.</a:t>
            </a:r>
          </a:p>
        </p:txBody>
      </p:sp>
      <p:sp>
        <p:nvSpPr>
          <p:cNvPr id="38" name="추가 정보 카드"/>
          <p:cNvSpPr/>
          <p:nvPr/>
        </p:nvSpPr>
        <p:spPr>
          <a:xfrm>
            <a:off x="5878650" y="449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추가 정보 번호"/>
          <p:cNvSpPr/>
          <p:nvPr/>
        </p:nvSpPr>
        <p:spPr>
          <a:xfrm>
            <a:off x="6068650" y="481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3</a:t>
            </a:r>
          </a:p>
        </p:txBody>
      </p:sp>
      <p:sp>
        <p:nvSpPr>
          <p:cNvPr id="41" name="추가 정보 제목"/>
          <p:cNvSpPr txBox="1"/>
          <p:nvPr/>
        </p:nvSpPr>
        <p:spPr>
          <a:xfrm>
            <a:off x="6738650" y="4600000"/>
            <a:ext cx="6148700" cy="340000"/>
          </a:xfrm>
          <a:prstGeom prst="rect">
            <a:avLst/>
          </a:prstGeom>
          <a:noFill/>
        </p:spPr>
        <p:txBody>
          <a:bodyPr wrap="square" lIns="0" tIns="0" rIns="0" bIns="0" anchor="ctr">
            <a:spAutoFit/>
          </a:bodyPr>
          <a:lstStyle/>
          <a:p>
            <a:pPr algn="l"/>
            <a:r>
              <a:rPr sz="1700" b="1">
                <a:solidFill>
                  <a:schemeClr val="tx2"/>
                </a:solidFill>
              </a:rPr>
              <a:t>추가 정보</a:t>
            </a:r>
          </a:p>
        </p:txBody>
      </p:sp>
      <p:sp>
        <p:nvSpPr>
          <p:cNvPr id="42" name="추가 정보 설명"/>
          <p:cNvSpPr txBox="1"/>
          <p:nvPr/>
        </p:nvSpPr>
        <p:spPr>
          <a:xfrm>
            <a:off x="6738650" y="4960000"/>
            <a:ext cx="6148700" cy="530000"/>
          </a:xfrm>
          <a:prstGeom prst="rect">
            <a:avLst/>
          </a:prstGeom>
          <a:noFill/>
        </p:spPr>
        <p:txBody>
          <a:bodyPr wrap="square" lIns="0" tIns="0" rIns="0" bIns="0" anchor="t">
            <a:spAutoFit/>
          </a:bodyPr>
          <a:lstStyle/>
          <a:p>
            <a:pPr algn="l"/>
            <a:r>
              <a:rPr sz="1250" b="0">
                <a:solidFill>
                  <a:schemeClr val="tx1"/>
                </a:solidFill>
              </a:rPr>
              <a:t>선택한 FAQ의 Top-K 포함 횟수 · 평균 Similarity · Gap 같은 검색·사용 지표와 중복 의심 FAQ 목록(중복 비율)을 제공합니다.</a:t>
            </a:r>
          </a:p>
        </p:txBody>
      </p:sp>
      <p:sp>
        <p:nvSpPr>
          <p:cNvPr id="43" name="조치 카드"/>
          <p:cNvSpPr/>
          <p:nvPr/>
        </p:nvSpPr>
        <p:spPr>
          <a:xfrm>
            <a:off x="5878650" y="571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조치 번호"/>
          <p:cNvSpPr/>
          <p:nvPr/>
        </p:nvSpPr>
        <p:spPr>
          <a:xfrm>
            <a:off x="6068650" y="603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4</a:t>
            </a:r>
          </a:p>
        </p:txBody>
      </p:sp>
      <p:sp>
        <p:nvSpPr>
          <p:cNvPr id="46" name="조치 제목"/>
          <p:cNvSpPr txBox="1"/>
          <p:nvPr/>
        </p:nvSpPr>
        <p:spPr>
          <a:xfrm>
            <a:off x="6738650" y="5820000"/>
            <a:ext cx="6148700" cy="340000"/>
          </a:xfrm>
          <a:prstGeom prst="rect">
            <a:avLst/>
          </a:prstGeom>
          <a:noFill/>
        </p:spPr>
        <p:txBody>
          <a:bodyPr wrap="square" lIns="0" tIns="0" rIns="0" bIns="0" anchor="ctr">
            <a:spAutoFit/>
          </a:bodyPr>
          <a:lstStyle/>
          <a:p>
            <a:pPr algn="l"/>
            <a:r>
              <a:rPr sz="1700" b="1">
                <a:solidFill>
                  <a:schemeClr val="tx2"/>
                </a:solidFill>
              </a:rPr>
              <a:t>조치</a:t>
            </a:r>
          </a:p>
        </p:txBody>
      </p:sp>
      <p:sp>
        <p:nvSpPr>
          <p:cNvPr id="47" name="조치 설명"/>
          <p:cNvSpPr txBox="1"/>
          <p:nvPr/>
        </p:nvSpPr>
        <p:spPr>
          <a:xfrm>
            <a:off x="6738650" y="6180000"/>
            <a:ext cx="6148700" cy="530000"/>
          </a:xfrm>
          <a:prstGeom prst="rect">
            <a:avLst/>
          </a:prstGeom>
          <a:noFill/>
        </p:spPr>
        <p:txBody>
          <a:bodyPr wrap="square" lIns="0" tIns="0" rIns="0" bIns="0" anchor="t">
            <a:spAutoFit/>
          </a:bodyPr>
          <a:lstStyle/>
          <a:p>
            <a:pPr algn="l"/>
            <a:r>
              <a:rPr sz="1250" b="0">
                <a:solidFill>
                  <a:schemeClr val="tx1"/>
                </a:solidFill>
              </a:rPr>
              <a:t>개선 대상에서 제외하거나, AI 검토를 실행해 판단 근거를 확인합니다.</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FAQ AI 검토</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중복 의심 FAQ를 AI가 판정하고, 근거와 함께 권고사항을 제시합니다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26</a:t>
            </a:r>
            <a:endParaRPr sz="1300" b="0">
              <a:solidFill>
                <a:schemeClr val="accent3"/>
              </a:solidFill>
            </a:endParaRPr>
          </a:p>
        </p:txBody>
      </p:sp>
      <p:pic>
        <p:nvPicPr>
          <p:cNvPr id="24" name="그림 23"/>
          <p:cNvPicPr>
            <a:picLocks noChangeAspect="1"/>
          </p:cNvPicPr>
          <p:nvPr/>
        </p:nvPicPr>
        <p:blipFill rotWithShape="1">
          <a:blip r:embed="rId2"/>
          <a:stretch>
            <a:fillRect/>
          </a:stretch>
        </p:blipFill>
        <p:spPr>
          <a:xfrm>
            <a:off x="2103983" y="2480000"/>
            <a:ext cx="4968220" cy="3499999"/>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pic>
        <p:nvPicPr>
          <p:cNvPr id="25" name="그림 24"/>
          <p:cNvPicPr>
            <a:picLocks noChangeAspect="1"/>
          </p:cNvPicPr>
          <p:nvPr/>
        </p:nvPicPr>
        <p:blipFill rotWithShape="1">
          <a:blip r:embed="rId3"/>
          <a:stretch>
            <a:fillRect/>
          </a:stretch>
        </p:blipFill>
        <p:spPr>
          <a:xfrm>
            <a:off x="7872203" y="2480000"/>
            <a:ext cx="3739814" cy="3499999"/>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6" name="캡션 1"/>
          <p:cNvSpPr/>
          <p:nvPr/>
        </p:nvSpPr>
        <p:spPr>
          <a:xfrm>
            <a:off x="2303983" y="2000000"/>
            <a:ext cx="154523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AI 검토 결과</a:t>
            </a:r>
          </a:p>
        </p:txBody>
      </p:sp>
      <p:sp>
        <p:nvSpPr>
          <p:cNvPr id="27" name="캡션 번호 1"/>
          <p:cNvSpPr/>
          <p:nvPr/>
        </p:nvSpPr>
        <p:spPr>
          <a:xfrm>
            <a:off x="2103983" y="198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28" name="캡션 2"/>
          <p:cNvSpPr/>
          <p:nvPr/>
        </p:nvSpPr>
        <p:spPr>
          <a:xfrm>
            <a:off x="8072203" y="2000000"/>
            <a:ext cx="218531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세부사항 · 판정 근거</a:t>
            </a:r>
          </a:p>
        </p:txBody>
      </p:sp>
      <p:sp>
        <p:nvSpPr>
          <p:cNvPr id="29" name="캡션 번호 2"/>
          <p:cNvSpPr/>
          <p:nvPr/>
        </p:nvSpPr>
        <p:spPr>
          <a:xfrm>
            <a:off x="7872203" y="198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30" name="단계 화살표"/>
          <p:cNvSpPr/>
          <p:nvPr/>
        </p:nvSpPr>
        <p:spPr>
          <a:xfrm>
            <a:off x="7212203" y="4000000"/>
            <a:ext cx="520000" cy="46000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검토 결과 설명"/>
          <p:cNvSpPr txBox="1"/>
          <p:nvPr/>
        </p:nvSpPr>
        <p:spPr>
          <a:xfrm>
            <a:off x="2103983" y="6180000"/>
            <a:ext cx="4968220" cy="760000"/>
          </a:xfrm>
          <a:prstGeom prst="rect">
            <a:avLst/>
          </a:prstGeom>
          <a:noFill/>
        </p:spPr>
        <p:txBody>
          <a:bodyPr wrap="square" lIns="0" tIns="0" rIns="0" bIns="0" anchor="t">
            <a:spAutoFit/>
          </a:bodyPr>
          <a:lstStyle/>
          <a:p>
            <a:pPr marL="200000" indent="-200000" algn="l">
              <a:spcAft>
                <a:spcPts val="400"/>
              </a:spcAft>
              <a:buChar char="•"/>
            </a:pPr>
            <a:r>
              <a:rPr sz="1250" b="0">
                <a:solidFill>
                  <a:schemeClr val="tx1"/>
                </a:solidFill>
              </a:rPr>
              <a:t>대상 FAQ의 질문·답변과 의심 태그 표시</a:t>
            </a:r>
          </a:p>
          <a:p>
            <a:pPr marL="200000" indent="-200000" algn="l">
              <a:spcAft>
                <a:spcPts val="400"/>
              </a:spcAft>
              <a:buChar char="•"/>
            </a:pPr>
            <a:r>
              <a:rPr sz="1250" b="0">
                <a:solidFill>
                  <a:schemeClr val="tx1"/>
                </a:solidFill>
              </a:rPr>
              <a:t>후보 FAQ별 중복/별개 판정과 권고사항 제시</a:t>
            </a:r>
          </a:p>
          <a:p>
            <a:pPr marL="200000" indent="-200000" algn="l">
              <a:spcAft>
                <a:spcPts val="400"/>
              </a:spcAft>
              <a:buChar char="•"/>
            </a:pPr>
            <a:r>
              <a:rPr sz="1250" b="0">
                <a:solidFill>
                  <a:schemeClr val="tx1"/>
                </a:solidFill>
              </a:rPr>
              <a:t>'다시 검토'로 재실행 가능</a:t>
            </a:r>
          </a:p>
        </p:txBody>
      </p:sp>
      <p:sp>
        <p:nvSpPr>
          <p:cNvPr id="32" name="세부사항 설명"/>
          <p:cNvSpPr txBox="1"/>
          <p:nvPr/>
        </p:nvSpPr>
        <p:spPr>
          <a:xfrm>
            <a:off x="7872203" y="6180000"/>
            <a:ext cx="3739814" cy="760000"/>
          </a:xfrm>
          <a:prstGeom prst="rect">
            <a:avLst/>
          </a:prstGeom>
          <a:noFill/>
        </p:spPr>
        <p:txBody>
          <a:bodyPr wrap="square" lIns="0" tIns="0" rIns="0" bIns="0" anchor="t">
            <a:spAutoFit/>
          </a:bodyPr>
          <a:lstStyle/>
          <a:p>
            <a:pPr marL="200000" indent="-200000" algn="l">
              <a:spcAft>
                <a:spcPts val="400"/>
              </a:spcAft>
              <a:buChar char="•"/>
            </a:pPr>
            <a:r>
              <a:rPr sz="1250" b="0">
                <a:solidFill>
                  <a:schemeClr val="tx1"/>
                </a:solidFill>
              </a:rPr>
              <a:t>후보 FAQ의 질문·답변 확인</a:t>
            </a:r>
          </a:p>
          <a:p>
            <a:pPr marL="200000" indent="-200000" algn="l">
              <a:spcAft>
                <a:spcPts val="400"/>
              </a:spcAft>
              <a:buChar char="•"/>
            </a:pPr>
            <a:r>
              <a:rPr sz="1250" b="0">
                <a:solidFill>
                  <a:schemeClr val="tx1"/>
                </a:solidFill>
              </a:rPr>
              <a:t>함께 검색된 유저 질문으로 근거 확인</a:t>
            </a:r>
          </a:p>
          <a:p>
            <a:pPr marL="200000" indent="-200000" algn="l">
              <a:spcAft>
                <a:spcPts val="400"/>
              </a:spcAft>
              <a:buChar char="•"/>
            </a:pPr>
            <a:r>
              <a:rPr sz="1250" b="0">
                <a:solidFill>
                  <a:schemeClr val="tx1"/>
                </a:solidFill>
              </a:rPr>
              <a:t>판정 결과와 판단 근거 제시</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금지어 · 금지 문장 관리</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27</a:t>
            </a:r>
            <a:endParaRPr sz="1300" b="0">
              <a:solidFill>
                <a:schemeClr val="accent3"/>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미응답 질문 클러스터링</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답하지 못한 질문을 비슷한 것끼리 묶어, 관리자가 FAQ 후보를 한눈에 확인합니다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28</a:t>
            </a:r>
            <a:endParaRPr sz="1300" b="0">
              <a:solidFill>
                <a:schemeClr val="accent3"/>
              </a:solidFill>
            </a:endParaRPr>
          </a:p>
        </p:txBody>
      </p:sp>
      <p:sp>
        <p:nvSpPr>
          <p:cNvPr id="9" name="흐름 1"/>
          <p:cNvSpPr/>
          <p:nvPr/>
        </p:nvSpPr>
        <p:spPr>
          <a:xfrm>
            <a:off x="628650"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미응답 질문 수집</a:t>
            </a:r>
          </a:p>
        </p:txBody>
      </p:sp>
      <p:sp>
        <p:nvSpPr>
          <p:cNvPr id="10" name="흐름 화살표 1"/>
          <p:cNvSpPr/>
          <p:nvPr/>
        </p:nvSpPr>
        <p:spPr>
          <a:xfrm>
            <a:off x="3538433"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흐름 2"/>
          <p:cNvSpPr/>
          <p:nvPr/>
        </p:nvSpPr>
        <p:spPr>
          <a:xfrm>
            <a:off x="3848216"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유사 질문 클러스터링</a:t>
            </a:r>
          </a:p>
        </p:txBody>
      </p:sp>
      <p:sp>
        <p:nvSpPr>
          <p:cNvPr id="12" name="흐름 화살표 2"/>
          <p:cNvSpPr/>
          <p:nvPr/>
        </p:nvSpPr>
        <p:spPr>
          <a:xfrm>
            <a:off x="6757999"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흐름 3"/>
          <p:cNvSpPr/>
          <p:nvPr/>
        </p:nvSpPr>
        <p:spPr>
          <a:xfrm>
            <a:off x="7067782"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묶음 확인</a:t>
            </a:r>
          </a:p>
        </p:txBody>
      </p:sp>
      <p:sp>
        <p:nvSpPr>
          <p:cNvPr id="14" name="흐름 화살표 3"/>
          <p:cNvSpPr/>
          <p:nvPr/>
        </p:nvSpPr>
        <p:spPr>
          <a:xfrm>
            <a:off x="9977565"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흐름 4"/>
          <p:cNvSpPr/>
          <p:nvPr/>
        </p:nvSpPr>
        <p:spPr>
          <a:xfrm>
            <a:off x="10287348"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FAQ 등록 · 유사표현 생성</a:t>
            </a:r>
          </a:p>
        </p:txBody>
      </p:sp>
      <p:pic>
        <p:nvPicPr>
          <p:cNvPr id="16" name="Picture 15" descr="image.png"/>
          <p:cNvPicPr>
            <a:picLocks noChangeAspect="1"/>
          </p:cNvPicPr>
          <p:nvPr/>
        </p:nvPicPr>
        <p:blipFill>
          <a:blip r:embed="rId2"/>
          <a:stretch>
            <a:fillRect/>
          </a:stretch>
        </p:blipFill>
        <p:spPr>
          <a:xfrm>
            <a:off x="628650" y="3046183"/>
            <a:ext cx="7899999" cy="3207633"/>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대표 질문 · 주제 카드"/>
          <p:cNvSpPr/>
          <p:nvPr/>
        </p:nvSpPr>
        <p:spPr>
          <a:xfrm>
            <a:off x="8828650" y="280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대표 질문 · 주제 번호"/>
          <p:cNvSpPr/>
          <p:nvPr/>
        </p:nvSpPr>
        <p:spPr>
          <a:xfrm>
            <a:off x="8998650" y="303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1</a:t>
            </a:r>
          </a:p>
        </p:txBody>
      </p:sp>
      <p:sp>
        <p:nvSpPr>
          <p:cNvPr id="20" name="대표 질문 · 주제 제목"/>
          <p:cNvSpPr txBox="1"/>
          <p:nvPr/>
        </p:nvSpPr>
        <p:spPr>
          <a:xfrm>
            <a:off x="9568650" y="2890000"/>
            <a:ext cx="3368700" cy="300000"/>
          </a:xfrm>
          <a:prstGeom prst="rect">
            <a:avLst/>
          </a:prstGeom>
          <a:noFill/>
        </p:spPr>
        <p:txBody>
          <a:bodyPr wrap="square" lIns="0" tIns="0" rIns="0" bIns="0" anchor="ctr">
            <a:spAutoFit/>
          </a:bodyPr>
          <a:lstStyle/>
          <a:p>
            <a:pPr algn="l"/>
            <a:r>
              <a:rPr sz="1400" b="1">
                <a:solidFill>
                  <a:schemeClr val="tx2"/>
                </a:solidFill>
              </a:rPr>
              <a:t>대표 질문 · 주제</a:t>
            </a:r>
          </a:p>
        </p:txBody>
      </p:sp>
      <p:sp>
        <p:nvSpPr>
          <p:cNvPr id="21" name="대표 질문 · 주제 설명"/>
          <p:cNvSpPr txBox="1"/>
          <p:nvPr/>
        </p:nvSpPr>
        <p:spPr>
          <a:xfrm>
            <a:off x="9568650" y="3200000"/>
            <a:ext cx="3368700" cy="390000"/>
          </a:xfrm>
          <a:prstGeom prst="rect">
            <a:avLst/>
          </a:prstGeom>
          <a:noFill/>
        </p:spPr>
        <p:txBody>
          <a:bodyPr wrap="square" lIns="0" tIns="0" rIns="0" bIns="0" anchor="t">
            <a:spAutoFit/>
          </a:bodyPr>
          <a:lstStyle/>
          <a:p>
            <a:pPr algn="l"/>
            <a:r>
              <a:rPr sz="1100" b="0">
                <a:solidFill>
                  <a:schemeClr val="tx1"/>
                </a:solidFill>
              </a:rPr>
              <a:t>묶음마다 대표 질문과 주제를 표시하고, 주제는 LLM이 추천합니다.</a:t>
            </a:r>
          </a:p>
        </p:txBody>
      </p:sp>
      <p:sp>
        <p:nvSpPr>
          <p:cNvPr id="22" name="질문 수 · 마지막 발생 카드"/>
          <p:cNvSpPr/>
          <p:nvPr/>
        </p:nvSpPr>
        <p:spPr>
          <a:xfrm>
            <a:off x="8828650" y="375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질문 수 · 마지막 발생 번호"/>
          <p:cNvSpPr/>
          <p:nvPr/>
        </p:nvSpPr>
        <p:spPr>
          <a:xfrm>
            <a:off x="8998650" y="398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2</a:t>
            </a:r>
          </a:p>
        </p:txBody>
      </p:sp>
      <p:sp>
        <p:nvSpPr>
          <p:cNvPr id="25" name="질문 수 · 마지막 발생 제목"/>
          <p:cNvSpPr txBox="1"/>
          <p:nvPr/>
        </p:nvSpPr>
        <p:spPr>
          <a:xfrm>
            <a:off x="9568650" y="3840000"/>
            <a:ext cx="3368700" cy="300000"/>
          </a:xfrm>
          <a:prstGeom prst="rect">
            <a:avLst/>
          </a:prstGeom>
          <a:noFill/>
        </p:spPr>
        <p:txBody>
          <a:bodyPr wrap="square" lIns="0" tIns="0" rIns="0" bIns="0" anchor="ctr">
            <a:spAutoFit/>
          </a:bodyPr>
          <a:lstStyle/>
          <a:p>
            <a:pPr algn="l"/>
            <a:r>
              <a:rPr sz="1400" b="1">
                <a:solidFill>
                  <a:schemeClr val="tx2"/>
                </a:solidFill>
              </a:rPr>
              <a:t>질문 수 · 마지막 발생</a:t>
            </a:r>
          </a:p>
        </p:txBody>
      </p:sp>
      <p:sp>
        <p:nvSpPr>
          <p:cNvPr id="26" name="질문 수 · 마지막 발생 설명"/>
          <p:cNvSpPr txBox="1"/>
          <p:nvPr/>
        </p:nvSpPr>
        <p:spPr>
          <a:xfrm>
            <a:off x="9568650" y="4150000"/>
            <a:ext cx="3368700" cy="390000"/>
          </a:xfrm>
          <a:prstGeom prst="rect">
            <a:avLst/>
          </a:prstGeom>
          <a:noFill/>
        </p:spPr>
        <p:txBody>
          <a:bodyPr wrap="square" lIns="0" tIns="0" rIns="0" bIns="0" anchor="t">
            <a:spAutoFit/>
          </a:bodyPr>
          <a:lstStyle/>
          <a:p>
            <a:pPr algn="l"/>
            <a:r>
              <a:rPr sz="1100" b="0">
                <a:solidFill>
                  <a:schemeClr val="tx1"/>
                </a:solidFill>
              </a:rPr>
              <a:t>자주 나오는 묶음을 질문 수와 최근 발생 시각으로 파악합니다.</a:t>
            </a:r>
          </a:p>
        </p:txBody>
      </p:sp>
      <p:sp>
        <p:nvSpPr>
          <p:cNvPr id="27" name="목록 필터 카드"/>
          <p:cNvSpPr/>
          <p:nvPr/>
        </p:nvSpPr>
        <p:spPr>
          <a:xfrm>
            <a:off x="8828650" y="470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목록 필터 번호"/>
          <p:cNvSpPr/>
          <p:nvPr/>
        </p:nvSpPr>
        <p:spPr>
          <a:xfrm>
            <a:off x="8998650" y="493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3</a:t>
            </a:r>
          </a:p>
        </p:txBody>
      </p:sp>
      <p:sp>
        <p:nvSpPr>
          <p:cNvPr id="30" name="목록 필터 제목"/>
          <p:cNvSpPr txBox="1"/>
          <p:nvPr/>
        </p:nvSpPr>
        <p:spPr>
          <a:xfrm>
            <a:off x="9568650" y="4790000"/>
            <a:ext cx="3368700" cy="300000"/>
          </a:xfrm>
          <a:prstGeom prst="rect">
            <a:avLst/>
          </a:prstGeom>
          <a:noFill/>
        </p:spPr>
        <p:txBody>
          <a:bodyPr wrap="square" lIns="0" tIns="0" rIns="0" bIns="0" anchor="ctr">
            <a:spAutoFit/>
          </a:bodyPr>
          <a:lstStyle/>
          <a:p>
            <a:pPr algn="l"/>
            <a:r>
              <a:rPr sz="1400" b="1">
                <a:solidFill>
                  <a:schemeClr val="tx2"/>
                </a:solidFill>
              </a:rPr>
              <a:t>목록 필터</a:t>
            </a:r>
          </a:p>
        </p:txBody>
      </p:sp>
      <p:sp>
        <p:nvSpPr>
          <p:cNvPr id="31" name="목록 필터 설명"/>
          <p:cNvSpPr txBox="1"/>
          <p:nvPr/>
        </p:nvSpPr>
        <p:spPr>
          <a:xfrm>
            <a:off x="9568650" y="5100000"/>
            <a:ext cx="3368700" cy="390000"/>
          </a:xfrm>
          <a:prstGeom prst="rect">
            <a:avLst/>
          </a:prstGeom>
          <a:noFill/>
        </p:spPr>
        <p:txBody>
          <a:bodyPr wrap="square" lIns="0" tIns="0" rIns="0" bIns="0" anchor="t">
            <a:spAutoFit/>
          </a:bodyPr>
          <a:lstStyle/>
          <a:p>
            <a:pPr algn="l"/>
            <a:r>
              <a:rPr sz="1100" b="0">
                <a:solidFill>
                  <a:schemeClr val="tx1"/>
                </a:solidFill>
              </a:rPr>
              <a:t>상태 · 질문 수 · 정렬 · 페이지당 개수로 목록을 좁혀서 봅니다.</a:t>
            </a:r>
          </a:p>
        </p:txBody>
      </p:sp>
      <p:sp>
        <p:nvSpPr>
          <p:cNvPr id="32" name="처리 카드"/>
          <p:cNvSpPr/>
          <p:nvPr/>
        </p:nvSpPr>
        <p:spPr>
          <a:xfrm>
            <a:off x="8828650" y="565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처리 번호"/>
          <p:cNvSpPr/>
          <p:nvPr/>
        </p:nvSpPr>
        <p:spPr>
          <a:xfrm>
            <a:off x="8998650" y="588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4</a:t>
            </a:r>
          </a:p>
        </p:txBody>
      </p:sp>
      <p:sp>
        <p:nvSpPr>
          <p:cNvPr id="35" name="처리 제목"/>
          <p:cNvSpPr txBox="1"/>
          <p:nvPr/>
        </p:nvSpPr>
        <p:spPr>
          <a:xfrm>
            <a:off x="9568650" y="5740000"/>
            <a:ext cx="3368700" cy="300000"/>
          </a:xfrm>
          <a:prstGeom prst="rect">
            <a:avLst/>
          </a:prstGeom>
          <a:noFill/>
        </p:spPr>
        <p:txBody>
          <a:bodyPr wrap="square" lIns="0" tIns="0" rIns="0" bIns="0" anchor="ctr">
            <a:spAutoFit/>
          </a:bodyPr>
          <a:lstStyle/>
          <a:p>
            <a:pPr algn="l"/>
            <a:r>
              <a:rPr sz="1400" b="1">
                <a:solidFill>
                  <a:schemeClr val="tx2"/>
                </a:solidFill>
              </a:rPr>
              <a:t>처리</a:t>
            </a:r>
          </a:p>
        </p:txBody>
      </p:sp>
      <p:sp>
        <p:nvSpPr>
          <p:cNvPr id="36" name="처리 설명"/>
          <p:cNvSpPr txBox="1"/>
          <p:nvPr/>
        </p:nvSpPr>
        <p:spPr>
          <a:xfrm>
            <a:off x="9568650" y="6050000"/>
            <a:ext cx="3368700" cy="390000"/>
          </a:xfrm>
          <a:prstGeom prst="rect">
            <a:avLst/>
          </a:prstGeom>
          <a:noFill/>
        </p:spPr>
        <p:txBody>
          <a:bodyPr wrap="square" lIns="0" tIns="0" rIns="0" bIns="0" anchor="t">
            <a:spAutoFit/>
          </a:bodyPr>
          <a:lstStyle/>
          <a:p>
            <a:pPr algn="l"/>
            <a:r>
              <a:rPr sz="1100" b="0">
                <a:solidFill>
                  <a:schemeClr val="tx1"/>
                </a:solidFill>
              </a:rPr>
              <a:t>[처리] 버튼으로 묶음 상세를 열어 FAQ 등록 · 보류 · 반려를 결정합니다.</a:t>
            </a:r>
          </a:p>
        </p:txBody>
      </p:sp>
      <p:sp>
        <p:nvSpPr>
          <p:cNvPr id="37" name="화면 번호 1"/>
          <p:cNvSpPr/>
          <p:nvPr/>
        </p:nvSpPr>
        <p:spPr>
          <a:xfrm>
            <a:off x="955250"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1</a:t>
            </a:r>
          </a:p>
        </p:txBody>
      </p:sp>
      <p:sp>
        <p:nvSpPr>
          <p:cNvPr id="38" name="화면 번호 2"/>
          <p:cNvSpPr/>
          <p:nvPr/>
        </p:nvSpPr>
        <p:spPr>
          <a:xfrm>
            <a:off x="4421317"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2</a:t>
            </a:r>
          </a:p>
        </p:txBody>
      </p:sp>
      <p:sp>
        <p:nvSpPr>
          <p:cNvPr id="39" name="화면 번호 3"/>
          <p:cNvSpPr/>
          <p:nvPr/>
        </p:nvSpPr>
        <p:spPr>
          <a:xfrm>
            <a:off x="5110477" y="3600814"/>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3</a:t>
            </a:r>
          </a:p>
        </p:txBody>
      </p:sp>
      <p:sp>
        <p:nvSpPr>
          <p:cNvPr id="40" name="화면 번호 4"/>
          <p:cNvSpPr/>
          <p:nvPr/>
        </p:nvSpPr>
        <p:spPr>
          <a:xfrm>
            <a:off x="7441458"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4</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묶음 확인에서 FAQ 등록까지</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묶음을 확인하고, 답변을 작성해 FAQ로 등록하며, 유사표현은 AI로 생성합니다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29</a:t>
            </a:r>
            <a:endParaRPr sz="1300" b="0">
              <a:solidFill>
                <a:schemeClr val="accent3"/>
              </a:solidFill>
            </a:endParaRPr>
          </a:p>
        </p:txBody>
      </p:sp>
      <p:sp>
        <p:nvSpPr>
          <p:cNvPr id="9" name="흐름 1"/>
          <p:cNvSpPr/>
          <p:nvPr/>
        </p:nvSpPr>
        <p:spPr>
          <a:xfrm>
            <a:off x="628650"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미응답 질문 수집</a:t>
            </a:r>
          </a:p>
        </p:txBody>
      </p:sp>
      <p:sp>
        <p:nvSpPr>
          <p:cNvPr id="10" name="흐름 화살표 1"/>
          <p:cNvSpPr/>
          <p:nvPr/>
        </p:nvSpPr>
        <p:spPr>
          <a:xfrm>
            <a:off x="3538433"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1" name="흐름 2"/>
          <p:cNvSpPr/>
          <p:nvPr/>
        </p:nvSpPr>
        <p:spPr>
          <a:xfrm>
            <a:off x="3848216"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유사 질문 클러스터링</a:t>
            </a:r>
          </a:p>
        </p:txBody>
      </p:sp>
      <p:sp>
        <p:nvSpPr>
          <p:cNvPr id="12" name="흐름 화살표 2"/>
          <p:cNvSpPr/>
          <p:nvPr/>
        </p:nvSpPr>
        <p:spPr>
          <a:xfrm>
            <a:off x="6757999"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3" name="흐름 3"/>
          <p:cNvSpPr/>
          <p:nvPr/>
        </p:nvSpPr>
        <p:spPr>
          <a:xfrm>
            <a:off x="7067782"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묶음 확인</a:t>
            </a:r>
          </a:p>
        </p:txBody>
      </p:sp>
      <p:sp>
        <p:nvSpPr>
          <p:cNvPr id="14" name="흐름 화살표 3"/>
          <p:cNvSpPr/>
          <p:nvPr/>
        </p:nvSpPr>
        <p:spPr>
          <a:xfrm>
            <a:off x="9977565"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5" name="흐름 4"/>
          <p:cNvSpPr/>
          <p:nvPr/>
        </p:nvSpPr>
        <p:spPr>
          <a:xfrm>
            <a:off x="10287348"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FAQ 등록 · 유사표현 생성</a:t>
            </a:r>
          </a:p>
        </p:txBody>
      </p:sp>
      <p:sp>
        <p:nvSpPr>
          <p:cNvPr id="16" name="묶음 확인 틀"/>
          <p:cNvSpPr/>
          <p:nvPr/>
        </p:nvSpPr>
        <p:spPr>
          <a:xfrm>
            <a:off x="62865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7" name="FAQ 등록 틀"/>
          <p:cNvSpPr/>
          <p:nvPr/>
        </p:nvSpPr>
        <p:spPr>
          <a:xfrm>
            <a:off x="498300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8" name="유사표현 AI 생성 틀"/>
          <p:cNvSpPr/>
          <p:nvPr/>
        </p:nvSpPr>
        <p:spPr>
          <a:xfrm>
            <a:off x="933735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19" name="Picture 18" descr="image.png"/>
          <p:cNvPicPr>
            <a:picLocks noChangeAspect="1"/>
          </p:cNvPicPr>
          <p:nvPr/>
        </p:nvPicPr>
        <p:blipFill rotWithShape="1">
          <a:blip r:embed="rId2"/>
          <a:stretch>
            <a:fillRect/>
          </a:stretch>
        </p:blipFill>
        <p:spPr>
          <a:xfrm>
            <a:off x="778650" y="3117016"/>
            <a:ext cx="3450000" cy="3065967"/>
          </a:xfrm>
          <a:prstGeom prst="roundRect">
            <a:avLst>
              <a:gd name="adj" fmla="val 3000"/>
            </a:avLst>
          </a:prstGeom>
          <a:ln w="12700">
            <a:solidFill>
              <a:schemeClr val="accent2"/>
            </a:solidFill>
          </a:ln>
        </p:spPr>
      </p:pic>
      <p:sp>
        <p:nvSpPr>
          <p:cNvPr id="20" name="캡션 1"/>
          <p:cNvSpPr/>
          <p:nvPr/>
        </p:nvSpPr>
        <p:spPr>
          <a:xfrm>
            <a:off x="828650" y="2470000"/>
            <a:ext cx="130343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묶음 확인</a:t>
            </a:r>
          </a:p>
        </p:txBody>
      </p:sp>
      <p:sp>
        <p:nvSpPr>
          <p:cNvPr id="21" name="캡션 번호 1"/>
          <p:cNvSpPr/>
          <p:nvPr/>
        </p:nvSpPr>
        <p:spPr>
          <a:xfrm>
            <a:off x="62865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22" name="묶음 확인 설명"/>
          <p:cNvSpPr txBox="1"/>
          <p:nvPr/>
        </p:nvSpPr>
        <p:spPr>
          <a:xfrm>
            <a:off x="628650" y="6460000"/>
            <a:ext cx="3750000" cy="520000"/>
          </a:xfrm>
          <a:prstGeom prst="rect">
            <a:avLst/>
          </a:prstGeom>
          <a:noFill/>
        </p:spPr>
        <p:txBody>
          <a:bodyPr wrap="square" lIns="0" tIns="0" rIns="0" bIns="0" anchor="t">
            <a:spAutoFit/>
          </a:bodyPr>
          <a:lstStyle/>
          <a:p>
            <a:pPr marL="200000" lvl="0" indent="-200000" algn="l">
              <a:spcAft>
                <a:spcPts val="300"/>
              </a:spcAft>
              <a:buChar char="•"/>
              <a:defRPr/>
            </a:pPr>
            <a:r>
              <a:rPr sz="1200" b="0">
                <a:solidFill>
                  <a:schemeClr val="tx1"/>
                </a:solidFill>
              </a:rPr>
              <a:t>묶음 안의 질문과 최고 유사도 확인</a:t>
            </a:r>
          </a:p>
          <a:p>
            <a:pPr marL="200000" lvl="0" indent="-200000" algn="l">
              <a:spcAft>
                <a:spcPts val="300"/>
              </a:spcAft>
              <a:buChar char="•"/>
              <a:defRPr/>
            </a:pPr>
            <a:r>
              <a:rPr sz="1200" b="0">
                <a:solidFill>
                  <a:schemeClr val="tx1"/>
                </a:solidFill>
              </a:rPr>
              <a:t>FAQ로 등록 · 보류 · 반려 중 선택</a:t>
            </a:r>
          </a:p>
        </p:txBody>
      </p:sp>
      <p:sp>
        <p:nvSpPr>
          <p:cNvPr id="23" name="단계 화살표 1"/>
          <p:cNvSpPr/>
          <p:nvPr/>
        </p:nvSpPr>
        <p:spPr>
          <a:xfrm>
            <a:off x="4480825" y="4460000"/>
            <a:ext cx="400000" cy="380000"/>
          </a:xfrm>
          <a:prstGeom prst="rightArrow">
            <a:avLst>
              <a:gd name="adj1" fmla="val 50000"/>
              <a:gd name="adj2"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24" name="Picture 23" descr="image.png"/>
          <p:cNvPicPr>
            <a:picLocks noChangeAspect="1"/>
          </p:cNvPicPr>
          <p:nvPr/>
        </p:nvPicPr>
        <p:blipFill rotWithShape="1">
          <a:blip r:embed="rId3"/>
          <a:srcRect l="8820" r="11060"/>
          <a:stretch>
            <a:fillRect/>
          </a:stretch>
        </p:blipFill>
        <p:spPr>
          <a:xfrm>
            <a:off x="5634893" y="3100000"/>
            <a:ext cx="2446214" cy="3100000"/>
          </a:xfrm>
          <a:prstGeom prst="roundRect">
            <a:avLst>
              <a:gd name="adj" fmla="val 3000"/>
            </a:avLst>
          </a:prstGeom>
          <a:ln w="12700">
            <a:solidFill>
              <a:schemeClr val="accent2"/>
            </a:solidFill>
          </a:ln>
        </p:spPr>
      </p:pic>
      <p:sp>
        <p:nvSpPr>
          <p:cNvPr id="25" name="캡션 2"/>
          <p:cNvSpPr/>
          <p:nvPr/>
        </p:nvSpPr>
        <p:spPr>
          <a:xfrm>
            <a:off x="5183000" y="2470000"/>
            <a:ext cx="1303263"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FAQ 등록</a:t>
            </a:r>
          </a:p>
        </p:txBody>
      </p:sp>
      <p:sp>
        <p:nvSpPr>
          <p:cNvPr id="26" name="캡션 번호 2"/>
          <p:cNvSpPr/>
          <p:nvPr/>
        </p:nvSpPr>
        <p:spPr>
          <a:xfrm>
            <a:off x="498300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27" name="FAQ 등록 설명"/>
          <p:cNvSpPr txBox="1"/>
          <p:nvPr/>
        </p:nvSpPr>
        <p:spPr>
          <a:xfrm>
            <a:off x="4983000" y="6460000"/>
            <a:ext cx="3750000" cy="520000"/>
          </a:xfrm>
          <a:prstGeom prst="rect">
            <a:avLst/>
          </a:prstGeom>
          <a:noFill/>
        </p:spPr>
        <p:txBody>
          <a:bodyPr wrap="square" lIns="0" tIns="0" rIns="0" bIns="0" anchor="t">
            <a:spAutoFit/>
          </a:bodyPr>
          <a:lstStyle/>
          <a:p>
            <a:pPr marL="200000" lvl="0" indent="-200000" algn="l">
              <a:spcAft>
                <a:spcPts val="300"/>
              </a:spcAft>
              <a:buChar char="•"/>
              <a:defRPr/>
            </a:pPr>
            <a:r>
              <a:rPr sz="1200" b="0">
                <a:solidFill>
                  <a:schemeClr val="tx1"/>
                </a:solidFill>
              </a:rPr>
              <a:t>카테고리 · Intent · 질문 · 답변 입력</a:t>
            </a:r>
          </a:p>
          <a:p>
            <a:pPr marL="200000" lvl="0" indent="-200000" algn="l">
              <a:spcAft>
                <a:spcPts val="300"/>
              </a:spcAft>
              <a:buChar char="•"/>
              <a:defRPr/>
            </a:pPr>
            <a:r>
              <a:rPr sz="1200" b="0">
                <a:solidFill>
                  <a:schemeClr val="tx1"/>
                </a:solidFill>
              </a:rPr>
              <a:t>답변 캐시 허용 여부 선택</a:t>
            </a:r>
          </a:p>
        </p:txBody>
      </p:sp>
      <p:sp>
        <p:nvSpPr>
          <p:cNvPr id="28" name="단계 화살표 2"/>
          <p:cNvSpPr/>
          <p:nvPr/>
        </p:nvSpPr>
        <p:spPr>
          <a:xfrm>
            <a:off x="8835175" y="4460000"/>
            <a:ext cx="400000" cy="380000"/>
          </a:xfrm>
          <a:prstGeom prst="rightArrow">
            <a:avLst>
              <a:gd name="adj1" fmla="val 50000"/>
              <a:gd name="adj2"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29" name="Picture 28" descr="image.png"/>
          <p:cNvPicPr>
            <a:picLocks noChangeAspect="1"/>
          </p:cNvPicPr>
          <p:nvPr/>
        </p:nvPicPr>
        <p:blipFill rotWithShape="1">
          <a:blip r:embed="rId4"/>
          <a:stretch>
            <a:fillRect/>
          </a:stretch>
        </p:blipFill>
        <p:spPr>
          <a:xfrm>
            <a:off x="9487350" y="3472488"/>
            <a:ext cx="3450000" cy="2355023"/>
          </a:xfrm>
          <a:prstGeom prst="roundRect">
            <a:avLst>
              <a:gd name="adj" fmla="val 3000"/>
            </a:avLst>
          </a:prstGeom>
          <a:ln w="12700">
            <a:solidFill>
              <a:schemeClr val="accent2"/>
            </a:solidFill>
          </a:ln>
        </p:spPr>
      </p:pic>
      <p:sp>
        <p:nvSpPr>
          <p:cNvPr id="30" name="캡션 3"/>
          <p:cNvSpPr/>
          <p:nvPr/>
        </p:nvSpPr>
        <p:spPr>
          <a:xfrm>
            <a:off x="9537350" y="2470000"/>
            <a:ext cx="190083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유사표현 AI 생성</a:t>
            </a:r>
          </a:p>
        </p:txBody>
      </p:sp>
      <p:sp>
        <p:nvSpPr>
          <p:cNvPr id="31" name="캡션 번호 3"/>
          <p:cNvSpPr/>
          <p:nvPr/>
        </p:nvSpPr>
        <p:spPr>
          <a:xfrm>
            <a:off x="933735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3</a:t>
            </a:r>
          </a:p>
        </p:txBody>
      </p:sp>
      <p:sp>
        <p:nvSpPr>
          <p:cNvPr id="32" name="유사표현 AI 생성 설명"/>
          <p:cNvSpPr txBox="1"/>
          <p:nvPr/>
        </p:nvSpPr>
        <p:spPr>
          <a:xfrm>
            <a:off x="9337350" y="6460000"/>
            <a:ext cx="3750000" cy="588500"/>
          </a:xfrm>
          <a:prstGeom prst="rect">
            <a:avLst/>
          </a:prstGeom>
          <a:noFill/>
        </p:spPr>
        <p:txBody>
          <a:bodyPr wrap="square" lIns="0" tIns="0" rIns="0" bIns="0" anchor="t">
            <a:spAutoFit/>
          </a:bodyPr>
          <a:lstStyle/>
          <a:p>
            <a:pPr marL="200000" lvl="0" indent="-200000" algn="l">
              <a:spcAft>
                <a:spcPts val="300"/>
              </a:spcAft>
              <a:buChar char="•"/>
              <a:defRPr/>
            </a:pPr>
            <a:r>
              <a:rPr lang="ko-KR" altLang="en-US" sz="1200" b="0">
                <a:solidFill>
                  <a:schemeClr val="tx1"/>
                </a:solidFill>
              </a:rPr>
              <a:t>유사표현 생성 버튼으로 </a:t>
            </a:r>
            <a:r>
              <a:rPr lang="en-US" altLang="ko-KR" sz="1200" b="0">
                <a:solidFill>
                  <a:schemeClr val="tx1"/>
                </a:solidFill>
              </a:rPr>
              <a:t>AI</a:t>
            </a:r>
            <a:r>
              <a:rPr lang="ko-KR" altLang="en-US" sz="1200" b="0">
                <a:solidFill>
                  <a:schemeClr val="tx1"/>
                </a:solidFill>
              </a:rPr>
              <a:t>가 동의어를 사용해 유사표현들을 생성</a:t>
            </a:r>
          </a:p>
          <a:p>
            <a:pPr marL="200000" lvl="0" indent="-200000" algn="l">
              <a:spcAft>
                <a:spcPts val="300"/>
              </a:spcAft>
              <a:buChar char="•"/>
              <a:defRPr/>
            </a:pPr>
            <a:r>
              <a:rPr sz="1200" b="0">
                <a:solidFill>
                  <a:schemeClr val="tx1"/>
                </a:solidFill>
              </a:rPr>
              <a:t>표현은 삭제하거나 직접 추가 (최대 10개)</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통신 지도</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지역별로 짧은 시간에 급증한 유사 질문을 자동으로 찾아 알려줍니다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30</a:t>
            </a:r>
            <a:endParaRPr sz="1300" b="0">
              <a:solidFill>
                <a:schemeClr val="accent3"/>
              </a:solidFill>
            </a:endParaRPr>
          </a:p>
        </p:txBody>
      </p:sp>
      <p:pic>
        <p:nvPicPr>
          <p:cNvPr id="16" name="Picture 15" descr="image.png"/>
          <p:cNvPicPr>
            <a:picLocks noChangeAspect="1"/>
          </p:cNvPicPr>
          <p:nvPr/>
        </p:nvPicPr>
        <p:blipFill rotWithShape="1">
          <a:blip r:embed="rId2"/>
          <a:stretch>
            <a:fillRect/>
          </a:stretch>
        </p:blipFill>
        <p:spPr>
          <a:xfrm>
            <a:off x="628650" y="2700000"/>
            <a:ext cx="12458700" cy="2242088"/>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화면 번호 1"/>
          <p:cNvSpPr/>
          <p:nvPr/>
        </p:nvSpPr>
        <p:spPr>
          <a:xfrm>
            <a:off x="1094703"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1</a:t>
            </a:r>
          </a:p>
        </p:txBody>
      </p:sp>
      <p:sp>
        <p:nvSpPr>
          <p:cNvPr id="18" name="화면 번호 2"/>
          <p:cNvSpPr/>
          <p:nvPr/>
        </p:nvSpPr>
        <p:spPr>
          <a:xfrm>
            <a:off x="3082371"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2</a:t>
            </a:r>
          </a:p>
        </p:txBody>
      </p:sp>
      <p:sp>
        <p:nvSpPr>
          <p:cNvPr id="19" name="화면 번호 3"/>
          <p:cNvSpPr/>
          <p:nvPr/>
        </p:nvSpPr>
        <p:spPr>
          <a:xfrm>
            <a:off x="5666338"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3</a:t>
            </a:r>
          </a:p>
        </p:txBody>
      </p:sp>
      <p:sp>
        <p:nvSpPr>
          <p:cNvPr id="20" name="화면 번호 4"/>
          <p:cNvSpPr/>
          <p:nvPr/>
        </p:nvSpPr>
        <p:spPr>
          <a:xfrm>
            <a:off x="10357234"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4</a:t>
            </a:r>
          </a:p>
        </p:txBody>
      </p:sp>
      <p:sp>
        <p:nvSpPr>
          <p:cNvPr id="21" name="지역별 감지 카드"/>
          <p:cNvSpPr/>
          <p:nvPr/>
        </p:nvSpPr>
        <p:spPr>
          <a:xfrm>
            <a:off x="628650"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2" name="지역별 감지 번호"/>
          <p:cNvSpPr/>
          <p:nvPr/>
        </p:nvSpPr>
        <p:spPr>
          <a:xfrm>
            <a:off x="818650"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1</a:t>
            </a:r>
          </a:p>
        </p:txBody>
      </p:sp>
      <p:sp>
        <p:nvSpPr>
          <p:cNvPr id="23" name="지역별 감지 제목"/>
          <p:cNvSpPr txBox="1"/>
          <p:nvPr/>
        </p:nvSpPr>
        <p:spPr>
          <a:xfrm>
            <a:off x="1328650" y="5350000"/>
            <a:ext cx="2039675" cy="360000"/>
          </a:xfrm>
          <a:prstGeom prst="rect">
            <a:avLst/>
          </a:prstGeom>
          <a:noFill/>
        </p:spPr>
        <p:txBody>
          <a:bodyPr wrap="square" lIns="0" tIns="0" rIns="0" bIns="0" anchor="ctr">
            <a:spAutoFit/>
          </a:bodyPr>
          <a:lstStyle/>
          <a:p>
            <a:pPr lvl="0" algn="l">
              <a:defRPr/>
            </a:pPr>
            <a:r>
              <a:rPr sz="1500" b="1">
                <a:solidFill>
                  <a:schemeClr val="tx2"/>
                </a:solidFill>
              </a:rPr>
              <a:t>지역별 감지</a:t>
            </a:r>
          </a:p>
        </p:txBody>
      </p:sp>
      <p:sp>
        <p:nvSpPr>
          <p:cNvPr id="24" name="지역별 감지 설명"/>
          <p:cNvSpPr txBox="1"/>
          <p:nvPr/>
        </p:nvSpPr>
        <p:spPr>
          <a:xfrm>
            <a:off x="818650" y="5880000"/>
            <a:ext cx="2509675" cy="820000"/>
          </a:xfrm>
          <a:prstGeom prst="rect">
            <a:avLst/>
          </a:prstGeom>
          <a:noFill/>
        </p:spPr>
        <p:txBody>
          <a:bodyPr wrap="square" lIns="0" tIns="0" rIns="0" bIns="0" anchor="t">
            <a:spAutoFit/>
          </a:bodyPr>
          <a:lstStyle/>
          <a:p>
            <a:pPr lvl="0" algn="l">
              <a:defRPr/>
            </a:pPr>
            <a:r>
              <a:rPr sz="1200" b="0">
                <a:solidFill>
                  <a:schemeClr val="tx1"/>
                </a:solidFill>
              </a:rPr>
              <a:t>같은 지역에서 들어온 질문만 모아 비교합니다. 지역은 접속 IP로 판별합니다.</a:t>
            </a:r>
          </a:p>
        </p:txBody>
      </p:sp>
      <p:sp>
        <p:nvSpPr>
          <p:cNvPr id="25" name="급증 주제 자동 생성 카드"/>
          <p:cNvSpPr/>
          <p:nvPr/>
        </p:nvSpPr>
        <p:spPr>
          <a:xfrm>
            <a:off x="3818325"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6" name="급증 주제 자동 생성 번호"/>
          <p:cNvSpPr/>
          <p:nvPr/>
        </p:nvSpPr>
        <p:spPr>
          <a:xfrm>
            <a:off x="4008325"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2</a:t>
            </a:r>
          </a:p>
        </p:txBody>
      </p:sp>
      <p:sp>
        <p:nvSpPr>
          <p:cNvPr id="27" name="급증 주제 자동 생성 제목"/>
          <p:cNvSpPr txBox="1"/>
          <p:nvPr/>
        </p:nvSpPr>
        <p:spPr>
          <a:xfrm>
            <a:off x="4518325" y="5350000"/>
            <a:ext cx="2039675" cy="360000"/>
          </a:xfrm>
          <a:prstGeom prst="rect">
            <a:avLst/>
          </a:prstGeom>
          <a:noFill/>
        </p:spPr>
        <p:txBody>
          <a:bodyPr wrap="square" lIns="0" tIns="0" rIns="0" bIns="0" anchor="ctr">
            <a:spAutoFit/>
          </a:bodyPr>
          <a:lstStyle/>
          <a:p>
            <a:pPr lvl="0" algn="l">
              <a:defRPr/>
            </a:pPr>
            <a:r>
              <a:rPr sz="1500" b="1">
                <a:solidFill>
                  <a:schemeClr val="tx2"/>
                </a:solidFill>
              </a:rPr>
              <a:t>급증 주제 자동 생성</a:t>
            </a:r>
          </a:p>
        </p:txBody>
      </p:sp>
      <p:sp>
        <p:nvSpPr>
          <p:cNvPr id="28" name="급증 주제 자동 생성 설명"/>
          <p:cNvSpPr txBox="1"/>
          <p:nvPr/>
        </p:nvSpPr>
        <p:spPr>
          <a:xfrm>
            <a:off x="4008325" y="5880000"/>
            <a:ext cx="2509675" cy="820000"/>
          </a:xfrm>
          <a:prstGeom prst="rect">
            <a:avLst/>
          </a:prstGeom>
          <a:noFill/>
        </p:spPr>
        <p:txBody>
          <a:bodyPr wrap="square" lIns="0" tIns="0" rIns="0" bIns="0" anchor="t">
            <a:spAutoFit/>
          </a:bodyPr>
          <a:lstStyle/>
          <a:p>
            <a:pPr lvl="0" algn="l">
              <a:defRPr/>
            </a:pPr>
            <a:r>
              <a:rPr sz="1200" b="0">
                <a:solidFill>
                  <a:schemeClr val="tx1"/>
                </a:solidFill>
              </a:rPr>
              <a:t>묶음의 질문들을 LLM이 요약해 주제를 만들고, 관리자에게 알림을 보냅니다.</a:t>
            </a:r>
          </a:p>
        </p:txBody>
      </p:sp>
      <p:sp>
        <p:nvSpPr>
          <p:cNvPr id="29" name="유사 질문 묶음 카드"/>
          <p:cNvSpPr/>
          <p:nvPr/>
        </p:nvSpPr>
        <p:spPr>
          <a:xfrm>
            <a:off x="7008000"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0" name="유사 질문 묶음 번호"/>
          <p:cNvSpPr/>
          <p:nvPr/>
        </p:nvSpPr>
        <p:spPr>
          <a:xfrm>
            <a:off x="7198000"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3</a:t>
            </a:r>
          </a:p>
        </p:txBody>
      </p:sp>
      <p:sp>
        <p:nvSpPr>
          <p:cNvPr id="31" name="유사 질문 묶음 제목"/>
          <p:cNvSpPr txBox="1"/>
          <p:nvPr/>
        </p:nvSpPr>
        <p:spPr>
          <a:xfrm>
            <a:off x="7708000" y="5350000"/>
            <a:ext cx="2039675" cy="360000"/>
          </a:xfrm>
          <a:prstGeom prst="rect">
            <a:avLst/>
          </a:prstGeom>
          <a:noFill/>
        </p:spPr>
        <p:txBody>
          <a:bodyPr wrap="square" lIns="0" tIns="0" rIns="0" bIns="0" anchor="ctr">
            <a:spAutoFit/>
          </a:bodyPr>
          <a:lstStyle/>
          <a:p>
            <a:pPr lvl="0" algn="l">
              <a:defRPr/>
            </a:pPr>
            <a:r>
              <a:rPr sz="1500" b="1">
                <a:solidFill>
                  <a:schemeClr val="tx2"/>
                </a:solidFill>
              </a:rPr>
              <a:t>유사 질문 묶음</a:t>
            </a:r>
          </a:p>
        </p:txBody>
      </p:sp>
      <p:sp>
        <p:nvSpPr>
          <p:cNvPr id="32" name="유사 질문 묶음 설명"/>
          <p:cNvSpPr txBox="1"/>
          <p:nvPr/>
        </p:nvSpPr>
        <p:spPr>
          <a:xfrm>
            <a:off x="7198000" y="5880000"/>
            <a:ext cx="2509675" cy="820000"/>
          </a:xfrm>
          <a:prstGeom prst="rect">
            <a:avLst/>
          </a:prstGeom>
          <a:noFill/>
        </p:spPr>
        <p:txBody>
          <a:bodyPr wrap="square" lIns="0" tIns="0" rIns="0" bIns="0" anchor="t">
            <a:spAutoFit/>
          </a:bodyPr>
          <a:lstStyle/>
          <a:p>
            <a:pPr lvl="0" algn="l">
              <a:defRPr/>
            </a:pPr>
            <a:r>
              <a:rPr sz="1200" b="0">
                <a:solidFill>
                  <a:schemeClr val="tx1"/>
                </a:solidFill>
              </a:rPr>
              <a:t>비슷한 질문을 한 묶음으로 보고, 일정 시간 안에 정해진 건수를 넘으면 급증으로 판단합니다.</a:t>
            </a:r>
          </a:p>
        </p:txBody>
      </p:sp>
      <p:sp>
        <p:nvSpPr>
          <p:cNvPr id="33" name="처리 상태 관리 카드"/>
          <p:cNvSpPr/>
          <p:nvPr/>
        </p:nvSpPr>
        <p:spPr>
          <a:xfrm>
            <a:off x="10197675"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4" name="처리 상태 관리 번호"/>
          <p:cNvSpPr/>
          <p:nvPr/>
        </p:nvSpPr>
        <p:spPr>
          <a:xfrm>
            <a:off x="10387675"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4</a:t>
            </a:r>
          </a:p>
        </p:txBody>
      </p:sp>
      <p:sp>
        <p:nvSpPr>
          <p:cNvPr id="35" name="처리 상태 관리 제목"/>
          <p:cNvSpPr txBox="1"/>
          <p:nvPr/>
        </p:nvSpPr>
        <p:spPr>
          <a:xfrm>
            <a:off x="10897675" y="5350000"/>
            <a:ext cx="2039675" cy="360000"/>
          </a:xfrm>
          <a:prstGeom prst="rect">
            <a:avLst/>
          </a:prstGeom>
          <a:noFill/>
        </p:spPr>
        <p:txBody>
          <a:bodyPr wrap="square" lIns="0" tIns="0" rIns="0" bIns="0" anchor="ctr">
            <a:spAutoFit/>
          </a:bodyPr>
          <a:lstStyle/>
          <a:p>
            <a:pPr lvl="0" algn="l">
              <a:defRPr/>
            </a:pPr>
            <a:r>
              <a:rPr sz="1500" b="1">
                <a:solidFill>
                  <a:schemeClr val="tx2"/>
                </a:solidFill>
              </a:rPr>
              <a:t>처리 상태 관리</a:t>
            </a:r>
          </a:p>
        </p:txBody>
      </p:sp>
      <p:sp>
        <p:nvSpPr>
          <p:cNvPr id="36" name="처리 상태 관리 설명"/>
          <p:cNvSpPr txBox="1"/>
          <p:nvPr/>
        </p:nvSpPr>
        <p:spPr>
          <a:xfrm>
            <a:off x="10387675" y="5880000"/>
            <a:ext cx="2509675" cy="820000"/>
          </a:xfrm>
          <a:prstGeom prst="rect">
            <a:avLst/>
          </a:prstGeom>
          <a:noFill/>
        </p:spPr>
        <p:txBody>
          <a:bodyPr wrap="square" lIns="0" tIns="0" rIns="0" bIns="0" anchor="t">
            <a:spAutoFit/>
          </a:bodyPr>
          <a:lstStyle/>
          <a:p>
            <a:pPr lvl="0" algn="l">
              <a:defRPr/>
            </a:pPr>
            <a:r>
              <a:rPr sz="1200" b="0">
                <a:solidFill>
                  <a:schemeClr val="tx1"/>
                </a:solidFill>
              </a:rPr>
              <a:t>미처리 · 처리 완료로 관리하고, 상태와 지역으로 목록을 걸러 봅니다.</a:t>
            </a:r>
          </a:p>
        </p:txBody>
      </p:sp>
      <p:sp>
        <p:nvSpPr>
          <p:cNvPr id="37" name="흐름 1"/>
          <p:cNvSpPr/>
          <p:nvPr/>
        </p:nvSpPr>
        <p:spPr>
          <a:xfrm>
            <a:off x="62865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급증 감지</a:t>
            </a:r>
          </a:p>
        </p:txBody>
      </p:sp>
      <p:sp>
        <p:nvSpPr>
          <p:cNvPr id="38" name="흐름 화살표 1"/>
          <p:cNvSpPr/>
          <p:nvPr/>
        </p:nvSpPr>
        <p:spPr>
          <a:xfrm>
            <a:off x="453332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흐름 2"/>
          <p:cNvSpPr/>
          <p:nvPr/>
        </p:nvSpPr>
        <p:spPr>
          <a:xfrm>
            <a:off x="505800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항목 확인</a:t>
            </a:r>
          </a:p>
        </p:txBody>
      </p:sp>
      <p:sp>
        <p:nvSpPr>
          <p:cNvPr id="40" name="흐름 화살표 2"/>
          <p:cNvSpPr/>
          <p:nvPr/>
        </p:nvSpPr>
        <p:spPr>
          <a:xfrm>
            <a:off x="896267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흐름 3"/>
          <p:cNvSpPr/>
          <p:nvPr/>
        </p:nvSpPr>
        <p:spPr>
          <a:xfrm>
            <a:off x="94873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공지 · 장애 등록</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급증 내용 확인</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목록에서 묶음을 열어 실제 질문과 발생 시각을 확인하고, 처리를 마칩니다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31</a:t>
            </a:r>
            <a:endParaRPr sz="1300" b="0">
              <a:solidFill>
                <a:schemeClr val="accent3"/>
              </a:solidFill>
            </a:endParaRPr>
          </a:p>
        </p:txBody>
      </p:sp>
      <p:pic>
        <p:nvPicPr>
          <p:cNvPr id="16" name="Picture 15" descr="image.png"/>
          <p:cNvPicPr>
            <a:picLocks noChangeAspect="1"/>
          </p:cNvPicPr>
          <p:nvPr/>
        </p:nvPicPr>
        <p:blipFill rotWithShape="1">
          <a:blip r:embed="rId2"/>
          <a:stretch>
            <a:fillRect/>
          </a:stretch>
        </p:blipFill>
        <p:spPr>
          <a:xfrm>
            <a:off x="937172" y="2750000"/>
            <a:ext cx="3682956" cy="3900000"/>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화면 번호 1"/>
          <p:cNvSpPr/>
          <p:nvPr/>
        </p:nvSpPr>
        <p:spPr>
          <a:xfrm>
            <a:off x="726477" y="2932695"/>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1</a:t>
            </a:r>
          </a:p>
        </p:txBody>
      </p:sp>
      <p:sp>
        <p:nvSpPr>
          <p:cNvPr id="18" name="화면 번호 2"/>
          <p:cNvSpPr/>
          <p:nvPr/>
        </p:nvSpPr>
        <p:spPr>
          <a:xfrm>
            <a:off x="726477" y="3597391"/>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2</a:t>
            </a:r>
          </a:p>
        </p:txBody>
      </p:sp>
      <p:sp>
        <p:nvSpPr>
          <p:cNvPr id="19" name="화면 번호 3"/>
          <p:cNvSpPr/>
          <p:nvPr/>
        </p:nvSpPr>
        <p:spPr>
          <a:xfrm>
            <a:off x="726477" y="492000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3</a:t>
            </a:r>
          </a:p>
        </p:txBody>
      </p:sp>
      <p:sp>
        <p:nvSpPr>
          <p:cNvPr id="20" name="화면 번호 4"/>
          <p:cNvSpPr/>
          <p:nvPr/>
        </p:nvSpPr>
        <p:spPr>
          <a:xfrm>
            <a:off x="4497606" y="6181565"/>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4</a:t>
            </a:r>
          </a:p>
        </p:txBody>
      </p:sp>
      <p:sp>
        <p:nvSpPr>
          <p:cNvPr id="21" name="급증 요약 카드"/>
          <p:cNvSpPr/>
          <p:nvPr/>
        </p:nvSpPr>
        <p:spPr>
          <a:xfrm>
            <a:off x="5228650" y="2700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3" name="급증 요약 번호"/>
          <p:cNvSpPr/>
          <p:nvPr/>
        </p:nvSpPr>
        <p:spPr>
          <a:xfrm>
            <a:off x="5398650" y="2972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1</a:t>
            </a:r>
          </a:p>
        </p:txBody>
      </p:sp>
      <p:sp>
        <p:nvSpPr>
          <p:cNvPr id="24" name="급증 요약 제목"/>
          <p:cNvSpPr txBox="1"/>
          <p:nvPr/>
        </p:nvSpPr>
        <p:spPr>
          <a:xfrm>
            <a:off x="5968650" y="2819400"/>
            <a:ext cx="6968700" cy="209550"/>
          </a:xfrm>
          <a:prstGeom prst="rect">
            <a:avLst/>
          </a:prstGeom>
          <a:noFill/>
        </p:spPr>
        <p:txBody>
          <a:bodyPr wrap="square" lIns="0" tIns="0" rIns="0" bIns="0" anchor="ctr">
            <a:spAutoFit/>
          </a:bodyPr>
          <a:lstStyle/>
          <a:p>
            <a:pPr lvl="0" algn="l">
              <a:defRPr/>
            </a:pPr>
            <a:r>
              <a:rPr lang="ko-KR" altLang="en-US" sz="1400" b="1">
                <a:solidFill>
                  <a:schemeClr val="tx2"/>
                </a:solidFill>
              </a:rPr>
              <a:t>급증 클러스터 이름</a:t>
            </a:r>
          </a:p>
        </p:txBody>
      </p:sp>
      <p:sp>
        <p:nvSpPr>
          <p:cNvPr id="25" name="급증 요약 설명"/>
          <p:cNvSpPr txBox="1"/>
          <p:nvPr/>
        </p:nvSpPr>
        <p:spPr>
          <a:xfrm>
            <a:off x="5968650" y="3090000"/>
            <a:ext cx="6968700" cy="177075"/>
          </a:xfrm>
          <a:prstGeom prst="rect">
            <a:avLst/>
          </a:prstGeom>
          <a:noFill/>
        </p:spPr>
        <p:txBody>
          <a:bodyPr wrap="square" lIns="0" tIns="0" rIns="0" bIns="0" anchor="t">
            <a:spAutoFit/>
          </a:bodyPr>
          <a:lstStyle/>
          <a:p>
            <a:pPr lvl="0" algn="l">
              <a:defRPr/>
            </a:pPr>
            <a:r>
              <a:rPr lang="ko-KR" altLang="en-US" sz="1200" b="0">
                <a:solidFill>
                  <a:schemeClr val="tx1"/>
                </a:solidFill>
              </a:rPr>
              <a:t>클러스터 내의 질문들을 확인해</a:t>
            </a:r>
            <a:r>
              <a:rPr lang="en-US" altLang="ko-KR" sz="1200" b="0">
                <a:solidFill>
                  <a:schemeClr val="tx1"/>
                </a:solidFill>
              </a:rPr>
              <a:t>,</a:t>
            </a:r>
            <a:r>
              <a:rPr lang="ko-KR" altLang="en-US" sz="1200" b="0">
                <a:solidFill>
                  <a:schemeClr val="tx1"/>
                </a:solidFill>
              </a:rPr>
              <a:t> </a:t>
            </a:r>
            <a:r>
              <a:rPr lang="en-US" altLang="ko-KR" sz="1200" b="0">
                <a:solidFill>
                  <a:schemeClr val="tx1"/>
                </a:solidFill>
              </a:rPr>
              <a:t>LLM</a:t>
            </a:r>
            <a:r>
              <a:rPr lang="ko-KR" altLang="en-US" sz="1200" b="0">
                <a:solidFill>
                  <a:schemeClr val="tx1"/>
                </a:solidFill>
              </a:rPr>
              <a:t>이 클러스터 이름을 자동으로 명명합니다</a:t>
            </a:r>
            <a:r>
              <a:rPr lang="en-US" altLang="ko-KR" sz="1200" b="0">
                <a:solidFill>
                  <a:schemeClr val="tx1"/>
                </a:solidFill>
              </a:rPr>
              <a:t>.</a:t>
            </a:r>
          </a:p>
        </p:txBody>
      </p:sp>
      <p:sp>
        <p:nvSpPr>
          <p:cNvPr id="26" name="급증 질문 목록 카드"/>
          <p:cNvSpPr/>
          <p:nvPr/>
        </p:nvSpPr>
        <p:spPr>
          <a:xfrm>
            <a:off x="5228650" y="3725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8" name="급증 질문 목록 번호"/>
          <p:cNvSpPr/>
          <p:nvPr/>
        </p:nvSpPr>
        <p:spPr>
          <a:xfrm>
            <a:off x="5398650" y="3997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2</a:t>
            </a:r>
          </a:p>
        </p:txBody>
      </p:sp>
      <p:sp>
        <p:nvSpPr>
          <p:cNvPr id="29" name="급증 질문 목록 제목"/>
          <p:cNvSpPr txBox="1"/>
          <p:nvPr/>
        </p:nvSpPr>
        <p:spPr>
          <a:xfrm>
            <a:off x="5968650" y="3848100"/>
            <a:ext cx="6968700" cy="209550"/>
          </a:xfrm>
          <a:prstGeom prst="rect">
            <a:avLst/>
          </a:prstGeom>
          <a:noFill/>
        </p:spPr>
        <p:txBody>
          <a:bodyPr wrap="square" lIns="0" tIns="0" rIns="0" bIns="0" anchor="ctr">
            <a:spAutoFit/>
          </a:bodyPr>
          <a:lstStyle/>
          <a:p>
            <a:pPr lvl="0" algn="l">
              <a:defRPr/>
            </a:pPr>
            <a:r>
              <a:rPr sz="1400" b="1">
                <a:solidFill>
                  <a:schemeClr val="tx2"/>
                </a:solidFill>
              </a:rPr>
              <a:t>급증 요약</a:t>
            </a:r>
          </a:p>
        </p:txBody>
      </p:sp>
      <p:sp>
        <p:nvSpPr>
          <p:cNvPr id="30" name="급증 질문 목록 설명"/>
          <p:cNvSpPr txBox="1"/>
          <p:nvPr/>
        </p:nvSpPr>
        <p:spPr>
          <a:xfrm>
            <a:off x="5968650" y="4115000"/>
            <a:ext cx="6968700" cy="180775"/>
          </a:xfrm>
          <a:prstGeom prst="rect">
            <a:avLst/>
          </a:prstGeom>
          <a:noFill/>
        </p:spPr>
        <p:txBody>
          <a:bodyPr wrap="square" lIns="0" tIns="0" rIns="0" bIns="0" anchor="t">
            <a:spAutoFit/>
          </a:bodyPr>
          <a:lstStyle/>
          <a:p>
            <a:pPr lvl="0" algn="l">
              <a:defRPr/>
            </a:pPr>
            <a:r>
              <a:rPr sz="1200" b="0">
                <a:solidFill>
                  <a:schemeClr val="tx1"/>
                </a:solidFill>
              </a:rPr>
              <a:t>지역 · 처리 상태 · 발생 수 · 발생 일시를 한눈에 확인합니다.</a:t>
            </a:r>
          </a:p>
        </p:txBody>
      </p:sp>
      <p:sp>
        <p:nvSpPr>
          <p:cNvPr id="31" name="원인 판단 카드"/>
          <p:cNvSpPr/>
          <p:nvPr/>
        </p:nvSpPr>
        <p:spPr>
          <a:xfrm>
            <a:off x="5228650" y="4750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3" name="원인 판단 번호"/>
          <p:cNvSpPr/>
          <p:nvPr/>
        </p:nvSpPr>
        <p:spPr>
          <a:xfrm>
            <a:off x="5398650" y="5022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3</a:t>
            </a:r>
          </a:p>
        </p:txBody>
      </p:sp>
      <p:sp>
        <p:nvSpPr>
          <p:cNvPr id="34" name="원인 판단 제목"/>
          <p:cNvSpPr txBox="1"/>
          <p:nvPr/>
        </p:nvSpPr>
        <p:spPr>
          <a:xfrm>
            <a:off x="5968650" y="4876800"/>
            <a:ext cx="6968700" cy="209550"/>
          </a:xfrm>
          <a:prstGeom prst="rect">
            <a:avLst/>
          </a:prstGeom>
          <a:noFill/>
        </p:spPr>
        <p:txBody>
          <a:bodyPr wrap="square" lIns="0" tIns="0" rIns="0" bIns="0" anchor="ctr">
            <a:spAutoFit/>
          </a:bodyPr>
          <a:lstStyle/>
          <a:p>
            <a:pPr lvl="0" algn="l">
              <a:defRPr/>
            </a:pPr>
            <a:r>
              <a:rPr sz="1400" b="1">
                <a:solidFill>
                  <a:schemeClr val="tx2"/>
                </a:solidFill>
              </a:rPr>
              <a:t>급증 질문 목록</a:t>
            </a:r>
          </a:p>
        </p:txBody>
      </p:sp>
      <p:sp>
        <p:nvSpPr>
          <p:cNvPr id="35" name="원인 판단 설명"/>
          <p:cNvSpPr txBox="1"/>
          <p:nvPr/>
        </p:nvSpPr>
        <p:spPr>
          <a:xfrm>
            <a:off x="5968650" y="5140000"/>
            <a:ext cx="6968700" cy="174950"/>
          </a:xfrm>
          <a:prstGeom prst="rect">
            <a:avLst/>
          </a:prstGeom>
          <a:noFill/>
        </p:spPr>
        <p:txBody>
          <a:bodyPr wrap="square" lIns="0" tIns="0" rIns="0" bIns="0" anchor="t">
            <a:spAutoFit/>
          </a:bodyPr>
          <a:lstStyle/>
          <a:p>
            <a:pPr lvl="0" algn="l">
              <a:defRPr/>
            </a:pPr>
            <a:r>
              <a:rPr sz="1200" b="0">
                <a:solidFill>
                  <a:schemeClr val="tx1"/>
                </a:solidFill>
              </a:rPr>
              <a:t>묶음에 들어온 실제 질문과 시각이 나열되어, 어떤 문제인지 바로 알 수 있습니다.</a:t>
            </a:r>
          </a:p>
        </p:txBody>
      </p:sp>
      <p:sp>
        <p:nvSpPr>
          <p:cNvPr id="36" name="처리 완료 카드"/>
          <p:cNvSpPr/>
          <p:nvPr/>
        </p:nvSpPr>
        <p:spPr>
          <a:xfrm>
            <a:off x="5228650" y="5775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8" name="처리 완료 번호"/>
          <p:cNvSpPr/>
          <p:nvPr/>
        </p:nvSpPr>
        <p:spPr>
          <a:xfrm>
            <a:off x="5398650" y="6047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4</a:t>
            </a:r>
          </a:p>
        </p:txBody>
      </p:sp>
      <p:sp>
        <p:nvSpPr>
          <p:cNvPr id="39" name="처리 완료 제목"/>
          <p:cNvSpPr txBox="1"/>
          <p:nvPr/>
        </p:nvSpPr>
        <p:spPr>
          <a:xfrm>
            <a:off x="5968650" y="5855000"/>
            <a:ext cx="6968700" cy="300000"/>
          </a:xfrm>
          <a:prstGeom prst="rect">
            <a:avLst/>
          </a:prstGeom>
          <a:noFill/>
        </p:spPr>
        <p:txBody>
          <a:bodyPr wrap="square" lIns="0" tIns="0" rIns="0" bIns="0" anchor="ctr">
            <a:spAutoFit/>
          </a:bodyPr>
          <a:lstStyle/>
          <a:p>
            <a:pPr lvl="0" algn="l">
              <a:defRPr/>
            </a:pPr>
            <a:r>
              <a:rPr sz="1400" b="1">
                <a:solidFill>
                  <a:schemeClr val="tx2"/>
                </a:solidFill>
              </a:rPr>
              <a:t>처리 완료</a:t>
            </a:r>
          </a:p>
        </p:txBody>
      </p:sp>
      <p:sp>
        <p:nvSpPr>
          <p:cNvPr id="40" name="처리 완료 설명"/>
          <p:cNvSpPr txBox="1"/>
          <p:nvPr/>
        </p:nvSpPr>
        <p:spPr>
          <a:xfrm>
            <a:off x="5968650" y="6165000"/>
            <a:ext cx="6968700" cy="485000"/>
          </a:xfrm>
          <a:prstGeom prst="rect">
            <a:avLst/>
          </a:prstGeom>
          <a:noFill/>
        </p:spPr>
        <p:txBody>
          <a:bodyPr wrap="square" lIns="0" tIns="0" rIns="0" bIns="0" anchor="t">
            <a:spAutoFit/>
          </a:bodyPr>
          <a:lstStyle/>
          <a:p>
            <a:pPr lvl="0" algn="l">
              <a:defRPr/>
            </a:pPr>
            <a:r>
              <a:rPr sz="1200" b="0">
                <a:solidFill>
                  <a:schemeClr val="tx1"/>
                </a:solidFill>
              </a:rPr>
              <a:t>확인을 마치면 [처리 완료]로 상태를 바꾸고, 필요하면 이어서 공지 · 장애를 등록합니다.</a:t>
            </a:r>
          </a:p>
        </p:txBody>
      </p:sp>
      <p:sp>
        <p:nvSpPr>
          <p:cNvPr id="41" name="흐름 1"/>
          <p:cNvSpPr/>
          <p:nvPr/>
        </p:nvSpPr>
        <p:spPr>
          <a:xfrm>
            <a:off x="6286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급증 감지</a:t>
            </a:r>
          </a:p>
        </p:txBody>
      </p:sp>
      <p:sp>
        <p:nvSpPr>
          <p:cNvPr id="42" name="흐름 화살표 1"/>
          <p:cNvSpPr/>
          <p:nvPr/>
        </p:nvSpPr>
        <p:spPr>
          <a:xfrm>
            <a:off x="4533325" y="2060000"/>
            <a:ext cx="220000" cy="20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3" name="흐름 2"/>
          <p:cNvSpPr/>
          <p:nvPr/>
        </p:nvSpPr>
        <p:spPr>
          <a:xfrm>
            <a:off x="505800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급증 항목 확인</a:t>
            </a:r>
          </a:p>
        </p:txBody>
      </p:sp>
      <p:sp>
        <p:nvSpPr>
          <p:cNvPr id="44" name="흐름 화살표 2"/>
          <p:cNvSpPr/>
          <p:nvPr/>
        </p:nvSpPr>
        <p:spPr>
          <a:xfrm>
            <a:off x="8962675" y="2060000"/>
            <a:ext cx="220000" cy="20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5" name="흐름 3"/>
          <p:cNvSpPr/>
          <p:nvPr/>
        </p:nvSpPr>
        <p:spPr>
          <a:xfrm>
            <a:off x="94873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공지 · 장애 등록</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공지 · 장애 관리</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통신 장애를 확인하면 대상 지역을 골라 안내를 등록하고, 등록 현황을 관리합니다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32</a:t>
            </a:r>
            <a:endParaRPr sz="1300" b="0">
              <a:solidFill>
                <a:schemeClr val="accent3"/>
              </a:solidFill>
            </a:endParaRPr>
          </a:p>
        </p:txBody>
      </p:sp>
      <p:pic>
        <p:nvPicPr>
          <p:cNvPr id="16" name="Picture 15" descr="image.png"/>
          <p:cNvPicPr>
            <a:picLocks noChangeAspect="1"/>
          </p:cNvPicPr>
          <p:nvPr/>
        </p:nvPicPr>
        <p:blipFill>
          <a:blip r:embed="rId2"/>
          <a:stretch>
            <a:fillRect/>
          </a:stretch>
        </p:blipFill>
        <p:spPr>
          <a:xfrm>
            <a:off x="709606" y="3000000"/>
            <a:ext cx="3338088" cy="3750000"/>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캡션 1"/>
          <p:cNvSpPr/>
          <p:nvPr/>
        </p:nvSpPr>
        <p:spPr>
          <a:xfrm>
            <a:off x="909606" y="2520000"/>
            <a:ext cx="182971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공지 · 장애 등록</a:t>
            </a:r>
          </a:p>
        </p:txBody>
      </p:sp>
      <p:sp>
        <p:nvSpPr>
          <p:cNvPr id="18" name="캡션 번호 1"/>
          <p:cNvSpPr/>
          <p:nvPr/>
        </p:nvSpPr>
        <p:spPr>
          <a:xfrm>
            <a:off x="709606" y="250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pic>
        <p:nvPicPr>
          <p:cNvPr id="19" name="Picture 18" descr="image.png"/>
          <p:cNvPicPr>
            <a:picLocks noChangeAspect="1"/>
          </p:cNvPicPr>
          <p:nvPr/>
        </p:nvPicPr>
        <p:blipFill>
          <a:blip r:embed="rId3"/>
          <a:stretch>
            <a:fillRect/>
          </a:stretch>
        </p:blipFill>
        <p:spPr>
          <a:xfrm>
            <a:off x="4416738" y="3000000"/>
            <a:ext cx="8670612" cy="2308445"/>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0" name="캡션 2"/>
          <p:cNvSpPr/>
          <p:nvPr/>
        </p:nvSpPr>
        <p:spPr>
          <a:xfrm>
            <a:off x="4616738" y="2520000"/>
            <a:ext cx="18990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등록된 공지 관리</a:t>
            </a:r>
          </a:p>
        </p:txBody>
      </p:sp>
      <p:sp>
        <p:nvSpPr>
          <p:cNvPr id="21" name="캡션 번호 2"/>
          <p:cNvSpPr/>
          <p:nvPr/>
        </p:nvSpPr>
        <p:spPr>
          <a:xfrm>
            <a:off x="4416738" y="250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pic>
        <p:nvPicPr>
          <p:cNvPr id="22" name="Picture 21" descr="image.png"/>
          <p:cNvPicPr>
            <a:picLocks noChangeAspect="1"/>
          </p:cNvPicPr>
          <p:nvPr/>
        </p:nvPicPr>
        <p:blipFill>
          <a:blip r:embed="rId4"/>
          <a:stretch>
            <a:fillRect/>
          </a:stretch>
        </p:blipFill>
        <p:spPr>
          <a:xfrm>
            <a:off x="4416739" y="5940318"/>
            <a:ext cx="8670610" cy="809682"/>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3" name="캡션 3"/>
          <p:cNvSpPr/>
          <p:nvPr/>
        </p:nvSpPr>
        <p:spPr>
          <a:xfrm>
            <a:off x="4616739" y="5460318"/>
            <a:ext cx="2316889"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사용자 화면 상단 배너</a:t>
            </a:r>
          </a:p>
        </p:txBody>
      </p:sp>
      <p:sp>
        <p:nvSpPr>
          <p:cNvPr id="24" name="캡션 번호 3"/>
          <p:cNvSpPr/>
          <p:nvPr/>
        </p:nvSpPr>
        <p:spPr>
          <a:xfrm>
            <a:off x="4416739" y="5440318"/>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3</a:t>
            </a:r>
          </a:p>
        </p:txBody>
      </p:sp>
      <p:sp>
        <p:nvSpPr>
          <p:cNvPr id="25" name="흐름 1"/>
          <p:cNvSpPr/>
          <p:nvPr/>
        </p:nvSpPr>
        <p:spPr>
          <a:xfrm>
            <a:off x="6286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감지</a:t>
            </a:r>
          </a:p>
        </p:txBody>
      </p:sp>
      <p:sp>
        <p:nvSpPr>
          <p:cNvPr id="26" name="흐름 화살표 1"/>
          <p:cNvSpPr/>
          <p:nvPr/>
        </p:nvSpPr>
        <p:spPr>
          <a:xfrm>
            <a:off x="453332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흐름 2"/>
          <p:cNvSpPr/>
          <p:nvPr/>
        </p:nvSpPr>
        <p:spPr>
          <a:xfrm>
            <a:off x="505800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항목 확인</a:t>
            </a:r>
          </a:p>
        </p:txBody>
      </p:sp>
      <p:sp>
        <p:nvSpPr>
          <p:cNvPr id="28" name="흐름 화살표 2"/>
          <p:cNvSpPr/>
          <p:nvPr/>
        </p:nvSpPr>
        <p:spPr>
          <a:xfrm>
            <a:off x="896267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흐름 3"/>
          <p:cNvSpPr/>
          <p:nvPr/>
        </p:nvSpPr>
        <p:spPr>
          <a:xfrm>
            <a:off x="948735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공지 · 장애 등록</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안정성 모니터링</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33</a:t>
            </a:r>
            <a:endParaRPr sz="1300" b="0">
              <a:solidFill>
                <a:schemeClr val="accent3"/>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wn-text-87">
            <a:extLst>
              <a:ext uri="{FF2B5EF4-FFF2-40B4-BE49-F238E27FC236}">
                <a16:creationId xmlns:a16="http://schemas.microsoft.com/office/drawing/2014/main" id="{081325D2-AB97-47AD-8D89-592F6F3F1574}"/>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주요 기능 소개  |  그 외</a:t>
            </a:r>
          </a:p>
        </p:txBody>
      </p:sp>
      <p:sp>
        <p:nvSpPr>
          <p:cNvPr id="2" name="own-text-88">
            <a:extLst>
              <a:ext uri="{FF2B5EF4-FFF2-40B4-BE49-F238E27FC236}">
                <a16:creationId xmlns:a16="http://schemas.microsoft.com/office/drawing/2014/main" id="{3A633B77-E4F2-4340-8905-F3C6051FAF77}"/>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스케줄러의 주기와 역할</a:t>
            </a:r>
          </a:p>
        </p:txBody>
      </p:sp>
      <p:sp>
        <p:nvSpPr>
          <p:cNvPr id="3" name="own-text-89">
            <a:extLst>
              <a:ext uri="{FF2B5EF4-FFF2-40B4-BE49-F238E27FC236}">
                <a16:creationId xmlns:a16="http://schemas.microsoft.com/office/drawing/2014/main" id="{74327284-514C-4D55-ABF9-08DBE55A187F}"/>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알림, 데이터 정리, FAQ 운영과 장애 복구를 주기 작업으로 분리</a:t>
            </a:r>
          </a:p>
        </p:txBody>
      </p:sp>
      <p:sp>
        <p:nvSpPr>
          <p:cNvPr id="4" name="own-text-90">
            <a:extLst>
              <a:ext uri="{FF2B5EF4-FFF2-40B4-BE49-F238E27FC236}">
                <a16:creationId xmlns:a16="http://schemas.microsoft.com/office/drawing/2014/main" id="{BBDC6617-BA5B-4645-9A11-2F7D6CE18DA5}"/>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91">
            <a:extLst>
              <a:ext uri="{FF2B5EF4-FFF2-40B4-BE49-F238E27FC236}">
                <a16:creationId xmlns:a16="http://schemas.microsoft.com/office/drawing/2014/main" id="{97F32B78-47DA-48C7-B542-6209D6FC1F72}"/>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34</a:t>
            </a:r>
            <a:endParaRPr sz="1300" b="0">
              <a:solidFill>
                <a:srgbClr val="686B72"/>
              </a:solidFill>
              <a:latin typeface="맑은 고딕"/>
              <a:ea typeface="맑은 고딕"/>
              <a:cs typeface="맑은 고딕"/>
            </a:endParaRPr>
          </a:p>
        </p:txBody>
      </p:sp>
      <p:graphicFrame>
        <p:nvGraphicFramePr>
          <p:cNvPr id="6" name="표 5">
            <a:extLst>
              <a:ext uri="{FF2B5EF4-FFF2-40B4-BE49-F238E27FC236}">
                <a16:creationId xmlns:a16="http://schemas.microsoft.com/office/drawing/2014/main" id="{DE473FF5-2018-44E2-80F8-154F3E788B4F}"/>
              </a:ext>
            </a:extLst>
          </p:cNvPr>
          <p:cNvGraphicFramePr/>
          <p:nvPr/>
        </p:nvGraphicFramePr>
        <p:xfrm>
          <a:off x="628650" y="2076450"/>
          <a:ext cx="12458700" cy="4010025"/>
        </p:xfrm>
        <a:graphic>
          <a:graphicData uri="http://schemas.openxmlformats.org/drawingml/2006/table">
            <a:tbl>
              <a:tblPr/>
              <a:tblGrid>
                <a:gridCol w="2724150">
                  <a:extLst>
                    <a:ext uri="{9D8B030D-6E8A-4147-A177-3AD203B41FA5}">
                      <a16:colId xmlns:a16="http://schemas.microsoft.com/office/drawing/2014/main" val="20000"/>
                    </a:ext>
                  </a:extLst>
                </a:gridCol>
                <a:gridCol w="2657475">
                  <a:extLst>
                    <a:ext uri="{9D8B030D-6E8A-4147-A177-3AD203B41FA5}">
                      <a16:colId xmlns:a16="http://schemas.microsoft.com/office/drawing/2014/main" val="20001"/>
                    </a:ext>
                  </a:extLst>
                </a:gridCol>
                <a:gridCol w="7077075">
                  <a:extLst>
                    <a:ext uri="{9D8B030D-6E8A-4147-A177-3AD203B41FA5}">
                      <a16:colId xmlns:a16="http://schemas.microsoft.com/office/drawing/2014/main" val="20002"/>
                    </a:ext>
                  </a:extLst>
                </a:gridCol>
              </a:tblGrid>
              <a:tr h="445558">
                <a:tc>
                  <a:txBody>
                    <a:bodyPr/>
                    <a:lstStyle/>
                    <a:p>
                      <a:r>
                        <a:rPr sz="1598" b="1">
                          <a:solidFill>
                            <a:srgbClr val="FFFFFF"/>
                          </a:solidFill>
                          <a:latin typeface="맑은 고딕"/>
                          <a:ea typeface="맑은 고딕"/>
                          <a:cs typeface="맑은 고딕"/>
                        </a:rPr>
                        <a:t>기능</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기본 주기</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실행 기준·역할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45558">
                <a:tc>
                  <a:txBody>
                    <a:bodyPr/>
                    <a:lstStyle/>
                    <a:p>
                      <a:r>
                        <a:rPr sz="1598" b="0">
                          <a:solidFill>
                            <a:srgbClr val="17171A"/>
                          </a:solidFill>
                          <a:latin typeface="맑은 고딕"/>
                          <a:ea typeface="맑은 고딕"/>
                          <a:cs typeface="맑은 고딕"/>
                        </a:rPr>
                        <a:t>예약 알림</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매시 정각</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방문 24시간·6시간·1시간 전 단계별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45558">
                <a:tc>
                  <a:txBody>
                    <a:bodyPr/>
                    <a:lstStyle/>
                    <a:p>
                      <a:r>
                        <a:rPr sz="1598" b="0">
                          <a:solidFill>
                            <a:srgbClr val="17171A"/>
                          </a:solidFill>
                          <a:latin typeface="맑은 고딕"/>
                          <a:ea typeface="맑은 고딕"/>
                          <a:cs typeface="맑은 고딕"/>
                        </a:rPr>
                        <a:t>요금·로밍·약정 알림</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매일 09:00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납부 임박·연체, 로밍 시작·종료, 약정·할부 만료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45558">
                <a:tc>
                  <a:txBody>
                    <a:bodyPr/>
                    <a:lstStyle/>
                    <a:p>
                      <a:r>
                        <a:rPr sz="1598" b="0">
                          <a:solidFill>
                            <a:srgbClr val="17171A"/>
                          </a:solidFill>
                          <a:latin typeface="맑은 고딕"/>
                          <a:ea typeface="맑은 고딕"/>
                          <a:cs typeface="맑은 고딕"/>
                        </a:rPr>
                        <a:t>데이터 사용량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매시 정각</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월 한도 80%·100% 도달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45558">
                <a:tc>
                  <a:txBody>
                    <a:bodyPr/>
                    <a:lstStyle/>
                    <a:p>
                      <a:r>
                        <a:rPr sz="1598" b="0">
                          <a:solidFill>
                            <a:srgbClr val="17171A"/>
                          </a:solidFill>
                          <a:latin typeface="맑은 고딕"/>
                          <a:ea typeface="맑은 고딕"/>
                          <a:cs typeface="맑은 고딕"/>
                        </a:rPr>
                        <a:t>데이터 보관 정리</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매일 04:00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기간·상태 조건에 따른 익명화·삭제와 로밍 상태 갱신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445558">
                <a:tc>
                  <a:txBody>
                    <a:bodyPr/>
                    <a:lstStyle/>
                    <a:p>
                      <a:r>
                        <a:rPr sz="1598" b="0">
                          <a:solidFill>
                            <a:srgbClr val="17171A"/>
                          </a:solidFill>
                          <a:latin typeface="맑은 고딕"/>
                          <a:ea typeface="맑은 고딕"/>
                          <a:cs typeface="맑은 고딕"/>
                        </a:rPr>
                        <a:t>FAQ 랭킹·미응답 이름</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1분 / 5분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최근 20분 top5 갱신 / 최근 질문으로 그룹 이름 생성</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445558">
                <a:tc>
                  <a:txBody>
                    <a:bodyPr/>
                    <a:lstStyle/>
                    <a:p>
                      <a:r>
                        <a:rPr sz="1598" b="0">
                          <a:solidFill>
                            <a:srgbClr val="17171A"/>
                          </a:solidFill>
                          <a:latin typeface="맑은 고딕"/>
                          <a:ea typeface="맑은 고딕"/>
                          <a:cs typeface="맑은 고딕"/>
                        </a:rPr>
                        <a:t>가드 검토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예약 확인 1분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관리자 설정 주기에 분석, worker 2초·알림 5초, 04:15 정리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445558">
                <a:tc>
                  <a:txBody>
                    <a:bodyPr/>
                    <a:lstStyle/>
                    <a:p>
                      <a:r>
                        <a:rPr sz="1598" b="0">
                          <a:solidFill>
                            <a:srgbClr val="17171A"/>
                          </a:solidFill>
                          <a:latin typeface="맑은 고딕"/>
                          <a:ea typeface="맑은 고딕"/>
                          <a:cs typeface="맑은 고딕"/>
                        </a:rPr>
                        <a:t>비동기·상담 복구</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2~15초</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Outbox 2초 / 상담 유지·복구 5초 / 취소 구독 복구 15초</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7"/>
                  </a:ext>
                </a:extLst>
              </a:tr>
              <a:tr h="445558">
                <a:tc>
                  <a:txBody>
                    <a:bodyPr/>
                    <a:lstStyle/>
                    <a:p>
                      <a:r>
                        <a:rPr sz="1598" b="0">
                          <a:solidFill>
                            <a:srgbClr val="17171A"/>
                          </a:solidFill>
                          <a:latin typeface="맑은 고딕"/>
                          <a:ea typeface="맑은 고딕"/>
                          <a:cs typeface="맑은 고딕"/>
                        </a:rPr>
                        <a:t>캐시·적체 관측</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5초 / 5분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금칙어 캐시 버전 확인 / 임베딩 backlog 지표 갱신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6601707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그 외</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알림</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35</a:t>
            </a:r>
            <a:endParaRPr sz="1300" b="0">
              <a:solidFill>
                <a:schemeClr val="accent3"/>
              </a:solidFill>
            </a:endParaRPr>
          </a:p>
        </p:txBody>
      </p:sp>
    </p:spTree>
  </p:cSld>
  <p:clrMapOvr>
    <a:masterClrMapping/>
  </p:clrMapOvr>
</p:sld>
</file>

<file path=ppt/theme/theme1.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0000FF"/>
      </a:hlink>
      <a:folHlink>
        <a:srgbClr val="800080"/>
      </a:folHlink>
    </a:clrScheme>
    <a:fontScheme name="한컴오피스">
      <a:maj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Phetsarath OT"/>
        <a:font script="Sinh" typeface="Iskoola Pota"/>
        <a:font script="Mong" typeface="Mongolian Baiti"/>
        <a:font script="Viet" typeface="Times New Roman"/>
        <a:font script="Uigh" typeface="Microsoft Uighur"/>
        <a:font script="Ethi" typeface="Leelawadee UI"/>
        <a:font script="Mymr" typeface="Myanmar Text"/>
      </a:majorFont>
      <a:min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Phetsarath OT"/>
        <a:font script="Sinh" typeface="Iskoola Pota"/>
        <a:font script="Mong" typeface="Mongolian Baiti"/>
        <a:font script="Viet" typeface="Times New Roman"/>
        <a:font script="Uigh" typeface="Microsoft Uighur"/>
        <a:font script="Ethi" typeface="Leelawadee UI"/>
        <a:font script="Mymr" typeface="Myanmar Text"/>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5944</Words>
  <Application>Microsoft Office PowerPoint</Application>
  <PresentationFormat>사용자 지정</PresentationFormat>
  <Paragraphs>949</Paragraphs>
  <Slides>35</Slides>
  <Notes>9</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35</vt:i4>
      </vt:variant>
    </vt:vector>
  </HeadingPairs>
  <TitlesOfParts>
    <vt:vector size="39" baseType="lpstr">
      <vt:lpstr>맑은 고딕</vt:lpstr>
      <vt:lpstr>Arial</vt:lpstr>
      <vt:lpstr>Calibri</vt:lpstr>
      <vt:lpstr>UBot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PptxGenJS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pc</cp:lastModifiedBy>
  <cp:revision>9</cp:revision>
  <dcterms:created xsi:type="dcterms:W3CDTF">2026-10-25T05:22:11Z</dcterms:created>
  <dcterms:modified xsi:type="dcterms:W3CDTF">2026-10-26T04:25:02Z</dcterms:modified>
  <cp:version/>
</cp:coreProperties>
</file>