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481b63a7d44631" /><Relationship Type="http://schemas.openxmlformats.org/officeDocument/2006/relationships/extended-properties" Target="/docProps/app.xml" Id="R82f92d5b41494f11" /><Relationship Type="http://schemas.openxmlformats.org/officeDocument/2006/relationships/officeDocument" Target="/ppt/presentation.xml" Id="Rb9cf3d108d7c4990" /></Relationships>
</file>

<file path=ppt/presentation.xml><?xml version="1.0" encoding="utf-8"?>
<p:presentation xmlns:p="http://schemas.openxmlformats.org/presentationml/2006/main">
  <p:sldMasterIdLst>
    <p:sldMasterId xmlns:r="http://schemas.openxmlformats.org/officeDocument/2006/relationships" id="2147483648" r:id="R1a4d11e8ed384201"/>
  </p:sldMasterIdLst>
  <p:notesMasterIdLst>
    <p:notesMasterId xmlns:r="http://schemas.openxmlformats.org/officeDocument/2006/relationships" r:id="R18fe141029234ee7"/>
  </p:notesMasterIdLst>
  <p:sldIdLst>
    <p:sldId xmlns:r="http://schemas.openxmlformats.org/officeDocument/2006/relationships" id="256" r:id="R65762ff8a4f04402"/>
    <p:sldId xmlns:r="http://schemas.openxmlformats.org/officeDocument/2006/relationships" id="257" r:id="Ra5559c2123324d94"/>
    <p:sldId xmlns:r="http://schemas.openxmlformats.org/officeDocument/2006/relationships" id="258" r:id="R707d79846ab144d4"/>
    <p:sldId xmlns:r="http://schemas.openxmlformats.org/officeDocument/2006/relationships" id="259" r:id="R260cf06b91464119"/>
    <p:sldId xmlns:r="http://schemas.openxmlformats.org/officeDocument/2006/relationships" id="260" r:id="R8d6e48099b204db6"/>
    <p:sldId xmlns:r="http://schemas.openxmlformats.org/officeDocument/2006/relationships" id="261" r:id="Raf494bde0a9247b3"/>
    <p:sldId xmlns:r="http://schemas.openxmlformats.org/officeDocument/2006/relationships" id="262" r:id="R2de844c5efee482b"/>
    <p:sldId xmlns:r="http://schemas.openxmlformats.org/officeDocument/2006/relationships" id="263" r:id="R07b94517043a4bc3"/>
  </p:sldIdLst>
  <p:sldSz cx="13716000" cy="77152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04852e62742491d" /><Relationship Type="http://schemas.openxmlformats.org/officeDocument/2006/relationships/slideMaster" Target="/ppt/slideMasters/slideMaster1.xml" Id="R1a4d11e8ed384201" /><Relationship Type="http://schemas.openxmlformats.org/officeDocument/2006/relationships/notesMaster" Target="/ppt/notesMasters/notesMaster1.xml" Id="R18fe141029234ee7" /><Relationship Type="http://schemas.openxmlformats.org/officeDocument/2006/relationships/presProps" Target="/ppt/presProps.xml" Id="R4485f9e8c0b34293" /><Relationship Type="http://schemas.openxmlformats.org/officeDocument/2006/relationships/viewProps" Target="/ppt/viewProps.xml" Id="R01c4b055c81e4565" /><Relationship Type="http://schemas.openxmlformats.org/officeDocument/2006/relationships/tableStyles" Target="/ppt/tableStyles.xml" Id="R662ac55faa914ba8" /><Relationship Type="http://schemas.openxmlformats.org/officeDocument/2006/relationships/slide" Target="/ppt/slides/slide1.xml" Id="R65762ff8a4f04402" /><Relationship Type="http://schemas.openxmlformats.org/officeDocument/2006/relationships/slide" Target="/ppt/slides/slide2.xml" Id="Ra5559c2123324d94" /><Relationship Type="http://schemas.openxmlformats.org/officeDocument/2006/relationships/slide" Target="/ppt/slides/slide3.xml" Id="R707d79846ab144d4" /><Relationship Type="http://schemas.openxmlformats.org/officeDocument/2006/relationships/slide" Target="/ppt/slides/slide4.xml" Id="R260cf06b91464119" /><Relationship Type="http://schemas.openxmlformats.org/officeDocument/2006/relationships/slide" Target="/ppt/slides/slide5.xml" Id="R8d6e48099b204db6" /><Relationship Type="http://schemas.openxmlformats.org/officeDocument/2006/relationships/slide" Target="/ppt/slides/slide6.xml" Id="Raf494bde0a9247b3" /><Relationship Type="http://schemas.openxmlformats.org/officeDocument/2006/relationships/slide" Target="/ppt/slides/slide7.xml" Id="R2de844c5efee482b" /><Relationship Type="http://schemas.openxmlformats.org/officeDocument/2006/relationships/slide" Target="/ppt/slides/slide8.xml" Id="R07b94517043a4b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bb6bbc839141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4845c0f28a4199" /><Relationship Type="http://schemas.openxmlformats.org/officeDocument/2006/relationships/notesMaster" Target="/ppt/notesMasters/notesMaster1.xml" Id="Rd34cb34d456c4b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103b48159d4f9d" /><Relationship Type="http://schemas.openxmlformats.org/officeDocument/2006/relationships/notesMaster" Target="/ppt/notesMasters/notesMaster1.xml" Id="R18599294f50f44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e0dd4e8d6b46b4" /><Relationship Type="http://schemas.openxmlformats.org/officeDocument/2006/relationships/notesMaster" Target="/ppt/notesMasters/notesMaster1.xml" Id="R61f8400c5c8b4d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de9459de974a93" /><Relationship Type="http://schemas.openxmlformats.org/officeDocument/2006/relationships/notesMaster" Target="/ppt/notesMasters/notesMaster1.xml" Id="R4353b59619044b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ccaf0dc2ee4b18" /><Relationship Type="http://schemas.openxmlformats.org/officeDocument/2006/relationships/notesMaster" Target="/ppt/notesMasters/notesMaster1.xml" Id="Ree65ee1eee4e47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c18963e61545f8" /><Relationship Type="http://schemas.openxmlformats.org/officeDocument/2006/relationships/notesMaster" Target="/ppt/notesMasters/notesMaster1.xml" Id="R8eb435be592f45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acda88b0b14b93" /><Relationship Type="http://schemas.openxmlformats.org/officeDocument/2006/relationships/notesMaster" Target="/ppt/notesMasters/notesMaster1.xml" Id="Rc7ed9795fc4c41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4398b7b1064a78" /><Relationship Type="http://schemas.openxmlformats.org/officeDocument/2006/relationships/notesMaster" Target="/ppt/notesMasters/notesMaster1.xml" Id="R4190800a42cd45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초기테스트는조건과예외,자료부족,공격대응까지함께보는엄격한기준이었습니다. 작은모델을그대로통과시키기어려워품질기준으로14B OFF를1차선정했습니다. 하지만별도동시서빙시험에서4B보다처리여유가작았습니다. 그래서큰모델을그대로운영하는대신4B를튜닝하고코드로보완할수있는지검토했습니다.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(38초)</a:t>
            </a:r>
          </a:p>
          <a:p xmlns:a="http://schemas.openxmlformats.org/drawingml/2006/main">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xmlns:a="http://schemas.openxmlformats.org/drawingml/2006/main">
            <a:r>
              <a:t/>
            </a:r>
          </a:p>
          <a:p xmlns:a="http://schemas.openxmlformats.org/drawingml/2006/main">
            <a:r>
              <a:t>비교 조건과 해석</a:t>
            </a:r>
          </a:p>
          <a:p xmlns:a="http://schemas.openxmlformats.org/drawingml/2006/main">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계산사례는결정문1-5의원자료이며현재화면에서는예시를삭제하고약점만요약했다. 1-3의근거→보류→본문연결,1-4의불필요한되묻기는관측된교정가설근거. 이후개선효과는다음프롬프트슬라이드의같은표본으로검증해야함. v3/v4의환각률차이를튜닝효과로연결하지않는다.</a:t>
            </a:r>
          </a:p>
          <a:p xmlns:a="http://schemas.openxmlformats.org/drawingml/2006/main">
            <a:r>
              <a:t/>
            </a:r>
          </a:p>
          <a:p xmlns:a="http://schemas.openxmlformats.org/drawingml/2006/main">
            <a:r>
              <a:t>근거</a:t>
            </a:r>
          </a:p>
          <a:p xmlns:a="http://schemas.openxmlformats.org/drawingml/2006/main">
            <a:r>
              <a:t>C:/Ureka/ureca_project2/LLM_Test/model_test_v4/try1/results/summary/tuning_target_decision.md</a:t>
            </a:r>
          </a:p>
          <a:p xmlns:a="http://schemas.openxmlformats.org/drawingml/2006/main">
            <a:r>
              <a:t>C:/Ureka/ureca_project2/LLM_Test/presentation_work/revision_20261026_model_story/selection_metrics.json</a:t>
            </a:r>
          </a:p>
          <a:p xmlns:a="http://schemas.openxmlformats.org/drawingml/2006/main">
            <a:r>
              <a:t>C:/Ureka/ureca_project2/LLM_Test/presentation_work/revision_20261026_model_story/derive_selection_metrics.py</a:t>
            </a:r>
          </a:p>
          <a:p xmlns:a="http://schemas.openxmlformats.org/drawingml/2006/main">
            <a:r>
              <a:t>C:/Ureka/ureca_project2/LLM_Test/presentation_work/evidence_20261026/gemma_v3_v4_and_status.json</a:t>
            </a:r>
          </a:p>
          <a:p xmlns:a="http://schemas.openxmlformats.org/drawingml/2006/main">
            <a:r>
              <a:t/>
            </a:r>
          </a:p>
          <a:p xmlns:a="http://schemas.openxmlformats.org/drawingml/2006/main">
            <a:r>
              <a:t>Gemma의버전간비교해석</a:t>
            </a:r>
          </a:p>
          <a:p xmlns:a="http://schemas.openxmlformats.org/drawingml/2006/main">
            <a:r>
              <a:t>자료부족3유형은SR/HR/EC이며v3 85/300=28.3%,v4 600/2598=23.1%다. 유형비중은낮아졌으나공통12유형에서v4의유형별환각률을v3비중으로가중해도약25.0%이므로,50.3→24.1감소를문항비중만의효과로설명할수없다. 유형내문항·FAQ,생성프롬프트·출력스키마,판정모델·상세루브릭이함께바뀌었다. 화면의설명도비중과문항·보류지침변화를함께명시한다. 계산능력문제를단독인과로확정한비교실험이아니며동일v4내모델비교를선정근거로사용한다.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(29초)</a:t>
            </a:r>
          </a:p>
          <a:p xmlns:a="http://schemas.openxmlformats.org/drawingml/2006/main">
            <a:r>
              <a:t>기본프롬프트의Instruct도OFF최종개선안보다정확했고상태판단과근거선택도개선됐습니다. Q8과품질차이는뚜렷하지않았지만시간과용량이늘어Q4를택했습니다. 다만Instruct에서는기존에쉽게고칠수있던과잉보류가이미많이줄었습니다. 그래서후속고도화는정답률상승보다환각을줄이는방향에집중했습니다.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C:/Ureka/ureca_project2/LLM_Test/presentation_work/revision_20261026_model_story/model_comparison_metrics.json</a:t>
            </a:r>
          </a:p>
          <a:p xmlns:a="http://schemas.openxmlformats.org/drawingml/2006/main">
            <a:r>
              <a:t>C:/Ureka/ureca_project2/LLM_Test/presentation_work/revision_20261026_model_story/derive_model_comparison.py</a:t>
            </a:r>
          </a:p>
          <a:p xmlns:a="http://schemas.openxmlformats.org/drawingml/2006/main">
            <a:r>
              <a:t>C:/Ureka/ureca_project2/LLM_Test/scripts/docgen/judge_report.js</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a:p xmlns:a="http://schemas.openxmlformats.org/drawingml/2006/main">
            <a:r>
              <a:t/>
            </a:r>
          </a:p>
          <a:p xmlns:a="http://schemas.openxmlformats.org/drawingml/2006/main">
            <a:r>
              <a:t>최신 정의</a:t>
            </a:r>
          </a:p>
          <a:p xmlns:a="http://schemas.openxmlformats.org/drawingml/2006/main">
            <a:r>
              <a:t>화면은Gemma Q4_K_M기존모델을제외한5행이다. OFF와Instruct Q4_K_M에기존을붙인것은기존시험결과재사용을뜻한다. 상태판단은출력status와기대상태의엄격일치(정답과독립)로404건분모, 근거선택은evidence_ids에정답근거문서만하나이상인용한비율이며205건분모다. 공통404건에서상태정답252/313/315/357/370,근거정답80/101/191/180/185(표행순)다. n1300별도오답분석에서OFF의과잉보류는185/491=37.7%,Instruct Q4는18/293=6.1%,환각동반오답은32.6%에서64.2%였다. 사라진것은주로과잉보류를풀어정답을쉽게늘릴교정여지이며전체튜닝가능성이없어졌다는실증결론은아니다. 후속900건에서정답703→698,환각184→122를관측해환각감소중심방향으로정리한다.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여러질문을나누고생략된대상을복원하기위해판정모델을도입했습니다. 분리나멀티턴표지가없는질문은원문검색을먼저시도합니다. 질문분리100건전체에서필요한FAQ를모두찾은문항은판정없이69건에서판정적용84건이됐습니다. 의도별FAQ적중은161개에서182개,질문개수는90건에서맞았습니다. 이는답변정확도가아니라검색과분리성능입니다.</a:t>
            </a:r>
          </a:p>
          <a:p xmlns:a="http://schemas.openxmlformats.org/drawingml/2006/main">
            <a:r>
              <a:t/>
            </a:r>
          </a:p>
          <a:p xmlns:a="http://schemas.openxmlformats.org/drawingml/2006/main">
            <a:r>
              <a:t>비교 조건과 해석</a:t>
            </a:r>
          </a:p>
          <a:p xmlns:a="http://schemas.openxmlformats.org/drawingml/2006/main">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C:/Ureka/ureca_project2/eval_205_multiturn/docs-evaluation/2026-10-16-split/final/split/split-analysis.json</a:t>
            </a:r>
          </a:p>
          <a:p xmlns:a="http://schemas.openxmlformats.org/drawingml/2006/main">
            <a:r>
              <a:t>C:/Ureka/ureca_project2/LLM_Test/presentation_work/revision_20261026_model_story/feedback_metrics.json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C:/Ureka/ureca_project2/LLM_Test/presentation_work/revision_20261026_model_story/slide_metrics.json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C:/Ureka/ureca_project2/LLM_Test/presentation_work/revision_20261026_model_story/derive_slide_metrics.py</a:t>
            </a:r>
          </a:p>
          <a:p xmlns:a="http://schemas.openxmlformats.org/drawingml/2006/main">
            <a:r>
              <a:t>C:/Ureka/ureca_project2/LLM_Test/presentation_work/revision_20261026_model_story/slide_metrics.json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48ac7068964a2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cdbefd77b44950" /><Relationship Type="http://schemas.openxmlformats.org/officeDocument/2006/relationships/slideLayout" Target="/ppt/slideLayouts/slideLayout1.xml" Id="Ra5c20b6ae3194458"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c20b6ae319445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bb13dd7573427f" /><Relationship Type="http://schemas.openxmlformats.org/officeDocument/2006/relationships/chart" Target="/ppt/slides/charts/chart1.xml" Id="Rb5cc3448fffa4078" /><Relationship Type="http://schemas.openxmlformats.org/officeDocument/2006/relationships/notesSlide" Target="/ppt/notesSlides/notesSlide1.xml" Id="R5785830035a246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5bc15e3b494795" /><Relationship Type="http://schemas.openxmlformats.org/officeDocument/2006/relationships/notesSlide" Target="/ppt/notesSlides/notesSlide2.xml" Id="Rf56759b1cf6d48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319c3cc8da4999" /><Relationship Type="http://schemas.openxmlformats.org/officeDocument/2006/relationships/notesSlide" Target="/ppt/notesSlides/notesSlide3.xml" Id="R05dfac9df0b646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e0eef96c47142bf" /><Relationship Type="http://schemas.openxmlformats.org/officeDocument/2006/relationships/chart" Target="/ppt/slides/charts/chart2.xml" Id="Reafe70b87b93497c" /><Relationship Type="http://schemas.openxmlformats.org/officeDocument/2006/relationships/notesSlide" Target="/ppt/notesSlides/notesSlide4.xml" Id="Rcd3b0a41a9c240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e6f44c2f7a49fa" /><Relationship Type="http://schemas.openxmlformats.org/officeDocument/2006/relationships/notesSlide" Target="/ppt/notesSlides/notesSlide5.xml" Id="R01549cadef9f43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32d93dff104058" /><Relationship Type="http://schemas.openxmlformats.org/officeDocument/2006/relationships/notesSlide" Target="/ppt/notesSlides/notesSlide6.xml" Id="R27460512793041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47d6befdc2402c" /><Relationship Type="http://schemas.openxmlformats.org/officeDocument/2006/relationships/notesSlide" Target="/ppt/notesSlides/notesSlide7.xml" Id="Rf7e49948fe6a41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cededaae524ed8" /><Relationship Type="http://schemas.openxmlformats.org/officeDocument/2006/relationships/notesSlide" Target="/ppt/notesSlides/notesSlide8.xml" Id="Rfd93ae33ba6c4f44" /></Relationships>
</file>

<file path=ppt/slides/charts/chart1.xml><?xml version="1.0" encoding="utf-8"?>
<c:chartSpace xmlns:c="http://schemas.openxmlformats.org/drawingml/2006/chart">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Lit>
              <c:ptCount val="3"/>
              <c:pt idx="0">
                <c:v>4B</c:v>
              </c:pt>
              <c:pt idx="1">
                <c:v>8B</c:v>
              </c:pt>
              <c:pt idx="2">
                <c:v>14B</c:v>
              </c:pt>
            </c:strLit>
          </c:cat>
          <c:val>
            <c:numLit>
              <c:formatCode>General</c:formatCode>
              <c:ptCount val="3"/>
              <c:pt idx="0">
                <c:v>9.13</c:v>
              </c:pt>
              <c:pt idx="1">
                <c:v>6.1</c:v>
              </c:pt>
              <c:pt idx="2">
                <c:v>3.33</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Lit>
              <c:ptCount val="2"/>
              <c:pt idx="0">
                <c:v>환각</c:v>
              </c:pt>
              <c:pt idx="1">
                <c:v>되묻기</c:v>
              </c:pt>
            </c:strLit>
          </c:cat>
          <c:val>
            <c:numLit>
              <c:formatCode>General</c:formatCode>
              <c:ptCount val="2"/>
              <c:pt idx="0">
                <c:v>20.44</c:v>
              </c:pt>
              <c:pt idx="1">
                <c:v>14</c:v>
              </c:pt>
            </c:numLit>
          </c:val>
        </c:ser>
        <c:ser>
          <c:idx val="1"/>
          <c:order val="1"/>
          <c:tx>
            <c:v>개선 프롬프트</c:v>
          </c:tx>
          <c:spPr>
            <a:solidFill xmlns:a="http://schemas.openxmlformats.org/drawingml/2006/main">
              <a:srgbClr val="F72585"/>
            </a:solidFill>
          </c:spPr>
          <c:invertIfNegative val="0"/>
          <c:cat>
            <c:strLit>
              <c:ptCount val="2"/>
              <c:pt idx="0">
                <c:v>환각</c:v>
              </c:pt>
              <c:pt idx="1">
                <c:v>되묻기</c:v>
              </c:pt>
            </c:strLit>
          </c:cat>
          <c:val>
            <c:numLit>
              <c:formatCode>General</c:formatCode>
              <c:ptCount val="2"/>
              <c:pt idx="0">
                <c:v>13.56</c:v>
              </c:pt>
              <c:pt idx="1">
                <c:v>0.11</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3" name="own-text-1">
            <a:extLst xmlns:a="http://schemas.openxmlformats.org/drawingml/2006/main">
              <a:ext uri="{FF2B5EF4-FFF2-40B4-BE49-F238E27FC236}">
                <a16:creationId xmlns:a16="http://schemas.microsoft.com/office/drawing/2014/main" id="{8D383B70-8DEC-4095-976F-29CF4BD4FD36}"/>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4EF25AD0-6895-4B2F-8FE2-C27E984CF441}"/>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14B OFF 1차 선정과 4B 튜닝 검토</a:t>
            </a:r>
          </a:p>
        </p:txBody>
      </p:sp>
      <p:sp>
        <p:nvSpPr>
          <p:cNvPr id="3" name="own-text-3">
            <a:extLst xmlns:a="http://schemas.openxmlformats.org/drawingml/2006/main">
              <a:ext uri="{FF2B5EF4-FFF2-40B4-BE49-F238E27FC236}">
                <a16:creationId xmlns:a16="http://schemas.microsoft.com/office/drawing/2014/main" id="{57ECF9AE-F192-4D23-9125-F5BE05F3A9EC}"/>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소형 모델의 단독 통과가 어려웠던 엄격한 품질·보류 기준에서, 후속 튜닝과 코드 교정을 검토</a:t>
            </a:r>
          </a:p>
        </p:txBody>
      </p:sp>
      <p:sp>
        <p:nvSpPr>
          <p:cNvPr id="4" name="own-text-4">
            <a:extLst xmlns:a="http://schemas.openxmlformats.org/drawingml/2006/main">
              <a:ext uri="{FF2B5EF4-FFF2-40B4-BE49-F238E27FC236}">
                <a16:creationId xmlns:a16="http://schemas.microsoft.com/office/drawing/2014/main" id="{7E84D252-8DF8-4DA4-A8A6-3230748E6118}"/>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2EE2C679-E031-42FE-A4EE-62EDD81783AF}"/>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01</a:t>
            </a:r>
          </a:p>
        </p:txBody>
      </p:sp>
      <p:sp>
        <p:nvSpPr>
          <p:cNvPr id="6" name="own-text-6">
            <a:extLst xmlns:a="http://schemas.openxmlformats.org/drawingml/2006/main">
              <a:ext uri="{FF2B5EF4-FFF2-40B4-BE49-F238E27FC236}">
                <a16:creationId xmlns:a16="http://schemas.microsoft.com/office/drawing/2014/main" id="{D51167AD-E206-4646-82A5-B3323DC7500A}"/>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
            <a:extLst xmlns:a="http://schemas.openxmlformats.org/drawingml/2006/main">
              <a:ext uri="{FF2B5EF4-FFF2-40B4-BE49-F238E27FC236}">
                <a16:creationId xmlns:a16="http://schemas.microsoft.com/office/drawing/2014/main" id="{ECD8D6E8-F8DF-4B17-988B-20FE14880ECC}"/>
              </a:ext>
            </a:extLst>
          </p:cNvPr>
          <p:cNvGraphicFramePr/>
          <p:nvPr/>
        </p:nvGraphicFramePr>
        <p:xfrm>
          <a:off xmlns:a="http://schemas.openxmlformats.org/drawingml/2006/main" x="628650" y="2076450"/>
          <a:ext xmlns:a="http://schemas.openxmlformats.org/drawingml/2006/main" cx="7239000" cy="3886200"/>
        </p:xfrm>
        <a:graphic xmlns:a="http://schemas.openxmlformats.org/drawingml/2006/main">
          <a:graphicData uri="http://schemas.openxmlformats.org/drawingml/2006/table">
            <a:tbl>
              <a:tblPr/>
              <a:tblGrid>
                <a:gridCol w="2028825"/>
                <a:gridCol w="952500"/>
                <a:gridCol w="952500"/>
                <a:gridCol w="952500"/>
                <a:gridCol w="2352675"/>
              </a:tblGrid>
              <a:tr h="323850">
                <a:tc>
                  <a:txBody>
                    <a:bodyPr>
                      <a:noAutofit/>
                    </a:bodyPr>
                    <a:lstStyle/>
                    <a:p>
                      <a:r>
                        <a:rPr sz="1373"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P95(초)</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제외·후순위 근거</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23850">
                <a:tc>
                  <a:txBody>
                    <a:bodyPr>
                      <a:noAutofit/>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1.43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72585"/>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31.3%</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50.3%</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2.78</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2.92</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37.3%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53.3%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5.65</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보류 88건 실패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4.53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튜닝 후 확장 후보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64.0%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7.28</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크기·조건 판단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FFFFF"/>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70.7%</a:t>
                      </a:r>
                    </a:p>
                  </a:txBody>
                  <a:tcPr marL="95250" marR="76200" marT="38100" marB="38100" anchor="ctr">
                    <a:lnR w="6668">
                      <a:solidFill>
                        <a:srgbClr val="DDDDE1"/>
                      </a:solidFill>
                      <a:prstDash val="solid"/>
                    </a:lnR>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23.7%</a:t>
                      </a:r>
                    </a:p>
                  </a:txBody>
                  <a:tcPr marL="95250" marR="76200" marT="38100" marB="38100" anchor="ctr">
                    <a:lnR w="6668">
                      <a:solidFill>
                        <a:srgbClr val="DDDDE1"/>
                      </a:solidFill>
                      <a:prstDash val="solid"/>
                    </a:lnR>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8.11</a:t>
                      </a:r>
                    </a:p>
                  </a:txBody>
                  <a:tcPr marL="95250" marR="76200" marT="38100" marB="38100" anchor="ctr">
                    <a:lnR w="6668">
                      <a:solidFill>
                        <a:srgbClr val="DDDDE1"/>
                      </a:solidFill>
                      <a:prstDash val="solid"/>
                    </a:lnR>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1차 MVP 선정</a:t>
                      </a:r>
                    </a:p>
                  </a:txBody>
                  <a:tcPr marL="95250" marR="76200" marT="38100" marB="38100" anchor="ctr">
                    <a:lnR w="6668">
                      <a:solidFill>
                        <a:srgbClr val="DDDDE1"/>
                      </a:solidFill>
                      <a:prstDash val="solid"/>
                    </a:lnR>
                    <a:lnB w="6668">
                      <a:solidFill>
                        <a:srgbClr val="DDDDE1"/>
                      </a:solidFill>
                      <a:prstDash val="solid"/>
                    </a:lnB>
                    <a:solidFill>
                      <a:srgbClr val="17171A"/>
                    </a:solidFill>
                  </a:tcPr>
                </a:tc>
              </a:tr>
              <a:tr h="323850">
                <a:tc>
                  <a:txBody>
                    <a:bodyPr>
                      <a:noAutofit/>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39.0%</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43.0%</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5.04</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72.3%</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13.7%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47.62</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 우수·지연 큼</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59.7%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26.8%</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18.33</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품질·지연 검토</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75.6%</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24.7%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28.49</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 우수·지연 큼</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bl>
          </a:graphicData>
        </a:graphic>
      </p:graphicFrame>
      <p:sp>
        <p:nvSpPr>
          <p:cNvPr id="8" name="own-text-7">
            <a:extLst xmlns:a="http://schemas.openxmlformats.org/drawingml/2006/main">
              <a:ext uri="{FF2B5EF4-FFF2-40B4-BE49-F238E27FC236}">
                <a16:creationId xmlns:a16="http://schemas.microsoft.com/office/drawing/2014/main" id="{657E453C-C2C4-4935-B4C1-FF989067D9F7}"/>
              </a:ext>
            </a:extLst>
          </p:cNvPr>
          <p:cNvSpPr>
            <a:spLocks xmlns:a="http://schemas.openxmlformats.org/drawingml/2006/main" noGrp="1"/>
          </p:cNvSpPr>
          <p:nvPr/>
        </p:nvSpPr>
        <p:spPr>
          <a:xfrm xmlns:a="http://schemas.openxmlformats.org/drawingml/2006/main">
            <a:off x="628650" y="60579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xmlns:a="http://schemas.openxmlformats.org/drawingml/2006/main">
              <a:ext uri="{FF2B5EF4-FFF2-40B4-BE49-F238E27FC236}">
                <a16:creationId xmlns:a16="http://schemas.microsoft.com/office/drawing/2014/main" id="{46BBC641-2559-4CD9-9EB6-724F134DB7A9}"/>
              </a:ext>
            </a:extLst>
          </p:cNvPr>
          <p:cNvSpPr>
            <a:spLocks xmlns:a="http://schemas.openxmlformats.org/drawingml/2006/main" noGrp="1"/>
          </p:cNvSpPr>
          <p:nvPr/>
        </p:nvSpPr>
        <p:spPr>
          <a:xfrm xmlns:a="http://schemas.openxmlformats.org/drawingml/2006/main">
            <a:off x="8248650" y="2076450"/>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품질 기준으로 14B OFF를 1차 선정</a:t>
            </a:r>
          </a:p>
        </p:txBody>
      </p:sp>
      <p:graphicFrame>
        <p:nvGraphicFramePr>
          <p:cNvPr id="10" name="Chart">
            <a:extLst xmlns:a="http://schemas.openxmlformats.org/drawingml/2006/main">
              <a:ext uri="{FF2B5EF4-FFF2-40B4-BE49-F238E27FC236}">
                <a16:creationId xmlns:a16="http://schemas.microsoft.com/office/drawing/2014/main" id="{A58A48AD-EA1A-4AFD-80EF-DB67CAE6685E}"/>
              </a:ext>
            </a:extLst>
          </p:cNvPr>
          <p:cNvGraphicFramePr/>
          <p:nvPr/>
        </p:nvGraphicFramePr>
        <p:xfrm>
          <a:off xmlns:a="http://schemas.openxmlformats.org/drawingml/2006/main" x="8248650" y="2771775"/>
          <a:ext xmlns:a="http://schemas.openxmlformats.org/drawingml/2006/main" cx="4857750" cy="2457450"/>
        </p:xfrm>
        <a:graphic xmlns:a="http://schemas.openxmlformats.org/drawingml/2006/main">
          <a:graphicData uri="http://schemas.openxmlformats.org/drawingml/2006/chart">
            <c:chart xmlns:r="http://schemas.openxmlformats.org/officeDocument/2006/relationships" xmlns:c="http://schemas.openxmlformats.org/drawingml/2006/chart" r:id="Rb5cc3448fffa4078"/>
          </a:graphicData>
        </a:graphic>
      </p:graphicFrame>
      <p:sp>
        <p:nvSpPr>
          <p:cNvPr id="11" name="own-text-9">
            <a:extLst xmlns:a="http://schemas.openxmlformats.org/drawingml/2006/main">
              <a:ext uri="{FF2B5EF4-FFF2-40B4-BE49-F238E27FC236}">
                <a16:creationId xmlns:a16="http://schemas.microsoft.com/office/drawing/2014/main" id="{58F31E3B-8929-491C-AC1B-D2078D56DEF9}"/>
              </a:ext>
            </a:extLst>
          </p:cNvPr>
          <p:cNvSpPr>
            <a:spLocks xmlns:a="http://schemas.openxmlformats.org/drawingml/2006/main" noGrp="1"/>
          </p:cNvSpPr>
          <p:nvPr/>
        </p:nvSpPr>
        <p:spPr>
          <a:xfrm xmlns:a="http://schemas.openxmlformats.org/drawingml/2006/main">
            <a:off x="8248650" y="5391150"/>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동시 32명, 초당 완료 요청 수</a:t>
            </a:r>
          </a:p>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L4·30초 시험·이전 Qwen3 계열</a:t>
            </a:r>
          </a:p>
        </p:txBody>
      </p:sp>
      <p:sp>
        <p:nvSpPr>
          <p:cNvPr id="12" name="own-text-10">
            <a:extLst xmlns:a="http://schemas.openxmlformats.org/drawingml/2006/main">
              <a:ext uri="{FF2B5EF4-FFF2-40B4-BE49-F238E27FC236}">
                <a16:creationId xmlns:a16="http://schemas.microsoft.com/office/drawing/2014/main" id="{02CE0329-72FE-48A0-8FD6-D0FA12CCB5DD}"/>
              </a:ext>
            </a:extLst>
          </p:cNvPr>
          <p:cNvSpPr>
            <a:spLocks xmlns:a="http://schemas.openxmlformats.org/drawingml/2006/main" noGrp="1"/>
          </p:cNvSpPr>
          <p:nvPr/>
        </p:nvSpPr>
        <p:spPr>
          <a:xfrm xmlns:a="http://schemas.openxmlformats.org/drawingml/2006/main">
            <a:off x="8248650" y="5962650"/>
            <a:ext cx="4857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동시 서빙 부담을 줄이기 위해</a:t>
            </a:r>
          </a:p>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4B 모델의 튜닝 가능성을 재검토</a:t>
            </a:r>
          </a:p>
        </p:txBody>
      </p:sp>
    </p:spTree>
    <p:extLst>
      <p:ext uri="{BB962C8B-B14F-4D97-AF65-F5344CB8AC3E}">
        <p14:creationId xmlns:p14="http://schemas.microsoft.com/office/powerpoint/2010/main" val="971658971"/>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own-text-11">
            <a:extLst xmlns:a="http://schemas.openxmlformats.org/drawingml/2006/main">
              <a:ext uri="{FF2B5EF4-FFF2-40B4-BE49-F238E27FC236}">
                <a16:creationId xmlns:a16="http://schemas.microsoft.com/office/drawing/2014/main" id="{84259CE2-D48A-41A3-B938-0355C1B319AB}"/>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2">
            <a:extLst xmlns:a="http://schemas.openxmlformats.org/drawingml/2006/main">
              <a:ext uri="{FF2B5EF4-FFF2-40B4-BE49-F238E27FC236}">
                <a16:creationId xmlns:a16="http://schemas.microsoft.com/office/drawing/2014/main" id="{9F6C9DD5-0403-4A67-A5A2-FE2E8FAD7E6E}"/>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3">
            <a:extLst xmlns:a="http://schemas.openxmlformats.org/drawingml/2006/main">
              <a:ext uri="{FF2B5EF4-FFF2-40B4-BE49-F238E27FC236}">
                <a16:creationId xmlns:a16="http://schemas.microsoft.com/office/drawing/2014/main" id="{9816980D-24D7-4CCE-A245-39301A5EAAFA}"/>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4">
            <a:extLst xmlns:a="http://schemas.openxmlformats.org/drawingml/2006/main">
              <a:ext uri="{FF2B5EF4-FFF2-40B4-BE49-F238E27FC236}">
                <a16:creationId xmlns:a16="http://schemas.microsoft.com/office/drawing/2014/main" id="{F2546C84-B1A4-4863-9F03-475967C39A56}"/>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5">
            <a:extLst xmlns:a="http://schemas.openxmlformats.org/drawingml/2006/main">
              <a:ext uri="{FF2B5EF4-FFF2-40B4-BE49-F238E27FC236}">
                <a16:creationId xmlns:a16="http://schemas.microsoft.com/office/drawing/2014/main" id="{E7D5C094-294F-45D8-B49B-AA33A9D690AA}"/>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02</a:t>
            </a:r>
          </a:p>
        </p:txBody>
      </p:sp>
      <p:sp>
        <p:nvSpPr>
          <p:cNvPr id="6" name="own-text-16">
            <a:extLst xmlns:a="http://schemas.openxmlformats.org/drawingml/2006/main">
              <a:ext uri="{FF2B5EF4-FFF2-40B4-BE49-F238E27FC236}">
                <a16:creationId xmlns:a16="http://schemas.microsoft.com/office/drawing/2014/main" id="{C64B139F-9552-4076-A9A1-5E7DAB679103}"/>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
            <a:extLst xmlns:a="http://schemas.openxmlformats.org/drawingml/2006/main">
              <a:ext uri="{FF2B5EF4-FFF2-40B4-BE49-F238E27FC236}">
                <a16:creationId xmlns:a16="http://schemas.microsoft.com/office/drawing/2014/main" id="{89FE7996-9CD1-4175-AF9F-FC416B95F252}"/>
              </a:ext>
            </a:extLst>
          </p:cNvPr>
          <p:cNvGraphicFramePr/>
          <p:nvPr/>
        </p:nvGraphicFramePr>
        <p:xfrm>
          <a:off xmlns:a="http://schemas.openxmlformats.org/drawingml/2006/main" x="628650" y="2076450"/>
          <a:ext xmlns:a="http://schemas.openxmlformats.org/drawingml/2006/main" cx="8001000" cy="3619500"/>
        </p:xfrm>
        <a:graphic xmlns:a="http://schemas.openxmlformats.org/drawingml/2006/main">
          <a:graphicData uri="http://schemas.openxmlformats.org/drawingml/2006/table">
            <a:tbl>
              <a:tblPr/>
              <a:tblGrid>
                <a:gridCol w="4724400"/>
                <a:gridCol w="1638300"/>
                <a:gridCol w="1638300"/>
              </a:tblGrid>
              <a:tr h="452438">
                <a:tc>
                  <a:txBody>
                    <a:bodyPr>
                      <a:noAutofit/>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Gemma3</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Qwen3 OFF</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52438">
                <a:tc>
                  <a:txBody>
                    <a:bodyPr>
                      <a:noAutofit/>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36.6%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69.9%</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77.0%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48.0%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55.5%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79.5%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87.2%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10.6%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17">
            <a:extLst xmlns:a="http://schemas.openxmlformats.org/drawingml/2006/main">
              <a:ext uri="{FF2B5EF4-FFF2-40B4-BE49-F238E27FC236}">
                <a16:creationId xmlns:a16="http://schemas.microsoft.com/office/drawing/2014/main" id="{ED743BAD-A014-4AC1-9DFC-FDDE6F367AF0}"/>
              </a:ext>
            </a:extLst>
          </p:cNvPr>
          <p:cNvSpPr>
            <a:spLocks xmlns:a="http://schemas.openxmlformats.org/drawingml/2006/main" noGrp="1"/>
          </p:cNvSpPr>
          <p:nvPr/>
        </p:nvSpPr>
        <p:spPr>
          <a:xfrm xmlns:a="http://schemas.openxmlformats.org/drawingml/2006/main">
            <a:off x="908685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xmlns:a="http://schemas.openxmlformats.org/drawingml/2006/main">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4B 후보 재평가 (약 2,600건)</a:t>
            </a:r>
          </a:p>
        </p:txBody>
      </p:sp>
      <p:graphicFrame>
        <p:nvGraphicFramePr>
          <p:cNvPr id="9" name="">
            <a:extLst xmlns:a="http://schemas.openxmlformats.org/drawingml/2006/main">
              <a:ext uri="{FF2B5EF4-FFF2-40B4-BE49-F238E27FC236}">
                <a16:creationId xmlns:a16="http://schemas.microsoft.com/office/drawing/2014/main" id="{8BF3AE3C-BDCC-411D-8CF3-EB258375CF2C}"/>
              </a:ext>
            </a:extLst>
          </p:cNvPr>
          <p:cNvGraphicFramePr/>
          <p:nvPr/>
        </p:nvGraphicFramePr>
        <p:xfrm>
          <a:off xmlns:a="http://schemas.openxmlformats.org/drawingml/2006/main" x="9086850" y="2514600"/>
          <a:ext xmlns:a="http://schemas.openxmlformats.org/drawingml/2006/main" cx="4000500" cy="1066800"/>
        </p:xfrm>
        <a:graphic xmlns:a="http://schemas.openxmlformats.org/drawingml/2006/main">
          <a:graphicData uri="http://schemas.openxmlformats.org/drawingml/2006/table">
            <a:tbl>
              <a:tblPr/>
              <a:tblGrid>
                <a:gridCol w="1847850"/>
                <a:gridCol w="1076325"/>
                <a:gridCol w="1076325"/>
              </a:tblGrid>
              <a:tr h="355600">
                <a:tc>
                  <a:txBody>
                    <a:bodyPr>
                      <a:noAutofit/>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55600">
                <a:tc>
                  <a:txBody>
                    <a:bodyPr>
                      <a:noAutofit/>
                    </a:bodyPr>
                    <a:lstStyle/>
                    <a:p>
                      <a:r>
                        <a:rPr sz="1448" b="0">
                          <a:solidFill>
                            <a:srgbClr val="17171A"/>
                          </a:solidFill>
                          <a:latin typeface="맑은 고딕"/>
                          <a:ea typeface="맑은 고딕"/>
                          <a:cs typeface="맑은 고딕"/>
                        </a:rPr>
                        <a:t>Gemma3</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65.1%</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24.1%</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55600">
                <a:tc>
                  <a:txBody>
                    <a:bodyPr>
                      <a:noAutofit/>
                    </a:bodyPr>
                    <a:lstStyle/>
                    <a:p>
                      <a:r>
                        <a:rPr sz="1448" b="1">
                          <a:solidFill>
                            <a:srgbClr val="F72585"/>
                          </a:solidFill>
                          <a:latin typeface="맑은 고딕"/>
                          <a:ea typeface="맑은 고딕"/>
                          <a:cs typeface="맑은 고딕"/>
                        </a:rPr>
                        <a:t>Qwen3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63.0%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22.0%</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0" name="own-text-18">
            <a:extLst xmlns:a="http://schemas.openxmlformats.org/drawingml/2006/main">
              <a:ext uri="{FF2B5EF4-FFF2-40B4-BE49-F238E27FC236}">
                <a16:creationId xmlns:a16="http://schemas.microsoft.com/office/drawing/2014/main" id="{D0A4A04D-AAD0-4A94-8FA0-6A440D4CDADD}"/>
              </a:ext>
            </a:extLst>
          </p:cNvPr>
          <p:cNvSpPr>
            <a:spLocks xmlns:a="http://schemas.openxmlformats.org/drawingml/2006/main" noGrp="1"/>
          </p:cNvSpPr>
          <p:nvPr/>
        </p:nvSpPr>
        <p:spPr>
          <a:xfrm xmlns:a="http://schemas.openxmlformats.org/drawingml/2006/main">
            <a:off x="9086850" y="3800475"/>
            <a:ext cx="4000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xmlns:a="http://schemas.openxmlformats.org/drawingml/2006/main">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Gemma의 약점</a:t>
            </a:r>
          </a:p>
        </p:txBody>
      </p:sp>
      <p:sp>
        <p:nvSpPr>
          <p:cNvPr id="11" name="own-text-19">
            <a:extLst xmlns:a="http://schemas.openxmlformats.org/drawingml/2006/main">
              <a:ext uri="{FF2B5EF4-FFF2-40B4-BE49-F238E27FC236}">
                <a16:creationId xmlns:a16="http://schemas.microsoft.com/office/drawing/2014/main" id="{A92B45C8-1FD8-4355-8CE0-76D2D73A0EAA}"/>
              </a:ext>
            </a:extLst>
          </p:cNvPr>
          <p:cNvSpPr>
            <a:spLocks xmlns:a="http://schemas.openxmlformats.org/drawingml/2006/main" noGrp="1"/>
          </p:cNvSpPr>
          <p:nvPr/>
        </p:nvSpPr>
        <p:spPr>
          <a:xfrm xmlns:a="http://schemas.openxmlformats.org/drawingml/2006/main">
            <a:off x="9086850" y="4248150"/>
            <a:ext cx="4000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48" b="0">
                <a:solidFill>
                  <a:srgbClr val="686B72"/>
                </a:solidFill>
                <a:latin typeface="맑은 고딕"/>
                <a:ea typeface="맑은 고딕"/>
                <a:cs typeface="맑은 고딕"/>
              </a:defRPr>
            </a:defPPr>
            <a:lvl1pPr algn="l">
              <a:defRPr sz="1448" b="0">
                <a:solidFill>
                  <a:srgbClr val="686B72"/>
                </a:solidFill>
                <a:latin typeface="맑은 고딕"/>
                <a:ea typeface="맑은 고딕"/>
                <a:cs typeface="맑은 고딕"/>
              </a:defRPr>
            </a:lvl1pPr>
            <a:lvl2pPr algn="l">
              <a:defRPr sz="1448" b="0">
                <a:solidFill>
                  <a:srgbClr val="686B72"/>
                </a:solidFill>
                <a:latin typeface="맑은 고딕"/>
                <a:ea typeface="맑은 고딕"/>
                <a:cs typeface="맑은 고딕"/>
              </a:defRPr>
            </a:lvl2pPr>
            <a:lvl3pPr algn="l">
              <a:defRPr sz="1448" b="0">
                <a:solidFill>
                  <a:srgbClr val="686B72"/>
                </a:solidFill>
                <a:latin typeface="맑은 고딕"/>
                <a:ea typeface="맑은 고딕"/>
                <a:cs typeface="맑은 고딕"/>
              </a:defRPr>
            </a:lvl3pPr>
            <a:lvl4pPr algn="l">
              <a:defRPr sz="1448" b="0">
                <a:solidFill>
                  <a:srgbClr val="686B72"/>
                </a:solidFill>
                <a:latin typeface="맑은 고딕"/>
                <a:ea typeface="맑은 고딕"/>
                <a:cs typeface="맑은 고딕"/>
              </a:defRPr>
            </a:lvl4pPr>
            <a:lvl5pPr algn="l">
              <a:defRPr sz="1448" b="0">
                <a:solidFill>
                  <a:srgbClr val="686B72"/>
                </a:solidFill>
                <a:latin typeface="맑은 고딕"/>
                <a:ea typeface="맑은 고딕"/>
                <a:cs typeface="맑은 고딕"/>
              </a:defRPr>
            </a:lvl5pPr>
            <a:lvl6pPr algn="l">
              <a:defRPr sz="1448" b="0">
                <a:solidFill>
                  <a:srgbClr val="686B72"/>
                </a:solidFill>
                <a:latin typeface="맑은 고딕"/>
                <a:ea typeface="맑은 고딕"/>
                <a:cs typeface="맑은 고딕"/>
              </a:defRPr>
            </a:lvl6pPr>
            <a:lvl7pPr algn="l">
              <a:defRPr sz="1448" b="0">
                <a:solidFill>
                  <a:srgbClr val="686B72"/>
                </a:solidFill>
                <a:latin typeface="맑은 고딕"/>
                <a:ea typeface="맑은 고딕"/>
                <a:cs typeface="맑은 고딕"/>
              </a:defRPr>
            </a:lvl7pPr>
            <a:lvl8pPr algn="l">
              <a:defRPr sz="1448" b="0">
                <a:solidFill>
                  <a:srgbClr val="686B72"/>
                </a:solidFill>
                <a:latin typeface="맑은 고딕"/>
                <a:ea typeface="맑은 고딕"/>
                <a:cs typeface="맑은 고딕"/>
              </a:defRPr>
            </a:lvl8pPr>
            <a:lvl9pPr algn="l">
              <a:defRPr sz="1448" b="0">
                <a:solidFill>
                  <a:srgbClr val="686B72"/>
                </a:solidFill>
                <a:latin typeface="맑은 고딕"/>
                <a:ea typeface="맑은 고딕"/>
                <a:cs typeface="맑은 고딕"/>
              </a:defRPr>
            </a:lvl9pPr>
          </a:lstStyle>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계산 오적용·답 없는 문항의 오답·환각</a:t>
            </a:r>
          </a:p>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자료 부족 3유형 비중 28.3%→23.1%</a:t>
            </a:r>
          </a:p>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문항·보류 지침도 바뀐 시험에서</a:t>
            </a:r>
          </a:p>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전체 환각률 50.3%→24.1%</a:t>
            </a:r>
          </a:p>
        </p:txBody>
      </p:sp>
      <p:sp>
        <p:nvSpPr>
          <p:cNvPr id="12" name="own-text-20">
            <a:extLst xmlns:a="http://schemas.openxmlformats.org/drawingml/2006/main">
              <a:ext uri="{FF2B5EF4-FFF2-40B4-BE49-F238E27FC236}">
                <a16:creationId xmlns:a16="http://schemas.microsoft.com/office/drawing/2014/main" id="{15A3A219-8CEE-4154-AB7D-B5B7A35BDA7C}"/>
              </a:ext>
            </a:extLst>
          </p:cNvPr>
          <p:cNvSpPr>
            <a:spLocks xmlns:a="http://schemas.openxmlformats.org/drawingml/2006/main" noGrp="1"/>
          </p:cNvSpPr>
          <p:nvPr/>
        </p:nvSpPr>
        <p:spPr>
          <a:xfrm xmlns:a="http://schemas.openxmlformats.org/drawingml/2006/main">
            <a:off x="9086850" y="5419725"/>
            <a:ext cx="4000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Qwen의 프롬프트 교정 여지</a:t>
            </a:r>
          </a:p>
        </p:txBody>
      </p:sp>
      <p:sp>
        <p:nvSpPr>
          <p:cNvPr id="13" name="own-text-21">
            <a:extLst xmlns:a="http://schemas.openxmlformats.org/drawingml/2006/main">
              <a:ext uri="{FF2B5EF4-FFF2-40B4-BE49-F238E27FC236}">
                <a16:creationId xmlns:a16="http://schemas.microsoft.com/office/drawing/2014/main" id="{1B523CCC-7BFC-4885-93B8-806200527D6B}"/>
              </a:ext>
            </a:extLst>
          </p:cNvPr>
          <p:cNvSpPr>
            <a:spLocks xmlns:a="http://schemas.openxmlformats.org/drawingml/2006/main" noGrp="1"/>
          </p:cNvSpPr>
          <p:nvPr/>
        </p:nvSpPr>
        <p:spPr>
          <a:xfrm xmlns:a="http://schemas.openxmlformats.org/drawingml/2006/main">
            <a:off x="9086850" y="584835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과잉 보류 352건 중 255건은 환각 없음</a:t>
            </a:r>
          </a:p>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근거 우선 선택·과도한 되묻기가</a:t>
            </a:r>
          </a:p>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답변을 막는 구조를 확인</a:t>
            </a:r>
          </a:p>
        </p:txBody>
      </p:sp>
      <p:sp>
        <p:nvSpPr>
          <p:cNvPr id="14" name="own-text-22">
            <a:extLst xmlns:a="http://schemas.openxmlformats.org/drawingml/2006/main">
              <a:ext uri="{FF2B5EF4-FFF2-40B4-BE49-F238E27FC236}">
                <a16:creationId xmlns:a16="http://schemas.microsoft.com/office/drawing/2014/main" id="{A8F855F8-62D2-49E9-BCDC-DFD9F39F88D8}"/>
              </a:ext>
            </a:extLst>
          </p:cNvPr>
          <p:cNvSpPr>
            <a:spLocks xmlns:a="http://schemas.openxmlformats.org/drawingml/2006/main" noGrp="1"/>
          </p:cNvSpPr>
          <p:nvPr/>
        </p:nvSpPr>
        <p:spPr>
          <a:xfrm xmlns:a="http://schemas.openxmlformats.org/drawingml/2006/main">
            <a:off x="628650" y="588645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1473665054"/>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4" name="own-text-23">
            <a:extLst xmlns:a="http://schemas.openxmlformats.org/drawingml/2006/main">
              <a:ext uri="{FF2B5EF4-FFF2-40B4-BE49-F238E27FC236}">
                <a16:creationId xmlns:a16="http://schemas.microsoft.com/office/drawing/2014/main" id="{34495E97-1188-49D8-BC10-AAB93CC2A12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4">
            <a:extLst xmlns:a="http://schemas.openxmlformats.org/drawingml/2006/main">
              <a:ext uri="{FF2B5EF4-FFF2-40B4-BE49-F238E27FC236}">
                <a16:creationId xmlns:a16="http://schemas.microsoft.com/office/drawing/2014/main" id="{9CDA40C8-B2C6-4F81-9C8E-6689C9F0A847}"/>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5">
            <a:extLst xmlns:a="http://schemas.openxmlformats.org/drawingml/2006/main">
              <a:ext uri="{FF2B5EF4-FFF2-40B4-BE49-F238E27FC236}">
                <a16:creationId xmlns:a16="http://schemas.microsoft.com/office/drawing/2014/main" id="{F17F0039-9CE2-4AA0-A40C-21AA3AA731D0}"/>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개선안보다 정확했고, 상태 판단과 근거 선택도 개선</a:t>
            </a:r>
          </a:p>
        </p:txBody>
      </p:sp>
      <p:sp>
        <p:nvSpPr>
          <p:cNvPr id="4" name="own-text-26">
            <a:extLst xmlns:a="http://schemas.openxmlformats.org/drawingml/2006/main">
              <a:ext uri="{FF2B5EF4-FFF2-40B4-BE49-F238E27FC236}">
                <a16:creationId xmlns:a16="http://schemas.microsoft.com/office/drawing/2014/main" id="{7A152C5C-BE3A-49BF-A70A-188966967255}"/>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27">
            <a:extLst xmlns:a="http://schemas.openxmlformats.org/drawingml/2006/main">
              <a:ext uri="{FF2B5EF4-FFF2-40B4-BE49-F238E27FC236}">
                <a16:creationId xmlns:a16="http://schemas.microsoft.com/office/drawing/2014/main" id="{7D354733-2317-48D5-A246-9A2AF6BC95CC}"/>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03</a:t>
            </a:r>
          </a:p>
        </p:txBody>
      </p:sp>
      <p:sp>
        <p:nvSpPr>
          <p:cNvPr id="6" name="own-text-28">
            <a:extLst xmlns:a="http://schemas.openxmlformats.org/drawingml/2006/main">
              <a:ext uri="{FF2B5EF4-FFF2-40B4-BE49-F238E27FC236}">
                <a16:creationId xmlns:a16="http://schemas.microsoft.com/office/drawing/2014/main" id="{A2E00F56-9505-49F6-AA7D-9F30832CCCDE}"/>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404건(오답 집중 표본 포함). 상태는 기대 동작의 엄격 일치, 근거는 정답 문서만 1개 이상 인용한 비율(대상 205건).</a:t>
            </a:r>
          </a:p>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하단 Q4·Q8 품질·자원 및 오답 원인 비교는 별도 1,300문항 기준.</a:t>
            </a:r>
          </a:p>
        </p:txBody>
      </p:sp>
      <p:graphicFrame>
        <p:nvGraphicFramePr>
          <p:cNvPr id="7" name="">
            <a:extLst xmlns:a="http://schemas.openxmlformats.org/drawingml/2006/main">
              <a:ext uri="{FF2B5EF4-FFF2-40B4-BE49-F238E27FC236}">
                <a16:creationId xmlns:a16="http://schemas.microsoft.com/office/drawing/2014/main" id="{AB9F504E-4A76-462F-9F0C-85DF51C7C91C}"/>
              </a:ext>
            </a:extLst>
          </p:cNvPr>
          <p:cNvGraphicFramePr/>
          <p:nvPr/>
        </p:nvGraphicFramePr>
        <p:xfrm>
          <a:off xmlns:a="http://schemas.openxmlformats.org/drawingml/2006/main" x="628650" y="2076450"/>
          <a:ext xmlns:a="http://schemas.openxmlformats.org/drawingml/2006/main" cx="12458700" cy="2476500"/>
        </p:xfrm>
        <a:graphic xmlns:a="http://schemas.openxmlformats.org/drawingml/2006/main">
          <a:graphicData uri="http://schemas.openxmlformats.org/drawingml/2006/table">
            <a:tbl>
              <a:tblPr/>
              <a:tblGrid>
                <a:gridCol w="4762500"/>
                <a:gridCol w="1809750"/>
                <a:gridCol w="1809750"/>
                <a:gridCol w="2038350"/>
                <a:gridCol w="2038350"/>
              </a:tblGrid>
              <a:tr h="412750">
                <a:tc>
                  <a:txBody>
                    <a:bodyPr>
                      <a:noAutofit/>
                    </a:bodyPr>
                    <a:lstStyle/>
                    <a:p>
                      <a:r>
                        <a:rPr sz="1523"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정답률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상태 판단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23" b="1">
                          <a:solidFill>
                            <a:srgbClr val="FFFFFF"/>
                          </a:solidFill>
                          <a:latin typeface="맑은 고딕"/>
                          <a:ea typeface="맑은 고딕"/>
                          <a:cs typeface="맑은 고딕"/>
                        </a:rPr>
                        <a:t>근거 선택</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12750">
                <a:tc>
                  <a:txBody>
                    <a:bodyPr>
                      <a:noAutofit/>
                    </a:bodyPr>
                    <a:lstStyle/>
                    <a:p>
                      <a:r>
                        <a:rPr sz="1523" b="0">
                          <a:solidFill>
                            <a:srgbClr val="17171A"/>
                          </a:solidFill>
                          <a:latin typeface="맑은 고딕"/>
                          <a:ea typeface="맑은 고딕"/>
                          <a:cs typeface="맑은 고딕"/>
                        </a:rPr>
                        <a:t>Qwen3 4B OFF · 기존</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62.9%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23.8%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62.4%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39.0%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12750">
                <a:tc>
                  <a:txBody>
                    <a:bodyPr>
                      <a:noAutofit/>
                    </a:bodyPr>
                    <a:lstStyle/>
                    <a:p>
                      <a:r>
                        <a:rPr sz="1523" b="0">
                          <a:solidFill>
                            <a:srgbClr val="17171A"/>
                          </a:solidFill>
                          <a:latin typeface="맑은 고딕"/>
                          <a:ea typeface="맑은 고딕"/>
                          <a:cs typeface="맑은 고딕"/>
                        </a:rPr>
                        <a:t>Qwen3 4B OFF · 프롬프트 개선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77.5%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24.5%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77.5%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49.3%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12750">
                <a:tc>
                  <a:txBody>
                    <a:bodyPr>
                      <a:noAutofit/>
                    </a:bodyPr>
                    <a:lstStyle/>
                    <a:p>
                      <a:r>
                        <a:rPr sz="1523"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71.8%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42.6%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78.0%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93.2%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12750">
                <a:tc>
                  <a:txBody>
                    <a:bodyPr>
                      <a:noAutofit/>
                    </a:bodyPr>
                    <a:lstStyle/>
                    <a:p>
                      <a:r>
                        <a:rPr sz="1523" b="1">
                          <a:solidFill>
                            <a:srgbClr val="F72585"/>
                          </a:solidFill>
                          <a:latin typeface="맑은 고딕"/>
                          <a:ea typeface="맑은 고딕"/>
                          <a:cs typeface="맑은 고딕"/>
                        </a:rPr>
                        <a:t>Qwen3 4B Instruct Q4_K_M · 기존</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85.1%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23.0%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88.4%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23" b="1">
                          <a:solidFill>
                            <a:srgbClr val="F72585"/>
                          </a:solidFill>
                          <a:latin typeface="맑은 고딕"/>
                          <a:ea typeface="맑은 고딕"/>
                          <a:cs typeface="맑은 고딕"/>
                        </a:rPr>
                        <a:t>87.8%</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12750">
                <a:tc>
                  <a:txBody>
                    <a:bodyPr>
                      <a:noAutofit/>
                    </a:bodyPr>
                    <a:lstStyle/>
                    <a:p>
                      <a:r>
                        <a:rPr sz="1523"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87.6%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22.3%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91.6%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23" b="0">
                          <a:solidFill>
                            <a:srgbClr val="17171A"/>
                          </a:solidFill>
                          <a:latin typeface="맑은 고딕"/>
                          <a:ea typeface="맑은 고딕"/>
                          <a:cs typeface="맑은 고딕"/>
                        </a:rPr>
                        <a:t>90.2%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29">
            <a:extLst xmlns:a="http://schemas.openxmlformats.org/drawingml/2006/main">
              <a:ext uri="{FF2B5EF4-FFF2-40B4-BE49-F238E27FC236}">
                <a16:creationId xmlns:a16="http://schemas.microsoft.com/office/drawing/2014/main" id="{7E3D3612-BC1C-4CC8-A06C-D121F65382E8}"/>
              </a:ext>
            </a:extLst>
          </p:cNvPr>
          <p:cNvSpPr>
            <a:spLocks xmlns:a="http://schemas.openxmlformats.org/drawingml/2006/main" noGrp="1"/>
          </p:cNvSpPr>
          <p:nvPr/>
        </p:nvSpPr>
        <p:spPr>
          <a:xfrm xmlns:a="http://schemas.openxmlformats.org/drawingml/2006/main">
            <a:off x="628650" y="487680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Q4와 Q8의 품질·자원 비교</a:t>
            </a:r>
          </a:p>
        </p:txBody>
      </p:sp>
      <p:sp>
        <p:nvSpPr>
          <p:cNvPr id="9" name="own-text-30">
            <a:extLst xmlns:a="http://schemas.openxmlformats.org/drawingml/2006/main">
              <a:ext uri="{FF2B5EF4-FFF2-40B4-BE49-F238E27FC236}">
                <a16:creationId xmlns:a16="http://schemas.microsoft.com/office/drawing/2014/main" id="{941FA769-8B81-479D-8B3F-8AFFEC7E1A86}"/>
              </a:ext>
            </a:extLst>
          </p:cNvPr>
          <p:cNvSpPr>
            <a:spLocks xmlns:a="http://schemas.openxmlformats.org/drawingml/2006/main" noGrp="1"/>
          </p:cNvSpPr>
          <p:nvPr/>
        </p:nvSpPr>
        <p:spPr>
          <a:xfrm xmlns:a="http://schemas.openxmlformats.org/drawingml/2006/main">
            <a:off x="628650" y="5295900"/>
            <a:ext cx="600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정답률 77.5% / 78.8%</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환각률 26.2% / 26.5%</a:t>
            </a:r>
          </a:p>
        </p:txBody>
      </p:sp>
      <p:sp>
        <p:nvSpPr>
          <p:cNvPr id="10" name="own-text-31">
            <a:extLst xmlns:a="http://schemas.openxmlformats.org/drawingml/2006/main">
              <a:ext uri="{FF2B5EF4-FFF2-40B4-BE49-F238E27FC236}">
                <a16:creationId xmlns:a16="http://schemas.microsoft.com/office/drawing/2014/main" id="{6A869ECB-4C9A-4658-A897-D72BFA3BC022}"/>
              </a:ext>
            </a:extLst>
          </p:cNvPr>
          <p:cNvSpPr>
            <a:spLocks xmlns:a="http://schemas.openxmlformats.org/drawingml/2006/main" noGrp="1"/>
          </p:cNvSpPr>
          <p:nvPr/>
        </p:nvSpPr>
        <p:spPr>
          <a:xfrm xmlns:a="http://schemas.openxmlformats.org/drawingml/2006/main">
            <a:off x="628650" y="5981700"/>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23" b="0">
                <a:solidFill>
                  <a:srgbClr val="686B72"/>
                </a:solidFill>
                <a:latin typeface="맑은 고딕"/>
                <a:ea typeface="맑은 고딕"/>
                <a:cs typeface="맑은 고딕"/>
              </a:defRPr>
            </a:defPPr>
            <a:lvl1pPr algn="l">
              <a:defRPr sz="1523" b="0">
                <a:solidFill>
                  <a:srgbClr val="686B72"/>
                </a:solidFill>
                <a:latin typeface="맑은 고딕"/>
                <a:ea typeface="맑은 고딕"/>
                <a:cs typeface="맑은 고딕"/>
              </a:defRPr>
            </a:lvl1pPr>
            <a:lvl2pPr algn="l">
              <a:defRPr sz="1523" b="0">
                <a:solidFill>
                  <a:srgbClr val="686B72"/>
                </a:solidFill>
                <a:latin typeface="맑은 고딕"/>
                <a:ea typeface="맑은 고딕"/>
                <a:cs typeface="맑은 고딕"/>
              </a:defRPr>
            </a:lvl2pPr>
            <a:lvl3pPr algn="l">
              <a:defRPr sz="1523" b="0">
                <a:solidFill>
                  <a:srgbClr val="686B72"/>
                </a:solidFill>
                <a:latin typeface="맑은 고딕"/>
                <a:ea typeface="맑은 고딕"/>
                <a:cs typeface="맑은 고딕"/>
              </a:defRPr>
            </a:lvl3pPr>
            <a:lvl4pPr algn="l">
              <a:defRPr sz="1523" b="0">
                <a:solidFill>
                  <a:srgbClr val="686B72"/>
                </a:solidFill>
                <a:latin typeface="맑은 고딕"/>
                <a:ea typeface="맑은 고딕"/>
                <a:cs typeface="맑은 고딕"/>
              </a:defRPr>
            </a:lvl4pPr>
            <a:lvl5pPr algn="l">
              <a:defRPr sz="1523" b="0">
                <a:solidFill>
                  <a:srgbClr val="686B72"/>
                </a:solidFill>
                <a:latin typeface="맑은 고딕"/>
                <a:ea typeface="맑은 고딕"/>
                <a:cs typeface="맑은 고딕"/>
              </a:defRPr>
            </a:lvl5pPr>
            <a:lvl6pPr algn="l">
              <a:defRPr sz="1523" b="0">
                <a:solidFill>
                  <a:srgbClr val="686B72"/>
                </a:solidFill>
                <a:latin typeface="맑은 고딕"/>
                <a:ea typeface="맑은 고딕"/>
                <a:cs typeface="맑은 고딕"/>
              </a:defRPr>
            </a:lvl6pPr>
            <a:lvl7pPr algn="l">
              <a:defRPr sz="1523" b="0">
                <a:solidFill>
                  <a:srgbClr val="686B72"/>
                </a:solidFill>
                <a:latin typeface="맑은 고딕"/>
                <a:ea typeface="맑은 고딕"/>
                <a:cs typeface="맑은 고딕"/>
              </a:defRPr>
            </a:lvl7pPr>
            <a:lvl8pPr algn="l">
              <a:defRPr sz="1523" b="0">
                <a:solidFill>
                  <a:srgbClr val="686B72"/>
                </a:solidFill>
                <a:latin typeface="맑은 고딕"/>
                <a:ea typeface="맑은 고딕"/>
                <a:cs typeface="맑은 고딕"/>
              </a:defRPr>
            </a:lvl8pPr>
            <a:lvl9pPr algn="l">
              <a:defRPr sz="1523" b="0">
                <a:solidFill>
                  <a:srgbClr val="686B72"/>
                </a:solidFill>
                <a:latin typeface="맑은 고딕"/>
                <a:ea typeface="맑은 고딕"/>
                <a:cs typeface="맑은 고딕"/>
              </a:defRPr>
            </a:lvl9pPr>
          </a:lstStyle>
          <a:p xmlns:a="http://schemas.openxmlformats.org/drawingml/2006/main">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평균 응답 2.61초 / 3.49초·가중치 2.5GB / 4.3GB</a:t>
            </a:r>
          </a:p>
          <a:p xmlns:a="http://schemas.openxmlformats.org/drawingml/2006/main">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품질 차이가 뚜렷하지 않아 동시 서빙 여유를 고려</a:t>
            </a:r>
          </a:p>
        </p:txBody>
      </p:sp>
      <p:sp>
        <p:nvSpPr>
          <p:cNvPr id="11" name="own-text-32">
            <a:extLst xmlns:a="http://schemas.openxmlformats.org/drawingml/2006/main">
              <a:ext uri="{FF2B5EF4-FFF2-40B4-BE49-F238E27FC236}">
                <a16:creationId xmlns:a16="http://schemas.microsoft.com/office/drawing/2014/main" id="{F5A6B50D-974C-49DF-B08A-7D8BD332CDF6}"/>
              </a:ext>
            </a:extLst>
          </p:cNvPr>
          <p:cNvSpPr>
            <a:spLocks xmlns:a="http://schemas.openxmlformats.org/drawingml/2006/main" noGrp="1"/>
          </p:cNvSpPr>
          <p:nvPr/>
        </p:nvSpPr>
        <p:spPr>
          <a:xfrm xmlns:a="http://schemas.openxmlformats.org/drawingml/2006/main">
            <a:off x="7086600" y="487680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xmlns:a="http://schemas.openxmlformats.org/drawingml/2006/main">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Instruct 고도화의 한계와 방향</a:t>
            </a:r>
          </a:p>
        </p:txBody>
      </p:sp>
      <p:sp>
        <p:nvSpPr>
          <p:cNvPr id="12" name="own-text-33">
            <a:extLst xmlns:a="http://schemas.openxmlformats.org/drawingml/2006/main">
              <a:ext uri="{FF2B5EF4-FFF2-40B4-BE49-F238E27FC236}">
                <a16:creationId xmlns:a16="http://schemas.microsoft.com/office/drawing/2014/main" id="{A7C25135-C9CC-4B0B-806B-10F5FD857F1A}"/>
              </a:ext>
            </a:extLst>
          </p:cNvPr>
          <p:cNvSpPr>
            <a:spLocks xmlns:a="http://schemas.openxmlformats.org/drawingml/2006/main" noGrp="1"/>
          </p:cNvSpPr>
          <p:nvPr/>
        </p:nvSpPr>
        <p:spPr>
          <a:xfrm xmlns:a="http://schemas.openxmlformats.org/drawingml/2006/main">
            <a:off x="7086600" y="5295900"/>
            <a:ext cx="600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오답 중 과잉 보류 37.7%에서 6.1%로 감소</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보류만 풀어 정답을 늘릴 교정 여지가 줄어듦</a:t>
            </a:r>
          </a:p>
        </p:txBody>
      </p:sp>
      <p:sp>
        <p:nvSpPr>
          <p:cNvPr id="13" name="own-text-34">
            <a:extLst xmlns:a="http://schemas.openxmlformats.org/drawingml/2006/main">
              <a:ext uri="{FF2B5EF4-FFF2-40B4-BE49-F238E27FC236}">
                <a16:creationId xmlns:a16="http://schemas.microsoft.com/office/drawing/2014/main" id="{24F1DE1E-D1DB-49D2-80E1-D5E23BE001E8}"/>
              </a:ext>
            </a:extLst>
          </p:cNvPr>
          <p:cNvSpPr>
            <a:spLocks xmlns:a="http://schemas.openxmlformats.org/drawingml/2006/main" noGrp="1"/>
          </p:cNvSpPr>
          <p:nvPr/>
        </p:nvSpPr>
        <p:spPr>
          <a:xfrm xmlns:a="http://schemas.openxmlformats.org/drawingml/2006/main">
            <a:off x="7086600" y="60769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정답률 상승보다 환각 감소에 집중</a:t>
            </a:r>
          </a:p>
        </p:txBody>
      </p:sp>
    </p:spTree>
    <p:extLst>
      <p:ext uri="{BB962C8B-B14F-4D97-AF65-F5344CB8AC3E}">
        <p14:creationId xmlns:p14="http://schemas.microsoft.com/office/powerpoint/2010/main" val="422901119"/>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35">
            <a:extLst xmlns:a="http://schemas.openxmlformats.org/drawingml/2006/main">
              <a:ext uri="{FF2B5EF4-FFF2-40B4-BE49-F238E27FC236}">
                <a16:creationId xmlns:a16="http://schemas.microsoft.com/office/drawing/2014/main" id="{7017BDDE-C41F-474E-B3F1-02C49D898459}"/>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36">
            <a:extLst xmlns:a="http://schemas.openxmlformats.org/drawingml/2006/main">
              <a:ext uri="{FF2B5EF4-FFF2-40B4-BE49-F238E27FC236}">
                <a16:creationId xmlns:a16="http://schemas.microsoft.com/office/drawing/2014/main" id="{DA33C740-7E58-4A8F-B72A-787DB4355991}"/>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37">
            <a:extLst xmlns:a="http://schemas.openxmlformats.org/drawingml/2006/main">
              <a:ext uri="{FF2B5EF4-FFF2-40B4-BE49-F238E27FC236}">
                <a16:creationId xmlns:a16="http://schemas.microsoft.com/office/drawing/2014/main" id="{5E5FA566-06DE-4803-BD01-79DB8A4EAA65}"/>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38">
            <a:extLst xmlns:a="http://schemas.openxmlformats.org/drawingml/2006/main">
              <a:ext uri="{FF2B5EF4-FFF2-40B4-BE49-F238E27FC236}">
                <a16:creationId xmlns:a16="http://schemas.microsoft.com/office/drawing/2014/main" id="{E6AC7F4D-C368-40AC-9148-97718F78E76B}"/>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9">
            <a:extLst xmlns:a="http://schemas.openxmlformats.org/drawingml/2006/main">
              <a:ext uri="{FF2B5EF4-FFF2-40B4-BE49-F238E27FC236}">
                <a16:creationId xmlns:a16="http://schemas.microsoft.com/office/drawing/2014/main" id="{4095D508-8E8E-43A6-9527-5594DD77CFBF}"/>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04</a:t>
            </a:r>
          </a:p>
        </p:txBody>
      </p:sp>
      <p:sp>
        <p:nvSpPr>
          <p:cNvPr id="6" name="own-text-40">
            <a:extLst xmlns:a="http://schemas.openxmlformats.org/drawingml/2006/main">
              <a:ext uri="{FF2B5EF4-FFF2-40B4-BE49-F238E27FC236}">
                <a16:creationId xmlns:a16="http://schemas.microsoft.com/office/drawing/2014/main" id="{C73C9CED-71AC-4FCE-8BA3-731C3922E42E}"/>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1">
            <a:extLst xmlns:a="http://schemas.openxmlformats.org/drawingml/2006/main">
              <a:ext uri="{FF2B5EF4-FFF2-40B4-BE49-F238E27FC236}">
                <a16:creationId xmlns:a16="http://schemas.microsoft.com/office/drawing/2014/main" id="{1C0F66C1-E8CF-4172-8279-D7CAF9E02228}"/>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A6344A07-2660-4CA9-B556-01A2AC51C7D2}"/>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eafe70b87b93497c"/>
          </a:graphicData>
        </a:graphic>
      </p:graphicFrame>
      <p:graphicFrame>
        <p:nvGraphicFramePr>
          <p:cNvPr id="9" name="">
            <a:extLst xmlns:a="http://schemas.openxmlformats.org/drawingml/2006/main">
              <a:ext uri="{FF2B5EF4-FFF2-40B4-BE49-F238E27FC236}">
                <a16:creationId xmlns:a16="http://schemas.microsoft.com/office/drawing/2014/main" id="{7D3174F1-AA0A-4C75-82DF-830DFD03621C}"/>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42">
            <a:extLst xmlns:a="http://schemas.openxmlformats.org/drawingml/2006/main">
              <a:ext uri="{FF2B5EF4-FFF2-40B4-BE49-F238E27FC236}">
                <a16:creationId xmlns:a16="http://schemas.microsoft.com/office/drawing/2014/main" id="{EBCB6B6E-F435-4B0D-9120-CA917B860A65}"/>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3">
            <a:extLst xmlns:a="http://schemas.openxmlformats.org/drawingml/2006/main">
              <a:ext uri="{FF2B5EF4-FFF2-40B4-BE49-F238E27FC236}">
                <a16:creationId xmlns:a16="http://schemas.microsoft.com/office/drawing/2014/main" id="{9A1D4A7B-A0D9-419D-87D9-BD84F8C30A2F}"/>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972956397"/>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1F2FEC30-79C9-41DA-BC79-5508876D3112}"/>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C55C91DE-F459-4AD8-A59D-F874D74D48A6}"/>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D58D970A-753B-4468-9BA6-17EB08DEBFCE}"/>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EEA0D98B-21C7-49E3-BFF5-BDC12A765AB6}"/>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5D45B30F-DC0A-430F-9A92-6203B088A7C4}"/>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478634C8-F31B-4B60-92B1-EAA43A40B37C}"/>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F3EEA71E-F2B3-46F1-9E1D-F75A1A5B3D05}"/>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2756DC8E-2AC8-4882-8843-9468B1D934DD}"/>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CA3D5822-99C1-48FD-B23F-DEE2D9D2F5C1}"/>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44">
            <a:extLst xmlns:a="http://schemas.openxmlformats.org/drawingml/2006/main">
              <a:ext uri="{FF2B5EF4-FFF2-40B4-BE49-F238E27FC236}">
                <a16:creationId xmlns:a16="http://schemas.microsoft.com/office/drawing/2014/main" id="{A4CFEBD3-D9D6-4564-B164-F06F7771B1D5}"/>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45">
            <a:extLst xmlns:a="http://schemas.openxmlformats.org/drawingml/2006/main">
              <a:ext uri="{FF2B5EF4-FFF2-40B4-BE49-F238E27FC236}">
                <a16:creationId xmlns:a16="http://schemas.microsoft.com/office/drawing/2014/main" id="{BA0DB51A-6957-419C-9D8E-F8BC653B75FC}"/>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46">
            <a:extLst xmlns:a="http://schemas.openxmlformats.org/drawingml/2006/main">
              <a:ext uri="{FF2B5EF4-FFF2-40B4-BE49-F238E27FC236}">
                <a16:creationId xmlns:a16="http://schemas.microsoft.com/office/drawing/2014/main" id="{9F6DC47A-EAC5-42C3-8E43-9ADE58DA2D8A}"/>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47">
            <a:extLst xmlns:a="http://schemas.openxmlformats.org/drawingml/2006/main">
              <a:ext uri="{FF2B5EF4-FFF2-40B4-BE49-F238E27FC236}">
                <a16:creationId xmlns:a16="http://schemas.microsoft.com/office/drawing/2014/main" id="{F355D132-D851-4FCB-BDD7-EBD6E56FA26C}"/>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8">
            <a:extLst xmlns:a="http://schemas.openxmlformats.org/drawingml/2006/main">
              <a:ext uri="{FF2B5EF4-FFF2-40B4-BE49-F238E27FC236}">
                <a16:creationId xmlns:a16="http://schemas.microsoft.com/office/drawing/2014/main" id="{380E1D30-5EDC-4843-9C82-914FE07DCA6E}"/>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05</a:t>
            </a:r>
          </a:p>
        </p:txBody>
      </p:sp>
      <p:sp>
        <p:nvSpPr>
          <p:cNvPr id="6" name="own-text-49">
            <a:extLst xmlns:a="http://schemas.openxmlformats.org/drawingml/2006/main">
              <a:ext uri="{FF2B5EF4-FFF2-40B4-BE49-F238E27FC236}">
                <a16:creationId xmlns:a16="http://schemas.microsoft.com/office/drawing/2014/main" id="{5868DE7D-8E6F-43A9-BB9E-AA3F12636DA7}"/>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0">
            <a:extLst xmlns:a="http://schemas.openxmlformats.org/drawingml/2006/main">
              <a:ext uri="{FF2B5EF4-FFF2-40B4-BE49-F238E27FC236}">
                <a16:creationId xmlns:a16="http://schemas.microsoft.com/office/drawing/2014/main" id="{4A7B4573-92DE-4485-A150-4D7106B9639F}"/>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1">
            <a:extLst xmlns:a="http://schemas.openxmlformats.org/drawingml/2006/main">
              <a:ext uri="{FF2B5EF4-FFF2-40B4-BE49-F238E27FC236}">
                <a16:creationId xmlns:a16="http://schemas.microsoft.com/office/drawing/2014/main" id="{72EA0F0E-E6E4-4F06-B32C-00255F488D45}"/>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2">
            <a:extLst xmlns:a="http://schemas.openxmlformats.org/drawingml/2006/main">
              <a:ext uri="{FF2B5EF4-FFF2-40B4-BE49-F238E27FC236}">
                <a16:creationId xmlns:a16="http://schemas.microsoft.com/office/drawing/2014/main" id="{0C1AF927-0F4A-4D22-93EB-FF2514B12181}"/>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3">
            <a:extLst xmlns:a="http://schemas.openxmlformats.org/drawingml/2006/main">
              <a:ext uri="{FF2B5EF4-FFF2-40B4-BE49-F238E27FC236}">
                <a16:creationId xmlns:a16="http://schemas.microsoft.com/office/drawing/2014/main" id="{DBF05A9D-76AF-4EF6-8006-A174D1C34BBA}"/>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4">
            <a:extLst xmlns:a="http://schemas.openxmlformats.org/drawingml/2006/main">
              <a:ext uri="{FF2B5EF4-FFF2-40B4-BE49-F238E27FC236}">
                <a16:creationId xmlns:a16="http://schemas.microsoft.com/office/drawing/2014/main" id="{20F41504-92C8-4581-A9E7-CD83609E3A66}"/>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55">
            <a:extLst xmlns:a="http://schemas.openxmlformats.org/drawingml/2006/main">
              <a:ext uri="{FF2B5EF4-FFF2-40B4-BE49-F238E27FC236}">
                <a16:creationId xmlns:a16="http://schemas.microsoft.com/office/drawing/2014/main" id="{52EABC47-BAC1-4741-BB9B-5807F3818BDD}"/>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56">
            <a:extLst xmlns:a="http://schemas.openxmlformats.org/drawingml/2006/main">
              <a:ext uri="{FF2B5EF4-FFF2-40B4-BE49-F238E27FC236}">
                <a16:creationId xmlns:a16="http://schemas.microsoft.com/office/drawing/2014/main" id="{BF0941D9-6CE2-4BF7-B38C-9B5A2B00E51A}"/>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57">
            <a:extLst xmlns:a="http://schemas.openxmlformats.org/drawingml/2006/main">
              <a:ext uri="{FF2B5EF4-FFF2-40B4-BE49-F238E27FC236}">
                <a16:creationId xmlns:a16="http://schemas.microsoft.com/office/drawing/2014/main" id="{5BA958C9-F834-4CEA-AADE-BF2ADEE88DF8}"/>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58">
            <a:extLst xmlns:a="http://schemas.openxmlformats.org/drawingml/2006/main">
              <a:ext uri="{FF2B5EF4-FFF2-40B4-BE49-F238E27FC236}">
                <a16:creationId xmlns:a16="http://schemas.microsoft.com/office/drawing/2014/main" id="{ABD0EE6E-AA9A-46EC-9276-3FFC24051D01}"/>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9">
            <a:extLst xmlns:a="http://schemas.openxmlformats.org/drawingml/2006/main">
              <a:ext uri="{FF2B5EF4-FFF2-40B4-BE49-F238E27FC236}">
                <a16:creationId xmlns:a16="http://schemas.microsoft.com/office/drawing/2014/main" id="{F63081FD-B1BD-4200-8306-F36A8A2AA109}"/>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FEBE4F8E-05AD-4E47-98E5-D988793759DB}"/>
              </a:ext>
            </a:extLst>
          </p:cNvPr>
          <p:cNvGraphicFramePr/>
          <p:nvPr/>
        </p:nvGraphicFramePr>
        <p:xfrm>
          <a:off xmlns:a="http://schemas.openxmlformats.org/drawingml/2006/main" x="628650" y="4886325"/>
          <a:ext xmlns:a="http://schemas.openxmlformats.org/drawingml/2006/main" cx="12458700" cy="1571625"/>
        </p:xfrm>
        <a:graphic xmlns:a="http://schemas.openxmlformats.org/drawingml/2006/main">
          <a:graphicData uri="http://schemas.openxmlformats.org/drawingml/2006/table">
            <a:tbl>
              <a:tblPr/>
              <a:tblGrid>
                <a:gridCol w="4838700"/>
                <a:gridCol w="3810000"/>
                <a:gridCol w="3810000"/>
              </a:tblGrid>
              <a:tr h="392906">
                <a:tc>
                  <a:txBody>
                    <a:bodyPr>
                      <a:noAutofit/>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 없이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개선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92906">
                <a:tc>
                  <a:txBody>
                    <a:bodyPr>
                      <a:noAutofit/>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84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392906">
                <a:tc>
                  <a:txBody>
                    <a:bodyPr>
                      <a:noAutofit/>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161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182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392906">
                <a:tc>
                  <a:txBody>
                    <a:bodyPr>
                      <a:noAutofit/>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90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977249589"/>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32F44E1-0482-4E08-999D-61B3FB5DBC5F}"/>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60">
            <a:extLst xmlns:a="http://schemas.openxmlformats.org/drawingml/2006/main">
              <a:ext uri="{FF2B5EF4-FFF2-40B4-BE49-F238E27FC236}">
                <a16:creationId xmlns:a16="http://schemas.microsoft.com/office/drawing/2014/main" id="{39085686-1D7A-4C3D-9065-6296898F5FC7}"/>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1">
            <a:extLst xmlns:a="http://schemas.openxmlformats.org/drawingml/2006/main">
              <a:ext uri="{FF2B5EF4-FFF2-40B4-BE49-F238E27FC236}">
                <a16:creationId xmlns:a16="http://schemas.microsoft.com/office/drawing/2014/main" id="{1C2911EE-B2B3-484E-A0D1-EEA71A350233}"/>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2">
            <a:extLst xmlns:a="http://schemas.openxmlformats.org/drawingml/2006/main">
              <a:ext uri="{FF2B5EF4-FFF2-40B4-BE49-F238E27FC236}">
                <a16:creationId xmlns:a16="http://schemas.microsoft.com/office/drawing/2014/main" id="{29213BDE-F2CC-4E21-BA16-47B854126412}"/>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3">
            <a:extLst xmlns:a="http://schemas.openxmlformats.org/drawingml/2006/main">
              <a:ext uri="{FF2B5EF4-FFF2-40B4-BE49-F238E27FC236}">
                <a16:creationId xmlns:a16="http://schemas.microsoft.com/office/drawing/2014/main" id="{A2231DF6-7593-422F-B3A8-420A3E9F50BF}"/>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4">
            <a:extLst xmlns:a="http://schemas.openxmlformats.org/drawingml/2006/main">
              <a:ext uri="{FF2B5EF4-FFF2-40B4-BE49-F238E27FC236}">
                <a16:creationId xmlns:a16="http://schemas.microsoft.com/office/drawing/2014/main" id="{2441F478-6D24-4FA0-934C-79C46B1B29E3}"/>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06</a:t>
            </a:r>
          </a:p>
        </p:txBody>
      </p:sp>
      <p:sp>
        <p:nvSpPr>
          <p:cNvPr id="6" name="own-text-65">
            <a:extLst xmlns:a="http://schemas.openxmlformats.org/drawingml/2006/main">
              <a:ext uri="{FF2B5EF4-FFF2-40B4-BE49-F238E27FC236}">
                <a16:creationId xmlns:a16="http://schemas.microsoft.com/office/drawing/2014/main" id="{63909BB5-DD00-4BD8-B37F-E0C1F046C420}"/>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66">
            <a:extLst xmlns:a="http://schemas.openxmlformats.org/drawingml/2006/main">
              <a:ext uri="{FF2B5EF4-FFF2-40B4-BE49-F238E27FC236}">
                <a16:creationId xmlns:a16="http://schemas.microsoft.com/office/drawing/2014/main" id="{A22EC96D-4668-4F42-9ADE-2485E03BFFDD}"/>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67">
            <a:extLst xmlns:a="http://schemas.openxmlformats.org/drawingml/2006/main">
              <a:ext uri="{FF2B5EF4-FFF2-40B4-BE49-F238E27FC236}">
                <a16:creationId xmlns:a16="http://schemas.microsoft.com/office/drawing/2014/main" id="{CACCDB6E-82D5-4287-ABA9-EC0EA68F39EE}"/>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68">
            <a:extLst xmlns:a="http://schemas.openxmlformats.org/drawingml/2006/main">
              <a:ext uri="{FF2B5EF4-FFF2-40B4-BE49-F238E27FC236}">
                <a16:creationId xmlns:a16="http://schemas.microsoft.com/office/drawing/2014/main" id="{C1C61D99-21EF-44A1-8D00-E4CD834665A1}"/>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9">
            <a:extLst xmlns:a="http://schemas.openxmlformats.org/drawingml/2006/main">
              <a:ext uri="{FF2B5EF4-FFF2-40B4-BE49-F238E27FC236}">
                <a16:creationId xmlns:a16="http://schemas.microsoft.com/office/drawing/2014/main" id="{8187C76A-0E51-4E11-B4A8-3F79F57EBDDC}"/>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0">
            <a:extLst xmlns:a="http://schemas.openxmlformats.org/drawingml/2006/main">
              <a:ext uri="{FF2B5EF4-FFF2-40B4-BE49-F238E27FC236}">
                <a16:creationId xmlns:a16="http://schemas.microsoft.com/office/drawing/2014/main" id="{B7DA6811-6259-495B-A2E3-B66D6805B20D}"/>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1">
            <a:extLst xmlns:a="http://schemas.openxmlformats.org/drawingml/2006/main">
              <a:ext uri="{FF2B5EF4-FFF2-40B4-BE49-F238E27FC236}">
                <a16:creationId xmlns:a16="http://schemas.microsoft.com/office/drawing/2014/main" id="{C83D70FB-4C10-4850-9014-FF014B620795}"/>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2">
            <a:extLst xmlns:a="http://schemas.openxmlformats.org/drawingml/2006/main">
              <a:ext uri="{FF2B5EF4-FFF2-40B4-BE49-F238E27FC236}">
                <a16:creationId xmlns:a16="http://schemas.microsoft.com/office/drawing/2014/main" id="{D55F41AC-1F28-42CA-AEE7-C1543F9693FC}"/>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3">
            <a:extLst xmlns:a="http://schemas.openxmlformats.org/drawingml/2006/main">
              <a:ext uri="{FF2B5EF4-FFF2-40B4-BE49-F238E27FC236}">
                <a16:creationId xmlns:a16="http://schemas.microsoft.com/office/drawing/2014/main" id="{3160DF03-50C4-4350-8730-3F837D6F5A1C}"/>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77735986-2F76-4148-8647-B67843A6546B}"/>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74">
            <a:extLst xmlns:a="http://schemas.openxmlformats.org/drawingml/2006/main">
              <a:ext uri="{FF2B5EF4-FFF2-40B4-BE49-F238E27FC236}">
                <a16:creationId xmlns:a16="http://schemas.microsoft.com/office/drawing/2014/main" id="{1DA9CA55-A044-4D71-AA4F-6A75B0B3AFA7}"/>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75">
            <a:extLst xmlns:a="http://schemas.openxmlformats.org/drawingml/2006/main">
              <a:ext uri="{FF2B5EF4-FFF2-40B4-BE49-F238E27FC236}">
                <a16:creationId xmlns:a16="http://schemas.microsoft.com/office/drawing/2014/main" id="{027A461A-1A87-4C0B-83DD-ECAE0265EB92}"/>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1657787841"/>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BA14021-8C26-4318-9EFB-79353F522EF7}"/>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57AAC884-DE73-497E-8379-E135B358A7F9}"/>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76">
            <a:extLst xmlns:a="http://schemas.openxmlformats.org/drawingml/2006/main">
              <a:ext uri="{FF2B5EF4-FFF2-40B4-BE49-F238E27FC236}">
                <a16:creationId xmlns:a16="http://schemas.microsoft.com/office/drawing/2014/main" id="{4DF7E398-F17B-48CD-B141-239BE35E1AC1}"/>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77">
            <a:extLst xmlns:a="http://schemas.openxmlformats.org/drawingml/2006/main">
              <a:ext uri="{FF2B5EF4-FFF2-40B4-BE49-F238E27FC236}">
                <a16:creationId xmlns:a16="http://schemas.microsoft.com/office/drawing/2014/main" id="{727277A2-E17C-4554-B696-289659FF993D}"/>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78">
            <a:extLst xmlns:a="http://schemas.openxmlformats.org/drawingml/2006/main">
              <a:ext uri="{FF2B5EF4-FFF2-40B4-BE49-F238E27FC236}">
                <a16:creationId xmlns:a16="http://schemas.microsoft.com/office/drawing/2014/main" id="{E334E0A1-E1AC-4C92-B97A-EE940E81A16D}"/>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79">
            <a:extLst xmlns:a="http://schemas.openxmlformats.org/drawingml/2006/main">
              <a:ext uri="{FF2B5EF4-FFF2-40B4-BE49-F238E27FC236}">
                <a16:creationId xmlns:a16="http://schemas.microsoft.com/office/drawing/2014/main" id="{F9E4590B-3173-4D46-80AB-65087D8E70F1}"/>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0">
            <a:extLst xmlns:a="http://schemas.openxmlformats.org/drawingml/2006/main">
              <a:ext uri="{FF2B5EF4-FFF2-40B4-BE49-F238E27FC236}">
                <a16:creationId xmlns:a16="http://schemas.microsoft.com/office/drawing/2014/main" id="{F8FEA25A-C558-4042-B7C2-FB24BE88FA60}"/>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07</a:t>
            </a:r>
          </a:p>
        </p:txBody>
      </p:sp>
      <p:sp>
        <p:nvSpPr>
          <p:cNvPr id="6" name="own-text-81">
            <a:extLst xmlns:a="http://schemas.openxmlformats.org/drawingml/2006/main">
              <a:ext uri="{FF2B5EF4-FFF2-40B4-BE49-F238E27FC236}">
                <a16:creationId xmlns:a16="http://schemas.microsoft.com/office/drawing/2014/main" id="{005F5FC8-0652-4FAA-8C2D-65E1FA8DBB9A}"/>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표현은 모델 본문에서 자료 부족 고지문이 두 문장 이상인 경우.</a:t>
            </a:r>
          </a:p>
        </p:txBody>
      </p:sp>
      <p:sp>
        <p:nvSpPr>
          <p:cNvPr id="7" name="pipeline-82">
            <a:extLst xmlns:a="http://schemas.openxmlformats.org/drawingml/2006/main">
              <a:ext uri="{FF2B5EF4-FFF2-40B4-BE49-F238E27FC236}">
                <a16:creationId xmlns:a16="http://schemas.microsoft.com/office/drawing/2014/main" id="{90973ED7-BD43-46F8-B31C-6B5B2B4E1829}"/>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3">
            <a:extLst xmlns:a="http://schemas.openxmlformats.org/drawingml/2006/main">
              <a:ext uri="{FF2B5EF4-FFF2-40B4-BE49-F238E27FC236}">
                <a16:creationId xmlns:a16="http://schemas.microsoft.com/office/drawing/2014/main" id="{CFEE7EB2-0BC6-4102-B15D-C23B28901052}"/>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xmlns:a="http://schemas.openxmlformats.org/drawingml/2006/main">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4">
            <a:extLst xmlns:a="http://schemas.openxmlformats.org/drawingml/2006/main">
              <a:ext uri="{FF2B5EF4-FFF2-40B4-BE49-F238E27FC236}">
                <a16:creationId xmlns:a16="http://schemas.microsoft.com/office/drawing/2014/main" id="{DAEAD8E2-40A0-485F-A1F2-C19D363AFAC3}"/>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xmlns:a="http://schemas.openxmlformats.org/drawingml/2006/main">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
            <a:extLst xmlns:a="http://schemas.openxmlformats.org/drawingml/2006/main">
              <a:ext uri="{FF2B5EF4-FFF2-40B4-BE49-F238E27FC236}">
                <a16:creationId xmlns:a16="http://schemas.microsoft.com/office/drawing/2014/main" id="{8B4FC840-D4B9-4AEC-832B-B29F2A72D995}"/>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4286250"/>
                <a:gridCol w="2724150"/>
                <a:gridCol w="2724150"/>
                <a:gridCol w="2724150"/>
              </a:tblGrid>
              <a:tr h="423863">
                <a:tc>
                  <a:txBody>
                    <a:bodyPr>
                      <a:noAutofit/>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통합</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판정만 질문별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1">
                          <a:solidFill>
                            <a:srgbClr val="F72585"/>
                          </a:solidFill>
                          <a:latin typeface="맑은 고딕"/>
                          <a:ea typeface="맑은 고딕"/>
                          <a:cs typeface="맑은 고딕"/>
                        </a:rPr>
                        <a:t>반복 표현(고지문)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85">
            <a:extLst xmlns:a="http://schemas.openxmlformats.org/drawingml/2006/main">
              <a:ext uri="{FF2B5EF4-FFF2-40B4-BE49-F238E27FC236}">
                <a16:creationId xmlns:a16="http://schemas.microsoft.com/office/drawing/2014/main" id="{1745F212-53BB-40CC-8F8D-5B34503EDB06}"/>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86">
            <a:extLst xmlns:a="http://schemas.openxmlformats.org/drawingml/2006/main">
              <a:ext uri="{FF2B5EF4-FFF2-40B4-BE49-F238E27FC236}">
                <a16:creationId xmlns:a16="http://schemas.microsoft.com/office/drawing/2014/main" id="{5F76292F-9B5C-4839-B4E4-1F06AD867201}"/>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1047859916"/>
      </p:ext>
    </p:extLst>
  </p:cSld>
</p:sld>
</file>

<file path=ppt/slides/slide8.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7" name="own-text-87">
            <a:extLst xmlns:a="http://schemas.openxmlformats.org/drawingml/2006/main">
              <a:ext uri="{FF2B5EF4-FFF2-40B4-BE49-F238E27FC236}">
                <a16:creationId xmlns:a16="http://schemas.microsoft.com/office/drawing/2014/main" id="{081325D2-AB97-47AD-8D89-592F6F3F157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88">
            <a:extLst xmlns:a="http://schemas.openxmlformats.org/drawingml/2006/main">
              <a:ext uri="{FF2B5EF4-FFF2-40B4-BE49-F238E27FC236}">
                <a16:creationId xmlns:a16="http://schemas.microsoft.com/office/drawing/2014/main" id="{3A633B77-E4F2-4340-8905-F3C6051FAF77}"/>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9">
            <a:extLst xmlns:a="http://schemas.openxmlformats.org/drawingml/2006/main">
              <a:ext uri="{FF2B5EF4-FFF2-40B4-BE49-F238E27FC236}">
                <a16:creationId xmlns:a16="http://schemas.microsoft.com/office/drawing/2014/main" id="{74327284-514C-4D55-ABF9-08DBE55A187F}"/>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0">
            <a:extLst xmlns:a="http://schemas.openxmlformats.org/drawingml/2006/main">
              <a:ext uri="{FF2B5EF4-FFF2-40B4-BE49-F238E27FC236}">
                <a16:creationId xmlns:a16="http://schemas.microsoft.com/office/drawing/2014/main" id="{BBDC6617-BA5B-4645-9A11-2F7D6CE18DA5}"/>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1">
            <a:extLst xmlns:a="http://schemas.openxmlformats.org/drawingml/2006/main">
              <a:ext uri="{FF2B5EF4-FFF2-40B4-BE49-F238E27FC236}">
                <a16:creationId xmlns:a16="http://schemas.microsoft.com/office/drawing/2014/main" id="{97F32B78-47DA-48C7-B542-6209D6FC1F72}"/>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08</a:t>
            </a:r>
          </a:p>
        </p:txBody>
      </p:sp>
      <p:graphicFrame>
        <p:nvGraphicFramePr>
          <p:cNvPr id="6" name="">
            <a:extLst xmlns:a="http://schemas.openxmlformats.org/drawingml/2006/main">
              <a:ext uri="{FF2B5EF4-FFF2-40B4-BE49-F238E27FC236}">
                <a16:creationId xmlns:a16="http://schemas.microsoft.com/office/drawing/2014/main" id="{DE473FF5-2018-44E2-80F8-154F3E788B4F}"/>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Tree>
    <p:extLst>
      <p:ext uri="{BB962C8B-B14F-4D97-AF65-F5344CB8AC3E}">
        <p14:creationId xmlns:p14="http://schemas.microsoft.com/office/powerpoint/2010/main" val="933151189"/>
      </p:ext>
    </p:extLst>
  </p:cSld>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2026-10-26T04:24:20.2020000Z</dcterms:created>
  <dcterms:modified xsi:type="dcterms:W3CDTF">2026-10-26T04:24:20.2020000Z</dcterms:modified>
</coreProperties>
</file>