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9.1300000000000008</c:v>
                </c:pt>
                <c:pt idx="1">
                  <c:v>6.1</c:v>
                </c:pt>
                <c:pt idx="2">
                  <c:v>3.33</c:v>
                </c:pt>
              </c:numCache>
            </c:numRef>
          </c:val>
          <c:extLst>
            <c:ext xmlns:c16="http://schemas.microsoft.com/office/drawing/2014/chart" uri="{C3380CC4-5D6E-409C-BE32-E72D297353CC}">
              <c16:uniqueId val="{00000000-D9E1-4742-855E-24FA5F84C879}"/>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20.440000000000001</c:v>
                </c:pt>
                <c:pt idx="1">
                  <c:v>14</c:v>
                </c:pt>
              </c:numCache>
            </c:numRef>
          </c:val>
          <c:extLst>
            <c:ext xmlns:c16="http://schemas.microsoft.com/office/drawing/2014/chart" uri="{C3380CC4-5D6E-409C-BE32-E72D297353CC}">
              <c16:uniqueId val="{00000000-F931-428C-9023-8B69B7A8E18F}"/>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F931-428C-9023-8B69B7A8E18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초기테스트는조건과예외,자료부족,공격대응까지함께보는엄격한기준이었습니다. 작은모델을그대로통과시키기어려워품질기준으로14B OFF를1차선정했습니다. 하지만별도동시서빙시험에서4B보다처리여유가작았습니다. 그래서큰모델을그대로운영하는대신4B를튜닝하고코드로보완할수있는지검토했습니다.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114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계산사례는결정문1-5의원자료이며현재화면에서는예시를삭제하고약점만요약했다.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C:/Ureka/ureca_project2/LLM_Test/presentation_work/revision_20261026_model_story/selection_metrics.json</a:t>
            </a:r>
          </a:p>
          <a:p>
            <a:r>
              <a:t>C:/Ureka/ureca_project2/LLM_Test/presentation_work/revision_20261026_model_story/derive_selection_metrics.py</a:t>
            </a:r>
          </a:p>
          <a:p>
            <a:r>
              <a:t>C:/Ureka/ureca_project2/LLM_Test/presentation_work/evidence_20261026/gemma_v3_v4_and_status.json</a:t>
            </a:r>
          </a:p>
          <a:p>
            <a:endParaRPr/>
          </a:p>
          <a:p>
            <a:r>
              <a:t>Gemma의버전간비교해석</a:t>
            </a:r>
          </a:p>
          <a:p>
            <a:r>
              <a:t>자료부족3유형은SR/HR/EC이며v3 85/300=28.3%,v4 600/2598=23.1%다. 유형비중은낮아졌으나공통12유형에서v4의유형별환각률을v3비중으로가중해도약25.0%이므로,50.3→24.1감소를문항비중만의효과로설명할수없다. 유형내문항·FAQ,생성프롬프트·출력스키마,판정모델·상세루브릭이함께바뀌었다. 화면의설명도비중과문항·보류지침변화를함께명시한다. 계산능력문제를단독인과로확정한비교실험이아니며동일v4내모델비교를선정근거로사용한다.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08080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(29초)</a:t>
            </a:r>
          </a:p>
          <a:p>
            <a:r>
              <a:t>기본프롬프트의Instruct도OFF최종개선안보다정확했고상태판단과근거선택도개선됐습니다. Q8과품질차이는뚜렷하지않았지만시간과용량이늘어Q4를택했습니다. 다만Instruct에서는기존에쉽게고칠수있던과잉보류가이미많이줄었습니다. 그래서후속고도화는정답률상승보다환각을줄이는방향에집중했습니다.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C:/Ureka/ureca_project2/LLM_Test/presentation_work/revision_20261026_model_story/model_comparison_metrics.json</a:t>
            </a:r>
          </a:p>
          <a:p>
            <a:r>
              <a:t>C:/Ureka/ureca_project2/LLM_Test/presentation_work/revision_20261026_model_story/derive_model_comparison.py</a:t>
            </a:r>
          </a:p>
          <a:p>
            <a:r>
              <a:t>C:/Ureka/ureca_project2/LLM_Test/scripts/docgen/judge_report.js</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a:p>
            <a:endParaRPr/>
          </a:p>
          <a:p>
            <a:r>
              <a:t>최신 정의</a:t>
            </a:r>
          </a:p>
          <a:p>
            <a:r>
              <a:t>화면은Gemma Q4_K_M기존모델을제외한5행이다. OFF와Instruct Q4_K_M에기존을붙인것은기존시험결과재사용을뜻한다. 상태판단은출력status와기대상태의엄격일치(정답과독립)로404건분모, 근거선택은evidence_ids에정답근거문서만하나이상인용한비율이며205건분모다. 공통404건에서상태정답252/313/315/357/370,근거정답80/101/191/180/185(표행순)다. n1300별도오답분석에서OFF의과잉보류는185/491=37.7%,Instruct Q4는18/293=6.1%,환각동반오답은32.6%에서64.2%였다. 사라진것은주로과잉보류를풀어정답을쉽게늘릴교정여지이며전체튜닝가능성이없어졌다는실증결론은아니다. 후속900건에서정답703→698,환각184→122를관측해환각감소중심방향으로정리한다.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77078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39534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여러질문을나누고생략된대상을복원하기위해판정모델을도입했습니다. 분리나멀티턴표지가없는질문은원문검색을먼저시도합니다. 질문분리100건전체에서필요한FAQ를모두찾은문항은판정없이69건에서판정적용84건이됐습니다. 의도별FAQ적중은161개에서182개,질문개수는90건에서맞았습니다. 이는답변정확도가아니라검색과분리성능입니다.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C:/Ureka/ureca_project2/LLM_Test/presentation_work/revision_20261026_model_story/feedback_metrics.json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87483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C:/Ureka/ureca_project2/LLM_Test/presentation_work/revision_20261026_model_story/slide_metrics.json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64321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C:/Ureka/ureca_project2/LLM_Test/presentation_work/revision_20261026_model_story/derive_slide_metrics.py</a:t>
            </a:r>
          </a:p>
          <a:p>
            <a:r>
              <a:t>C:/Ureka/ureca_project2/LLM_Test/presentation_work/revision_20261026_model_story/slide_metrics.json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13380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85996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wn-text-1">
            <a:extLst>
              <a:ext uri="{FF2B5EF4-FFF2-40B4-BE49-F238E27FC236}">
                <a16:creationId xmlns:a16="http://schemas.microsoft.com/office/drawing/2014/main" id="{8D383B70-8DEC-4095-976F-29CF4BD4FD36}"/>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4EF25AD0-6895-4B2F-8FE2-C27E984CF44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14B OFF 1차 선정과 4B 튜닝 검토</a:t>
            </a:r>
          </a:p>
        </p:txBody>
      </p:sp>
      <p:sp>
        <p:nvSpPr>
          <p:cNvPr id="3" name="own-text-3">
            <a:extLst>
              <a:ext uri="{FF2B5EF4-FFF2-40B4-BE49-F238E27FC236}">
                <a16:creationId xmlns:a16="http://schemas.microsoft.com/office/drawing/2014/main" id="{57ECF9AE-F192-4D23-9125-F5BE05F3A9E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소형 모델의 단독 통과가 어려웠던 엄격한 품질·보류 기준에서, 후속 튜닝과 코드 교정을 검토</a:t>
            </a:r>
          </a:p>
        </p:txBody>
      </p:sp>
      <p:sp>
        <p:nvSpPr>
          <p:cNvPr id="4" name="own-text-4">
            <a:extLst>
              <a:ext uri="{FF2B5EF4-FFF2-40B4-BE49-F238E27FC236}">
                <a16:creationId xmlns:a16="http://schemas.microsoft.com/office/drawing/2014/main" id="{7E84D252-8DF8-4DA4-A8A6-3230748E611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2EE2C679-E031-42FE-A4EE-62EDD81783AF}"/>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D51167AD-E206-4646-82A5-B3323DC7500A}"/>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ECD8D6E8-F8DF-4B17-988B-20FE14880ECC}"/>
              </a:ext>
            </a:extLst>
          </p:cNvPr>
          <p:cNvGraphicFramePr/>
          <p:nvPr/>
        </p:nvGraphicFramePr>
        <p:xfrm>
          <a:off x="628650" y="2076450"/>
          <a:ext cx="7239000" cy="3886200"/>
        </p:xfrm>
        <a:graphic>
          <a:graphicData uri="http://schemas.openxmlformats.org/drawingml/2006/table">
            <a:tbl>
              <a:tblPr/>
              <a:tblGrid>
                <a:gridCol w="20288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2352675">
                  <a:extLst>
                    <a:ext uri="{9D8B030D-6E8A-4147-A177-3AD203B41FA5}">
                      <a16:colId xmlns:a16="http://schemas.microsoft.com/office/drawing/2014/main" val="20004"/>
                    </a:ext>
                  </a:extLst>
                </a:gridCol>
              </a:tblGrid>
              <a:tr h="323850">
                <a:tc>
                  <a:txBody>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P95(초)</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1.43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1">
                          <a:solidFill>
                            <a:srgbClr val="F72585"/>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2.78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5.65</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4.53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1">
                          <a:solidFill>
                            <a:srgbClr val="FFFFFF"/>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8.11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1차 MVP 선정</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5.04</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8"/>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47.62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18.33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품질·지연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28.49</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657E453C-C2C4-4935-B4C1-FF989067D9F7}"/>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46BBC641-2559-4CD9-9EB6-724F134DB7A9}"/>
              </a:ext>
            </a:extLst>
          </p:cNvPr>
          <p:cNvSpPr>
            <a:spLocks noGrp="1"/>
          </p:cNvSpPr>
          <p:nvPr/>
        </p:nvSpPr>
        <p:spPr>
          <a:xfrm>
            <a:off x="8248650" y="2076450"/>
            <a:ext cx="4857750" cy="5810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품질 기준으로 14B OFF를 1차 선정</a:t>
            </a:r>
          </a:p>
        </p:txBody>
      </p:sp>
      <p:graphicFrame>
        <p:nvGraphicFramePr>
          <p:cNvPr id="10" name="Chart">
            <a:extLst>
              <a:ext uri="{FF2B5EF4-FFF2-40B4-BE49-F238E27FC236}">
                <a16:creationId xmlns:a16="http://schemas.microsoft.com/office/drawing/2014/main" id="{A58A48AD-EA1A-4AFD-80EF-DB67CAE6685E}"/>
              </a:ext>
            </a:extLst>
          </p:cNvPr>
          <p:cNvGraphicFramePr/>
          <p:nvPr/>
        </p:nvGraphicFramePr>
        <p:xfrm>
          <a:off x="8248650" y="2771775"/>
          <a:ext cx="4857750" cy="2457450"/>
        </p:xfrm>
        <a:graphic>
          <a:graphicData uri="http://schemas.openxmlformats.org/drawingml/2006/chart">
            <c:chart xmlns:c="http://schemas.openxmlformats.org/drawingml/2006/chart" xmlns:r="http://schemas.openxmlformats.org/officeDocument/2006/relationships" r:id="rId3"/>
          </a:graphicData>
        </a:graphic>
      </p:graphicFrame>
      <p:sp>
        <p:nvSpPr>
          <p:cNvPr id="11" name="own-text-9">
            <a:extLst>
              <a:ext uri="{FF2B5EF4-FFF2-40B4-BE49-F238E27FC236}">
                <a16:creationId xmlns:a16="http://schemas.microsoft.com/office/drawing/2014/main" id="{58F31E3B-8929-491C-AC1B-D2078D56DEF9}"/>
              </a:ext>
            </a:extLst>
          </p:cNvPr>
          <p:cNvSpPr>
            <a:spLocks noGrp="1"/>
          </p:cNvSpPr>
          <p:nvPr/>
        </p:nvSpPr>
        <p:spPr>
          <a:xfrm>
            <a:off x="8248650" y="5391150"/>
            <a:ext cx="4857750" cy="5143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동시 32명, 초당 완료 요청 수</a:t>
            </a:r>
          </a:p>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L4·30초 시험·이전 Qwen3 계열</a:t>
            </a:r>
          </a:p>
        </p:txBody>
      </p:sp>
      <p:sp>
        <p:nvSpPr>
          <p:cNvPr id="12" name="own-text-10">
            <a:extLst>
              <a:ext uri="{FF2B5EF4-FFF2-40B4-BE49-F238E27FC236}">
                <a16:creationId xmlns:a16="http://schemas.microsoft.com/office/drawing/2014/main" id="{02CE0329-72FE-48A0-8FD6-D0FA12CCB5DD}"/>
              </a:ext>
            </a:extLst>
          </p:cNvPr>
          <p:cNvSpPr>
            <a:spLocks noGrp="1"/>
          </p:cNvSpPr>
          <p:nvPr/>
        </p:nvSpPr>
        <p:spPr>
          <a:xfrm>
            <a:off x="8248650" y="5962650"/>
            <a:ext cx="4857750" cy="590550"/>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동시 서빙 부담을 줄이기 위해</a:t>
            </a:r>
          </a:p>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4B 모델의 튜닝 가능성을 재검토</a:t>
            </a:r>
          </a:p>
        </p:txBody>
      </p:sp>
    </p:spTree>
    <p:extLst>
      <p:ext uri="{BB962C8B-B14F-4D97-AF65-F5344CB8AC3E}">
        <p14:creationId xmlns:p14="http://schemas.microsoft.com/office/powerpoint/2010/main" val="2944793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1">
            <a:extLst>
              <a:ext uri="{FF2B5EF4-FFF2-40B4-BE49-F238E27FC236}">
                <a16:creationId xmlns:a16="http://schemas.microsoft.com/office/drawing/2014/main" id="{84259CE2-D48A-41A3-B938-0355C1B319A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2">
            <a:extLst>
              <a:ext uri="{FF2B5EF4-FFF2-40B4-BE49-F238E27FC236}">
                <a16:creationId xmlns:a16="http://schemas.microsoft.com/office/drawing/2014/main" id="{9F6C9DD5-0403-4A67-A5A2-FE2E8FAD7E6E}"/>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3">
            <a:extLst>
              <a:ext uri="{FF2B5EF4-FFF2-40B4-BE49-F238E27FC236}">
                <a16:creationId xmlns:a16="http://schemas.microsoft.com/office/drawing/2014/main" id="{9816980D-24D7-4CCE-A245-39301A5EAAFA}"/>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4">
            <a:extLst>
              <a:ext uri="{FF2B5EF4-FFF2-40B4-BE49-F238E27FC236}">
                <a16:creationId xmlns:a16="http://schemas.microsoft.com/office/drawing/2014/main" id="{F2546C84-B1A4-4863-9F03-475967C39A56}"/>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5">
            <a:extLst>
              <a:ext uri="{FF2B5EF4-FFF2-40B4-BE49-F238E27FC236}">
                <a16:creationId xmlns:a16="http://schemas.microsoft.com/office/drawing/2014/main" id="{E7D5C094-294F-45D8-B49B-AA33A9D690AA}"/>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6">
            <a:extLst>
              <a:ext uri="{FF2B5EF4-FFF2-40B4-BE49-F238E27FC236}">
                <a16:creationId xmlns:a16="http://schemas.microsoft.com/office/drawing/2014/main" id="{C64B139F-9552-4076-A9A1-5E7DAB679103}"/>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89FE7996-9CD1-4175-AF9F-FC416B95F252}"/>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7">
            <a:extLst>
              <a:ext uri="{FF2B5EF4-FFF2-40B4-BE49-F238E27FC236}">
                <a16:creationId xmlns:a16="http://schemas.microsoft.com/office/drawing/2014/main" id="{ED743BAD-A014-4AC1-9DFC-FDDE6F367AF0}"/>
              </a:ext>
            </a:extLst>
          </p:cNvPr>
          <p:cNvSpPr>
            <a:spLocks noGrp="1"/>
          </p:cNvSpPr>
          <p:nvPr/>
        </p:nvSpPr>
        <p:spPr>
          <a:xfrm>
            <a:off x="9086850" y="2076450"/>
            <a:ext cx="4000500" cy="333375"/>
          </a:xfrm>
          <a:prstGeom prst="rect">
            <a:avLst/>
          </a:prstGeom>
          <a:noFill/>
          <a:ln w="0">
            <a:noFill/>
          </a:ln>
        </p:spPr>
        <p:txBody>
          <a:bodyPr wrap="square" lIns="0" tIns="0" rIns="0" bIns="0" anchor="t">
            <a:noAutofit/>
          </a:bodyPr>
          <a:lstStyle>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4B 후보 재평가 (약 2,600건)</a:t>
            </a:r>
          </a:p>
        </p:txBody>
      </p:sp>
      <p:graphicFrame>
        <p:nvGraphicFramePr>
          <p:cNvPr id="9" name="표 8">
            <a:extLst>
              <a:ext uri="{FF2B5EF4-FFF2-40B4-BE49-F238E27FC236}">
                <a16:creationId xmlns:a16="http://schemas.microsoft.com/office/drawing/2014/main" id="{8BF3AE3C-BDCC-411D-8CF3-EB258375CF2C}"/>
              </a:ext>
            </a:extLst>
          </p:cNvPr>
          <p:cNvGraphicFramePr/>
          <p:nvPr/>
        </p:nvGraphicFramePr>
        <p:xfrm>
          <a:off x="9086850" y="2514600"/>
          <a:ext cx="4000500" cy="1066800"/>
        </p:xfrm>
        <a:graphic>
          <a:graphicData uri="http://schemas.openxmlformats.org/drawingml/2006/table">
            <a:tbl>
              <a:tblPr/>
              <a:tblGrid>
                <a:gridCol w="1847850">
                  <a:extLst>
                    <a:ext uri="{9D8B030D-6E8A-4147-A177-3AD203B41FA5}">
                      <a16:colId xmlns:a16="http://schemas.microsoft.com/office/drawing/2014/main" val="20000"/>
                    </a:ext>
                  </a:extLst>
                </a:gridCol>
                <a:gridCol w="1076325">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0" name="own-text-18">
            <a:extLst>
              <a:ext uri="{FF2B5EF4-FFF2-40B4-BE49-F238E27FC236}">
                <a16:creationId xmlns:a16="http://schemas.microsoft.com/office/drawing/2014/main" id="{D0A4A04D-AAD0-4A94-8FA0-6A440D4CDADD}"/>
              </a:ext>
            </a:extLst>
          </p:cNvPr>
          <p:cNvSpPr>
            <a:spLocks noGrp="1"/>
          </p:cNvSpPr>
          <p:nvPr/>
        </p:nvSpPr>
        <p:spPr>
          <a:xfrm>
            <a:off x="9086850" y="3800475"/>
            <a:ext cx="4000500" cy="314325"/>
          </a:xfrm>
          <a:prstGeom prst="rect">
            <a:avLst/>
          </a:prstGeom>
          <a:noFill/>
          <a:ln w="0">
            <a:noFill/>
          </a:ln>
        </p:spPr>
        <p:txBody>
          <a:bodyPr wrap="square" lIns="0" tIns="0" rIns="0" bIns="0" anchor="t">
            <a:noAutofit/>
          </a:bodyPr>
          <a:lstStyle>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Gemma의 약점</a:t>
            </a:r>
          </a:p>
        </p:txBody>
      </p:sp>
      <p:sp>
        <p:nvSpPr>
          <p:cNvPr id="11" name="own-text-19">
            <a:extLst>
              <a:ext uri="{FF2B5EF4-FFF2-40B4-BE49-F238E27FC236}">
                <a16:creationId xmlns:a16="http://schemas.microsoft.com/office/drawing/2014/main" id="{A92B45C8-1FD8-4355-8CE0-76D2D73A0EAA}"/>
              </a:ext>
            </a:extLst>
          </p:cNvPr>
          <p:cNvSpPr>
            <a:spLocks noGrp="1"/>
          </p:cNvSpPr>
          <p:nvPr/>
        </p:nvSpPr>
        <p:spPr>
          <a:xfrm>
            <a:off x="9086850" y="4248150"/>
            <a:ext cx="4000500" cy="990600"/>
          </a:xfrm>
          <a:prstGeom prst="rect">
            <a:avLst/>
          </a:prstGeom>
          <a:noFill/>
          <a:ln w="0">
            <a:noFill/>
          </a:ln>
        </p:spPr>
        <p:txBody>
          <a:bodyPr wrap="square" lIns="0" tIns="0" rIns="0" bIns="0" anchor="t">
            <a:noAutofit/>
          </a:bodyPr>
          <a:lstStyle>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계산 오적용·답 없는 문항의 오답·환각</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자료 부족 3유형 비중 28.3%→23.1%</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문항·보류 지침도 바뀐 시험에서</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전체 환각률 50.3%→24.1%</a:t>
            </a:r>
          </a:p>
        </p:txBody>
      </p:sp>
      <p:sp>
        <p:nvSpPr>
          <p:cNvPr id="12" name="own-text-20">
            <a:extLst>
              <a:ext uri="{FF2B5EF4-FFF2-40B4-BE49-F238E27FC236}">
                <a16:creationId xmlns:a16="http://schemas.microsoft.com/office/drawing/2014/main" id="{15A3A219-8CEE-4154-AB7D-B5B7A35BDA7C}"/>
              </a:ext>
            </a:extLst>
          </p:cNvPr>
          <p:cNvSpPr>
            <a:spLocks noGrp="1"/>
          </p:cNvSpPr>
          <p:nvPr/>
        </p:nvSpPr>
        <p:spPr>
          <a:xfrm>
            <a:off x="9086850" y="5419725"/>
            <a:ext cx="4000500" cy="3143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Qwen의 프롬프트 교정 여지</a:t>
            </a:r>
          </a:p>
        </p:txBody>
      </p:sp>
      <p:sp>
        <p:nvSpPr>
          <p:cNvPr id="13" name="own-text-21">
            <a:extLst>
              <a:ext uri="{FF2B5EF4-FFF2-40B4-BE49-F238E27FC236}">
                <a16:creationId xmlns:a16="http://schemas.microsoft.com/office/drawing/2014/main" id="{1B523CCC-7BFC-4885-93B8-806200527D6B}"/>
              </a:ext>
            </a:extLst>
          </p:cNvPr>
          <p:cNvSpPr>
            <a:spLocks noGrp="1"/>
          </p:cNvSpPr>
          <p:nvPr/>
        </p:nvSpPr>
        <p:spPr>
          <a:xfrm>
            <a:off x="9086850" y="5848350"/>
            <a:ext cx="4000500" cy="714375"/>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과잉 보류 352건 중 255건은 환각 없음</a:t>
            </a:r>
          </a:p>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근거 우선 선택·과도한 되묻기가</a:t>
            </a:r>
          </a:p>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답변을 막는 구조를 확인</a:t>
            </a:r>
          </a:p>
        </p:txBody>
      </p:sp>
      <p:sp>
        <p:nvSpPr>
          <p:cNvPr id="14" name="own-text-22">
            <a:extLst>
              <a:ext uri="{FF2B5EF4-FFF2-40B4-BE49-F238E27FC236}">
                <a16:creationId xmlns:a16="http://schemas.microsoft.com/office/drawing/2014/main" id="{A8F855F8-62D2-49E9-BCDC-DFD9F39F88D8}"/>
              </a:ext>
            </a:extLst>
          </p:cNvPr>
          <p:cNvSpPr>
            <a:spLocks noGrp="1"/>
          </p:cNvSpPr>
          <p:nvPr/>
        </p:nvSpPr>
        <p:spPr>
          <a:xfrm>
            <a:off x="628650" y="5886450"/>
            <a:ext cx="8001000" cy="6858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358992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wn-text-23">
            <a:extLst>
              <a:ext uri="{FF2B5EF4-FFF2-40B4-BE49-F238E27FC236}">
                <a16:creationId xmlns:a16="http://schemas.microsoft.com/office/drawing/2014/main" id="{34495E97-1188-49D8-BC10-AAB93CC2A12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4">
            <a:extLst>
              <a:ext uri="{FF2B5EF4-FFF2-40B4-BE49-F238E27FC236}">
                <a16:creationId xmlns:a16="http://schemas.microsoft.com/office/drawing/2014/main" id="{9CDA40C8-B2C6-4F81-9C8E-6689C9F0A84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5">
            <a:extLst>
              <a:ext uri="{FF2B5EF4-FFF2-40B4-BE49-F238E27FC236}">
                <a16:creationId xmlns:a16="http://schemas.microsoft.com/office/drawing/2014/main" id="{F17F0039-9CE2-4AA0-A40C-21AA3AA731D0}"/>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개선안보다 정확했고, 상태 판단과 근거 선택도 개선</a:t>
            </a:r>
          </a:p>
        </p:txBody>
      </p:sp>
      <p:sp>
        <p:nvSpPr>
          <p:cNvPr id="4" name="own-text-26">
            <a:extLst>
              <a:ext uri="{FF2B5EF4-FFF2-40B4-BE49-F238E27FC236}">
                <a16:creationId xmlns:a16="http://schemas.microsoft.com/office/drawing/2014/main" id="{7A152C5C-BE3A-49BF-A70A-18896696725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27">
            <a:extLst>
              <a:ext uri="{FF2B5EF4-FFF2-40B4-BE49-F238E27FC236}">
                <a16:creationId xmlns:a16="http://schemas.microsoft.com/office/drawing/2014/main" id="{7D354733-2317-48D5-A246-9A2AF6BC95CC}"/>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28">
            <a:extLst>
              <a:ext uri="{FF2B5EF4-FFF2-40B4-BE49-F238E27FC236}">
                <a16:creationId xmlns:a16="http://schemas.microsoft.com/office/drawing/2014/main" id="{A2E00F56-9505-49F6-AA7D-9F30832CCCD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404건(오답 집중 표본 포함). 상태는 기대 동작의 엄격 일치, 근거는 정답 문서만 1개 이상 인용한 비율(대상 205건).</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하단 Q4·Q8 품질·자원 및 오답 원인 비교는 별도 1,300문항 기준.</a:t>
            </a:r>
          </a:p>
        </p:txBody>
      </p:sp>
      <p:graphicFrame>
        <p:nvGraphicFramePr>
          <p:cNvPr id="7" name="표 6">
            <a:extLst>
              <a:ext uri="{FF2B5EF4-FFF2-40B4-BE49-F238E27FC236}">
                <a16:creationId xmlns:a16="http://schemas.microsoft.com/office/drawing/2014/main" id="{AB9F504E-4A76-462F-9F0C-85DF51C7C91C}"/>
              </a:ext>
            </a:extLst>
          </p:cNvPr>
          <p:cNvGraphicFramePr/>
          <p:nvPr/>
        </p:nvGraphicFramePr>
        <p:xfrm>
          <a:off x="628650" y="2076450"/>
          <a:ext cx="12458700" cy="2476500"/>
        </p:xfrm>
        <a:graphic>
          <a:graphicData uri="http://schemas.openxmlformats.org/drawingml/2006/table">
            <a:tbl>
              <a:tblPr/>
              <a:tblGrid>
                <a:gridCol w="47625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gridCol w="2038350">
                  <a:extLst>
                    <a:ext uri="{9D8B030D-6E8A-4147-A177-3AD203B41FA5}">
                      <a16:colId xmlns:a16="http://schemas.microsoft.com/office/drawing/2014/main" val="20004"/>
                    </a:ext>
                  </a:extLst>
                </a:gridCol>
              </a:tblGrid>
              <a:tr h="412750">
                <a:tc>
                  <a:txBody>
                    <a:bodyPr/>
                    <a:lstStyle/>
                    <a:p>
                      <a:r>
                        <a:rPr sz="1523"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정답률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상태 판단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근거 선택</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12750">
                <a:tc>
                  <a:txBody>
                    <a:bodyPr/>
                    <a:lstStyle/>
                    <a:p>
                      <a:r>
                        <a:rPr sz="1523" b="0">
                          <a:solidFill>
                            <a:srgbClr val="17171A"/>
                          </a:solidFill>
                          <a:latin typeface="맑은 고딕"/>
                          <a:ea typeface="맑은 고딕"/>
                          <a:cs typeface="맑은 고딕"/>
                        </a:rPr>
                        <a:t>Qwen3 4B OFF · 기존</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62.9%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23.8%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62.4%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12750">
                <a:tc>
                  <a:txBody>
                    <a:bodyPr/>
                    <a:lstStyle/>
                    <a:p>
                      <a:r>
                        <a:rPr sz="1523" b="0">
                          <a:solidFill>
                            <a:srgbClr val="17171A"/>
                          </a:solidFill>
                          <a:latin typeface="맑은 고딕"/>
                          <a:ea typeface="맑은 고딕"/>
                          <a:cs typeface="맑은 고딕"/>
                        </a:rPr>
                        <a:t>Qwen3 4B OFF · 프롬프트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77.5%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24.5%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77.5%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49.3%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12750">
                <a:tc>
                  <a:txBody>
                    <a:bodyPr/>
                    <a:lstStyle/>
                    <a:p>
                      <a:r>
                        <a:rPr sz="1523"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71.8%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42.6%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93.2%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12750">
                <a:tc>
                  <a:txBody>
                    <a:bodyPr/>
                    <a:lstStyle/>
                    <a:p>
                      <a:r>
                        <a:rPr sz="1523" b="1">
                          <a:solidFill>
                            <a:srgbClr val="F72585"/>
                          </a:solidFill>
                          <a:latin typeface="맑은 고딕"/>
                          <a:ea typeface="맑은 고딕"/>
                          <a:cs typeface="맑은 고딕"/>
                        </a:rPr>
                        <a:t>Qwen3 4B Instruct Q4_K_M · 기존</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85.1%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23.0%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12750">
                <a:tc>
                  <a:txBody>
                    <a:bodyPr/>
                    <a:lstStyle/>
                    <a:p>
                      <a:r>
                        <a:rPr sz="1523"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87.6%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22.3%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91.6%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own-text-29">
            <a:extLst>
              <a:ext uri="{FF2B5EF4-FFF2-40B4-BE49-F238E27FC236}">
                <a16:creationId xmlns:a16="http://schemas.microsoft.com/office/drawing/2014/main" id="{7E3D3612-BC1C-4CC8-A06C-D121F65382E8}"/>
              </a:ext>
            </a:extLst>
          </p:cNvPr>
          <p:cNvSpPr>
            <a:spLocks noGrp="1"/>
          </p:cNvSpPr>
          <p:nvPr/>
        </p:nvSpPr>
        <p:spPr>
          <a:xfrm>
            <a:off x="628650" y="4876800"/>
            <a:ext cx="6000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Q4와 Q8의 품질·자원 비교</a:t>
            </a:r>
          </a:p>
        </p:txBody>
      </p:sp>
      <p:sp>
        <p:nvSpPr>
          <p:cNvPr id="9" name="own-text-30">
            <a:extLst>
              <a:ext uri="{FF2B5EF4-FFF2-40B4-BE49-F238E27FC236}">
                <a16:creationId xmlns:a16="http://schemas.microsoft.com/office/drawing/2014/main" id="{941FA769-8B81-479D-8B3F-8AFFEC7E1A86}"/>
              </a:ext>
            </a:extLst>
          </p:cNvPr>
          <p:cNvSpPr>
            <a:spLocks noGrp="1"/>
          </p:cNvSpPr>
          <p:nvPr/>
        </p:nvSpPr>
        <p:spPr>
          <a:xfrm>
            <a:off x="628650" y="5295900"/>
            <a:ext cx="6000750" cy="59055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정답률 77.5% / 78.8%</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환각률 26.2% / 26.5%</a:t>
            </a:r>
          </a:p>
        </p:txBody>
      </p:sp>
      <p:sp>
        <p:nvSpPr>
          <p:cNvPr id="10" name="own-text-31">
            <a:extLst>
              <a:ext uri="{FF2B5EF4-FFF2-40B4-BE49-F238E27FC236}">
                <a16:creationId xmlns:a16="http://schemas.microsoft.com/office/drawing/2014/main" id="{6A869ECB-4C9A-4658-A897-D72BFA3BC022}"/>
              </a:ext>
            </a:extLst>
          </p:cNvPr>
          <p:cNvSpPr>
            <a:spLocks noGrp="1"/>
          </p:cNvSpPr>
          <p:nvPr/>
        </p:nvSpPr>
        <p:spPr>
          <a:xfrm>
            <a:off x="628650" y="5981700"/>
            <a:ext cx="6000750" cy="523875"/>
          </a:xfrm>
          <a:prstGeom prst="rect">
            <a:avLst/>
          </a:prstGeom>
          <a:noFill/>
          <a:ln w="0">
            <a:noFill/>
          </a:ln>
        </p:spPr>
        <p:txBody>
          <a:bodyPr wrap="square" lIns="0" tIns="0" rIns="0" bIns="0" anchor="t">
            <a:noAutofit/>
          </a:bodyPr>
          <a:lstStyle>
            <a:defPPr algn="l">
              <a:defRPr sz="1523" b="0">
                <a:solidFill>
                  <a:srgbClr val="686B72"/>
                </a:solidFill>
                <a:latin typeface="맑은 고딕"/>
                <a:ea typeface="맑은 고딕"/>
                <a:cs typeface="맑은 고딕"/>
              </a:defRPr>
            </a:defPPr>
            <a:lvl1pPr algn="l">
              <a:defRPr sz="1523" b="0">
                <a:solidFill>
                  <a:srgbClr val="686B72"/>
                </a:solidFill>
                <a:latin typeface="맑은 고딕"/>
                <a:ea typeface="맑은 고딕"/>
                <a:cs typeface="맑은 고딕"/>
              </a:defRPr>
            </a:lvl1pPr>
            <a:lvl2pPr algn="l">
              <a:defRPr sz="1523" b="0">
                <a:solidFill>
                  <a:srgbClr val="686B72"/>
                </a:solidFill>
                <a:latin typeface="맑은 고딕"/>
                <a:ea typeface="맑은 고딕"/>
                <a:cs typeface="맑은 고딕"/>
              </a:defRPr>
            </a:lvl2pPr>
            <a:lvl3pPr algn="l">
              <a:defRPr sz="1523" b="0">
                <a:solidFill>
                  <a:srgbClr val="686B72"/>
                </a:solidFill>
                <a:latin typeface="맑은 고딕"/>
                <a:ea typeface="맑은 고딕"/>
                <a:cs typeface="맑은 고딕"/>
              </a:defRPr>
            </a:lvl3pPr>
            <a:lvl4pPr algn="l">
              <a:defRPr sz="1523" b="0">
                <a:solidFill>
                  <a:srgbClr val="686B72"/>
                </a:solidFill>
                <a:latin typeface="맑은 고딕"/>
                <a:ea typeface="맑은 고딕"/>
                <a:cs typeface="맑은 고딕"/>
              </a:defRPr>
            </a:lvl4pPr>
            <a:lvl5pPr algn="l">
              <a:defRPr sz="1523" b="0">
                <a:solidFill>
                  <a:srgbClr val="686B72"/>
                </a:solidFill>
                <a:latin typeface="맑은 고딕"/>
                <a:ea typeface="맑은 고딕"/>
                <a:cs typeface="맑은 고딕"/>
              </a:defRPr>
            </a:lvl5pPr>
            <a:lvl6pPr algn="l">
              <a:defRPr sz="1523" b="0">
                <a:solidFill>
                  <a:srgbClr val="686B72"/>
                </a:solidFill>
                <a:latin typeface="맑은 고딕"/>
                <a:ea typeface="맑은 고딕"/>
                <a:cs typeface="맑은 고딕"/>
              </a:defRPr>
            </a:lvl6pPr>
            <a:lvl7pPr algn="l">
              <a:defRPr sz="1523" b="0">
                <a:solidFill>
                  <a:srgbClr val="686B72"/>
                </a:solidFill>
                <a:latin typeface="맑은 고딕"/>
                <a:ea typeface="맑은 고딕"/>
                <a:cs typeface="맑은 고딕"/>
              </a:defRPr>
            </a:lvl7pPr>
            <a:lvl8pPr algn="l">
              <a:defRPr sz="1523" b="0">
                <a:solidFill>
                  <a:srgbClr val="686B72"/>
                </a:solidFill>
                <a:latin typeface="맑은 고딕"/>
                <a:ea typeface="맑은 고딕"/>
                <a:cs typeface="맑은 고딕"/>
              </a:defRPr>
            </a:lvl8pPr>
            <a:lvl9pPr algn="l">
              <a:defRPr sz="1523" b="0">
                <a:solidFill>
                  <a:srgbClr val="686B72"/>
                </a:solidFill>
                <a:latin typeface="맑은 고딕"/>
                <a:ea typeface="맑은 고딕"/>
                <a:cs typeface="맑은 고딕"/>
              </a:defRPr>
            </a:lvl9pPr>
          </a:lstStyle>
          <a:p>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평균 응답 2.61초 / 3.49초·가중치 2.5GB / 4.3GB</a:t>
            </a:r>
          </a:p>
          <a:p>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품질 차이가 뚜렷하지 않아 동시 서빙 여유를 고려</a:t>
            </a:r>
          </a:p>
        </p:txBody>
      </p:sp>
      <p:sp>
        <p:nvSpPr>
          <p:cNvPr id="11" name="own-text-32">
            <a:extLst>
              <a:ext uri="{FF2B5EF4-FFF2-40B4-BE49-F238E27FC236}">
                <a16:creationId xmlns:a16="http://schemas.microsoft.com/office/drawing/2014/main" id="{F5A6B50D-974C-49DF-B08A-7D8BD332CDF6}"/>
              </a:ext>
            </a:extLst>
          </p:cNvPr>
          <p:cNvSpPr>
            <a:spLocks noGrp="1"/>
          </p:cNvSpPr>
          <p:nvPr/>
        </p:nvSpPr>
        <p:spPr>
          <a:xfrm>
            <a:off x="7086600" y="4876800"/>
            <a:ext cx="600075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Instruct 고도화의 한계와 방향</a:t>
            </a:r>
          </a:p>
        </p:txBody>
      </p:sp>
      <p:sp>
        <p:nvSpPr>
          <p:cNvPr id="12" name="own-text-33">
            <a:extLst>
              <a:ext uri="{FF2B5EF4-FFF2-40B4-BE49-F238E27FC236}">
                <a16:creationId xmlns:a16="http://schemas.microsoft.com/office/drawing/2014/main" id="{A7C25135-C9CC-4B0B-806B-10F5FD857F1A}"/>
              </a:ext>
            </a:extLst>
          </p:cNvPr>
          <p:cNvSpPr>
            <a:spLocks noGrp="1"/>
          </p:cNvSpPr>
          <p:nvPr/>
        </p:nvSpPr>
        <p:spPr>
          <a:xfrm>
            <a:off x="7086600" y="5295900"/>
            <a:ext cx="6000750" cy="5905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오답 중 과잉 보류 37.7%에서 6.1%로 감소</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보류만 풀어 정답을 늘릴 교정 여지가 줄어듦</a:t>
            </a:r>
          </a:p>
        </p:txBody>
      </p:sp>
      <p:sp>
        <p:nvSpPr>
          <p:cNvPr id="13" name="own-text-34">
            <a:extLst>
              <a:ext uri="{FF2B5EF4-FFF2-40B4-BE49-F238E27FC236}">
                <a16:creationId xmlns:a16="http://schemas.microsoft.com/office/drawing/2014/main" id="{24F1DE1E-D1DB-49D2-80E1-D5E23BE001E8}"/>
              </a:ext>
            </a:extLst>
          </p:cNvPr>
          <p:cNvSpPr>
            <a:spLocks noGrp="1"/>
          </p:cNvSpPr>
          <p:nvPr/>
        </p:nvSpPr>
        <p:spPr>
          <a:xfrm>
            <a:off x="7086600" y="6076950"/>
            <a:ext cx="6000750" cy="36195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정답률 상승보다 환각 감소에 집중</a:t>
            </a:r>
          </a:p>
        </p:txBody>
      </p:sp>
    </p:spTree>
    <p:extLst>
      <p:ext uri="{BB962C8B-B14F-4D97-AF65-F5344CB8AC3E}">
        <p14:creationId xmlns:p14="http://schemas.microsoft.com/office/powerpoint/2010/main" val="1054493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35">
            <a:extLst>
              <a:ext uri="{FF2B5EF4-FFF2-40B4-BE49-F238E27FC236}">
                <a16:creationId xmlns:a16="http://schemas.microsoft.com/office/drawing/2014/main" id="{7017BDDE-C41F-474E-B3F1-02C49D898459}"/>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36">
            <a:extLst>
              <a:ext uri="{FF2B5EF4-FFF2-40B4-BE49-F238E27FC236}">
                <a16:creationId xmlns:a16="http://schemas.microsoft.com/office/drawing/2014/main" id="{DA33C740-7E58-4A8F-B72A-787DB435599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7">
            <a:extLst>
              <a:ext uri="{FF2B5EF4-FFF2-40B4-BE49-F238E27FC236}">
                <a16:creationId xmlns:a16="http://schemas.microsoft.com/office/drawing/2014/main" id="{5E5FA566-06DE-4803-BD01-79DB8A4EAA6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38">
            <a:extLst>
              <a:ext uri="{FF2B5EF4-FFF2-40B4-BE49-F238E27FC236}">
                <a16:creationId xmlns:a16="http://schemas.microsoft.com/office/drawing/2014/main" id="{E6AC7F4D-C368-40AC-9148-97718F78E76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a:ext uri="{FF2B5EF4-FFF2-40B4-BE49-F238E27FC236}">
                <a16:creationId xmlns:a16="http://schemas.microsoft.com/office/drawing/2014/main" id="{4095D508-8E8E-43A6-9527-5594DD77CFBF}"/>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0">
            <a:extLst>
              <a:ext uri="{FF2B5EF4-FFF2-40B4-BE49-F238E27FC236}">
                <a16:creationId xmlns:a16="http://schemas.microsoft.com/office/drawing/2014/main" id="{C73C9CED-71AC-4FCE-8BA3-731C3922E42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1">
            <a:extLst>
              <a:ext uri="{FF2B5EF4-FFF2-40B4-BE49-F238E27FC236}">
                <a16:creationId xmlns:a16="http://schemas.microsoft.com/office/drawing/2014/main" id="{1C0F66C1-E8CF-4172-8279-D7CAF9E02228}"/>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A6344A07-2660-4CA9-B556-01A2AC51C7D2}"/>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7D3174F1-AA0A-4C75-82DF-830DFD03621C}"/>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2">
            <a:extLst>
              <a:ext uri="{FF2B5EF4-FFF2-40B4-BE49-F238E27FC236}">
                <a16:creationId xmlns:a16="http://schemas.microsoft.com/office/drawing/2014/main" id="{EBCB6B6E-F435-4B0D-9120-CA917B860A65}"/>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3">
            <a:extLst>
              <a:ext uri="{FF2B5EF4-FFF2-40B4-BE49-F238E27FC236}">
                <a16:creationId xmlns:a16="http://schemas.microsoft.com/office/drawing/2014/main" id="{9A1D4A7B-A0D9-419D-87D9-BD84F8C30A2F}"/>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2107858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1F2FEC30-79C9-41DA-BC79-5508876D3112}"/>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C55C91DE-F459-4AD8-A59D-F874D74D48A6}"/>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D58D970A-753B-4468-9BA6-17EB08DEBFCE}"/>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EEA0D98B-21C7-49E3-BFF5-BDC12A765AB6}"/>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5D45B30F-DC0A-430F-9A92-6203B088A7C4}"/>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478634C8-F31B-4B60-92B1-EAA43A40B37C}"/>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F3EEA71E-F2B3-46F1-9E1D-F75A1A5B3D05}"/>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2756DC8E-2AC8-4882-8843-9468B1D934DD}"/>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CA3D5822-99C1-48FD-B23F-DEE2D9D2F5C1}"/>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4">
            <a:extLst>
              <a:ext uri="{FF2B5EF4-FFF2-40B4-BE49-F238E27FC236}">
                <a16:creationId xmlns:a16="http://schemas.microsoft.com/office/drawing/2014/main" id="{A4CFEBD3-D9D6-4564-B164-F06F7771B1D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45">
            <a:extLst>
              <a:ext uri="{FF2B5EF4-FFF2-40B4-BE49-F238E27FC236}">
                <a16:creationId xmlns:a16="http://schemas.microsoft.com/office/drawing/2014/main" id="{BA0DB51A-6957-419C-9D8E-F8BC653B75FC}"/>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46">
            <a:extLst>
              <a:ext uri="{FF2B5EF4-FFF2-40B4-BE49-F238E27FC236}">
                <a16:creationId xmlns:a16="http://schemas.microsoft.com/office/drawing/2014/main" id="{9F6DC47A-EAC5-42C3-8E43-9ADE58DA2D8A}"/>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47">
            <a:extLst>
              <a:ext uri="{FF2B5EF4-FFF2-40B4-BE49-F238E27FC236}">
                <a16:creationId xmlns:a16="http://schemas.microsoft.com/office/drawing/2014/main" id="{F355D132-D851-4FCB-BDD7-EBD6E56FA26C}"/>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8">
            <a:extLst>
              <a:ext uri="{FF2B5EF4-FFF2-40B4-BE49-F238E27FC236}">
                <a16:creationId xmlns:a16="http://schemas.microsoft.com/office/drawing/2014/main" id="{380E1D30-5EDC-4843-9C82-914FE07DCA6E}"/>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49">
            <a:extLst>
              <a:ext uri="{FF2B5EF4-FFF2-40B4-BE49-F238E27FC236}">
                <a16:creationId xmlns:a16="http://schemas.microsoft.com/office/drawing/2014/main" id="{5868DE7D-8E6F-43A9-BB9E-AA3F12636DA7}"/>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0">
            <a:extLst>
              <a:ext uri="{FF2B5EF4-FFF2-40B4-BE49-F238E27FC236}">
                <a16:creationId xmlns:a16="http://schemas.microsoft.com/office/drawing/2014/main" id="{4A7B4573-92DE-4485-A150-4D7106B9639F}"/>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1">
            <a:extLst>
              <a:ext uri="{FF2B5EF4-FFF2-40B4-BE49-F238E27FC236}">
                <a16:creationId xmlns:a16="http://schemas.microsoft.com/office/drawing/2014/main" id="{72EA0F0E-E6E4-4F06-B32C-00255F488D45}"/>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2">
            <a:extLst>
              <a:ext uri="{FF2B5EF4-FFF2-40B4-BE49-F238E27FC236}">
                <a16:creationId xmlns:a16="http://schemas.microsoft.com/office/drawing/2014/main" id="{0C1AF927-0F4A-4D22-93EB-FF2514B12181}"/>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3">
            <a:extLst>
              <a:ext uri="{FF2B5EF4-FFF2-40B4-BE49-F238E27FC236}">
                <a16:creationId xmlns:a16="http://schemas.microsoft.com/office/drawing/2014/main" id="{DBF05A9D-76AF-4EF6-8006-A174D1C34BBA}"/>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4">
            <a:extLst>
              <a:ext uri="{FF2B5EF4-FFF2-40B4-BE49-F238E27FC236}">
                <a16:creationId xmlns:a16="http://schemas.microsoft.com/office/drawing/2014/main" id="{20F41504-92C8-4581-A9E7-CD83609E3A66}"/>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55">
            <a:extLst>
              <a:ext uri="{FF2B5EF4-FFF2-40B4-BE49-F238E27FC236}">
                <a16:creationId xmlns:a16="http://schemas.microsoft.com/office/drawing/2014/main" id="{52EABC47-BAC1-4741-BB9B-5807F3818BDD}"/>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56">
            <a:extLst>
              <a:ext uri="{FF2B5EF4-FFF2-40B4-BE49-F238E27FC236}">
                <a16:creationId xmlns:a16="http://schemas.microsoft.com/office/drawing/2014/main" id="{BF0941D9-6CE2-4BF7-B38C-9B5A2B00E51A}"/>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57">
            <a:extLst>
              <a:ext uri="{FF2B5EF4-FFF2-40B4-BE49-F238E27FC236}">
                <a16:creationId xmlns:a16="http://schemas.microsoft.com/office/drawing/2014/main" id="{5BA958C9-F834-4CEA-AADE-BF2ADEE88DF8}"/>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8">
            <a:extLst>
              <a:ext uri="{FF2B5EF4-FFF2-40B4-BE49-F238E27FC236}">
                <a16:creationId xmlns:a16="http://schemas.microsoft.com/office/drawing/2014/main" id="{ABD0EE6E-AA9A-46EC-9276-3FFC24051D01}"/>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9">
            <a:extLst>
              <a:ext uri="{FF2B5EF4-FFF2-40B4-BE49-F238E27FC236}">
                <a16:creationId xmlns:a16="http://schemas.microsoft.com/office/drawing/2014/main" id="{F63081FD-B1BD-4200-8306-F36A8A2AA109}"/>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FEBE4F8E-05AD-4E47-98E5-D988793759DB}"/>
              </a:ext>
            </a:extLst>
          </p:cNvPr>
          <p:cNvGraphicFramePr/>
          <p:nvPr/>
        </p:nvGraphicFramePr>
        <p:xfrm>
          <a:off x="628650" y="4886325"/>
          <a:ext cx="12458700" cy="1571625"/>
        </p:xfrm>
        <a:graphic>
          <a:graphicData uri="http://schemas.openxmlformats.org/drawingml/2006/table">
            <a:tbl>
              <a:tblPr/>
              <a:tblGrid>
                <a:gridCol w="48387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36585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432F44E1-0482-4E08-999D-61B3FB5DBC5F}"/>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0">
            <a:extLst>
              <a:ext uri="{FF2B5EF4-FFF2-40B4-BE49-F238E27FC236}">
                <a16:creationId xmlns:a16="http://schemas.microsoft.com/office/drawing/2014/main" id="{39085686-1D7A-4C3D-9065-6296898F5FC7}"/>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1">
            <a:extLst>
              <a:ext uri="{FF2B5EF4-FFF2-40B4-BE49-F238E27FC236}">
                <a16:creationId xmlns:a16="http://schemas.microsoft.com/office/drawing/2014/main" id="{1C2911EE-B2B3-484E-A0D1-EEA71A350233}"/>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2">
            <a:extLst>
              <a:ext uri="{FF2B5EF4-FFF2-40B4-BE49-F238E27FC236}">
                <a16:creationId xmlns:a16="http://schemas.microsoft.com/office/drawing/2014/main" id="{29213BDE-F2CC-4E21-BA16-47B854126412}"/>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3">
            <a:extLst>
              <a:ext uri="{FF2B5EF4-FFF2-40B4-BE49-F238E27FC236}">
                <a16:creationId xmlns:a16="http://schemas.microsoft.com/office/drawing/2014/main" id="{A2231DF6-7593-422F-B3A8-420A3E9F50BF}"/>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4">
            <a:extLst>
              <a:ext uri="{FF2B5EF4-FFF2-40B4-BE49-F238E27FC236}">
                <a16:creationId xmlns:a16="http://schemas.microsoft.com/office/drawing/2014/main" id="{2441F478-6D24-4FA0-934C-79C46B1B29E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65">
            <a:extLst>
              <a:ext uri="{FF2B5EF4-FFF2-40B4-BE49-F238E27FC236}">
                <a16:creationId xmlns:a16="http://schemas.microsoft.com/office/drawing/2014/main" id="{63909BB5-DD00-4BD8-B37F-E0C1F046C420}"/>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66">
            <a:extLst>
              <a:ext uri="{FF2B5EF4-FFF2-40B4-BE49-F238E27FC236}">
                <a16:creationId xmlns:a16="http://schemas.microsoft.com/office/drawing/2014/main" id="{A22EC96D-4668-4F42-9ADE-2485E03BFFDD}"/>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7">
            <a:extLst>
              <a:ext uri="{FF2B5EF4-FFF2-40B4-BE49-F238E27FC236}">
                <a16:creationId xmlns:a16="http://schemas.microsoft.com/office/drawing/2014/main" id="{CACCDB6E-82D5-4287-ABA9-EC0EA68F39EE}"/>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8">
            <a:extLst>
              <a:ext uri="{FF2B5EF4-FFF2-40B4-BE49-F238E27FC236}">
                <a16:creationId xmlns:a16="http://schemas.microsoft.com/office/drawing/2014/main" id="{C1C61D99-21EF-44A1-8D00-E4CD834665A1}"/>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9">
            <a:extLst>
              <a:ext uri="{FF2B5EF4-FFF2-40B4-BE49-F238E27FC236}">
                <a16:creationId xmlns:a16="http://schemas.microsoft.com/office/drawing/2014/main" id="{8187C76A-0E51-4E11-B4A8-3F79F57EBDDC}"/>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0">
            <a:extLst>
              <a:ext uri="{FF2B5EF4-FFF2-40B4-BE49-F238E27FC236}">
                <a16:creationId xmlns:a16="http://schemas.microsoft.com/office/drawing/2014/main" id="{B7DA6811-6259-495B-A2E3-B66D6805B20D}"/>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1">
            <a:extLst>
              <a:ext uri="{FF2B5EF4-FFF2-40B4-BE49-F238E27FC236}">
                <a16:creationId xmlns:a16="http://schemas.microsoft.com/office/drawing/2014/main" id="{C83D70FB-4C10-4850-9014-FF014B620795}"/>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2">
            <a:extLst>
              <a:ext uri="{FF2B5EF4-FFF2-40B4-BE49-F238E27FC236}">
                <a16:creationId xmlns:a16="http://schemas.microsoft.com/office/drawing/2014/main" id="{D55F41AC-1F28-42CA-AEE7-C1543F9693FC}"/>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3">
            <a:extLst>
              <a:ext uri="{FF2B5EF4-FFF2-40B4-BE49-F238E27FC236}">
                <a16:creationId xmlns:a16="http://schemas.microsoft.com/office/drawing/2014/main" id="{3160DF03-50C4-4350-8730-3F837D6F5A1C}"/>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77735986-2F76-4148-8647-B67843A6546B}"/>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4">
            <a:extLst>
              <a:ext uri="{FF2B5EF4-FFF2-40B4-BE49-F238E27FC236}">
                <a16:creationId xmlns:a16="http://schemas.microsoft.com/office/drawing/2014/main" id="{1DA9CA55-A044-4D71-AA4F-6A75B0B3AFA7}"/>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75">
            <a:extLst>
              <a:ext uri="{FF2B5EF4-FFF2-40B4-BE49-F238E27FC236}">
                <a16:creationId xmlns:a16="http://schemas.microsoft.com/office/drawing/2014/main" id="{027A461A-1A87-4C0B-83DD-ECAE0265EB92}"/>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956794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CBA14021-8C26-4318-9EFB-79353F522EF7}"/>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57AAC884-DE73-497E-8379-E135B358A7F9}"/>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76">
            <a:extLst>
              <a:ext uri="{FF2B5EF4-FFF2-40B4-BE49-F238E27FC236}">
                <a16:creationId xmlns:a16="http://schemas.microsoft.com/office/drawing/2014/main" id="{4DF7E398-F17B-48CD-B141-239BE35E1AC1}"/>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7">
            <a:extLst>
              <a:ext uri="{FF2B5EF4-FFF2-40B4-BE49-F238E27FC236}">
                <a16:creationId xmlns:a16="http://schemas.microsoft.com/office/drawing/2014/main" id="{727277A2-E17C-4554-B696-289659FF993D}"/>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78">
            <a:extLst>
              <a:ext uri="{FF2B5EF4-FFF2-40B4-BE49-F238E27FC236}">
                <a16:creationId xmlns:a16="http://schemas.microsoft.com/office/drawing/2014/main" id="{E334E0A1-E1AC-4C92-B97A-EE940E81A16D}"/>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9">
            <a:extLst>
              <a:ext uri="{FF2B5EF4-FFF2-40B4-BE49-F238E27FC236}">
                <a16:creationId xmlns:a16="http://schemas.microsoft.com/office/drawing/2014/main" id="{F9E4590B-3173-4D46-80AB-65087D8E70F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0">
            <a:extLst>
              <a:ext uri="{FF2B5EF4-FFF2-40B4-BE49-F238E27FC236}">
                <a16:creationId xmlns:a16="http://schemas.microsoft.com/office/drawing/2014/main" id="{F8FEA25A-C558-4042-B7C2-FB24BE88FA6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1">
            <a:extLst>
              <a:ext uri="{FF2B5EF4-FFF2-40B4-BE49-F238E27FC236}">
                <a16:creationId xmlns:a16="http://schemas.microsoft.com/office/drawing/2014/main" id="{005F5FC8-0652-4FAA-8C2D-65E1FA8DBB9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표현은 모델 본문에서 자료 부족 고지문이 두 문장 이상인 경우.</a:t>
            </a:r>
          </a:p>
        </p:txBody>
      </p:sp>
      <p:sp>
        <p:nvSpPr>
          <p:cNvPr id="7" name="pipeline-82">
            <a:extLst>
              <a:ext uri="{FF2B5EF4-FFF2-40B4-BE49-F238E27FC236}">
                <a16:creationId xmlns:a16="http://schemas.microsoft.com/office/drawing/2014/main" id="{90973ED7-BD43-46F8-B31C-6B5B2B4E1829}"/>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3">
            <a:extLst>
              <a:ext uri="{FF2B5EF4-FFF2-40B4-BE49-F238E27FC236}">
                <a16:creationId xmlns:a16="http://schemas.microsoft.com/office/drawing/2014/main" id="{CFEE7EB2-0BC6-4102-B15D-C23B28901052}"/>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4">
            <a:extLst>
              <a:ext uri="{FF2B5EF4-FFF2-40B4-BE49-F238E27FC236}">
                <a16:creationId xmlns:a16="http://schemas.microsoft.com/office/drawing/2014/main" id="{DAEAD8E2-40A0-485F-A1F2-C19D363AFAC3}"/>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8B4FC840-D4B9-4AEC-832B-B29F2A72D995}"/>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표현(고지문)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85">
            <a:extLst>
              <a:ext uri="{FF2B5EF4-FFF2-40B4-BE49-F238E27FC236}">
                <a16:creationId xmlns:a16="http://schemas.microsoft.com/office/drawing/2014/main" id="{1745F212-53BB-40CC-8F8D-5B34503EDB06}"/>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86">
            <a:extLst>
              <a:ext uri="{FF2B5EF4-FFF2-40B4-BE49-F238E27FC236}">
                <a16:creationId xmlns:a16="http://schemas.microsoft.com/office/drawing/2014/main" id="{5F76292F-9B5C-4839-B4E4-1F06AD867201}"/>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68838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87">
            <a:extLst>
              <a:ext uri="{FF2B5EF4-FFF2-40B4-BE49-F238E27FC236}">
                <a16:creationId xmlns:a16="http://schemas.microsoft.com/office/drawing/2014/main" id="{081325D2-AB97-47AD-8D89-592F6F3F157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8">
            <a:extLst>
              <a:ext uri="{FF2B5EF4-FFF2-40B4-BE49-F238E27FC236}">
                <a16:creationId xmlns:a16="http://schemas.microsoft.com/office/drawing/2014/main" id="{3A633B77-E4F2-4340-8905-F3C6051FAF7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9">
            <a:extLst>
              <a:ext uri="{FF2B5EF4-FFF2-40B4-BE49-F238E27FC236}">
                <a16:creationId xmlns:a16="http://schemas.microsoft.com/office/drawing/2014/main" id="{74327284-514C-4D55-ABF9-08DBE55A187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0">
            <a:extLst>
              <a:ext uri="{FF2B5EF4-FFF2-40B4-BE49-F238E27FC236}">
                <a16:creationId xmlns:a16="http://schemas.microsoft.com/office/drawing/2014/main" id="{BBDC6617-BA5B-4645-9A11-2F7D6CE18DA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1">
            <a:extLst>
              <a:ext uri="{FF2B5EF4-FFF2-40B4-BE49-F238E27FC236}">
                <a16:creationId xmlns:a16="http://schemas.microsoft.com/office/drawing/2014/main" id="{97F32B78-47DA-48C7-B542-6209D6FC1F7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DE473FF5-2018-44E2-80F8-154F3E788B4F}"/>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60170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5944</Words>
  <Application>Microsoft Office PowerPoint</Application>
  <PresentationFormat>사용자 지정</PresentationFormat>
  <Paragraphs>949</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2026-10-26T04:25:02Z</dcterms:modified>
  <cp:version/>
</cp:coreProperties>
</file>