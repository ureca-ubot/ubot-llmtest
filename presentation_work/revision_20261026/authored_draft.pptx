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73ba2f5f224bb2" /><Relationship Type="http://schemas.openxmlformats.org/officeDocument/2006/relationships/extended-properties" Target="/docProps/app.xml" Id="Rb911c81c1eab4a50" /><Relationship Type="http://schemas.openxmlformats.org/officeDocument/2006/relationships/officeDocument" Target="/ppt/presentation.xml" Id="R9a137c23b23047c8" /></Relationships>
</file>

<file path=ppt/presentation.xml><?xml version="1.0" encoding="utf-8"?>
<p:presentation xmlns:p="http://schemas.openxmlformats.org/presentationml/2006/main">
  <p:sldMasterIdLst>
    <p:sldMasterId xmlns:r="http://schemas.openxmlformats.org/officeDocument/2006/relationships" id="2147483648" r:id="R867522690ec34924"/>
  </p:sldMasterIdLst>
  <p:notesMasterIdLst>
    <p:notesMasterId xmlns:r="http://schemas.openxmlformats.org/officeDocument/2006/relationships" r:id="R66eb3a8773074e30"/>
  </p:notesMasterIdLst>
  <p:sldIdLst>
    <p:sldId xmlns:r="http://schemas.openxmlformats.org/officeDocument/2006/relationships" id="256" r:id="R935fccf5824f45f9"/>
    <p:sldId xmlns:r="http://schemas.openxmlformats.org/officeDocument/2006/relationships" id="257" r:id="Rb2ac23ba32494805"/>
    <p:sldId xmlns:r="http://schemas.openxmlformats.org/officeDocument/2006/relationships" id="258" r:id="R5e43a48e940e4726"/>
    <p:sldId xmlns:r="http://schemas.openxmlformats.org/officeDocument/2006/relationships" id="259" r:id="R071e9640dbb849ac"/>
    <p:sldId xmlns:r="http://schemas.openxmlformats.org/officeDocument/2006/relationships" id="260" r:id="R6697f484974f4a6c"/>
    <p:sldId xmlns:r="http://schemas.openxmlformats.org/officeDocument/2006/relationships" id="261" r:id="Ra6b16eac1b0a46ce"/>
    <p:sldId xmlns:r="http://schemas.openxmlformats.org/officeDocument/2006/relationships" id="262" r:id="Re6c596b676b04cab"/>
  </p:sldIdLst>
  <p:sldSz cx="13716000" cy="771525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17962ca6ed44e8b" /><Relationship Type="http://schemas.openxmlformats.org/officeDocument/2006/relationships/slideMaster" Target="/ppt/slideMasters/slideMaster1.xml" Id="R867522690ec34924" /><Relationship Type="http://schemas.openxmlformats.org/officeDocument/2006/relationships/notesMaster" Target="/ppt/notesMasters/notesMaster1.xml" Id="R66eb3a8773074e30" /><Relationship Type="http://schemas.openxmlformats.org/officeDocument/2006/relationships/presProps" Target="/ppt/presProps.xml" Id="R43c52bb611e84688" /><Relationship Type="http://schemas.openxmlformats.org/officeDocument/2006/relationships/viewProps" Target="/ppt/viewProps.xml" Id="Re83ec7166a334993" /><Relationship Type="http://schemas.openxmlformats.org/officeDocument/2006/relationships/tableStyles" Target="/ppt/tableStyles.xml" Id="R10c001c6a281440b" /><Relationship Type="http://schemas.openxmlformats.org/officeDocument/2006/relationships/slide" Target="/ppt/slides/slide1.xml" Id="R935fccf5824f45f9" /><Relationship Type="http://schemas.openxmlformats.org/officeDocument/2006/relationships/slide" Target="/ppt/slides/slide2.xml" Id="Rb2ac23ba32494805" /><Relationship Type="http://schemas.openxmlformats.org/officeDocument/2006/relationships/slide" Target="/ppt/slides/slide3.xml" Id="R5e43a48e940e4726" /><Relationship Type="http://schemas.openxmlformats.org/officeDocument/2006/relationships/slide" Target="/ppt/slides/slide4.xml" Id="R071e9640dbb849ac" /><Relationship Type="http://schemas.openxmlformats.org/officeDocument/2006/relationships/slide" Target="/ppt/slides/slide5.xml" Id="R6697f484974f4a6c" /><Relationship Type="http://schemas.openxmlformats.org/officeDocument/2006/relationships/slide" Target="/ppt/slides/slide6.xml" Id="Ra6b16eac1b0a46ce" /><Relationship Type="http://schemas.openxmlformats.org/officeDocument/2006/relationships/slide" Target="/ppt/slides/slide7.xml" Id="Re6c596b676b04c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aaed2e312243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af8c92b8534a54" /><Relationship Type="http://schemas.openxmlformats.org/officeDocument/2006/relationships/notesMaster" Target="/ppt/notesMasters/notesMaster1.xml" Id="Rc280d65d1e184a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4a82ed39444aa8" /><Relationship Type="http://schemas.openxmlformats.org/officeDocument/2006/relationships/notesMaster" Target="/ppt/notesMasters/notesMaster1.xml" Id="Rf06be69695f24c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2ebb2a5e18437e" /><Relationship Type="http://schemas.openxmlformats.org/officeDocument/2006/relationships/notesMaster" Target="/ppt/notesMasters/notesMaster1.xml" Id="R67c898b581344d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419a1c568d40fe" /><Relationship Type="http://schemas.openxmlformats.org/officeDocument/2006/relationships/notesMaster" Target="/ppt/notesMasters/notesMaster1.xml" Id="Rb061f056c38f41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2e6bf9c392450d" /><Relationship Type="http://schemas.openxmlformats.org/officeDocument/2006/relationships/notesMaster" Target="/ppt/notesMasters/notesMaster1.xml" Id="Rdd7fde50e0d142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e98881e20e4073" /><Relationship Type="http://schemas.openxmlformats.org/officeDocument/2006/relationships/notesMaster" Target="/ppt/notesMasters/notesMaster1.xml" Id="R72765ebdd0ad48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da953f7bf34747" /><Relationship Type="http://schemas.openxmlformats.org/officeDocument/2006/relationships/notesMaster" Target="/ppt/notesMasters/notesMaster1.xml" Id="R809c802f3d0d4f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(28초)</a:t>
            </a:r>
          </a:p>
          <a:p xmlns:a="http://schemas.openxmlformats.org/drawingml/2006/main">
            <a:r>
              <a:t>처음에는 작은 모델부터 여러 계열을 비교했습니다. 형식이나 자료 부재 판단에 큰 문제가 있는 후보를 제외했고, 큰 모델은 품질과 함께 서빙 부담을 확인했습니다. 마지막 Gemma 4B와 Qwen 4B에서는 점수뿐 아니라 오답을 봤습니다. Qwen은 답할 근거가 있어도 보류하는 경우가 많아, 프롬프트로 교정할 여지가 있다고 판단했습니다.</a:t>
            </a:r>
          </a:p>
          <a:p xmlns:a="http://schemas.openxmlformats.org/drawingml/2006/main">
            <a:r>
              <a:t/>
            </a:r>
          </a:p>
          <a:p xmlns:a="http://schemas.openxmlformats.org/drawingml/2006/main">
            <a:r>
              <a:t>비교 조건과 해석</a:t>
            </a:r>
          </a:p>
          <a:p xmlns:a="http://schemas.openxmlformats.org/drawingml/2006/main">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xmlns:a="http://schemas.openxmlformats.org/drawingml/2006/main">
            <a:r>
              <a:t/>
            </a:r>
          </a:p>
          <a:p xmlns:a="http://schemas.openxmlformats.org/drawingml/2006/main">
            <a:r>
              <a:t>근거</a:t>
            </a:r>
          </a:p>
          <a:p xmlns:a="http://schemas.openxmlformats.org/drawingml/2006/main">
            <a:r>
              <a:t>C:/Ureka/ureca_project2/LLM_Test/model_test_v2/try1/results/all_summary.md</a:t>
            </a:r>
          </a:p>
          <a:p xmlns:a="http://schemas.openxmlformats.org/drawingml/2006/main">
            <a:r>
              <a:t>C:/Ureka/ureca_project2/LLM_Test/model_test_v2/try2/results/all_summary.md</a:t>
            </a:r>
          </a:p>
          <a:p xmlns:a="http://schemas.openxmlformats.org/drawingml/2006/main">
            <a:r>
              <a:t>C:/Ureka/ureca_project2/LLM_Test/model_test_v3/try1/results/summary/model_selection.md</a:t>
            </a:r>
          </a:p>
          <a:p xmlns:a="http://schemas.openxmlformats.org/drawingml/2006/main">
            <a:r>
              <a:t>C:/Ureka/ureca_project2/LLM_Test/model_test_v4/try1/results/summary/tuning_target_decision.md</a:t>
            </a:r>
          </a:p>
          <a:p xmlns:a="http://schemas.openxmlformats.org/drawingml/2006/main">
            <a:r>
              <a:t>C:/Ureka/ureca_project2/LLM_Test/servingtest/l4/reports/L4_MULTIMODEL_RESULTS_20261006.md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(29초)</a:t>
            </a:r>
          </a:p>
          <a:p xmlns:a="http://schemas.openxmlformats.org/drawingml/2006/main">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xmlns:a="http://schemas.openxmlformats.org/drawingml/2006/main">
            <a:r>
              <a:t/>
            </a:r>
          </a:p>
          <a:p xmlns:a="http://schemas.openxmlformats.org/drawingml/2006/main">
            <a:r>
              <a:t>비교 조건과 해석</a:t>
            </a:r>
          </a:p>
          <a:p xmlns:a="http://schemas.openxmlformats.org/drawingml/2006/main">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xmlns:a="http://schemas.openxmlformats.org/drawingml/2006/main">
            <a:r>
              <a:t/>
            </a:r>
          </a:p>
          <a:p xmlns:a="http://schemas.openxmlformats.org/drawingml/2006/main">
            <a:r>
              <a:t>근거</a:t>
            </a:r>
          </a:p>
          <a:p xmlns:a="http://schemas.openxmlformats.org/drawingml/2006/main">
            <a:r>
              <a:t>C:/Ureka/ureca_project2/LLM_Test/presentation_work/revision_20261026/slide_metrics.json</a:t>
            </a:r>
          </a:p>
          <a:p xmlns:a="http://schemas.openxmlformats.org/drawingml/2006/main">
            <a:r>
              <a:t>C:/Ureka/ureca_project2/LLM_Test/presentation_work/evidence_20261026/off_tuned_vs_instruct.json</a:t>
            </a:r>
          </a:p>
          <a:p xmlns:a="http://schemas.openxmlformats.org/drawingml/2006/main">
            <a:r>
              <a:t>C:/Ureka/ureca_project2/LLM_Test/model_test_v5/try1/results/summary/quantization_decision.md</a:t>
            </a:r>
          </a:p>
          <a:p xmlns:a="http://schemas.openxmlformats.org/drawingml/2006/main">
            <a:r>
              <a:t>C:/Ureka/ureca_project2/LLM_Test/model_test_v5/try1/results/summary/cause_breakdown.md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xmlns:a="http://schemas.openxmlformats.org/drawingml/2006/main">
            <a:r>
              <a:t/>
            </a:r>
          </a:p>
          <a:p xmlns:a="http://schemas.openxmlformats.org/drawingml/2006/main">
            <a:r>
              <a:t>비교 조건과 해석</a:t>
            </a:r>
          </a:p>
          <a:p xmlns:a="http://schemas.openxmlformats.org/drawingml/2006/main">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xmlns:a="http://schemas.openxmlformats.org/drawingml/2006/main">
            <a:r>
              <a:t/>
            </a:r>
          </a:p>
          <a:p xmlns:a="http://schemas.openxmlformats.org/drawingml/2006/main">
            <a:r>
              <a:t>근거</a:t>
            </a:r>
          </a:p>
          <a:p xmlns:a="http://schemas.openxmlformats.org/drawingml/2006/main">
            <a:r>
              <a:t>C:/Ureka/ureca_project2/LLM_Test/prompts_test_v7/try1/results/llm_judge/pv7-try1_variant_compare_vs_v4_base.md</a:t>
            </a:r>
          </a:p>
          <a:p xmlns:a="http://schemas.openxmlformats.org/drawingml/2006/main">
            <a:r>
              <a:t>C:/Ureka/ureca_project2/LLM_Test/prompts_test_v7/try1/results/summary/failure_analysis.md</a:t>
            </a:r>
          </a:p>
          <a:p xmlns:a="http://schemas.openxmlformats.org/drawingml/2006/main">
            <a:r>
              <a:t>C:/Ureka/ureca_project2/LLM_Test/prompts_test_v7/SETUP.md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여러 질문을 나누고 생략된 대상을 복원하기 위해 판정 모델을 도입했습니다. 분리나 멀티턴 표지가 없는 질문은 먼저 원문으로 검색하고, 기준을 통과하면 판정을 건너뜁니다. 같은41개이력질문에서 정답FAQ를 찾은 문항은 원문검색16건, 초기판정과가드25건, 검색전용재설계29건입니다. 이 수치는 답변정확도가 아니라 검색적중입니다.</a:t>
            </a:r>
          </a:p>
          <a:p xmlns:a="http://schemas.openxmlformats.org/drawingml/2006/main">
            <a:r>
              <a:t/>
            </a:r>
          </a:p>
          <a:p xmlns:a="http://schemas.openxmlformats.org/drawingml/2006/main">
            <a:r>
              <a:t>비교 조건과 해석</a:t>
            </a:r>
          </a:p>
          <a:p xmlns:a="http://schemas.openxmlformats.org/drawingml/2006/main">
            <a:r>
              <a:t>원문·초기판정oldTop·재설계built4.searchTop은10/15저장벡터검색 결과, top3·score&gt;=.75에서 모든정답의도FAQ를찾은문항수. 원문16→재설계29은새적중15/소실2 p=.00235. 이력59건중정답FAQ있는41건이며,정답없는18건에서무관FAQ통과5→9로악화했다. AI생성gold,사람검수전. 초기25는기존판정+가드oldTop재집계로판정LLM단독능력이아니다. 재설계검색결과를분류기단독효과로부르지않는다. 원문검색은저장된벡터검색기준선이고구버전전체API실측이아니다. 제시한390건single도이미분류기를사용하므로판정LLM미적용기준선으로오표기하지않는다. 초기/분류기/slot의종단정답·환각완전공통4단계자료는없다.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C:/Ureka/ureca_project2/LLM_Test/presentation_work/evidence_20261026/multiturn_before_after.json</a:t>
            </a:r>
          </a:p>
          <a:p xmlns:a="http://schemas.openxmlformats.org/drawingml/2006/main">
            <a:r>
              <a:t>C:/Ureka/ureca_project2/LLM_Test/presentation_work/revision_20261026/slide_metrics.json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xmlns:a="http://schemas.openxmlformats.org/drawingml/2006/main">
            <a:r>
              <a:t/>
            </a:r>
          </a:p>
          <a:p xmlns:a="http://schemas.openxmlformats.org/drawingml/2006/main">
            <a:r>
              <a:t>비교 조건과 해석</a:t>
            </a:r>
          </a:p>
          <a:p xmlns:a="http://schemas.openxmlformats.org/drawingml/2006/main">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C:/Ureka/ureca_project2/eval_205_multiturn/docs-evaluation/2026-10-15-keep-search/HANDOFF.md</a:t>
            </a:r>
          </a:p>
          <a:p xmlns:a="http://schemas.openxmlformats.org/drawingml/2006/main">
            <a:r>
              <a:t>C:/Ureka/ureca_project2/LLM_Test/presentation_work/evidence_20261026/recomputed_metrics.json</a:t>
            </a:r>
          </a:p>
          <a:p xmlns:a="http://schemas.openxmlformats.org/drawingml/2006/main">
            <a:r>
              <a:t>C:/Ureka/ureca_project2/LLM_Test/presentation_work/revision_20261026/slide_metrics.json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(31초)</a:t>
            </a:r>
          </a:p>
          <a:p xmlns:a="http://schemas.openxmlformats.org/drawingml/2006/main">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xmlns:a="http://schemas.openxmlformats.org/drawingml/2006/main">
            <a:r>
              <a:t/>
            </a:r>
          </a:p>
          <a:p xmlns:a="http://schemas.openxmlformats.org/drawingml/2006/main">
            <a:r>
              <a:t>비교 조건과 해석</a:t>
            </a:r>
          </a:p>
          <a:p xmlns:a="http://schemas.openxmlformats.org/drawingml/2006/main">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xmlns:a="http://schemas.openxmlformats.org/drawingml/2006/main">
            <a:r>
              <a:t/>
            </a:r>
          </a:p>
          <a:p xmlns:a="http://schemas.openxmlformats.org/drawingml/2006/main">
            <a:r>
              <a:t>근거</a:t>
            </a:r>
          </a:p>
          <a:p xmlns:a="http://schemas.openxmlformats.org/drawingml/2006/main">
            <a:r>
              <a:t>C:/Ureka/ureca_project2/LLM_Test/presentation_work/revision_20261026/derive_slide_metrics.py</a:t>
            </a:r>
          </a:p>
          <a:p xmlns:a="http://schemas.openxmlformats.org/drawingml/2006/main">
            <a:r>
              <a:t>C:/Ureka/ureca_project2/LLM_Test/presentation_work/revision_20261026/slide_metrics.json</a:t>
            </a:r>
          </a:p>
          <a:p xmlns:a="http://schemas.openxmlformats.org/drawingml/2006/main">
            <a:r>
              <a:t>C:/Ureka/ureca_project2/LLM_Test/pipeline_test_v4/try2/results/all_summary.md</a:t>
            </a:r>
          </a:p>
          <a:p xmlns:a="http://schemas.openxmlformats.org/drawingml/2006/main">
            <a:r>
              <a:t>C:/Ureka/ureca_project2/LLM_Test/pipeline_test_v1/try1/results/interim_summary.md</a:t>
            </a:r>
          </a:p>
          <a:p xmlns:a="http://schemas.openxmlformats.org/drawingml/2006/main">
            <a:r>
              <a:t>C:/Ureka/ureca_project2/LLM_Test/pipeline_test_v5/try1/results/all_summary.md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스케줄러는팀전체기능을주기와역할로묶었습니다. 사용자에게필요한시점에알림을보내고,FAQ랭킹과미응답이름을갱신하며,비동기작업을복구합니다. 제가담당한보관정리는매일새벽4시에기간이지난기록을익명화하거나삭제합니다. 분산잠금과1000건단위처리로중복실행과긴DB잠금을줄이도록구현했습니다.</a:t>
            </a:r>
          </a:p>
          <a:p xmlns:a="http://schemas.openxmlformats.org/drawingml/2006/main">
            <a:r>
              <a:t/>
            </a:r>
          </a:p>
          <a:p xmlns:a="http://schemas.openxmlformats.org/drawingml/2006/main">
            <a:r>
              <a:t>비교 조건과 해석</a:t>
            </a:r>
          </a:p>
          <a:p xmlns:a="http://schemas.openxmlformats.org/drawingml/2006/main">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xmlns:a="http://schemas.openxmlformats.org/drawingml/2006/main">
            <a:r>
              <a:t/>
            </a:r>
          </a:p>
          <a:p xmlns:a="http://schemas.openxmlformats.org/drawingml/2006/main">
            <a:r>
              <a:t>근거</a:t>
            </a:r>
          </a:p>
          <a:p xmlns:a="http://schemas.openxmlformats.org/drawingml/2006/main">
            <a:r>
              <a:t>C:/Ureka/ureca_project2/BackEnd/src/main/resources/application.yml</a:t>
            </a:r>
          </a:p>
          <a:p xmlns:a="http://schemas.openxmlformats.org/drawingml/2006/main">
            <a:r>
              <a:t>C:/Ureka/ureca_project2/BackEnd/src/main/java/com/ubot/retention/scheduler/DataRetentionScheduler.java</a:t>
            </a:r>
          </a:p>
          <a:p xmlns:a="http://schemas.openxmlformats.org/drawingml/2006/main">
            <a:r>
              <a:t>C:/Ureka/ureca_project2/BackEnd/src/main/resources/db/migration/R__purge_expired_data.sql</a:t>
            </a:r>
          </a:p>
          <a:p xmlns:a="http://schemas.openxmlformats.org/drawingml/2006/main">
            <a:r>
              <a:t>C:/Ureka/ureca_project2/LLM_Test/presentation_work/evidence_20261026/evidence_review.json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5307e364f441d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b4e1e5e99d4c78" /><Relationship Type="http://schemas.openxmlformats.org/officeDocument/2006/relationships/slideLayout" Target="/ppt/slideLayouts/slideLayout1.xml" Id="R0617795e8ae14af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17795e8ae14af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a1dbacb7a54e5f" /><Relationship Type="http://schemas.openxmlformats.org/officeDocument/2006/relationships/chart" Target="/ppt/slides/charts/chart1.xml" Id="R2d3983aadb1e40c8" /><Relationship Type="http://schemas.openxmlformats.org/officeDocument/2006/relationships/notesSlide" Target="/ppt/notesSlides/notesSlide1.xml" Id="Rcf8b9a47d7f140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3026859ba443bb" /><Relationship Type="http://schemas.openxmlformats.org/officeDocument/2006/relationships/notesSlide" Target="/ppt/notesSlides/notesSlide2.xml" Id="Re89f3c5ca35348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608106369b42c6" /><Relationship Type="http://schemas.openxmlformats.org/officeDocument/2006/relationships/chart" Target="/ppt/slides/charts/chart2.xml" Id="R1f456c8439d140bd" /><Relationship Type="http://schemas.openxmlformats.org/officeDocument/2006/relationships/notesSlide" Target="/ppt/notesSlides/notesSlide3.xml" Id="Rac29f6def3534c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7dba145c634208" /><Relationship Type="http://schemas.openxmlformats.org/officeDocument/2006/relationships/notesSlide" Target="/ppt/notesSlides/notesSlide4.xml" Id="Rf9368bba123946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e0f7d46a2b468e" /><Relationship Type="http://schemas.openxmlformats.org/officeDocument/2006/relationships/notesSlide" Target="/ppt/notesSlides/notesSlide5.xml" Id="Re1b9f01b07a448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f44de090b9466f" /><Relationship Type="http://schemas.openxmlformats.org/officeDocument/2006/relationships/notesSlide" Target="/ppt/notesSlides/notesSlide6.xml" Id="R464821e5cf534a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99510903634b5c" /><Relationship Type="http://schemas.openxmlformats.org/officeDocument/2006/relationships/notesSlide" Target="/ppt/notesSlides/notesSlide7.xml" Id="R16cb60eddca44a33" /></Relationships>
</file>

<file path=ppt/slides/charts/chart1.xml><?xml version="1.0" encoding="utf-8"?>
<c:chartSpace xmlns:c="http://schemas.openxmlformats.org/drawingml/2006/chart">
  <c:lang val="en-US"/>
  <c:chart>
    <c:plotArea>
      <c:barChart>
        <c:barDir val="col"/>
        <c:grouping val="clustered"/>
        <c:varyColors val="0"/>
        <c:ser>
          <c:idx val="0"/>
          <c:order val="0"/>
          <c:tx>
            <c:v>HTTP 완료 RPS</c:v>
          </c:tx>
          <c:spPr>
            <a:solidFill xmlns:a="http://schemas.openxmlformats.org/drawingml/2006/main">
              <a:srgbClr val="F72585"/>
            </a:solidFill>
          </c:spPr>
          <c:invertIfNegative val="0"/>
          <c:cat>
            <c:strLit>
              <c:ptCount val="3"/>
              <c:pt idx="0">
                <c:v>4B</c:v>
              </c:pt>
              <c:pt idx="1">
                <c:v>8B</c:v>
              </c:pt>
              <c:pt idx="2">
                <c:v>14B</c:v>
              </c:pt>
            </c:strLit>
          </c:cat>
          <c:val>
            <c:numLit>
              <c:formatCode>General</c:formatCode>
              <c:ptCount val="3"/>
              <c:pt idx="0">
                <c:v>9.13</c:v>
              </c:pt>
              <c:pt idx="1">
                <c:v>6.1</c:v>
              </c:pt>
              <c:pt idx="2">
                <c:v>3.33</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12"/>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기본 프롬프트</c:v>
          </c:tx>
          <c:spPr>
            <a:solidFill xmlns:a="http://schemas.openxmlformats.org/drawingml/2006/main">
              <a:srgbClr val="B9BAC1"/>
            </a:solidFill>
          </c:spPr>
          <c:invertIfNegative val="0"/>
          <c:cat>
            <c:strLit>
              <c:ptCount val="2"/>
              <c:pt idx="0">
                <c:v>환각</c:v>
              </c:pt>
              <c:pt idx="1">
                <c:v>되묻기</c:v>
              </c:pt>
            </c:strLit>
          </c:cat>
          <c:val>
            <c:numLit>
              <c:formatCode>General</c:formatCode>
              <c:ptCount val="2"/>
              <c:pt idx="0">
                <c:v>20.44</c:v>
              </c:pt>
              <c:pt idx="1">
                <c:v>14</c:v>
              </c:pt>
            </c:numLit>
          </c:val>
        </c:ser>
        <c:ser>
          <c:idx val="1"/>
          <c:order val="1"/>
          <c:tx>
            <c:v>개선안 v5_i4</c:v>
          </c:tx>
          <c:spPr>
            <a:solidFill xmlns:a="http://schemas.openxmlformats.org/drawingml/2006/main">
              <a:srgbClr val="F72585"/>
            </a:solidFill>
          </c:spPr>
          <c:invertIfNegative val="0"/>
          <c:cat>
            <c:strLit>
              <c:ptCount val="2"/>
              <c:pt idx="0">
                <c:v>환각</c:v>
              </c:pt>
              <c:pt idx="1">
                <c:v>되묻기</c:v>
              </c:pt>
            </c:strLit>
          </c:cat>
          <c:val>
            <c:numLit>
              <c:formatCode>General</c:formatCode>
              <c:ptCount val="2"/>
              <c:pt idx="0">
                <c:v>13.56</c:v>
              </c:pt>
              <c:pt idx="1">
                <c:v>0.11</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25"/>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686B72"/>
              </a:solidFill>
              <a:latin typeface="맑은 고딕"/>
              <a:ea typeface="맑은 고딕"/>
              <a:cs typeface="맑은 고딕"/>
            </a:defRPr>
          </a:pPr>
        </a:p>
      </c:txPr>
    </c:legend>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1">
            <a:extLst xmlns:a="http://schemas.openxmlformats.org/drawingml/2006/main">
              <a:ext uri="{FF2B5EF4-FFF2-40B4-BE49-F238E27FC236}">
                <a16:creationId xmlns:a16="http://schemas.microsoft.com/office/drawing/2014/main" id="{6E43B183-F952-4C4D-AAA3-5ABF2222B18F}"/>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xmlns:a="http://schemas.openxmlformats.org/drawingml/2006/main">
              <a:ext uri="{FF2B5EF4-FFF2-40B4-BE49-F238E27FC236}">
                <a16:creationId xmlns:a16="http://schemas.microsoft.com/office/drawing/2014/main" id="{E571B005-3017-4B15-A24C-FE8E556F1F1E}"/>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Qwen3 4B OFF 선택</a:t>
            </a:r>
          </a:p>
        </p:txBody>
      </p:sp>
      <p:sp>
        <p:nvSpPr>
          <p:cNvPr id="3" name="own-text-3">
            <a:extLst xmlns:a="http://schemas.openxmlformats.org/drawingml/2006/main">
              <a:ext uri="{FF2B5EF4-FFF2-40B4-BE49-F238E27FC236}">
                <a16:creationId xmlns:a16="http://schemas.microsoft.com/office/drawing/2014/main" id="{1E9FC062-03B6-45DA-BB9D-F9D8C97A7DD9}"/>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모델 크기별 약점을 확인하고, 최종 4B 후보는 오류의 교정 가능성으로 판단</a:t>
            </a:r>
          </a:p>
        </p:txBody>
      </p:sp>
      <p:sp>
        <p:nvSpPr>
          <p:cNvPr id="4" name="own-text-4">
            <a:extLst xmlns:a="http://schemas.openxmlformats.org/drawingml/2006/main">
              <a:ext uri="{FF2B5EF4-FFF2-40B4-BE49-F238E27FC236}">
                <a16:creationId xmlns:a16="http://schemas.microsoft.com/office/drawing/2014/main" id="{03D02F02-6596-4095-91E9-28F25E7DCC22}"/>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xmlns:a="http://schemas.openxmlformats.org/drawingml/2006/main">
              <a:ext uri="{FF2B5EF4-FFF2-40B4-BE49-F238E27FC236}">
                <a16:creationId xmlns:a16="http://schemas.microsoft.com/office/drawing/2014/main" id="{C2CCDEA5-4798-4062-9A12-D6D29A9A787D}"/>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01</a:t>
            </a:r>
          </a:p>
        </p:txBody>
      </p:sp>
      <p:sp>
        <p:nvSpPr>
          <p:cNvPr id="6" name="own-text-6">
            <a:extLst xmlns:a="http://schemas.openxmlformats.org/drawingml/2006/main">
              <a:ext uri="{FF2B5EF4-FFF2-40B4-BE49-F238E27FC236}">
                <a16:creationId xmlns:a16="http://schemas.microsoft.com/office/drawing/2014/main" id="{DC659458-ED76-4B6C-9F64-8EECA4F7A799}"/>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초기 9모델과 추가 12B·14B 검토. 진단 단계별 데이터·환경이 달라 수치를 하나의 순위표로 합산하지 않음.</a:t>
            </a:r>
          </a:p>
        </p:txBody>
      </p:sp>
      <p:graphicFrame>
        <p:nvGraphicFramePr>
          <p:cNvPr id="7" name="">
            <a:extLst xmlns:a="http://schemas.openxmlformats.org/drawingml/2006/main">
              <a:ext uri="{FF2B5EF4-FFF2-40B4-BE49-F238E27FC236}">
                <a16:creationId xmlns:a16="http://schemas.microsoft.com/office/drawing/2014/main" id="{DE696B59-FBCA-4517-A207-4BB858D2C8A4}"/>
              </a:ext>
            </a:extLst>
          </p:cNvPr>
          <p:cNvGraphicFramePr/>
          <p:nvPr/>
        </p:nvGraphicFramePr>
        <p:xfrm>
          <a:off xmlns:a="http://schemas.openxmlformats.org/drawingml/2006/main" x="628650" y="2076450"/>
          <a:ext xmlns:a="http://schemas.openxmlformats.org/drawingml/2006/main" cx="7239000" cy="4067175"/>
        </p:xfrm>
        <a:graphic xmlns:a="http://schemas.openxmlformats.org/drawingml/2006/main">
          <a:graphicData uri="http://schemas.openxmlformats.org/drawingml/2006/table">
            <a:tbl>
              <a:tblPr/>
              <a:tblGrid>
                <a:gridCol w="2419350"/>
                <a:gridCol w="4819650"/>
              </a:tblGrid>
              <a:tr h="677863">
                <a:tc>
                  <a:txBody>
                    <a:bodyPr>
                      <a:noAutofit/>
                    </a:bodyPr>
                    <a:lstStyle/>
                    <a:p>
                      <a:r>
                        <a:rPr sz="1598" b="1">
                          <a:solidFill>
                            <a:srgbClr val="FFFFFF"/>
                          </a:solidFill>
                          <a:latin typeface="맑은 고딕"/>
                          <a:ea typeface="맑은 고딕"/>
                          <a:cs typeface="맑은 고딕"/>
                        </a:rPr>
                        <a:t>검토 후보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제외·후순위 근거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77863">
                <a:tc>
                  <a:txBody>
                    <a:bodyPr>
                      <a:noAutofit/>
                    </a:bodyPr>
                    <a:lstStyle/>
                    <a:p>
                      <a:r>
                        <a:rPr sz="1598" b="0">
                          <a:solidFill>
                            <a:srgbClr val="17171A"/>
                          </a:solidFill>
                          <a:latin typeface="맑은 고딕"/>
                          <a:ea typeface="맑은 고딕"/>
                          <a:cs typeface="맑은 고딕"/>
                        </a:rPr>
                        <a:t>Gemma 270M·1B</a:t>
                      </a:r>
                    </a:p>
                    <a:p>
                      <a:r>
                        <a:rPr sz="1598" b="0">
                          <a:solidFill>
                            <a:srgbClr val="17171A"/>
                          </a:solidFill>
                          <a:latin typeface="맑은 고딕"/>
                          <a:ea typeface="맑은 고딕"/>
                          <a:cs typeface="맑은 고딕"/>
                        </a:rPr>
                        <a:t>Qwen 0.6B</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형식·자료 부재 대응 취약</a:t>
                      </a:r>
                    </a:p>
                    <a:p>
                      <a:r>
                        <a:rPr sz="1598" b="0">
                          <a:solidFill>
                            <a:srgbClr val="17171A"/>
                          </a:solidFill>
                          <a:latin typeface="맑은 고딕"/>
                          <a:ea typeface="맑은 고딕"/>
                          <a:cs typeface="맑은 고딕"/>
                        </a:rPr>
                        <a:t>Gemma 포맷 성공 25.3%·35.7%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77863">
                <a:tc>
                  <a:txBody>
                    <a:bodyPr>
                      <a:noAutofit/>
                    </a:bodyPr>
                    <a:lstStyle/>
                    <a:p>
                      <a:r>
                        <a:rPr sz="1598" b="0">
                          <a:solidFill>
                            <a:srgbClr val="17171A"/>
                          </a:solidFill>
                          <a:latin typeface="맑은 고딕"/>
                          <a:ea typeface="맑은 고딕"/>
                          <a:cs typeface="맑은 고딕"/>
                        </a:rPr>
                        <a:t>Qwen 1.7B</a:t>
                      </a:r>
                    </a:p>
                    <a:p>
                      <a:r>
                        <a:rPr sz="1598" b="0">
                          <a:solidFill>
                            <a:srgbClr val="17171A"/>
                          </a:solidFill>
                          <a:latin typeface="맑은 고딕"/>
                          <a:ea typeface="맑은 고딕"/>
                          <a:cs typeface="맑은 고딕"/>
                        </a:rPr>
                        <a:t>EXAONE 2.4B</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내용 품질 부족</a:t>
                      </a:r>
                    </a:p>
                    <a:p>
                      <a:r>
                        <a:rPr sz="1598" b="0">
                          <a:solidFill>
                            <a:srgbClr val="17171A"/>
                          </a:solidFill>
                          <a:latin typeface="맑은 고딕"/>
                          <a:ea typeface="맑은 고딕"/>
                          <a:cs typeface="맑은 고딕"/>
                        </a:rPr>
                        <a:t>1.7B 정답 47%(300건), 2.4B 표본 10/26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77863">
                <a:tc>
                  <a:txBody>
                    <a:bodyPr>
                      <a:noAutofit/>
                    </a:bodyPr>
                    <a:lstStyle/>
                    <a:p>
                      <a:r>
                        <a:rPr sz="1598" b="0">
                          <a:solidFill>
                            <a:srgbClr val="17171A"/>
                          </a:solidFill>
                          <a:latin typeface="맑은 고딕"/>
                          <a:ea typeface="맑은 고딕"/>
                          <a:cs typeface="맑은 고딕"/>
                        </a:rPr>
                        <a:t>EXAONE 7.8B</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자료가 없을 때 보류 실패</a:t>
                      </a:r>
                    </a:p>
                    <a:p>
                      <a:r>
                        <a:rPr sz="1598" b="0">
                          <a:solidFill>
                            <a:srgbClr val="17171A"/>
                          </a:solidFill>
                          <a:latin typeface="맑은 고딕"/>
                          <a:ea typeface="맑은 고딕"/>
                          <a:cs typeface="맑은 고딕"/>
                        </a:rPr>
                        <a:t>기대 ABSTAIN 88건 중 0건 일치</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77863">
                <a:tc>
                  <a:txBody>
                    <a:bodyPr>
                      <a:noAutofit/>
                    </a:bodyPr>
                    <a:lstStyle/>
                    <a:p>
                      <a:r>
                        <a:rPr sz="1598" b="0">
                          <a:solidFill>
                            <a:srgbClr val="17171A"/>
                          </a:solidFill>
                          <a:latin typeface="맑은 고딕"/>
                          <a:ea typeface="맑은 고딕"/>
                          <a:cs typeface="맑은 고딕"/>
                        </a:rPr>
                        <a:t>Qwen 4B 추론 ON</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품질은 좋지만 응답 지연</a:t>
                      </a:r>
                    </a:p>
                    <a:p>
                      <a:r>
                        <a:rPr sz="1598" b="0">
                          <a:solidFill>
                            <a:srgbClr val="17171A"/>
                          </a:solidFill>
                          <a:latin typeface="맑은 고딕"/>
                          <a:ea typeface="맑은 고딕"/>
                          <a:cs typeface="맑은 고딕"/>
                        </a:rPr>
                        <a:t>P95 47.6초, 300건 모두 5초 초과</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77863">
                <a:tc>
                  <a:txBody>
                    <a:bodyPr>
                      <a:noAutofit/>
                    </a:bodyPr>
                    <a:lstStyle/>
                    <a:p>
                      <a:r>
                        <a:rPr sz="1598" b="0">
                          <a:solidFill>
                            <a:srgbClr val="17171A"/>
                          </a:solidFill>
                          <a:latin typeface="맑은 고딕"/>
                          <a:ea typeface="맑은 고딕"/>
                          <a:cs typeface="맑은 고딕"/>
                        </a:rPr>
                        <a:t>Qwen 8B·14B</a:t>
                      </a:r>
                    </a:p>
                    <a:p>
                      <a:r>
                        <a:rPr sz="1598" b="0">
                          <a:solidFill>
                            <a:srgbClr val="17171A"/>
                          </a:solidFill>
                          <a:latin typeface="맑은 고딕"/>
                          <a:ea typeface="맑은 고딕"/>
                          <a:cs typeface="맑은 고딕"/>
                        </a:rPr>
                        <a:t>Gemma 12B</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품질 후보로 검토한 뒤</a:t>
                      </a:r>
                    </a:p>
                    <a:p>
                      <a:r>
                        <a:rPr sz="1598" b="0">
                          <a:solidFill>
                            <a:srgbClr val="17171A"/>
                          </a:solidFill>
                          <a:latin typeface="맑은 고딕"/>
                          <a:ea typeface="맑은 고딕"/>
                          <a:cs typeface="맑은 고딕"/>
                        </a:rPr>
                        <a:t>운영 부담을 줄일 4B 계열 튜닝 검토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7">
            <a:extLst xmlns:a="http://schemas.openxmlformats.org/drawingml/2006/main">
              <a:ext uri="{FF2B5EF4-FFF2-40B4-BE49-F238E27FC236}">
                <a16:creationId xmlns:a16="http://schemas.microsoft.com/office/drawing/2014/main" id="{EEF86F2A-4830-479E-9417-B7648B8FADC1}"/>
              </a:ext>
            </a:extLst>
          </p:cNvPr>
          <p:cNvSpPr>
            <a:spLocks xmlns:a="http://schemas.openxmlformats.org/drawingml/2006/main" noGrp="1"/>
          </p:cNvSpPr>
          <p:nvPr/>
        </p:nvSpPr>
        <p:spPr>
          <a:xfrm xmlns:a="http://schemas.openxmlformats.org/drawingml/2006/main">
            <a:off x="8248650" y="20764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최종 4B 후보의 오류 차이</a:t>
            </a:r>
          </a:p>
        </p:txBody>
      </p:sp>
      <p:sp>
        <p:nvSpPr>
          <p:cNvPr id="9" name="own-text-8">
            <a:extLst xmlns:a="http://schemas.openxmlformats.org/drawingml/2006/main">
              <a:ext uri="{FF2B5EF4-FFF2-40B4-BE49-F238E27FC236}">
                <a16:creationId xmlns:a16="http://schemas.microsoft.com/office/drawing/2014/main" id="{14CFD27A-E7B0-486A-92E8-BF63EC2A29ED}"/>
              </a:ext>
            </a:extLst>
          </p:cNvPr>
          <p:cNvSpPr>
            <a:spLocks xmlns:a="http://schemas.openxmlformats.org/drawingml/2006/main" noGrp="1"/>
          </p:cNvSpPr>
          <p:nvPr/>
        </p:nvSpPr>
        <p:spPr>
          <a:xfrm xmlns:a="http://schemas.openxmlformats.org/drawingml/2006/main">
            <a:off x="8248650" y="251460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48" b="0">
                <a:solidFill>
                  <a:srgbClr val="686B72"/>
                </a:solidFill>
                <a:latin typeface="맑은 고딕"/>
                <a:ea typeface="맑은 고딕"/>
                <a:cs typeface="맑은 고딕"/>
              </a:defRPr>
            </a:defPPr>
            <a:lvl1pPr algn="l">
              <a:defRPr sz="1448" b="0">
                <a:solidFill>
                  <a:srgbClr val="686B72"/>
                </a:solidFill>
                <a:latin typeface="맑은 고딕"/>
                <a:ea typeface="맑은 고딕"/>
                <a:cs typeface="맑은 고딕"/>
              </a:defRPr>
            </a:lvl1pPr>
            <a:lvl2pPr algn="l">
              <a:defRPr sz="1448" b="0">
                <a:solidFill>
                  <a:srgbClr val="686B72"/>
                </a:solidFill>
                <a:latin typeface="맑은 고딕"/>
                <a:ea typeface="맑은 고딕"/>
                <a:cs typeface="맑은 고딕"/>
              </a:defRPr>
            </a:lvl2pPr>
            <a:lvl3pPr algn="l">
              <a:defRPr sz="1448" b="0">
                <a:solidFill>
                  <a:srgbClr val="686B72"/>
                </a:solidFill>
                <a:latin typeface="맑은 고딕"/>
                <a:ea typeface="맑은 고딕"/>
                <a:cs typeface="맑은 고딕"/>
              </a:defRPr>
            </a:lvl3pPr>
            <a:lvl4pPr algn="l">
              <a:defRPr sz="1448" b="0">
                <a:solidFill>
                  <a:srgbClr val="686B72"/>
                </a:solidFill>
                <a:latin typeface="맑은 고딕"/>
                <a:ea typeface="맑은 고딕"/>
                <a:cs typeface="맑은 고딕"/>
              </a:defRPr>
            </a:lvl4pPr>
            <a:lvl5pPr algn="l">
              <a:defRPr sz="1448" b="0">
                <a:solidFill>
                  <a:srgbClr val="686B72"/>
                </a:solidFill>
                <a:latin typeface="맑은 고딕"/>
                <a:ea typeface="맑은 고딕"/>
                <a:cs typeface="맑은 고딕"/>
              </a:defRPr>
            </a:lvl5pPr>
            <a:lvl6pPr algn="l">
              <a:defRPr sz="1448" b="0">
                <a:solidFill>
                  <a:srgbClr val="686B72"/>
                </a:solidFill>
                <a:latin typeface="맑은 고딕"/>
                <a:ea typeface="맑은 고딕"/>
                <a:cs typeface="맑은 고딕"/>
              </a:defRPr>
            </a:lvl6pPr>
            <a:lvl7pPr algn="l">
              <a:defRPr sz="1448" b="0">
                <a:solidFill>
                  <a:srgbClr val="686B72"/>
                </a:solidFill>
                <a:latin typeface="맑은 고딕"/>
                <a:ea typeface="맑은 고딕"/>
                <a:cs typeface="맑은 고딕"/>
              </a:defRPr>
            </a:lvl7pPr>
            <a:lvl8pPr algn="l">
              <a:defRPr sz="1448" b="0">
                <a:solidFill>
                  <a:srgbClr val="686B72"/>
                </a:solidFill>
                <a:latin typeface="맑은 고딕"/>
                <a:ea typeface="맑은 고딕"/>
                <a:cs typeface="맑은 고딕"/>
              </a:defRPr>
            </a:lvl8pPr>
            <a:lvl9pPr algn="l">
              <a:defRPr sz="1448" b="0">
                <a:solidFill>
                  <a:srgbClr val="686B72"/>
                </a:solidFill>
                <a:latin typeface="맑은 고딕"/>
                <a:ea typeface="맑은 고딕"/>
                <a:cs typeface="맑은 고딕"/>
              </a:defRPr>
            </a:lvl9pPr>
          </a:lstStyle>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기준 정확도: Gemma 65.1% / Qwen 63.0%</a:t>
            </a:r>
          </a:p>
        </p:txBody>
      </p:sp>
      <p:sp>
        <p:nvSpPr>
          <p:cNvPr id="10" name="own-text-9">
            <a:extLst xmlns:a="http://schemas.openxmlformats.org/drawingml/2006/main">
              <a:ext uri="{FF2B5EF4-FFF2-40B4-BE49-F238E27FC236}">
                <a16:creationId xmlns:a16="http://schemas.microsoft.com/office/drawing/2014/main" id="{413A9563-F376-4BC5-B5F6-E25EC25C1098}"/>
              </a:ext>
            </a:extLst>
          </p:cNvPr>
          <p:cNvSpPr>
            <a:spLocks xmlns:a="http://schemas.openxmlformats.org/drawingml/2006/main" noGrp="1"/>
          </p:cNvSpPr>
          <p:nvPr/>
        </p:nvSpPr>
        <p:spPr>
          <a:xfrm xmlns:a="http://schemas.openxmlformats.org/drawingml/2006/main">
            <a:off x="8248650" y="28956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86B72"/>
                </a:solidFill>
                <a:latin typeface="맑은 고딕"/>
                <a:ea typeface="맑은 고딕"/>
                <a:cs typeface="맑은 고딕"/>
              </a:defRPr>
            </a:defPPr>
            <a:lvl1pPr algn="l">
              <a:defRPr sz="1800" b="1">
                <a:solidFill>
                  <a:srgbClr val="686B72"/>
                </a:solidFill>
                <a:latin typeface="맑은 고딕"/>
                <a:ea typeface="맑은 고딕"/>
                <a:cs typeface="맑은 고딕"/>
              </a:defRPr>
            </a:lvl1pPr>
            <a:lvl2pPr algn="l">
              <a:defRPr sz="1800" b="1">
                <a:solidFill>
                  <a:srgbClr val="686B72"/>
                </a:solidFill>
                <a:latin typeface="맑은 고딕"/>
                <a:ea typeface="맑은 고딕"/>
                <a:cs typeface="맑은 고딕"/>
              </a:defRPr>
            </a:lvl2pPr>
            <a:lvl3pPr algn="l">
              <a:defRPr sz="1800" b="1">
                <a:solidFill>
                  <a:srgbClr val="686B72"/>
                </a:solidFill>
                <a:latin typeface="맑은 고딕"/>
                <a:ea typeface="맑은 고딕"/>
                <a:cs typeface="맑은 고딕"/>
              </a:defRPr>
            </a:lvl3pPr>
            <a:lvl4pPr algn="l">
              <a:defRPr sz="1800" b="1">
                <a:solidFill>
                  <a:srgbClr val="686B72"/>
                </a:solidFill>
                <a:latin typeface="맑은 고딕"/>
                <a:ea typeface="맑은 고딕"/>
                <a:cs typeface="맑은 고딕"/>
              </a:defRPr>
            </a:lvl4pPr>
            <a:lvl5pPr algn="l">
              <a:defRPr sz="1800" b="1">
                <a:solidFill>
                  <a:srgbClr val="686B72"/>
                </a:solidFill>
                <a:latin typeface="맑은 고딕"/>
                <a:ea typeface="맑은 고딕"/>
                <a:cs typeface="맑은 고딕"/>
              </a:defRPr>
            </a:lvl5pPr>
            <a:lvl6pPr algn="l">
              <a:defRPr sz="1800" b="1">
                <a:solidFill>
                  <a:srgbClr val="686B72"/>
                </a:solidFill>
                <a:latin typeface="맑은 고딕"/>
                <a:ea typeface="맑은 고딕"/>
                <a:cs typeface="맑은 고딕"/>
              </a:defRPr>
            </a:lvl6pPr>
            <a:lvl7pPr algn="l">
              <a:defRPr sz="1800" b="1">
                <a:solidFill>
                  <a:srgbClr val="686B72"/>
                </a:solidFill>
                <a:latin typeface="맑은 고딕"/>
                <a:ea typeface="맑은 고딕"/>
                <a:cs typeface="맑은 고딕"/>
              </a:defRPr>
            </a:lvl7pPr>
            <a:lvl8pPr algn="l">
              <a:defRPr sz="1800" b="1">
                <a:solidFill>
                  <a:srgbClr val="686B72"/>
                </a:solidFill>
                <a:latin typeface="맑은 고딕"/>
                <a:ea typeface="맑은 고딕"/>
                <a:cs typeface="맑은 고딕"/>
              </a:defRPr>
            </a:lvl8pPr>
            <a:lvl9pPr algn="l">
              <a:defRPr sz="1800" b="1">
                <a:solidFill>
                  <a:srgbClr val="686B72"/>
                </a:solidFill>
                <a:latin typeface="맑은 고딕"/>
                <a:ea typeface="맑은 고딕"/>
                <a:cs typeface="맑은 고딕"/>
              </a:defRPr>
            </a:lvl9pPr>
          </a:lstStyle>
          <a:p xmlns:a="http://schemas.openxmlformats.org/drawingml/2006/main">
            <a:pPr algn="l">
              <a:defRPr sz="1800" b="1">
                <a:solidFill>
                  <a:srgbClr val="686B72"/>
                </a:solidFill>
                <a:latin typeface="맑은 고딕"/>
                <a:ea typeface="맑은 고딕"/>
                <a:cs typeface="맑은 고딕"/>
              </a:defRPr>
            </a:pPr>
            <a:r>
              <a:rPr sz="1800" b="1">
                <a:solidFill>
                  <a:srgbClr val="686B72"/>
                </a:solidFill>
                <a:latin typeface="맑은 고딕"/>
                <a:ea typeface="맑은 고딕"/>
                <a:cs typeface="맑은 고딕"/>
              </a:rPr>
              <a:t>Gemma 4B</a:t>
            </a:r>
          </a:p>
        </p:txBody>
      </p:sp>
      <p:sp>
        <p:nvSpPr>
          <p:cNvPr id="11" name="own-text-10">
            <a:extLst xmlns:a="http://schemas.openxmlformats.org/drawingml/2006/main">
              <a:ext uri="{FF2B5EF4-FFF2-40B4-BE49-F238E27FC236}">
                <a16:creationId xmlns:a16="http://schemas.microsoft.com/office/drawing/2014/main" id="{91CAB4C8-0E46-4BE1-9852-55125A1E6CAD}"/>
              </a:ext>
            </a:extLst>
          </p:cNvPr>
          <p:cNvSpPr>
            <a:spLocks xmlns:a="http://schemas.openxmlformats.org/drawingml/2006/main" noGrp="1"/>
          </p:cNvSpPr>
          <p:nvPr/>
        </p:nvSpPr>
        <p:spPr>
          <a:xfrm xmlns:a="http://schemas.openxmlformats.org/drawingml/2006/main">
            <a:off x="8248650" y="32766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계산·조건 오류와 근거 밖 보충</a:t>
            </a:r>
          </a:p>
        </p:txBody>
      </p:sp>
      <p:sp>
        <p:nvSpPr>
          <p:cNvPr id="12" name="own-text-11">
            <a:extLst xmlns:a="http://schemas.openxmlformats.org/drawingml/2006/main">
              <a:ext uri="{FF2B5EF4-FFF2-40B4-BE49-F238E27FC236}">
                <a16:creationId xmlns:a16="http://schemas.microsoft.com/office/drawing/2014/main" id="{7E7BE823-B64A-4DB0-BA9C-12DBB6131331}"/>
              </a:ext>
            </a:extLst>
          </p:cNvPr>
          <p:cNvSpPr>
            <a:spLocks xmlns:a="http://schemas.openxmlformats.org/drawingml/2006/main" noGrp="1"/>
          </p:cNvSpPr>
          <p:nvPr/>
        </p:nvSpPr>
        <p:spPr>
          <a:xfrm xmlns:a="http://schemas.openxmlformats.org/drawingml/2006/main">
            <a:off x="8248650" y="37433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Qwen 4B OFF</a:t>
            </a:r>
          </a:p>
        </p:txBody>
      </p:sp>
      <p:sp>
        <p:nvSpPr>
          <p:cNvPr id="13" name="own-text-12">
            <a:extLst xmlns:a="http://schemas.openxmlformats.org/drawingml/2006/main">
              <a:ext uri="{FF2B5EF4-FFF2-40B4-BE49-F238E27FC236}">
                <a16:creationId xmlns:a16="http://schemas.microsoft.com/office/drawing/2014/main" id="{8F40175E-39E8-4EB3-AEB4-7CFC7900CAE1}"/>
              </a:ext>
            </a:extLst>
          </p:cNvPr>
          <p:cNvSpPr>
            <a:spLocks xmlns:a="http://schemas.openxmlformats.org/drawingml/2006/main" noGrp="1"/>
          </p:cNvSpPr>
          <p:nvPr/>
        </p:nvSpPr>
        <p:spPr>
          <a:xfrm xmlns:a="http://schemas.openxmlformats.org/drawingml/2006/main">
            <a:off x="8248650" y="4152900"/>
            <a:ext cx="4857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오답 중 과잉 보류 36.6%</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답하게 만드는 프롬프트 교정을 우선</a:t>
            </a:r>
          </a:p>
        </p:txBody>
      </p:sp>
      <p:sp>
        <p:nvSpPr>
          <p:cNvPr id="14" name="own-text-13">
            <a:extLst xmlns:a="http://schemas.openxmlformats.org/drawingml/2006/main">
              <a:ext uri="{FF2B5EF4-FFF2-40B4-BE49-F238E27FC236}">
                <a16:creationId xmlns:a16="http://schemas.microsoft.com/office/drawing/2014/main" id="{9F73FC9E-E568-49C6-B12F-1C9777532821}"/>
              </a:ext>
            </a:extLst>
          </p:cNvPr>
          <p:cNvSpPr>
            <a:spLocks xmlns:a="http://schemas.openxmlformats.org/drawingml/2006/main" noGrp="1"/>
          </p:cNvSpPr>
          <p:nvPr/>
        </p:nvSpPr>
        <p:spPr>
          <a:xfrm xmlns:a="http://schemas.openxmlformats.org/drawingml/2006/main">
            <a:off x="8248650" y="491490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이전 Qwen3, L4·동접 32명·30초 완료 RPS</a:t>
            </a:r>
          </a:p>
        </p:txBody>
      </p:sp>
      <p:graphicFrame>
        <p:nvGraphicFramePr>
          <p:cNvPr id="15" name="Chart">
            <a:extLst xmlns:a="http://schemas.openxmlformats.org/drawingml/2006/main">
              <a:ext uri="{FF2B5EF4-FFF2-40B4-BE49-F238E27FC236}">
                <a16:creationId xmlns:a16="http://schemas.microsoft.com/office/drawing/2014/main" id="{5D70C10D-4A76-4E55-915D-71287042336D}"/>
              </a:ext>
            </a:extLst>
          </p:cNvPr>
          <p:cNvGraphicFramePr/>
          <p:nvPr/>
        </p:nvGraphicFramePr>
        <p:xfrm>
          <a:off xmlns:a="http://schemas.openxmlformats.org/drawingml/2006/main" x="8248650" y="5257800"/>
          <a:ext xmlns:a="http://schemas.openxmlformats.org/drawingml/2006/main" cx="4857750" cy="1190625"/>
        </p:xfrm>
        <a:graphic xmlns:a="http://schemas.openxmlformats.org/drawingml/2006/main">
          <a:graphicData uri="http://schemas.openxmlformats.org/drawingml/2006/chart">
            <c:chart xmlns:r="http://schemas.openxmlformats.org/officeDocument/2006/relationships" xmlns:c="http://schemas.openxmlformats.org/drawingml/2006/chart" r:id="R2d3983aadb1e40c8"/>
          </a:graphicData>
        </a:graphic>
      </p:graphicFrame>
    </p:spTree>
    <p:extLst>
      <p:ext uri="{BB962C8B-B14F-4D97-AF65-F5344CB8AC3E}">
        <p14:creationId xmlns:p14="http://schemas.microsoft.com/office/powerpoint/2010/main" val="971658971"/>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14">
            <a:extLst xmlns:a="http://schemas.openxmlformats.org/drawingml/2006/main">
              <a:ext uri="{FF2B5EF4-FFF2-40B4-BE49-F238E27FC236}">
                <a16:creationId xmlns:a16="http://schemas.microsoft.com/office/drawing/2014/main" id="{A92AFF9C-D5E4-436B-A0B6-26EF1443A3E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5">
            <a:extLst xmlns:a="http://schemas.openxmlformats.org/drawingml/2006/main">
              <a:ext uri="{FF2B5EF4-FFF2-40B4-BE49-F238E27FC236}">
                <a16:creationId xmlns:a16="http://schemas.microsoft.com/office/drawing/2014/main" id="{327EEFC3-C3A1-4422-BE1B-B498CE34F5A4}"/>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16">
            <a:extLst xmlns:a="http://schemas.openxmlformats.org/drawingml/2006/main">
              <a:ext uri="{FF2B5EF4-FFF2-40B4-BE49-F238E27FC236}">
                <a16:creationId xmlns:a16="http://schemas.microsoft.com/office/drawing/2014/main" id="{109CCB42-1126-440C-A56E-FE697F8FEAC6}"/>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17">
            <a:extLst xmlns:a="http://schemas.openxmlformats.org/drawingml/2006/main">
              <a:ext uri="{FF2B5EF4-FFF2-40B4-BE49-F238E27FC236}">
                <a16:creationId xmlns:a16="http://schemas.microsoft.com/office/drawing/2014/main" id="{F12A457E-5C57-4C85-82E3-23A5BCB9E64A}"/>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8">
            <a:extLst xmlns:a="http://schemas.openxmlformats.org/drawingml/2006/main">
              <a:ext uri="{FF2B5EF4-FFF2-40B4-BE49-F238E27FC236}">
                <a16:creationId xmlns:a16="http://schemas.microsoft.com/office/drawing/2014/main" id="{7AC6CBAF-488C-420D-A354-3F044CC1E381}"/>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02</a:t>
            </a:r>
          </a:p>
        </p:txBody>
      </p:sp>
      <p:sp>
        <p:nvSpPr>
          <p:cNvPr id="6" name="own-text-19">
            <a:extLst xmlns:a="http://schemas.openxmlformats.org/drawingml/2006/main">
              <a:ext uri="{FF2B5EF4-FFF2-40B4-BE49-F238E27FC236}">
                <a16:creationId xmlns:a16="http://schemas.microsoft.com/office/drawing/2014/main" id="{5EEF789F-BAA5-49A5-BD8D-25C3D0FF61EF}"/>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왼쪽은 6조합 공통 404문항(PI·HR·SR 및 NC·MC 집중 표본). 오른쪽 Q4·Q8은 별도 공통 1,300문항.</a:t>
            </a:r>
          </a:p>
        </p:txBody>
      </p:sp>
      <p:graphicFrame>
        <p:nvGraphicFramePr>
          <p:cNvPr id="7" name="">
            <a:extLst xmlns:a="http://schemas.openxmlformats.org/drawingml/2006/main">
              <a:ext uri="{FF2B5EF4-FFF2-40B4-BE49-F238E27FC236}">
                <a16:creationId xmlns:a16="http://schemas.microsoft.com/office/drawing/2014/main" id="{518AA75E-DC95-4512-9672-9D5468E0BBC0}"/>
              </a:ext>
            </a:extLst>
          </p:cNvPr>
          <p:cNvGraphicFramePr/>
          <p:nvPr/>
        </p:nvGraphicFramePr>
        <p:xfrm>
          <a:off xmlns:a="http://schemas.openxmlformats.org/drawingml/2006/main" x="628650" y="2076450"/>
          <a:ext xmlns:a="http://schemas.openxmlformats.org/drawingml/2006/main" cx="8096250" cy="3238500"/>
        </p:xfrm>
        <a:graphic xmlns:a="http://schemas.openxmlformats.org/drawingml/2006/main">
          <a:graphicData uri="http://schemas.openxmlformats.org/drawingml/2006/table">
            <a:tbl>
              <a:tblPr/>
              <a:tblGrid>
                <a:gridCol w="4838700"/>
                <a:gridCol w="1628775"/>
                <a:gridCol w="1628775"/>
              </a:tblGrid>
              <a:tr h="462643">
                <a:tc>
                  <a:txBody>
                    <a:bodyPr>
                      <a:noAutofit/>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정확도</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환각률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62643">
                <a:tc>
                  <a:txBody>
                    <a:bodyPr>
                      <a:noAutofit/>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62.87%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23.76%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Qwen3 4B OFF · t1c</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77.48%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24.50%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70.05%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29.70%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71.78%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42.57%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85.15%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23.02%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62643">
                <a:tc>
                  <a:txBody>
                    <a:bodyPr>
                      <a:noAutofit/>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87.62%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22.28%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20">
            <a:extLst xmlns:a="http://schemas.openxmlformats.org/drawingml/2006/main">
              <a:ext uri="{FF2B5EF4-FFF2-40B4-BE49-F238E27FC236}">
                <a16:creationId xmlns:a16="http://schemas.microsoft.com/office/drawing/2014/main" id="{205010E9-6AFD-4412-820B-D62DBA3F3EFC}"/>
              </a:ext>
            </a:extLst>
          </p:cNvPr>
          <p:cNvSpPr>
            <a:spLocks xmlns:a="http://schemas.openxmlformats.org/drawingml/2006/main" noGrp="1"/>
          </p:cNvSpPr>
          <p:nvPr/>
        </p:nvSpPr>
        <p:spPr>
          <a:xfrm xmlns:a="http://schemas.openxmlformats.org/drawingml/2006/main">
            <a:off x="9105900" y="20764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21">
            <a:extLst xmlns:a="http://schemas.openxmlformats.org/drawingml/2006/main">
              <a:ext uri="{FF2B5EF4-FFF2-40B4-BE49-F238E27FC236}">
                <a16:creationId xmlns:a16="http://schemas.microsoft.com/office/drawing/2014/main" id="{C4A81F72-B230-43F8-AE5C-02F600D69EDB}"/>
              </a:ext>
            </a:extLst>
          </p:cNvPr>
          <p:cNvSpPr>
            <a:spLocks xmlns:a="http://schemas.openxmlformats.org/drawingml/2006/main" noGrp="1"/>
          </p:cNvSpPr>
          <p:nvPr/>
        </p:nvSpPr>
        <p:spPr>
          <a:xfrm xmlns:a="http://schemas.openxmlformats.org/drawingml/2006/main">
            <a:off x="9105900" y="26289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22">
            <a:extLst xmlns:a="http://schemas.openxmlformats.org/drawingml/2006/main">
              <a:ext uri="{FF2B5EF4-FFF2-40B4-BE49-F238E27FC236}">
                <a16:creationId xmlns:a16="http://schemas.microsoft.com/office/drawing/2014/main" id="{2DC98E5E-725C-44A9-9260-1FE6005941CC}"/>
              </a:ext>
            </a:extLst>
          </p:cNvPr>
          <p:cNvSpPr>
            <a:spLocks xmlns:a="http://schemas.openxmlformats.org/drawingml/2006/main" noGrp="1"/>
          </p:cNvSpPr>
          <p:nvPr/>
        </p:nvSpPr>
        <p:spPr>
          <a:xfrm xmlns:a="http://schemas.openxmlformats.org/drawingml/2006/main">
            <a:off x="9105900" y="34766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짝 검정 p=0.22 / p=0.85</a:t>
            </a:r>
          </a:p>
        </p:txBody>
      </p:sp>
      <p:sp>
        <p:nvSpPr>
          <p:cNvPr id="11" name="own-text-23">
            <a:extLst xmlns:a="http://schemas.openxmlformats.org/drawingml/2006/main">
              <a:ext uri="{FF2B5EF4-FFF2-40B4-BE49-F238E27FC236}">
                <a16:creationId xmlns:a16="http://schemas.microsoft.com/office/drawing/2014/main" id="{34BCE96E-AA75-4B6C-B373-6C5147C7F2DA}"/>
              </a:ext>
            </a:extLst>
          </p:cNvPr>
          <p:cNvSpPr>
            <a:spLocks xmlns:a="http://schemas.openxmlformats.org/drawingml/2006/main" noGrp="1"/>
          </p:cNvSpPr>
          <p:nvPr/>
        </p:nvSpPr>
        <p:spPr>
          <a:xfrm xmlns:a="http://schemas.openxmlformats.org/drawingml/2006/main">
            <a:off x="9105900" y="4000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24">
            <a:extLst xmlns:a="http://schemas.openxmlformats.org/drawingml/2006/main">
              <a:ext uri="{FF2B5EF4-FFF2-40B4-BE49-F238E27FC236}">
                <a16:creationId xmlns:a16="http://schemas.microsoft.com/office/drawing/2014/main" id="{D2ACA51D-724B-46C2-A979-614B8AEC3C16}"/>
              </a:ext>
            </a:extLst>
          </p:cNvPr>
          <p:cNvSpPr>
            <a:spLocks xmlns:a="http://schemas.openxmlformats.org/drawingml/2006/main" noGrp="1"/>
          </p:cNvSpPr>
          <p:nvPr/>
        </p:nvSpPr>
        <p:spPr>
          <a:xfrm xmlns:a="http://schemas.openxmlformats.org/drawingml/2006/main">
            <a:off x="9105900" y="44958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25">
            <a:extLst xmlns:a="http://schemas.openxmlformats.org/drawingml/2006/main">
              <a:ext uri="{FF2B5EF4-FFF2-40B4-BE49-F238E27FC236}">
                <a16:creationId xmlns:a16="http://schemas.microsoft.com/office/drawing/2014/main" id="{E0A7858E-AB9B-48B0-87C8-CCD8E1575FC3}"/>
              </a:ext>
            </a:extLst>
          </p:cNvPr>
          <p:cNvSpPr>
            <a:spLocks xmlns:a="http://schemas.openxmlformats.org/drawingml/2006/main" noGrp="1"/>
          </p:cNvSpPr>
          <p:nvPr/>
        </p:nvSpPr>
        <p:spPr>
          <a:xfrm xmlns:a="http://schemas.openxmlformats.org/drawingml/2006/main">
            <a:off x="628650" y="5581650"/>
            <a:ext cx="12458700" cy="0"/>
          </a:xfrm>
          <a:prstGeom xmlns:a="http://schemas.openxmlformats.org/drawingml/2006/main" prst="line">
            <a:avLst/>
          </a:prstGeom>
          <a:noFill xmlns:a="http://schemas.openxmlformats.org/drawingml/2006/main"/>
          <a:ln xmlns:a="http://schemas.openxmlformats.org/drawingml/2006/main" w="9525">
            <a:solidFill>
              <a:srgbClr val="DDDDE1"/>
            </a:solidFill>
            <a:prstDash val="solid"/>
          </a:ln>
        </p:spPr>
      </p:sp>
      <p:sp>
        <p:nvSpPr>
          <p:cNvPr id="14" name="own-text-26">
            <a:extLst xmlns:a="http://schemas.openxmlformats.org/drawingml/2006/main">
              <a:ext uri="{FF2B5EF4-FFF2-40B4-BE49-F238E27FC236}">
                <a16:creationId xmlns:a16="http://schemas.microsoft.com/office/drawing/2014/main" id="{C017AA4B-E8B7-4298-8F71-9F5E6F05591D}"/>
              </a:ext>
            </a:extLst>
          </p:cNvPr>
          <p:cNvSpPr>
            <a:spLocks xmlns:a="http://schemas.openxmlformats.org/drawingml/2006/main" noGrp="1"/>
          </p:cNvSpPr>
          <p:nvPr/>
        </p:nvSpPr>
        <p:spPr>
          <a:xfrm xmlns:a="http://schemas.openxmlformats.org/drawingml/2006/main">
            <a:off x="628650" y="58102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27">
            <a:extLst xmlns:a="http://schemas.openxmlformats.org/drawingml/2006/main">
              <a:ext uri="{FF2B5EF4-FFF2-40B4-BE49-F238E27FC236}">
                <a16:creationId xmlns:a16="http://schemas.microsoft.com/office/drawing/2014/main" id="{2A9A7C99-9A7B-4875-855C-C30248329C1B}"/>
              </a:ext>
            </a:extLst>
          </p:cNvPr>
          <p:cNvSpPr>
            <a:spLocks xmlns:a="http://schemas.openxmlformats.org/drawingml/2006/main" noGrp="1"/>
          </p:cNvSpPr>
          <p:nvPr/>
        </p:nvSpPr>
        <p:spPr>
          <a:xfrm xmlns:a="http://schemas.openxmlformats.org/drawingml/2006/main">
            <a:off x="2571750" y="58007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395868052"/>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own-text-28">
            <a:extLst xmlns:a="http://schemas.openxmlformats.org/drawingml/2006/main">
              <a:ext uri="{FF2B5EF4-FFF2-40B4-BE49-F238E27FC236}">
                <a16:creationId xmlns:a16="http://schemas.microsoft.com/office/drawing/2014/main" id="{A07FC4A0-C67A-47A8-938F-040F9C648096}"/>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29">
            <a:extLst xmlns:a="http://schemas.openxmlformats.org/drawingml/2006/main">
              <a:ext uri="{FF2B5EF4-FFF2-40B4-BE49-F238E27FC236}">
                <a16:creationId xmlns:a16="http://schemas.microsoft.com/office/drawing/2014/main" id="{654C3C20-9CCB-4A3E-B903-FF7742E57355}"/>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30">
            <a:extLst xmlns:a="http://schemas.openxmlformats.org/drawingml/2006/main">
              <a:ext uri="{FF2B5EF4-FFF2-40B4-BE49-F238E27FC236}">
                <a16:creationId xmlns:a16="http://schemas.microsoft.com/office/drawing/2014/main" id="{A950585D-7481-4D40-B5ED-C99A12F426A1}"/>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v5_i4 비교</a:t>
            </a:r>
          </a:p>
        </p:txBody>
      </p:sp>
      <p:sp>
        <p:nvSpPr>
          <p:cNvPr id="4" name="own-text-31">
            <a:extLst xmlns:a="http://schemas.openxmlformats.org/drawingml/2006/main">
              <a:ext uri="{FF2B5EF4-FFF2-40B4-BE49-F238E27FC236}">
                <a16:creationId xmlns:a16="http://schemas.microsoft.com/office/drawing/2014/main" id="{33CB7BEB-3F2E-42E5-98B6-F30210EF50E1}"/>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2">
            <a:extLst xmlns:a="http://schemas.openxmlformats.org/drawingml/2006/main">
              <a:ext uri="{FF2B5EF4-FFF2-40B4-BE49-F238E27FC236}">
                <a16:creationId xmlns:a16="http://schemas.microsoft.com/office/drawing/2014/main" id="{0EF85FEB-966F-40CE-8A1F-7EE144AAAD14}"/>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03</a:t>
            </a:r>
          </a:p>
        </p:txBody>
      </p:sp>
      <p:sp>
        <p:nvSpPr>
          <p:cNvPr id="6" name="own-text-33">
            <a:extLst xmlns:a="http://schemas.openxmlformats.org/drawingml/2006/main">
              <a:ext uri="{FF2B5EF4-FFF2-40B4-BE49-F238E27FC236}">
                <a16:creationId xmlns:a16="http://schemas.microsoft.com/office/drawing/2014/main" id="{7789CC85-9AB2-435D-8DF6-963C8A41AD1F}"/>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정확도 차이 p=0.740. HR 유형은 94/100에서 82/100으로 하락. 같은 모델이며 Ollama 0.40.2와 0.40.3 차이가 남음.</a:t>
            </a:r>
          </a:p>
        </p:txBody>
      </p:sp>
      <p:sp>
        <p:nvSpPr>
          <p:cNvPr id="7" name="own-text-34">
            <a:extLst xmlns:a="http://schemas.openxmlformats.org/drawingml/2006/main">
              <a:ext uri="{FF2B5EF4-FFF2-40B4-BE49-F238E27FC236}">
                <a16:creationId xmlns:a16="http://schemas.microsoft.com/office/drawing/2014/main" id="{6CE7F287-3357-40CB-9AF0-9037123AECA9}"/>
              </a:ext>
            </a:extLst>
          </p:cNvPr>
          <p:cNvSpPr>
            <a:spLocks xmlns:a="http://schemas.openxmlformats.org/drawingml/2006/main" noGrp="1"/>
          </p:cNvSpPr>
          <p:nvPr/>
        </p:nvSpPr>
        <p:spPr>
          <a:xfrm xmlns:a="http://schemas.openxmlformats.org/drawingml/2006/main">
            <a:off x="628650" y="20764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xmlns:a="http://schemas.openxmlformats.org/drawingml/2006/main">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xmlns:a="http://schemas.openxmlformats.org/drawingml/2006/main">
              <a:ext uri="{FF2B5EF4-FFF2-40B4-BE49-F238E27FC236}">
                <a16:creationId xmlns:a16="http://schemas.microsoft.com/office/drawing/2014/main" id="{4EFB8C62-7316-4018-B3D0-3B4CA9DB3A7E}"/>
              </a:ext>
            </a:extLst>
          </p:cNvPr>
          <p:cNvGraphicFramePr/>
          <p:nvPr/>
        </p:nvGraphicFramePr>
        <p:xfrm>
          <a:off xmlns:a="http://schemas.openxmlformats.org/drawingml/2006/main" x="628650" y="2543175"/>
          <a:ext xmlns:a="http://schemas.openxmlformats.org/drawingml/2006/main" cx="5753100" cy="2952750"/>
        </p:xfrm>
        <a:graphic xmlns:a="http://schemas.openxmlformats.org/drawingml/2006/main">
          <a:graphicData uri="http://schemas.openxmlformats.org/drawingml/2006/chart">
            <c:chart xmlns:r="http://schemas.openxmlformats.org/officeDocument/2006/relationships" xmlns:c="http://schemas.openxmlformats.org/drawingml/2006/chart" r:id="R1f456c8439d140bd"/>
          </a:graphicData>
        </a:graphic>
      </p:graphicFrame>
      <p:graphicFrame>
        <p:nvGraphicFramePr>
          <p:cNvPr id="9" name="">
            <a:extLst xmlns:a="http://schemas.openxmlformats.org/drawingml/2006/main">
              <a:ext uri="{FF2B5EF4-FFF2-40B4-BE49-F238E27FC236}">
                <a16:creationId xmlns:a16="http://schemas.microsoft.com/office/drawing/2014/main" id="{98AD6AA8-C202-4DE0-9936-816EB4C69948}"/>
              </a:ext>
            </a:extLst>
          </p:cNvPr>
          <p:cNvGraphicFramePr/>
          <p:nvPr/>
        </p:nvGraphicFramePr>
        <p:xfrm>
          <a:off xmlns:a="http://schemas.openxmlformats.org/drawingml/2006/main" x="6953250" y="2076450"/>
          <a:ext xmlns:a="http://schemas.openxmlformats.org/drawingml/2006/main" cx="6134100" cy="3429000"/>
        </p:xfrm>
        <a:graphic xmlns:a="http://schemas.openxmlformats.org/drawingml/2006/main">
          <a:graphicData uri="http://schemas.openxmlformats.org/drawingml/2006/table">
            <a:tbl>
              <a:tblPr/>
              <a:tblGrid>
                <a:gridCol w="2705100"/>
                <a:gridCol w="1714500"/>
                <a:gridCol w="1714500"/>
              </a:tblGrid>
              <a:tr h="571500">
                <a:tc>
                  <a:txBody>
                    <a:bodyPr>
                      <a:noAutofit/>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기본</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개선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571500">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698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147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234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0" name="own-text-35">
            <a:extLst xmlns:a="http://schemas.openxmlformats.org/drawingml/2006/main">
              <a:ext uri="{FF2B5EF4-FFF2-40B4-BE49-F238E27FC236}">
                <a16:creationId xmlns:a16="http://schemas.microsoft.com/office/drawing/2014/main" id="{90CF7378-9968-4763-9931-CDD5D8517129}"/>
              </a:ext>
            </a:extLst>
          </p:cNvPr>
          <p:cNvSpPr>
            <a:spLocks xmlns:a="http://schemas.openxmlformats.org/drawingml/2006/main" noGrp="1"/>
          </p:cNvSpPr>
          <p:nvPr/>
        </p:nvSpPr>
        <p:spPr>
          <a:xfrm xmlns:a="http://schemas.openxmlformats.org/drawingml/2006/main">
            <a:off x="628650" y="57721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xmlns:a="http://schemas.openxmlformats.org/drawingml/2006/main">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36">
            <a:extLst xmlns:a="http://schemas.openxmlformats.org/drawingml/2006/main">
              <a:ext uri="{FF2B5EF4-FFF2-40B4-BE49-F238E27FC236}">
                <a16:creationId xmlns:a16="http://schemas.microsoft.com/office/drawing/2014/main" id="{897E8A8E-9CC5-4F44-9C77-F4FBD12D9911}"/>
              </a:ext>
            </a:extLst>
          </p:cNvPr>
          <p:cNvSpPr>
            <a:spLocks xmlns:a="http://schemas.openxmlformats.org/drawingml/2006/main" noGrp="1"/>
          </p:cNvSpPr>
          <p:nvPr/>
        </p:nvSpPr>
        <p:spPr>
          <a:xfrm xmlns:a="http://schemas.openxmlformats.org/drawingml/2006/main">
            <a:off x="6953250" y="5800725"/>
            <a:ext cx="6134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867278871"/>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5621EB03-9D49-4EFB-904C-68BCEB0C32C9}"/>
              </a:ext>
            </a:extLst>
          </p:cNvPr>
          <p:cNvCxnSpPr>
            <a:stCxn xmlns:a="http://schemas.openxmlformats.org/drawingml/2006/main" id="18" idx="0"/>
            <a:endCxn xmlns:a="http://schemas.openxmlformats.org/drawingml/2006/main" id="10" idx="2"/>
          </p:cNvCxnSpPr>
          <p:nvPr/>
        </p:nvCxnSpPr>
        <p:spPr>
          <a:xfrm xmlns:a="http://schemas.openxmlformats.org/drawingml/2006/main" flipV="1">
            <a:off x="9024938"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C0CD7787-E1CA-454B-BAFE-30C6B97270C9}"/>
              </a:ext>
            </a:extLst>
          </p:cNvPr>
          <p:cNvCxnSpPr>
            <a:stCxn xmlns:a="http://schemas.openxmlformats.org/drawingml/2006/main" id="17" idx="3"/>
            <a:endCxn xmlns:a="http://schemas.openxmlformats.org/drawingml/2006/main" id="18" idx="1"/>
          </p:cNvCxnSpPr>
          <p:nvPr/>
        </p:nvCxnSpPr>
        <p:spPr>
          <a:xfrm xmlns:a="http://schemas.openxmlformats.org/drawingml/2006/main">
            <a:off x="7439025"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9746D0B9-D89A-4DB7-9EC6-003D87F25449}"/>
              </a:ext>
            </a:extLst>
          </p:cNvPr>
          <p:cNvCxnSpPr>
            <a:stCxn xmlns:a="http://schemas.openxmlformats.org/drawingml/2006/main" id="16" idx="3"/>
            <a:endCxn xmlns:a="http://schemas.openxmlformats.org/drawingml/2006/main" id="17" idx="1"/>
          </p:cNvCxnSpPr>
          <p:nvPr/>
        </p:nvCxnSpPr>
        <p:spPr>
          <a:xfrm xmlns:a="http://schemas.openxmlformats.org/drawingml/2006/main">
            <a:off x="4705350"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7DEF7395-9BA0-4E2B-A6DF-91DA1B7F0AA7}"/>
              </a:ext>
            </a:extLst>
          </p:cNvPr>
          <p:cNvCxnSpPr>
            <a:stCxn xmlns:a="http://schemas.openxmlformats.org/drawingml/2006/main" id="9" idx="2"/>
            <a:endCxn xmlns:a="http://schemas.openxmlformats.org/drawingml/2006/main" id="16" idx="0"/>
          </p:cNvCxnSpPr>
          <p:nvPr/>
        </p:nvCxnSpPr>
        <p:spPr>
          <a:xfrm xmlns:a="http://schemas.openxmlformats.org/drawingml/2006/main" flipH="1">
            <a:off x="3795713" y="2895600"/>
            <a:ext cx="2495550" cy="704850"/>
          </a:xfrm>
          <a:prstGeom xmlns:a="http://schemas.openxmlformats.org/drawingml/2006/main" prst="bentConnector4">
            <a:avLst>
              <a:gd name="adj1" fmla="val 0"/>
              <a:gd name="adj2" fmla="val 50000"/>
            </a:avLst>
          </a:prstGeom>
          <a:ln xmlns:a="http://schemas.openxmlformats.org/drawingml/2006/main" w="19050">
            <a:solidFill>
              <a:srgbClr val="F725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1E32500A-A5D8-4DD9-888F-52AB278BF701}"/>
              </a:ext>
            </a:extLst>
          </p:cNvPr>
          <p:cNvCxnSpPr>
            <a:stCxn xmlns:a="http://schemas.openxmlformats.org/drawingml/2006/main" id="8" idx="2"/>
            <a:endCxn xmlns:a="http://schemas.openxmlformats.org/drawingml/2006/main" id="16" idx="0"/>
          </p:cNvCxnSpPr>
          <p:nvPr/>
        </p:nvCxnSpPr>
        <p:spPr>
          <a:xfrm xmlns:a="http://schemas.openxmlformats.org/drawingml/2006/main">
            <a:off x="3795713"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00C603D6-3CB8-48FF-A953-22B547F1E9F1}"/>
              </a:ext>
            </a:extLst>
          </p:cNvPr>
          <p:cNvCxnSpPr>
            <a:stCxn xmlns:a="http://schemas.openxmlformats.org/drawingml/2006/main" id="10" idx="3"/>
            <a:endCxn xmlns:a="http://schemas.openxmlformats.org/drawingml/2006/main" id="11" idx="1"/>
          </p:cNvCxnSpPr>
          <p:nvPr/>
        </p:nvCxnSpPr>
        <p:spPr>
          <a:xfrm xmlns:a="http://schemas.openxmlformats.org/drawingml/2006/main">
            <a:off x="1017270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F96266E0-7712-46C0-BE84-78239370CDED}"/>
              </a:ext>
            </a:extLst>
          </p:cNvPr>
          <p:cNvCxnSpPr>
            <a:stCxn xmlns:a="http://schemas.openxmlformats.org/drawingml/2006/main" id="9" idx="3"/>
            <a:endCxn xmlns:a="http://schemas.openxmlformats.org/drawingml/2006/main" id="10" idx="1"/>
          </p:cNvCxnSpPr>
          <p:nvPr/>
        </p:nvCxnSpPr>
        <p:spPr>
          <a:xfrm xmlns:a="http://schemas.openxmlformats.org/drawingml/2006/main">
            <a:off x="74390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637B4645-F72F-420F-BAF4-BA76576FD95F}"/>
              </a:ext>
            </a:extLst>
          </p:cNvPr>
          <p:cNvCxnSpPr>
            <a:stCxn xmlns:a="http://schemas.openxmlformats.org/drawingml/2006/main" id="8" idx="3"/>
            <a:endCxn xmlns:a="http://schemas.openxmlformats.org/drawingml/2006/main" id="9" idx="1"/>
          </p:cNvCxnSpPr>
          <p:nvPr/>
        </p:nvCxnSpPr>
        <p:spPr>
          <a:xfrm xmlns:a="http://schemas.openxmlformats.org/drawingml/2006/main">
            <a:off x="470535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ADE9A384-D7CB-4571-AA35-5DD108EA6815}"/>
              </a:ext>
            </a:extLst>
          </p:cNvPr>
          <p:cNvCxnSpPr>
            <a:stCxn xmlns:a="http://schemas.openxmlformats.org/drawingml/2006/main" id="7" idx="3"/>
            <a:endCxn xmlns:a="http://schemas.openxmlformats.org/drawingml/2006/main" id="8" idx="1"/>
          </p:cNvCxnSpPr>
          <p:nvPr/>
        </p:nvCxnSpPr>
        <p:spPr>
          <a:xfrm xmlns:a="http://schemas.openxmlformats.org/drawingml/2006/main">
            <a:off x="24479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27" name="own-text-37">
            <a:extLst xmlns:a="http://schemas.openxmlformats.org/drawingml/2006/main">
              <a:ext uri="{FF2B5EF4-FFF2-40B4-BE49-F238E27FC236}">
                <a16:creationId xmlns:a16="http://schemas.microsoft.com/office/drawing/2014/main" id="{1C08EAE2-DB35-44BE-8E1E-5853EC502379}"/>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38">
            <a:extLst xmlns:a="http://schemas.openxmlformats.org/drawingml/2006/main">
              <a:ext uri="{FF2B5EF4-FFF2-40B4-BE49-F238E27FC236}">
                <a16:creationId xmlns:a16="http://schemas.microsoft.com/office/drawing/2014/main" id="{4CAF08C7-7CF8-4788-9FA5-7139BEA7D0CD}"/>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39">
            <a:extLst xmlns:a="http://schemas.openxmlformats.org/drawingml/2006/main">
              <a:ext uri="{FF2B5EF4-FFF2-40B4-BE49-F238E27FC236}">
                <a16:creationId xmlns:a16="http://schemas.microsoft.com/office/drawing/2014/main" id="{CC597A7D-884A-46FE-98BC-6C84C33FF1BC}"/>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가드 검사 후 FAQ 검색에 사용</a:t>
            </a:r>
          </a:p>
        </p:txBody>
      </p:sp>
      <p:sp>
        <p:nvSpPr>
          <p:cNvPr id="4" name="own-text-40">
            <a:extLst xmlns:a="http://schemas.openxmlformats.org/drawingml/2006/main">
              <a:ext uri="{FF2B5EF4-FFF2-40B4-BE49-F238E27FC236}">
                <a16:creationId xmlns:a16="http://schemas.microsoft.com/office/drawing/2014/main" id="{A5C978D4-5425-4407-89BC-02D4DDF43425}"/>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1">
            <a:extLst xmlns:a="http://schemas.openxmlformats.org/drawingml/2006/main">
              <a:ext uri="{FF2B5EF4-FFF2-40B4-BE49-F238E27FC236}">
                <a16:creationId xmlns:a16="http://schemas.microsoft.com/office/drawing/2014/main" id="{B313B416-03CD-4B47-A16A-990728A51355}"/>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04</a:t>
            </a:r>
          </a:p>
        </p:txBody>
      </p:sp>
      <p:sp>
        <p:nvSpPr>
          <p:cNvPr id="6" name="own-text-42">
            <a:extLst xmlns:a="http://schemas.openxmlformats.org/drawingml/2006/main">
              <a:ext uri="{FF2B5EF4-FFF2-40B4-BE49-F238E27FC236}">
                <a16:creationId xmlns:a16="http://schemas.microsoft.com/office/drawing/2014/main" id="{CB0FD5AF-4F9D-4161-8B2E-84DBFF10C4CE}"/>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검색 효과는 같은 이력 질문 41건의 정답 FAQ 적중. 네 단계 전체의 최종 답변 정확도를 같은 표본으로 전수 비교한 자료는 없음.</a:t>
            </a:r>
          </a:p>
        </p:txBody>
      </p:sp>
      <p:sp>
        <p:nvSpPr>
          <p:cNvPr id="7" name="pipeline-43">
            <a:extLst xmlns:a="http://schemas.openxmlformats.org/drawingml/2006/main">
              <a:ext uri="{FF2B5EF4-FFF2-40B4-BE49-F238E27FC236}">
                <a16:creationId xmlns:a16="http://schemas.microsoft.com/office/drawing/2014/main" id="{81523121-2A01-42F5-805F-99013BDA5A09}"/>
              </a:ext>
            </a:extLst>
          </p:cNvPr>
          <p:cNvSpPr>
            <a:spLocks xmlns:a="http://schemas.openxmlformats.org/drawingml/2006/main" noGrp="1"/>
          </p:cNvSpPr>
          <p:nvPr/>
        </p:nvSpPr>
        <p:spPr>
          <a:xfrm xmlns:a="http://schemas.openxmlformats.org/drawingml/2006/main">
            <a:off x="628650" y="2200275"/>
            <a:ext cx="181927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44">
            <a:extLst xmlns:a="http://schemas.openxmlformats.org/drawingml/2006/main">
              <a:ext uri="{FF2B5EF4-FFF2-40B4-BE49-F238E27FC236}">
                <a16:creationId xmlns:a16="http://schemas.microsoft.com/office/drawing/2014/main" id="{6929C6DF-9D2C-40C0-8EC3-5A60F2851FF2}"/>
              </a:ext>
            </a:extLst>
          </p:cNvPr>
          <p:cNvSpPr>
            <a:spLocks xmlns:a="http://schemas.openxmlformats.org/drawingml/2006/main" noGrp="1"/>
          </p:cNvSpPr>
          <p:nvPr/>
        </p:nvSpPr>
        <p:spPr>
          <a:xfrm xmlns:a="http://schemas.openxmlformats.org/drawingml/2006/main">
            <a:off x="2886075" y="2200275"/>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45">
            <a:extLst xmlns:a="http://schemas.openxmlformats.org/drawingml/2006/main">
              <a:ext uri="{FF2B5EF4-FFF2-40B4-BE49-F238E27FC236}">
                <a16:creationId xmlns:a16="http://schemas.microsoft.com/office/drawing/2014/main" id="{5F273EDE-0F29-4B9A-8522-CDC5654134E6}"/>
              </a:ext>
            </a:extLst>
          </p:cNvPr>
          <p:cNvSpPr>
            <a:spLocks xmlns:a="http://schemas.openxmlformats.org/drawingml/2006/main" noGrp="1"/>
          </p:cNvSpPr>
          <p:nvPr/>
        </p:nvSpPr>
        <p:spPr>
          <a:xfrm xmlns:a="http://schemas.openxmlformats.org/drawingml/2006/main">
            <a:off x="5143500"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46">
            <a:extLst xmlns:a="http://schemas.openxmlformats.org/drawingml/2006/main">
              <a:ext uri="{FF2B5EF4-FFF2-40B4-BE49-F238E27FC236}">
                <a16:creationId xmlns:a16="http://schemas.microsoft.com/office/drawing/2014/main" id="{DAA09993-2E2C-4423-AB60-37B31F97A5B0}"/>
              </a:ext>
            </a:extLst>
          </p:cNvPr>
          <p:cNvSpPr>
            <a:spLocks xmlns:a="http://schemas.openxmlformats.org/drawingml/2006/main" noGrp="1"/>
          </p:cNvSpPr>
          <p:nvPr/>
        </p:nvSpPr>
        <p:spPr>
          <a:xfrm xmlns:a="http://schemas.openxmlformats.org/drawingml/2006/main">
            <a:off x="7877175"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47">
            <a:extLst xmlns:a="http://schemas.openxmlformats.org/drawingml/2006/main">
              <a:ext uri="{FF2B5EF4-FFF2-40B4-BE49-F238E27FC236}">
                <a16:creationId xmlns:a16="http://schemas.microsoft.com/office/drawing/2014/main" id="{F209A492-A985-493B-956E-8DACFA5AC1AB}"/>
              </a:ext>
            </a:extLst>
          </p:cNvPr>
          <p:cNvSpPr>
            <a:spLocks xmlns:a="http://schemas.openxmlformats.org/drawingml/2006/main" noGrp="1"/>
          </p:cNvSpPr>
          <p:nvPr/>
        </p:nvSpPr>
        <p:spPr>
          <a:xfrm xmlns:a="http://schemas.openxmlformats.org/drawingml/2006/main">
            <a:off x="10610850" y="2200275"/>
            <a:ext cx="2476500" cy="69532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48">
            <a:extLst xmlns:a="http://schemas.openxmlformats.org/drawingml/2006/main">
              <a:ext uri="{FF2B5EF4-FFF2-40B4-BE49-F238E27FC236}">
                <a16:creationId xmlns:a16="http://schemas.microsoft.com/office/drawing/2014/main" id="{057C9C1F-104A-4947-8CE2-017938195EFA}"/>
              </a:ext>
            </a:extLst>
          </p:cNvPr>
          <p:cNvSpPr>
            <a:spLocks xmlns:a="http://schemas.openxmlformats.org/drawingml/2006/main" noGrp="1"/>
          </p:cNvSpPr>
          <p:nvPr/>
        </p:nvSpPr>
        <p:spPr>
          <a:xfrm xmlns:a="http://schemas.openxmlformats.org/drawingml/2006/main">
            <a:off x="2886075" y="3600450"/>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49">
            <a:extLst xmlns:a="http://schemas.openxmlformats.org/drawingml/2006/main">
              <a:ext uri="{FF2B5EF4-FFF2-40B4-BE49-F238E27FC236}">
                <a16:creationId xmlns:a16="http://schemas.microsoft.com/office/drawing/2014/main" id="{E7012A51-859A-4ED3-B2B3-73AEAD488E1F}"/>
              </a:ext>
            </a:extLst>
          </p:cNvPr>
          <p:cNvSpPr>
            <a:spLocks xmlns:a="http://schemas.openxmlformats.org/drawingml/2006/main" noGrp="1"/>
          </p:cNvSpPr>
          <p:nvPr/>
        </p:nvSpPr>
        <p:spPr>
          <a:xfrm xmlns:a="http://schemas.openxmlformats.org/drawingml/2006/main">
            <a:off x="5143500"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가드</a:t>
            </a:r>
          </a:p>
        </p:txBody>
      </p:sp>
      <p:sp>
        <p:nvSpPr>
          <p:cNvPr id="18" name="pipeline-50">
            <a:extLst xmlns:a="http://schemas.openxmlformats.org/drawingml/2006/main">
              <a:ext uri="{FF2B5EF4-FFF2-40B4-BE49-F238E27FC236}">
                <a16:creationId xmlns:a16="http://schemas.microsoft.com/office/drawing/2014/main" id="{7CC1BFB2-3CD2-4935-86ED-51AE2997D9BE}"/>
              </a:ext>
            </a:extLst>
          </p:cNvPr>
          <p:cNvSpPr>
            <a:spLocks xmlns:a="http://schemas.openxmlformats.org/drawingml/2006/main" noGrp="1"/>
          </p:cNvSpPr>
          <p:nvPr/>
        </p:nvSpPr>
        <p:spPr>
          <a:xfrm xmlns:a="http://schemas.openxmlformats.org/drawingml/2006/main">
            <a:off x="7877175"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51">
            <a:extLst xmlns:a="http://schemas.openxmlformats.org/drawingml/2006/main">
              <a:ext uri="{FF2B5EF4-FFF2-40B4-BE49-F238E27FC236}">
                <a16:creationId xmlns:a16="http://schemas.microsoft.com/office/drawing/2014/main" id="{1450E403-65DA-4898-9BCD-7523CA62AEC5}"/>
              </a:ext>
            </a:extLst>
          </p:cNvPr>
          <p:cNvSpPr>
            <a:spLocks xmlns:a="http://schemas.openxmlformats.org/drawingml/2006/main" noGrp="1"/>
          </p:cNvSpPr>
          <p:nvPr/>
        </p:nvSpPr>
        <p:spPr>
          <a:xfrm xmlns:a="http://schemas.openxmlformats.org/drawingml/2006/main">
            <a:off x="628650" y="3571875"/>
            <a:ext cx="2047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2">
            <a:extLst xmlns:a="http://schemas.openxmlformats.org/drawingml/2006/main">
              <a:ext uri="{FF2B5EF4-FFF2-40B4-BE49-F238E27FC236}">
                <a16:creationId xmlns:a16="http://schemas.microsoft.com/office/drawing/2014/main" id="{AD4D7D46-A7D8-49FC-BE6F-D02257995EC9}"/>
              </a:ext>
            </a:extLst>
          </p:cNvPr>
          <p:cNvSpPr>
            <a:spLocks xmlns:a="http://schemas.openxmlformats.org/drawingml/2006/main" noGrp="1"/>
          </p:cNvSpPr>
          <p:nvPr/>
        </p:nvSpPr>
        <p:spPr>
          <a:xfrm xmlns:a="http://schemas.openxmlformats.org/drawingml/2006/main">
            <a:off x="10610850" y="35718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
            <a:extLst xmlns:a="http://schemas.openxmlformats.org/drawingml/2006/main">
              <a:ext uri="{FF2B5EF4-FFF2-40B4-BE49-F238E27FC236}">
                <a16:creationId xmlns:a16="http://schemas.microsoft.com/office/drawing/2014/main" id="{2E6CA9AF-32D7-4534-824C-15BA547331BD}"/>
              </a:ext>
            </a:extLst>
          </p:cNvPr>
          <p:cNvGraphicFramePr/>
          <p:nvPr/>
        </p:nvGraphicFramePr>
        <p:xfrm>
          <a:off xmlns:a="http://schemas.openxmlformats.org/drawingml/2006/main" x="628650" y="4981575"/>
          <a:ext xmlns:a="http://schemas.openxmlformats.org/drawingml/2006/main" cx="12458700" cy="1352550"/>
        </p:xfrm>
        <a:graphic xmlns:a="http://schemas.openxmlformats.org/drawingml/2006/main">
          <a:graphicData uri="http://schemas.openxmlformats.org/drawingml/2006/table">
            <a:tbl>
              <a:tblPr/>
              <a:tblGrid>
                <a:gridCol w="3905250"/>
                <a:gridCol w="2571750"/>
                <a:gridCol w="2990850"/>
                <a:gridCol w="2990850"/>
              </a:tblGrid>
              <a:tr h="450850">
                <a:tc>
                  <a:txBody>
                    <a:bodyPr>
                      <a:noAutofit/>
                    </a:bodyPr>
                    <a:lstStyle/>
                    <a:p>
                      <a:r>
                        <a:rPr sz="1800" b="1">
                          <a:solidFill>
                            <a:srgbClr val="FFFFFF"/>
                          </a:solidFill>
                          <a:latin typeface="맑은 고딕"/>
                          <a:ea typeface="맑은 고딕"/>
                          <a:cs typeface="맑은 고딕"/>
                        </a:rPr>
                        <a:t>같은 41개 이력 질문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원문 검색</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초기 판정+가드</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검색 전용 재설계</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50850">
                <a:tc>
                  <a:txBody>
                    <a:bodyPr>
                      <a:noAutofit/>
                    </a:bodyPr>
                    <a:lstStyle/>
                    <a:p>
                      <a:r>
                        <a:rPr sz="1800" b="0">
                          <a:solidFill>
                            <a:srgbClr val="17171A"/>
                          </a:solidFill>
                          <a:latin typeface="맑은 고딕"/>
                          <a:ea typeface="맑은 고딕"/>
                          <a:cs typeface="맑은 고딕"/>
                        </a:rPr>
                        <a:t>정답 FAQ 적중</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16 / 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25 / 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29 / 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0850">
                <a:tc>
                  <a:txBody>
                    <a:bodyPr>
                      <a:noAutofit/>
                    </a:bodyPr>
                    <a:lstStyle/>
                    <a:p>
                      <a:r>
                        <a:rPr sz="1800" b="1">
                          <a:solidFill>
                            <a:srgbClr val="F72585"/>
                          </a:solidFill>
                          <a:latin typeface="맑은 고딕"/>
                          <a:ea typeface="맑은 고딕"/>
                          <a:cs typeface="맑은 고딕"/>
                        </a:rPr>
                        <a:t>적중률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61.0%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70.7%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Tree>
    <p:extLst>
      <p:ext uri="{BB962C8B-B14F-4D97-AF65-F5344CB8AC3E}">
        <p14:creationId xmlns:p14="http://schemas.microsoft.com/office/powerpoint/2010/main" val="275712872"/>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E449B42-7A07-431E-962C-CBABF2D15805}"/>
              </a:ext>
            </a:extLst>
          </p:cNvPr>
          <p:cNvCxnSpPr>
            <a:stCxn xmlns:a="http://schemas.openxmlformats.org/drawingml/2006/main" id="8" idx="3"/>
            <a:endCxn xmlns:a="http://schemas.openxmlformats.org/drawingml/2006/main" id="9" idx="1"/>
          </p:cNvCxnSpPr>
          <p:nvPr/>
        </p:nvCxnSpPr>
        <p:spPr>
          <a:xfrm xmlns:a="http://schemas.openxmlformats.org/drawingml/2006/main">
            <a:off x="2914650" y="3043238"/>
            <a:ext cx="114300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9" name="own-text-53">
            <a:extLst xmlns:a="http://schemas.openxmlformats.org/drawingml/2006/main">
              <a:ext uri="{FF2B5EF4-FFF2-40B4-BE49-F238E27FC236}">
                <a16:creationId xmlns:a16="http://schemas.microsoft.com/office/drawing/2014/main" id="{A7AF0A81-0F1B-460E-9CCB-0D7DE1591D41}"/>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4">
            <a:extLst xmlns:a="http://schemas.openxmlformats.org/drawingml/2006/main">
              <a:ext uri="{FF2B5EF4-FFF2-40B4-BE49-F238E27FC236}">
                <a16:creationId xmlns:a16="http://schemas.microsoft.com/office/drawing/2014/main" id="{EF9FEE7A-D8CB-470E-AD23-4D341B8E83B5}"/>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55">
            <a:extLst xmlns:a="http://schemas.openxmlformats.org/drawingml/2006/main">
              <a:ext uri="{FF2B5EF4-FFF2-40B4-BE49-F238E27FC236}">
                <a16:creationId xmlns:a16="http://schemas.microsoft.com/office/drawing/2014/main" id="{ADDCAA9A-D278-4F93-99C4-9A546FF5B189}"/>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56">
            <a:extLst xmlns:a="http://schemas.openxmlformats.org/drawingml/2006/main">
              <a:ext uri="{FF2B5EF4-FFF2-40B4-BE49-F238E27FC236}">
                <a16:creationId xmlns:a16="http://schemas.microsoft.com/office/drawing/2014/main" id="{9C2CC838-9FA5-4AE3-AC08-DFB33E83FB1A}"/>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7">
            <a:extLst xmlns:a="http://schemas.openxmlformats.org/drawingml/2006/main">
              <a:ext uri="{FF2B5EF4-FFF2-40B4-BE49-F238E27FC236}">
                <a16:creationId xmlns:a16="http://schemas.microsoft.com/office/drawing/2014/main" id="{5ECA5B31-F03E-48D8-945F-2EAA1575B509}"/>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05</a:t>
            </a:r>
          </a:p>
        </p:txBody>
      </p:sp>
      <p:sp>
        <p:nvSpPr>
          <p:cNvPr id="6" name="own-text-58">
            <a:extLst xmlns:a="http://schemas.openxmlformats.org/drawingml/2006/main">
              <a:ext uri="{FF2B5EF4-FFF2-40B4-BE49-F238E27FC236}">
                <a16:creationId xmlns:a16="http://schemas.microsoft.com/office/drawing/2014/main" id="{C881C2B1-A5A2-465E-AFAF-E75273EBFE42}"/>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59">
            <a:extLst xmlns:a="http://schemas.openxmlformats.org/drawingml/2006/main">
              <a:ext uri="{FF2B5EF4-FFF2-40B4-BE49-F238E27FC236}">
                <a16:creationId xmlns:a16="http://schemas.microsoft.com/office/drawing/2014/main" id="{CC034C8A-1994-4E20-A936-4D7B10F75AC9}"/>
              </a:ext>
            </a:extLst>
          </p:cNvPr>
          <p:cNvSpPr>
            <a:spLocks xmlns:a="http://schemas.openxmlformats.org/drawingml/2006/main" noGrp="1"/>
          </p:cNvSpPr>
          <p:nvPr/>
        </p:nvSpPr>
        <p:spPr>
          <a:xfrm xmlns:a="http://schemas.openxmlformats.org/drawingml/2006/main">
            <a:off x="62865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60">
            <a:extLst xmlns:a="http://schemas.openxmlformats.org/drawingml/2006/main">
              <a:ext uri="{FF2B5EF4-FFF2-40B4-BE49-F238E27FC236}">
                <a16:creationId xmlns:a16="http://schemas.microsoft.com/office/drawing/2014/main" id="{F4B3A445-51EE-42F5-8B49-23942A0872CD}"/>
              </a:ext>
            </a:extLst>
          </p:cNvPr>
          <p:cNvSpPr>
            <a:spLocks xmlns:a="http://schemas.openxmlformats.org/drawingml/2006/main" noGrp="1"/>
          </p:cNvSpPr>
          <p:nvPr/>
        </p:nvSpPr>
        <p:spPr>
          <a:xfrm xmlns:a="http://schemas.openxmlformats.org/drawingml/2006/main">
            <a:off x="628650" y="2686050"/>
            <a:ext cx="228600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61">
            <a:extLst xmlns:a="http://schemas.openxmlformats.org/drawingml/2006/main">
              <a:ext uri="{FF2B5EF4-FFF2-40B4-BE49-F238E27FC236}">
                <a16:creationId xmlns:a16="http://schemas.microsoft.com/office/drawing/2014/main" id="{32D56635-F919-4C7D-B0CF-445CEF9BD31A}"/>
              </a:ext>
            </a:extLst>
          </p:cNvPr>
          <p:cNvSpPr>
            <a:spLocks xmlns:a="http://schemas.openxmlformats.org/drawingml/2006/main" noGrp="1"/>
          </p:cNvSpPr>
          <p:nvPr/>
        </p:nvSpPr>
        <p:spPr>
          <a:xfrm xmlns:a="http://schemas.openxmlformats.org/drawingml/2006/main">
            <a:off x="4057650" y="2686050"/>
            <a:ext cx="2381250" cy="71437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2">
            <a:extLst xmlns:a="http://schemas.openxmlformats.org/drawingml/2006/main">
              <a:ext uri="{FF2B5EF4-FFF2-40B4-BE49-F238E27FC236}">
                <a16:creationId xmlns:a16="http://schemas.microsoft.com/office/drawing/2014/main" id="{C807BC69-FB6C-4E77-A1DC-0E0B39717E68}"/>
              </a:ext>
            </a:extLst>
          </p:cNvPr>
          <p:cNvSpPr>
            <a:spLocks xmlns:a="http://schemas.openxmlformats.org/drawingml/2006/main" noGrp="1"/>
          </p:cNvSpPr>
          <p:nvPr/>
        </p:nvSpPr>
        <p:spPr>
          <a:xfrm xmlns:a="http://schemas.openxmlformats.org/drawingml/2006/main">
            <a:off x="628650" y="3648075"/>
            <a:ext cx="581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63">
            <a:extLst xmlns:a="http://schemas.openxmlformats.org/drawingml/2006/main">
              <a:ext uri="{FF2B5EF4-FFF2-40B4-BE49-F238E27FC236}">
                <a16:creationId xmlns:a16="http://schemas.microsoft.com/office/drawing/2014/main" id="{78B61F3C-B5AD-4B81-9541-01E06D269DC1}"/>
              </a:ext>
            </a:extLst>
          </p:cNvPr>
          <p:cNvSpPr>
            <a:spLocks xmlns:a="http://schemas.openxmlformats.org/drawingml/2006/main" noGrp="1"/>
          </p:cNvSpPr>
          <p:nvPr/>
        </p:nvSpPr>
        <p:spPr>
          <a:xfrm xmlns:a="http://schemas.openxmlformats.org/drawingml/2006/main">
            <a:off x="628650" y="422910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64">
            <a:extLst xmlns:a="http://schemas.openxmlformats.org/drawingml/2006/main">
              <a:ext uri="{FF2B5EF4-FFF2-40B4-BE49-F238E27FC236}">
                <a16:creationId xmlns:a16="http://schemas.microsoft.com/office/drawing/2014/main" id="{4B701CCC-FFEE-4203-95DA-ACCF286938C8}"/>
              </a:ext>
            </a:extLst>
          </p:cNvPr>
          <p:cNvSpPr>
            <a:spLocks xmlns:a="http://schemas.openxmlformats.org/drawingml/2006/main" noGrp="1"/>
          </p:cNvSpPr>
          <p:nvPr/>
        </p:nvSpPr>
        <p:spPr>
          <a:xfrm xmlns:a="http://schemas.openxmlformats.org/drawingml/2006/main">
            <a:off x="628650" y="46291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xmlns:a="http://schemas.openxmlformats.org/drawingml/2006/main">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65">
            <a:extLst xmlns:a="http://schemas.openxmlformats.org/drawingml/2006/main">
              <a:ext uri="{FF2B5EF4-FFF2-40B4-BE49-F238E27FC236}">
                <a16:creationId xmlns:a16="http://schemas.microsoft.com/office/drawing/2014/main" id="{308DCA8C-D304-4C4A-B2AE-75A129E6C61D}"/>
              </a:ext>
            </a:extLst>
          </p:cNvPr>
          <p:cNvSpPr>
            <a:spLocks xmlns:a="http://schemas.openxmlformats.org/drawingml/2006/main" noGrp="1"/>
          </p:cNvSpPr>
          <p:nvPr/>
        </p:nvSpPr>
        <p:spPr>
          <a:xfrm xmlns:a="http://schemas.openxmlformats.org/drawingml/2006/main">
            <a:off x="628650" y="537210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원문·keep의 근거 맞힘은 각각 76/100</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코드 가드는 실제 변형 9/300건 탐지</a:t>
            </a:r>
          </a:p>
        </p:txBody>
      </p:sp>
      <p:sp>
        <p:nvSpPr>
          <p:cNvPr id="15" name="own-text-66">
            <a:extLst xmlns:a="http://schemas.openxmlformats.org/drawingml/2006/main">
              <a:ext uri="{FF2B5EF4-FFF2-40B4-BE49-F238E27FC236}">
                <a16:creationId xmlns:a16="http://schemas.microsoft.com/office/drawing/2014/main" id="{8004261A-28BC-4AD3-86A6-83DB9D399AC2}"/>
              </a:ext>
            </a:extLst>
          </p:cNvPr>
          <p:cNvSpPr>
            <a:spLocks xmlns:a="http://schemas.openxmlformats.org/drawingml/2006/main" noGrp="1"/>
          </p:cNvSpPr>
          <p:nvPr/>
        </p:nvSpPr>
        <p:spPr>
          <a:xfrm xmlns:a="http://schemas.openxmlformats.org/drawingml/2006/main">
            <a:off x="708660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
            <a:extLst xmlns:a="http://schemas.openxmlformats.org/drawingml/2006/main">
              <a:ext uri="{FF2B5EF4-FFF2-40B4-BE49-F238E27FC236}">
                <a16:creationId xmlns:a16="http://schemas.microsoft.com/office/drawing/2014/main" id="{ADAD4C58-E2A8-436D-B9A7-FE7CF5A9DA5A}"/>
              </a:ext>
            </a:extLst>
          </p:cNvPr>
          <p:cNvGraphicFramePr/>
          <p:nvPr/>
        </p:nvGraphicFramePr>
        <p:xfrm>
          <a:off xmlns:a="http://schemas.openxmlformats.org/drawingml/2006/main" x="7086600" y="2686050"/>
          <a:ext xmlns:a="http://schemas.openxmlformats.org/drawingml/2006/main" cx="6000750" cy="2400300"/>
        </p:xfrm>
        <a:graphic xmlns:a="http://schemas.openxmlformats.org/drawingml/2006/main">
          <a:graphicData uri="http://schemas.openxmlformats.org/drawingml/2006/table">
            <a:tbl>
              <a:tblPr/>
              <a:tblGrid>
                <a:gridCol w="2876550"/>
                <a:gridCol w="1657350"/>
                <a:gridCol w="1466850"/>
              </a:tblGrid>
              <a:tr h="600075">
                <a:tc>
                  <a:txBody>
                    <a:bodyPr>
                      <a:noAutofit/>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생략</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비율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00075">
                <a:tc>
                  <a:txBody>
                    <a:bodyPr>
                      <a:noAutofit/>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66 / 141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46.8%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00075">
                <a:tc>
                  <a:txBody>
                    <a:bodyPr>
                      <a:noAutofit/>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174 / 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44.6%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600075">
                <a:tc>
                  <a:txBody>
                    <a:bodyPr>
                      <a:noAutofit/>
                    </a:bodyPr>
                    <a:lstStyle/>
                    <a:p>
                      <a:r>
                        <a:rPr sz="1748" b="1">
                          <a:solidFill>
                            <a:srgbClr val="F72585"/>
                          </a:solidFill>
                          <a:latin typeface="맑은 고딕"/>
                          <a:ea typeface="맑은 고딕"/>
                          <a:cs typeface="맑은 고딕"/>
                        </a:rPr>
                        <a:t>기본 단건 SA</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49 / 50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98.0%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7" name="own-text-67">
            <a:extLst xmlns:a="http://schemas.openxmlformats.org/drawingml/2006/main">
              <a:ext uri="{FF2B5EF4-FFF2-40B4-BE49-F238E27FC236}">
                <a16:creationId xmlns:a16="http://schemas.microsoft.com/office/drawing/2014/main" id="{8ABC999C-9247-4C73-B1BC-7D8C6DCF4426}"/>
              </a:ext>
            </a:extLst>
          </p:cNvPr>
          <p:cNvSpPr>
            <a:spLocks xmlns:a="http://schemas.openxmlformats.org/drawingml/2006/main" noGrp="1"/>
          </p:cNvSpPr>
          <p:nvPr/>
        </p:nvSpPr>
        <p:spPr>
          <a:xfrm xmlns:a="http://schemas.openxmlformats.org/drawingml/2006/main">
            <a:off x="7086600" y="5457825"/>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68">
            <a:extLst xmlns:a="http://schemas.openxmlformats.org/drawingml/2006/main">
              <a:ext uri="{FF2B5EF4-FFF2-40B4-BE49-F238E27FC236}">
                <a16:creationId xmlns:a16="http://schemas.microsoft.com/office/drawing/2014/main" id="{53674463-5EEC-4C4B-8D30-873D8A771788}"/>
              </a:ext>
            </a:extLst>
          </p:cNvPr>
          <p:cNvSpPr>
            <a:spLocks xmlns:a="http://schemas.openxmlformats.org/drawingml/2006/main" noGrp="1"/>
          </p:cNvSpPr>
          <p:nvPr/>
        </p:nvSpPr>
        <p:spPr>
          <a:xfrm xmlns:a="http://schemas.openxmlformats.org/drawingml/2006/main">
            <a:off x="7086600" y="59721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1070535735"/>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5A31F1F1-4733-4D02-BAD9-93CFC4D93D59}"/>
              </a:ext>
            </a:extLst>
          </p:cNvPr>
          <p:cNvCxnSpPr>
            <a:stCxn xmlns:a="http://schemas.openxmlformats.org/drawingml/2006/main" id="8" idx="3"/>
            <a:endCxn xmlns:a="http://schemas.openxmlformats.org/drawingml/2006/main" id="9" idx="1"/>
          </p:cNvCxnSpPr>
          <p:nvPr/>
        </p:nvCxnSpPr>
        <p:spPr>
          <a:xfrm xmlns:a="http://schemas.openxmlformats.org/drawingml/2006/main">
            <a:off x="9410700" y="2447925"/>
            <a:ext cx="75247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C1D4FDCB-7139-4193-B696-DC17E20B1352}"/>
              </a:ext>
            </a:extLst>
          </p:cNvPr>
          <p:cNvCxnSpPr>
            <a:stCxn xmlns:a="http://schemas.openxmlformats.org/drawingml/2006/main" id="7" idx="3"/>
            <a:endCxn xmlns:a="http://schemas.openxmlformats.org/drawingml/2006/main" id="8" idx="1"/>
          </p:cNvCxnSpPr>
          <p:nvPr/>
        </p:nvCxnSpPr>
        <p:spPr>
          <a:xfrm xmlns:a="http://schemas.openxmlformats.org/drawingml/2006/main">
            <a:off x="5676900" y="2447925"/>
            <a:ext cx="80962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5" name="own-text-69">
            <a:extLst xmlns:a="http://schemas.openxmlformats.org/drawingml/2006/main">
              <a:ext uri="{FF2B5EF4-FFF2-40B4-BE49-F238E27FC236}">
                <a16:creationId xmlns:a16="http://schemas.microsoft.com/office/drawing/2014/main" id="{D8E51467-2227-4AC4-A86F-2901D335AC92}"/>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70">
            <a:extLst xmlns:a="http://schemas.openxmlformats.org/drawingml/2006/main">
              <a:ext uri="{FF2B5EF4-FFF2-40B4-BE49-F238E27FC236}">
                <a16:creationId xmlns:a16="http://schemas.microsoft.com/office/drawing/2014/main" id="{9F9CBD24-316A-4945-9B0F-AC75477B27F2}"/>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slot으로 하위 질문별 출력 제어</a:t>
            </a:r>
          </a:p>
        </p:txBody>
      </p:sp>
      <p:sp>
        <p:nvSpPr>
          <p:cNvPr id="3" name="own-text-71">
            <a:extLst xmlns:a="http://schemas.openxmlformats.org/drawingml/2006/main">
              <a:ext uri="{FF2B5EF4-FFF2-40B4-BE49-F238E27FC236}">
                <a16:creationId xmlns:a16="http://schemas.microsoft.com/office/drawing/2014/main" id="{CDFD3644-DCEC-462A-8CAE-12131243F419}"/>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각 질문의 answer와 status를 따로 받고, 코드는 ANSWER 본문만 합쳐 안내를 부착</a:t>
            </a:r>
          </a:p>
        </p:txBody>
      </p:sp>
      <p:sp>
        <p:nvSpPr>
          <p:cNvPr id="4" name="own-text-72">
            <a:extLst xmlns:a="http://schemas.openxmlformats.org/drawingml/2006/main">
              <a:ext uri="{FF2B5EF4-FFF2-40B4-BE49-F238E27FC236}">
                <a16:creationId xmlns:a16="http://schemas.microsoft.com/office/drawing/2014/main" id="{7415F74C-E3A0-4B0F-A27F-D220A27B76EA}"/>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73">
            <a:extLst xmlns:a="http://schemas.openxmlformats.org/drawingml/2006/main">
              <a:ext uri="{FF2B5EF4-FFF2-40B4-BE49-F238E27FC236}">
                <a16:creationId xmlns:a16="http://schemas.microsoft.com/office/drawing/2014/main" id="{5F7BC7EA-95EC-4146-BF5D-0AF6FC0B3682}"/>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06</a:t>
            </a:r>
          </a:p>
        </p:txBody>
      </p:sp>
      <p:sp>
        <p:nvSpPr>
          <p:cNvPr id="6" name="own-text-74">
            <a:extLst xmlns:a="http://schemas.openxmlformats.org/drawingml/2006/main">
              <a:ext uri="{FF2B5EF4-FFF2-40B4-BE49-F238E27FC236}">
                <a16:creationId xmlns:a16="http://schemas.microsoft.com/office/drawing/2014/main" id="{9E05DF1E-CB7E-4604-A4CE-FC4A89CFC410}"/>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Judge 337문항. 세 모드 모두 분류기 적용. 반복 고지는 모델 본문에서 불가 안내가 두 문장 이상인 경우.</a:t>
            </a:r>
          </a:p>
        </p:txBody>
      </p:sp>
      <p:sp>
        <p:nvSpPr>
          <p:cNvPr id="7" name="pipeline-75">
            <a:extLst xmlns:a="http://schemas.openxmlformats.org/drawingml/2006/main">
              <a:ext uri="{FF2B5EF4-FFF2-40B4-BE49-F238E27FC236}">
                <a16:creationId xmlns:a16="http://schemas.microsoft.com/office/drawing/2014/main" id="{21F498BD-0300-46F6-ADFA-3EF62513BD8E}"/>
              </a:ext>
            </a:extLst>
          </p:cNvPr>
          <p:cNvSpPr>
            <a:spLocks xmlns:a="http://schemas.openxmlformats.org/drawingml/2006/main" noGrp="1"/>
          </p:cNvSpPr>
          <p:nvPr/>
        </p:nvSpPr>
        <p:spPr>
          <a:xfrm xmlns:a="http://schemas.openxmlformats.org/drawingml/2006/main">
            <a:off x="628650" y="2047875"/>
            <a:ext cx="504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ANSWER</a:t>
            </a:r>
          </a:p>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ABSTAIN</a:t>
            </a:r>
          </a:p>
        </p:txBody>
      </p:sp>
      <p:sp>
        <p:nvSpPr>
          <p:cNvPr id="8" name="pipeline-76">
            <a:extLst xmlns:a="http://schemas.openxmlformats.org/drawingml/2006/main">
              <a:ext uri="{FF2B5EF4-FFF2-40B4-BE49-F238E27FC236}">
                <a16:creationId xmlns:a16="http://schemas.microsoft.com/office/drawing/2014/main" id="{2680B548-EC3C-4B43-83DD-1BC5396CAD8A}"/>
              </a:ext>
            </a:extLst>
          </p:cNvPr>
          <p:cNvSpPr>
            <a:spLocks xmlns:a="http://schemas.openxmlformats.org/drawingml/2006/main" noGrp="1"/>
          </p:cNvSpPr>
          <p:nvPr/>
        </p:nvSpPr>
        <p:spPr>
          <a:xfrm xmlns:a="http://schemas.openxmlformats.org/drawingml/2006/main">
            <a:off x="6486525" y="2047875"/>
            <a:ext cx="2924175" cy="800100"/>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ANSWER 본문만 합침</a:t>
            </a:r>
          </a:p>
        </p:txBody>
      </p:sp>
      <p:sp>
        <p:nvSpPr>
          <p:cNvPr id="9" name="pipeline-77">
            <a:extLst xmlns:a="http://schemas.openxmlformats.org/drawingml/2006/main">
              <a:ext uri="{FF2B5EF4-FFF2-40B4-BE49-F238E27FC236}">
                <a16:creationId xmlns:a16="http://schemas.microsoft.com/office/drawing/2014/main" id="{F77FC357-A631-4E09-AFF1-1677848B7413}"/>
              </a:ext>
            </a:extLst>
          </p:cNvPr>
          <p:cNvSpPr>
            <a:spLocks xmlns:a="http://schemas.openxmlformats.org/drawingml/2006/main" noGrp="1"/>
          </p:cNvSpPr>
          <p:nvPr/>
        </p:nvSpPr>
        <p:spPr>
          <a:xfrm xmlns:a="http://schemas.openxmlformats.org/drawingml/2006/main">
            <a:off x="10163175" y="2047875"/>
            <a:ext cx="2924175" cy="800100"/>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코드 고정 안내</a:t>
            </a:r>
          </a:p>
        </p:txBody>
      </p:sp>
      <p:graphicFrame>
        <p:nvGraphicFramePr>
          <p:cNvPr id="12" name="">
            <a:extLst xmlns:a="http://schemas.openxmlformats.org/drawingml/2006/main">
              <a:ext uri="{FF2B5EF4-FFF2-40B4-BE49-F238E27FC236}">
                <a16:creationId xmlns:a16="http://schemas.microsoft.com/office/drawing/2014/main" id="{B1A5EB5A-94A8-4B36-9F93-96E950F9278C}"/>
              </a:ext>
            </a:extLst>
          </p:cNvPr>
          <p:cNvGraphicFramePr/>
          <p:nvPr/>
        </p:nvGraphicFramePr>
        <p:xfrm>
          <a:off xmlns:a="http://schemas.openxmlformats.org/drawingml/2006/main" x="628650" y="3276600"/>
          <a:ext xmlns:a="http://schemas.openxmlformats.org/drawingml/2006/main" cx="12458700" cy="2543175"/>
        </p:xfrm>
        <a:graphic xmlns:a="http://schemas.openxmlformats.org/drawingml/2006/main">
          <a:graphicData uri="http://schemas.openxmlformats.org/drawingml/2006/table">
            <a:tbl>
              <a:tblPr/>
              <a:tblGrid>
                <a:gridCol w="5000625"/>
                <a:gridCol w="2486025"/>
                <a:gridCol w="2486025"/>
                <a:gridCol w="2486025"/>
              </a:tblGrid>
              <a:tr h="423863">
                <a:tc>
                  <a:txBody>
                    <a:bodyPr>
                      <a:noAutofit/>
                    </a:bodyPr>
                    <a:lstStyle/>
                    <a:p>
                      <a:r>
                        <a:rPr sz="1800"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single</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sub</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slot</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23863">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276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257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270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800"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44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800"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3</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800"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81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800"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3" name="own-text-78">
            <a:extLst xmlns:a="http://schemas.openxmlformats.org/drawingml/2006/main">
              <a:ext uri="{FF2B5EF4-FFF2-40B4-BE49-F238E27FC236}">
                <a16:creationId xmlns:a16="http://schemas.microsoft.com/office/drawing/2014/main" id="{40A2F58E-6FEF-428C-A925-8CAB5FB5D988}"/>
              </a:ext>
            </a:extLst>
          </p:cNvPr>
          <p:cNvSpPr>
            <a:spLocks xmlns:a="http://schemas.openxmlformats.org/drawingml/2006/main" noGrp="1"/>
          </p:cNvSpPr>
          <p:nvPr/>
        </p:nvSpPr>
        <p:spPr>
          <a:xfrm xmlns:a="http://schemas.openxmlformats.org/drawingml/2006/main">
            <a:off x="628650" y="6086475"/>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79">
            <a:extLst xmlns:a="http://schemas.openxmlformats.org/drawingml/2006/main">
              <a:ext uri="{FF2B5EF4-FFF2-40B4-BE49-F238E27FC236}">
                <a16:creationId xmlns:a16="http://schemas.microsoft.com/office/drawing/2014/main" id="{4D1AE1A0-823B-4C09-8532-9A13109580F3}"/>
              </a:ext>
            </a:extLst>
          </p:cNvPr>
          <p:cNvSpPr>
            <a:spLocks xmlns:a="http://schemas.openxmlformats.org/drawingml/2006/main" noGrp="1"/>
          </p:cNvSpPr>
          <p:nvPr/>
        </p:nvSpPr>
        <p:spPr>
          <a:xfrm xmlns:a="http://schemas.openxmlformats.org/drawingml/2006/main">
            <a:off x="8524875" y="6096000"/>
            <a:ext cx="4562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1">
                <a:solidFill>
                  <a:srgbClr val="17171A"/>
                </a:solidFill>
                <a:latin typeface="맑은 고딕"/>
                <a:ea typeface="맑은 고딕"/>
                <a:cs typeface="맑은 고딕"/>
              </a:defRPr>
            </a:defPPr>
            <a:lvl1pPr algn="l">
              <a:defRPr sz="1702" b="1">
                <a:solidFill>
                  <a:srgbClr val="17171A"/>
                </a:solidFill>
                <a:latin typeface="맑은 고딕"/>
                <a:ea typeface="맑은 고딕"/>
                <a:cs typeface="맑은 고딕"/>
              </a:defRPr>
            </a:lvl1pPr>
            <a:lvl2pPr algn="l">
              <a:defRPr sz="1702" b="1">
                <a:solidFill>
                  <a:srgbClr val="17171A"/>
                </a:solidFill>
                <a:latin typeface="맑은 고딕"/>
                <a:ea typeface="맑은 고딕"/>
                <a:cs typeface="맑은 고딕"/>
              </a:defRPr>
            </a:lvl2pPr>
            <a:lvl3pPr algn="l">
              <a:defRPr sz="1702" b="1">
                <a:solidFill>
                  <a:srgbClr val="17171A"/>
                </a:solidFill>
                <a:latin typeface="맑은 고딕"/>
                <a:ea typeface="맑은 고딕"/>
                <a:cs typeface="맑은 고딕"/>
              </a:defRPr>
            </a:lvl3pPr>
            <a:lvl4pPr algn="l">
              <a:defRPr sz="1702" b="1">
                <a:solidFill>
                  <a:srgbClr val="17171A"/>
                </a:solidFill>
                <a:latin typeface="맑은 고딕"/>
                <a:ea typeface="맑은 고딕"/>
                <a:cs typeface="맑은 고딕"/>
              </a:defRPr>
            </a:lvl4pPr>
            <a:lvl5pPr algn="l">
              <a:defRPr sz="1702" b="1">
                <a:solidFill>
                  <a:srgbClr val="17171A"/>
                </a:solidFill>
                <a:latin typeface="맑은 고딕"/>
                <a:ea typeface="맑은 고딕"/>
                <a:cs typeface="맑은 고딕"/>
              </a:defRPr>
            </a:lvl5pPr>
            <a:lvl6pPr algn="l">
              <a:defRPr sz="1702" b="1">
                <a:solidFill>
                  <a:srgbClr val="17171A"/>
                </a:solidFill>
                <a:latin typeface="맑은 고딕"/>
                <a:ea typeface="맑은 고딕"/>
                <a:cs typeface="맑은 고딕"/>
              </a:defRPr>
            </a:lvl6pPr>
            <a:lvl7pPr algn="l">
              <a:defRPr sz="1702" b="1">
                <a:solidFill>
                  <a:srgbClr val="17171A"/>
                </a:solidFill>
                <a:latin typeface="맑은 고딕"/>
                <a:ea typeface="맑은 고딕"/>
                <a:cs typeface="맑은 고딕"/>
              </a:defRPr>
            </a:lvl7pPr>
            <a:lvl8pPr algn="l">
              <a:defRPr sz="1702" b="1">
                <a:solidFill>
                  <a:srgbClr val="17171A"/>
                </a:solidFill>
                <a:latin typeface="맑은 고딕"/>
                <a:ea typeface="맑은 고딕"/>
                <a:cs typeface="맑은 고딕"/>
              </a:defRPr>
            </a:lvl8pPr>
            <a:lvl9pPr algn="l">
              <a:defRPr sz="1702" b="1">
                <a:solidFill>
                  <a:srgbClr val="17171A"/>
                </a:solidFill>
                <a:latin typeface="맑은 고딕"/>
                <a:ea typeface="맑은 고딕"/>
                <a:cs typeface="맑은 고딕"/>
              </a:defRPr>
            </a:lvl9pPr>
          </a:lstStyle>
          <a:p xmlns:a="http://schemas.openxmlformats.org/drawingml/2006/main">
            <a:pPr algn="l">
              <a:defRPr sz="1702" b="1">
                <a:solidFill>
                  <a:srgbClr val="17171A"/>
                </a:solidFill>
                <a:latin typeface="맑은 고딕"/>
                <a:ea typeface="맑은 고딕"/>
                <a:cs typeface="맑은 고딕"/>
              </a:defRPr>
            </a:pPr>
            <a:r>
              <a:rPr sz="1702" b="1">
                <a:solidFill>
                  <a:srgbClr val="17171A"/>
                </a:solidFill>
                <a:latin typeface="맑은 고딕"/>
                <a:ea typeface="맑은 고딕"/>
                <a:cs typeface="맑은 고딕"/>
              </a:rPr>
              <a:t>sub 대비 실행 오류 12건에서 1건</a:t>
            </a:r>
          </a:p>
        </p:txBody>
      </p:sp>
    </p:spTree>
    <p:extLst>
      <p:ext uri="{BB962C8B-B14F-4D97-AF65-F5344CB8AC3E}">
        <p14:creationId xmlns:p14="http://schemas.microsoft.com/office/powerpoint/2010/main" val="1865501056"/>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0" name="own-text-80">
            <a:extLst xmlns:a="http://schemas.openxmlformats.org/drawingml/2006/main">
              <a:ext uri="{FF2B5EF4-FFF2-40B4-BE49-F238E27FC236}">
                <a16:creationId xmlns:a16="http://schemas.microsoft.com/office/drawing/2014/main" id="{22B2166F-37C7-48B3-AEDF-541BEE17DE0C}"/>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81">
            <a:extLst xmlns:a="http://schemas.openxmlformats.org/drawingml/2006/main">
              <a:ext uri="{FF2B5EF4-FFF2-40B4-BE49-F238E27FC236}">
                <a16:creationId xmlns:a16="http://schemas.microsoft.com/office/drawing/2014/main" id="{E30882E3-96FF-44CF-A575-F7B76D1F6A9A}"/>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2">
            <a:extLst xmlns:a="http://schemas.openxmlformats.org/drawingml/2006/main">
              <a:ext uri="{FF2B5EF4-FFF2-40B4-BE49-F238E27FC236}">
                <a16:creationId xmlns:a16="http://schemas.microsoft.com/office/drawing/2014/main" id="{2AE6F7A7-68C1-42AD-8168-46DA21C652C8}"/>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83">
            <a:extLst xmlns:a="http://schemas.openxmlformats.org/drawingml/2006/main">
              <a:ext uri="{FF2B5EF4-FFF2-40B4-BE49-F238E27FC236}">
                <a16:creationId xmlns:a16="http://schemas.microsoft.com/office/drawing/2014/main" id="{429689C5-2588-4BBF-91BD-383E7C0D4FD7}"/>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4">
            <a:extLst xmlns:a="http://schemas.openxmlformats.org/drawingml/2006/main">
              <a:ext uri="{FF2B5EF4-FFF2-40B4-BE49-F238E27FC236}">
                <a16:creationId xmlns:a16="http://schemas.microsoft.com/office/drawing/2014/main" id="{3690F0BC-72B7-4802-9D26-E3D411617498}"/>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07</a:t>
            </a:r>
          </a:p>
        </p:txBody>
      </p:sp>
      <p:sp>
        <p:nvSpPr>
          <p:cNvPr id="6" name="own-text-85">
            <a:extLst xmlns:a="http://schemas.openxmlformats.org/drawingml/2006/main">
              <a:ext uri="{FF2B5EF4-FFF2-40B4-BE49-F238E27FC236}">
                <a16:creationId xmlns:a16="http://schemas.microsoft.com/office/drawing/2014/main" id="{2E9202C6-2290-4F4E-B52E-8EE3AF0EDF08}"/>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코드·설정의 기본값. cron은 KST, fixedDelay는 작업 완료 후 대기. 실제 운영 활성값·환경변수에 따라 달라질 수 있음.</a:t>
            </a:r>
          </a:p>
        </p:txBody>
      </p:sp>
      <p:graphicFrame>
        <p:nvGraphicFramePr>
          <p:cNvPr id="7" name="">
            <a:extLst xmlns:a="http://schemas.openxmlformats.org/drawingml/2006/main">
              <a:ext uri="{FF2B5EF4-FFF2-40B4-BE49-F238E27FC236}">
                <a16:creationId xmlns:a16="http://schemas.microsoft.com/office/drawing/2014/main" id="{9E99A0F7-264E-4D4D-9F26-9F482BFAE799}"/>
              </a:ext>
            </a:extLst>
          </p:cNvPr>
          <p:cNvGraphicFramePr/>
          <p:nvPr/>
        </p:nvGraphicFramePr>
        <p:xfrm>
          <a:off xmlns:a="http://schemas.openxmlformats.org/drawingml/2006/main" x="628650" y="2076450"/>
          <a:ext xmlns:a="http://schemas.openxmlformats.org/drawingml/2006/main" cx="12458700" cy="4010025"/>
        </p:xfrm>
        <a:graphic xmlns:a="http://schemas.openxmlformats.org/drawingml/2006/main">
          <a:graphicData uri="http://schemas.openxmlformats.org/drawingml/2006/table">
            <a:tbl>
              <a:tblPr/>
              <a:tblGrid>
                <a:gridCol w="2724150"/>
                <a:gridCol w="2657475"/>
                <a:gridCol w="7077075"/>
              </a:tblGrid>
              <a:tr h="445558">
                <a:tc>
                  <a:txBody>
                    <a:bodyPr>
                      <a:noAutofit/>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기본 주기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실행 기준·역할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45558">
                <a:tc>
                  <a:txBody>
                    <a:bodyPr>
                      <a:noAutofit/>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09:00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월 한도 80%·100% 도달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1">
                          <a:solidFill>
                            <a:srgbClr val="F72585"/>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매일 04:00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기간·상태 조건에 따른 익명화·삭제와 로밍 상태 갱신</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45558">
                <a:tc>
                  <a:txBody>
                    <a:bodyPr>
                      <a:noAutofit/>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1분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예약 확인 1분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5초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86">
            <a:extLst xmlns:a="http://schemas.openxmlformats.org/drawingml/2006/main">
              <a:ext uri="{FF2B5EF4-FFF2-40B4-BE49-F238E27FC236}">
                <a16:creationId xmlns:a16="http://schemas.microsoft.com/office/drawing/2014/main" id="{4190A6D7-C225-4A83-91EC-DC34428702C6}"/>
              </a:ext>
            </a:extLst>
          </p:cNvPr>
          <p:cNvSpPr>
            <a:spLocks xmlns:a="http://schemas.openxmlformats.org/drawingml/2006/main" noGrp="1"/>
          </p:cNvSpPr>
          <p:nvPr/>
        </p:nvSpPr>
        <p:spPr>
          <a:xfrm xmlns:a="http://schemas.openxmlformats.org/drawingml/2006/main">
            <a:off x="628650" y="62579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1">
                <a:solidFill>
                  <a:srgbClr val="F72585"/>
                </a:solidFill>
                <a:latin typeface="맑은 고딕"/>
                <a:ea typeface="맑은 고딕"/>
                <a:cs typeface="맑은 고딕"/>
              </a:defRPr>
            </a:defPPr>
            <a:lvl1pPr algn="l">
              <a:defRPr sz="1702" b="1">
                <a:solidFill>
                  <a:srgbClr val="F72585"/>
                </a:solidFill>
                <a:latin typeface="맑은 고딕"/>
                <a:ea typeface="맑은 고딕"/>
                <a:cs typeface="맑은 고딕"/>
              </a:defRPr>
            </a:lvl1pPr>
            <a:lvl2pPr algn="l">
              <a:defRPr sz="1702" b="1">
                <a:solidFill>
                  <a:srgbClr val="F72585"/>
                </a:solidFill>
                <a:latin typeface="맑은 고딕"/>
                <a:ea typeface="맑은 고딕"/>
                <a:cs typeface="맑은 고딕"/>
              </a:defRPr>
            </a:lvl2pPr>
            <a:lvl3pPr algn="l">
              <a:defRPr sz="1702" b="1">
                <a:solidFill>
                  <a:srgbClr val="F72585"/>
                </a:solidFill>
                <a:latin typeface="맑은 고딕"/>
                <a:ea typeface="맑은 고딕"/>
                <a:cs typeface="맑은 고딕"/>
              </a:defRPr>
            </a:lvl3pPr>
            <a:lvl4pPr algn="l">
              <a:defRPr sz="1702" b="1">
                <a:solidFill>
                  <a:srgbClr val="F72585"/>
                </a:solidFill>
                <a:latin typeface="맑은 고딕"/>
                <a:ea typeface="맑은 고딕"/>
                <a:cs typeface="맑은 고딕"/>
              </a:defRPr>
            </a:lvl4pPr>
            <a:lvl5pPr algn="l">
              <a:defRPr sz="1702" b="1">
                <a:solidFill>
                  <a:srgbClr val="F72585"/>
                </a:solidFill>
                <a:latin typeface="맑은 고딕"/>
                <a:ea typeface="맑은 고딕"/>
                <a:cs typeface="맑은 고딕"/>
              </a:defRPr>
            </a:lvl5pPr>
            <a:lvl6pPr algn="l">
              <a:defRPr sz="1702" b="1">
                <a:solidFill>
                  <a:srgbClr val="F72585"/>
                </a:solidFill>
                <a:latin typeface="맑은 고딕"/>
                <a:ea typeface="맑은 고딕"/>
                <a:cs typeface="맑은 고딕"/>
              </a:defRPr>
            </a:lvl6pPr>
            <a:lvl7pPr algn="l">
              <a:defRPr sz="1702" b="1">
                <a:solidFill>
                  <a:srgbClr val="F72585"/>
                </a:solidFill>
                <a:latin typeface="맑은 고딕"/>
                <a:ea typeface="맑은 고딕"/>
                <a:cs typeface="맑은 고딕"/>
              </a:defRPr>
            </a:lvl7pPr>
            <a:lvl8pPr algn="l">
              <a:defRPr sz="1702" b="1">
                <a:solidFill>
                  <a:srgbClr val="F72585"/>
                </a:solidFill>
                <a:latin typeface="맑은 고딕"/>
                <a:ea typeface="맑은 고딕"/>
                <a:cs typeface="맑은 고딕"/>
              </a:defRPr>
            </a:lvl8pPr>
            <a:lvl9pPr algn="l">
              <a:defRPr sz="1702" b="1">
                <a:solidFill>
                  <a:srgbClr val="F72585"/>
                </a:solidFill>
                <a:latin typeface="맑은 고딕"/>
                <a:ea typeface="맑은 고딕"/>
                <a:cs typeface="맑은 고딕"/>
              </a:defRPr>
            </a:lvl9pPr>
          </a:lstStyle>
          <a:p xmlns:a="http://schemas.openxmlformats.org/drawingml/2006/main">
            <a:pPr algn="l">
              <a:defRPr sz="1702" b="1">
                <a:solidFill>
                  <a:srgbClr val="F72585"/>
                </a:solidFill>
                <a:latin typeface="맑은 고딕"/>
                <a:ea typeface="맑은 고딕"/>
                <a:cs typeface="맑은 고딕"/>
              </a:defRPr>
            </a:pPr>
            <a:r>
              <a:rPr sz="1702" b="1">
                <a:solidFill>
                  <a:srgbClr val="F72585"/>
                </a:solidFill>
                <a:latin typeface="맑은 고딕"/>
                <a:ea typeface="맑은 고딕"/>
                <a:cs typeface="맑은 고딕"/>
              </a:rPr>
              <a:t>담당 구현</a:t>
            </a:r>
          </a:p>
        </p:txBody>
      </p:sp>
      <p:sp>
        <p:nvSpPr>
          <p:cNvPr id="9" name="own-text-87">
            <a:extLst xmlns:a="http://schemas.openxmlformats.org/drawingml/2006/main">
              <a:ext uri="{FF2B5EF4-FFF2-40B4-BE49-F238E27FC236}">
                <a16:creationId xmlns:a16="http://schemas.microsoft.com/office/drawing/2014/main" id="{2D02354F-65C3-4D44-AFF2-FD61B2068BF7}"/>
              </a:ext>
            </a:extLst>
          </p:cNvPr>
          <p:cNvSpPr>
            <a:spLocks xmlns:a="http://schemas.openxmlformats.org/drawingml/2006/main" noGrp="1"/>
          </p:cNvSpPr>
          <p:nvPr/>
        </p:nvSpPr>
        <p:spPr>
          <a:xfrm xmlns:a="http://schemas.openxmlformats.org/drawingml/2006/main">
            <a:off x="2571750" y="6238875"/>
            <a:ext cx="1051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보관 정리: 분산 잠금, 1,000건 단위 commit, 실패 시 재시도</a:t>
            </a:r>
          </a:p>
        </p:txBody>
      </p:sp>
    </p:spTree>
    <p:extLst>
      <p:ext uri="{BB962C8B-B14F-4D97-AF65-F5344CB8AC3E}">
        <p14:creationId xmlns:p14="http://schemas.microsoft.com/office/powerpoint/2010/main" val="1310516285"/>
      </p:ext>
    </p:extLst>
  </p:cSld>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2026-10-25T23:33:16.8320000Z</dcterms:created>
  <dcterms:modified xsi:type="dcterms:W3CDTF">2026-10-25T23:33:16.8320000Z</dcterms:modified>
</coreProperties>
</file>