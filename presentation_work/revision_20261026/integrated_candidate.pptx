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Masters/slideMaster2.xml" ContentType="application/vnd.openxmlformats-officedocument.presentationml.slideMaster+xml"/>
  <Override PartName="/ppt/slideMasters/theme/theme1.xml" ContentType="application/vnd.openxmlformats-officedocument.theme+xml"/>
  <Override PartName="/ppt/slideLayouts/slideLayout2.xml" ContentType="application/vnd.openxmlformats-officedocument.presentationml.slideLayout+xml"/>
  <Override PartName="/ppt/notesMasters/notesMaster2.xml" ContentType="application/vnd.openxmlformats-officedocument.presentationml.notesMaster+xml"/>
  <Override PartName="/ppt/notesMasters/theme/theme1.xml" ContentType="application/vnd.openxmlformats-officedocument.theme+xml"/>
  <Override PartName="/ppt/slides/slide29.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0.xml" ContentType="application/vnd.openxmlformats-officedocument.presentationml.slide+xml"/>
  <Override PartName="/ppt/notesSlides/notesSlide3.xml" ContentType="application/vnd.openxmlformats-officedocument.presentationml.notesSlide+xml"/>
  <Override PartName="/ppt/slides/slide31.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32.xml" ContentType="application/vnd.openxmlformats-officedocument.presentationml.slide+xml"/>
  <Override PartName="/ppt/notesSlides/notesSlide5.xml" ContentType="application/vnd.openxmlformats-officedocument.presentationml.notesSlide+xml"/>
  <Override PartName="/ppt/slides/slide33.xml" ContentType="application/vnd.openxmlformats-officedocument.presentationml.slide+xml"/>
  <Override PartName="/ppt/notesSlides/notesSlide6.xml" ContentType="application/vnd.openxmlformats-officedocument.presentationml.notesSlide+xml"/>
  <Override PartName="/ppt/slides/slide34.xml" ContentType="application/vnd.openxmlformats-officedocument.presentationml.slide+xml"/>
  <Override PartName="/ppt/notesSlides/notesSlide7.xml" ContentType="application/vnd.openxmlformats-officedocument.presentationml.notesSlide+xml"/>
  <Override PartName="/ppt/slides/slide35.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 id="2147483649" r:id="rIdOwn35"/>
    <p:sldMasterId id="2147483650" r:id="rIdOwn36"/>
  </p:sldMasterIdLst>
  <p:notesMasterIdLst>
    <p:notesMasterId r:id="rId2"/>
    <p:notesMasterId r:id="rIdOwn37"/>
    <p:notesMasterId r:id="rIdOwn38"/>
  </p:notesMasterIdLst>
  <p:sldIdLst>
    <p:sldId id="277" r:id="rId3"/>
    <p:sldId id="256" r:id="rId4"/>
    <p:sldId id="278" r:id="rId5"/>
    <p:sldId id="257" r:id="rId6"/>
    <p:sldId id="280" r:id="rId31"/>
    <p:sldId id="281" r:id="rId32"/>
    <p:sldId id="282" r:id="rId33"/>
    <p:sldId id="279" r:id="rId7"/>
    <p:sldId id="284" r:id="rIdOwn39"/>
    <p:sldId id="285" r:id="rIdOwn40"/>
    <p:sldId id="286" r:id="rIdOwn41"/>
    <p:sldId id="287" r:id="rIdOwn42"/>
    <p:sldId id="288" r:id="rIdOwn43"/>
    <p:sldId id="289" r:id="rIdOwn44"/>
    <p:sldId id="258" r:id="rId8"/>
    <p:sldId id="259" r:id="rId9"/>
    <p:sldId id="260" r:id="rId10"/>
    <p:sldId id="283" r:id="rId34"/>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Own45"/>
    <p:sldId id="276" r:id="rId2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id="{6C8A44CC-470C-A065-729A-F60DBA9BDE47}" name="프로젝트 팀 구성 및 역할">
          <p14:sldIdLst>
            <p14:sldId id="277"/>
            <p14:sldId id="256"/>
            <p14:sldId id="278"/>
            <p14:sldId id="257"/>
            <p14:sldId id="279"/>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Lst>
    </p:ext>
  </p:extLst>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Own35" Type="http://schemas.openxmlformats.org/officeDocument/2006/relationships/slideMaster" Target="slideMasters/slideMaster2.xml"/><Relationship Id="rIdOwn36" Type="http://schemas.openxmlformats.org/officeDocument/2006/relationships/slideMaster" Target="slideMasters/theme/theme1.xml"/><Relationship Id="rIdOwn37" Type="http://schemas.openxmlformats.org/officeDocument/2006/relationships/notesMaster" Target="notesMasters/notesMaster2.xml"/><Relationship Id="rIdOwn38" Type="http://schemas.openxmlformats.org/officeDocument/2006/relationships/notesMaster" Target="notesMasters/theme/theme1.xml"/><Relationship Id="rIdOwn39" Type="http://schemas.openxmlformats.org/officeDocument/2006/relationships/slide" Target="slides/slide29.xml"/><Relationship Id="rIdOwn40" Type="http://schemas.openxmlformats.org/officeDocument/2006/relationships/slide" Target="slides/slide30.xml"/><Relationship Id="rIdOwn41" Type="http://schemas.openxmlformats.org/officeDocument/2006/relationships/slide" Target="slides/slide31.xml"/><Relationship Id="rIdOwn42" Type="http://schemas.openxmlformats.org/officeDocument/2006/relationships/slide" Target="slides/slide32.xml"/><Relationship Id="rIdOwn43" Type="http://schemas.openxmlformats.org/officeDocument/2006/relationships/slide" Target="slides/slide33.xml"/><Relationship Id="rIdOwn44" Type="http://schemas.openxmlformats.org/officeDocument/2006/relationships/slide" Target="slides/slide34.xml"/><Relationship Id="rIdOwn4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2.xml.rels><?xml version='1.0' encoding='UTF-8' standalone='yes'?>
<Relationships xmlns="http://schemas.openxmlformats.org/package/2006/relationships"><Relationship Type="http://schemas.openxmlformats.org/officeDocument/2006/relationships/theme" Target="theme/theme1.xml" Id="Rc2aaed2e312243d9"/></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2.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Type="http://schemas.openxmlformats.org/officeDocument/2006/relationships/slide" Target="../slides/slide29.xml" Id="Rc4af8c92b8534a54"/><Relationship Type="http://schemas.openxmlformats.org/officeDocument/2006/relationships/notesMaster" Target="../notesMasters/notesMaster2.xml" Id="Rc280d65d1e184a87"/></Relationships>
</file>

<file path=ppt/notesSlides/_rels/notesSlide3.xml.rels><?xml version='1.0' encoding='UTF-8' standalone='yes'?>
<Relationships xmlns="http://schemas.openxmlformats.org/package/2006/relationships"><Relationship Type="http://schemas.openxmlformats.org/officeDocument/2006/relationships/slide" Target="../slides/slide30.xml" Id="Rea4a82ed39444aa8"/><Relationship Type="http://schemas.openxmlformats.org/officeDocument/2006/relationships/notesMaster" Target="../notesMasters/notesMaster2.xml" Id="Rf06be69695f24ce8"/></Relationships>
</file>

<file path=ppt/notesSlides/_rels/notesSlide4.xml.rels><?xml version='1.0' encoding='UTF-8' standalone='yes'?>
<Relationships xmlns="http://schemas.openxmlformats.org/package/2006/relationships"><Relationship Type="http://schemas.openxmlformats.org/officeDocument/2006/relationships/slide" Target="../slides/slide31.xml" Id="R0e2ebb2a5e18437e"/><Relationship Type="http://schemas.openxmlformats.org/officeDocument/2006/relationships/notesMaster" Target="../notesMasters/notesMaster2.xml" Id="R67c898b581344d32"/></Relationships>
</file>

<file path=ppt/notesSlides/_rels/notesSlide5.xml.rels><?xml version='1.0' encoding='UTF-8' standalone='yes'?>
<Relationships xmlns="http://schemas.openxmlformats.org/package/2006/relationships"><Relationship Type="http://schemas.openxmlformats.org/officeDocument/2006/relationships/slide" Target="../slides/slide32.xml" Id="Rf1419a1c568d40fe"/><Relationship Type="http://schemas.openxmlformats.org/officeDocument/2006/relationships/notesMaster" Target="../notesMasters/notesMaster2.xml" Id="Rb061f056c38f4106"/></Relationships>
</file>

<file path=ppt/notesSlides/_rels/notesSlide6.xml.rels><?xml version='1.0' encoding='UTF-8' standalone='yes'?>
<Relationships xmlns="http://schemas.openxmlformats.org/package/2006/relationships"><Relationship Type="http://schemas.openxmlformats.org/officeDocument/2006/relationships/slide" Target="../slides/slide33.xml" Id="R702e6bf9c392450d"/><Relationship Type="http://schemas.openxmlformats.org/officeDocument/2006/relationships/notesMaster" Target="../notesMasters/notesMaster2.xml" Id="Rdd7fde50e0d142b4"/></Relationships>
</file>

<file path=ppt/notesSlides/_rels/notesSlide7.xml.rels><?xml version='1.0' encoding='UTF-8' standalone='yes'?>
<Relationships xmlns="http://schemas.openxmlformats.org/package/2006/relationships"><Relationship Type="http://schemas.openxmlformats.org/officeDocument/2006/relationships/slide" Target="../slides/slide34.xml" Id="Rbee98881e20e4073"/><Relationship Type="http://schemas.openxmlformats.org/officeDocument/2006/relationships/notesMaster" Target="../notesMasters/notesMaster2.xml" Id="R72765ebdd0ad48aa"/></Relationships>
</file>

<file path=ppt/notesSlides/_rels/notesSlide8.xml.rels><?xml version='1.0' encoding='UTF-8' standalone='yes'?>
<Relationships xmlns="http://schemas.openxmlformats.org/package/2006/relationships"><Relationship Type="http://schemas.openxmlformats.org/officeDocument/2006/relationships/slide" Target="../slides/slide35.xml" Id="Rcdda953f7bf34747"/><Relationship Type="http://schemas.openxmlformats.org/officeDocument/2006/relationships/notesMaster" Target="../notesMasters/notesMaster2.xml" Id="R809c802f3d0d4fda"/></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(28초)</a:t>
            </a:r>
          </a:p>
          <a:p xmlns:a="http://schemas.openxmlformats.org/drawingml/2006/main">
            <a:r>
              <a:t>처음에는 작은 모델부터 여러 계열을 비교했습니다. 형식이나 자료 부재 판단에 큰 문제가 있는 후보를 제외했고, 큰 모델은 품질과 함께 서빙 부담을 확인했습니다. 마지막 Gemma 4B와 Qwen 4B에서는 점수뿐 아니라 오답을 봤습니다. Qwen은 답할 근거가 있어도 보류하는 경우가 많아, 프롬프트로 교정할 여지가 있다고 판단했습니다.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같은41개이력질문에서 정답FAQ를 찾은 문항은 원문검색16건, 초기판정과가드25건, 검색전용재설계29건입니다. 이 수치는 답변정확도가 아니라 검색적중입니다.</a:t>
            </a:r>
          </a:p>
          <a:p xmlns:a="http://schemas.openxmlformats.org/drawingml/2006/main">
            <a:r>
              <a:t/>
            </a:r>
          </a:p>
          <a:p xmlns:a="http://schemas.openxmlformats.org/drawingml/2006/main">
            <a:r>
              <a:t>비교 조건과 해석</a:t>
            </a:r>
          </a:p>
          <a:p xmlns:a="http://schemas.openxmlformats.org/drawingml/2006/main">
            <a:r>
              <a:t>원문·초기판정oldTop·재설계built4.searchTop은10/15저장벡터검색 결과, top3·score&gt;=.75에서 모든정답의도FAQ를찾은문항수. 원문16→재설계29은새적중15/소실2 p=.00235. 이력59건중정답FAQ있는41건이며,정답없는18건에서무관FAQ통과5→9로악화했다. AI생성gold,사람검수전. 초기25는기존판정+가드oldTop재집계로판정LLM단독능력이아니다. 재설계검색결과를분류기단독효과로부르지않는다. 원문검색은저장된벡터검색기준선이고구버전전체API실측이아니다. 제시한390건single도이미분류기를사용하므로판정LLM미적용기준선으로오표기하지않는다. 초기/분류기/slot의종단정답·환각완전공통4단계자료는없다.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C:/Ureka/ureca_project2/LLM_Test/presentation_work/evidence_20261026/multiturn_before_after.json</a:t>
            </a:r>
          </a:p>
          <a:p xmlns:a="http://schemas.openxmlformats.org/drawingml/2006/main">
            <a:r>
              <a:t>C:/Ureka/ureca_project2/LLM_Test/presentation_work/revision_20261026/slide_metrics.json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C:/Ureka/ureca_project2/LLM_Test/presentation_work/revision_20261026/derive_slide_metrics.py</a:t>
            </a:r>
          </a:p>
          <a:p xmlns:a="http://schemas.openxmlformats.org/drawingml/2006/main">
            <a:r>
              <a:t>C:/Ureka/ureca_project2/LLM_Test/presentation_work/revision_20261026/slide_metrics.json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사용자에게필요한시점에알림을보내고,FAQ랭킹과미응답이름을갱신하며,비동기작업을복구합니다. 제가담당한보관정리는매일새벽4시에기간이지난기록을익명화하거나삭제합니다. 분산잠금과1000건단위처리로중복실행과긴DB잠금을줄이도록구현했습니다.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Type="http://schemas.openxmlformats.org/officeDocument/2006/relationships/slideMaster" Target="../slideMasters/slideMaster2.xml" Id="R1f5307e364f441da"/></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Type="http://schemas.openxmlformats.org/officeDocument/2006/relationships/theme" Target="theme/theme1.xml" Id="R4ab4e1e5e99d4c78"/><Relationship Type="http://schemas.openxmlformats.org/officeDocument/2006/relationships/slideLayout" Target="../slideLayouts/slideLayout2.xml" Id="R0617795e8ae14af5"/></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17795e8ae14af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1.xml"/><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2.xml" Id="R71a1dbacb7a54e5f"/><Relationship Type="http://schemas.openxmlformats.org/officeDocument/2006/relationships/chart" Target="charts/chart1.xml" Id="R2d3983aadb1e40c8"/><Relationship Type="http://schemas.openxmlformats.org/officeDocument/2006/relationships/notesSlide" Target="../notesSlides/notesSlide2.xml" Id="Rcf8b9a47d7f14058"/></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2.xml" Id="R7c3026859ba443bb"/><Relationship Type="http://schemas.openxmlformats.org/officeDocument/2006/relationships/notesSlide" Target="../notesSlides/notesSlide3.xml" Id="Re89f3c5ca35348ff"/></Relationships>
</file>

<file path=ppt/slides/_rels/slide31.xml.rels><?xml version='1.0' encoding='UTF-8' standalone='yes'?>
<Relationships xmlns="http://schemas.openxmlformats.org/package/2006/relationships"><Relationship Type="http://schemas.openxmlformats.org/officeDocument/2006/relationships/slideLayout" Target="../slideLayouts/slideLayout2.xml" Id="R13608106369b42c6"/><Relationship Type="http://schemas.openxmlformats.org/officeDocument/2006/relationships/chart" Target="charts/chart2.xml" Id="R1f456c8439d140bd"/><Relationship Type="http://schemas.openxmlformats.org/officeDocument/2006/relationships/notesSlide" Target="../notesSlides/notesSlide4.xml" Id="Rac29f6def3534c73"/></Relationships>
</file>

<file path=ppt/slides/_rels/slide32.xml.rels><?xml version='1.0' encoding='UTF-8' standalone='yes'?>
<Relationships xmlns="http://schemas.openxmlformats.org/package/2006/relationships"><Relationship Type="http://schemas.openxmlformats.org/officeDocument/2006/relationships/slideLayout" Target="../slideLayouts/slideLayout2.xml" Id="R407dba145c634208"/><Relationship Type="http://schemas.openxmlformats.org/officeDocument/2006/relationships/notesSlide" Target="../notesSlides/notesSlide5.xml" Id="Rf9368bba123946a8"/></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2.xml" Id="Rdce0f7d46a2b468e"/><Relationship Type="http://schemas.openxmlformats.org/officeDocument/2006/relationships/notesSlide" Target="../notesSlides/notesSlide6.xml" Id="Re1b9f01b07a448bd"/></Relationships>
</file>

<file path=ppt/slides/_rels/slide34.xml.rels><?xml version='1.0' encoding='UTF-8' standalone='yes'?>
<Relationships xmlns="http://schemas.openxmlformats.org/package/2006/relationships"><Relationship Type="http://schemas.openxmlformats.org/officeDocument/2006/relationships/slideLayout" Target="../slideLayouts/slideLayout2.xml" Id="R1bf44de090b9466f"/><Relationship Type="http://schemas.openxmlformats.org/officeDocument/2006/relationships/notesSlide" Target="../notesSlides/notesSlide7.xml" Id="R464821e5cf534a82"/></Relationships>
</file>

<file path=ppt/slides/_rels/slide35.xml.rels><?xml version='1.0' encoding='UTF-8' standalone='yes'?>
<Relationships xmlns="http://schemas.openxmlformats.org/package/2006/relationships"><Relationship Type="http://schemas.openxmlformats.org/officeDocument/2006/relationships/slideLayout" Target="../slideLayouts/slideLayout2.xml" Id="R0b99510903634b5c"/><Relationship Type="http://schemas.openxmlformats.org/officeDocument/2006/relationships/notesSlide" Target="../notesSlides/notesSlide8.xml" Id="R16cb60eddca44a33"/></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개선안 v5_i4</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endParaRPr sz="1600" b="1">
              <a:solidFill>
                <a:schemeClr val="accent1"/>
              </a:solidFill>
            </a:endParaRP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9"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
    <p:bg>
      <p:bgPr shadeToTitle="0">
        <a:solidFill>
          <a:schemeClr val="bg1"/>
        </a:solidFill>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42"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02</a:t>
            </a: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endParaRPr lang="en-US" sz="1100">
              <a:solidFill>
                <a:schemeClr val="tx1"/>
              </a:solidFill>
            </a:endParaRPr>
          </a:p>
          <a:p>
            <a:pPr marL="342900" lvl="0" indent="-342900">
              <a:spcAft>
                <a:spcPts val="400"/>
              </a:spcAft>
              <a:buSzPct val="100000"/>
              <a:buChar char="•"/>
              <a:defRPr/>
            </a:pPr>
            <a:r>
              <a:rPr lang="en-US" sz="1100">
                <a:solidFill>
                  <a:schemeClr val="tx1"/>
                </a:solidFill>
              </a:rPr>
              <a:t>관리자 FAQ 모니터링 구현</a:t>
            </a:r>
            <a:endParaRPr lang="en-US" sz="1100">
              <a:solidFill>
                <a:schemeClr val="tx1"/>
              </a:solidFill>
            </a:endParaRP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DB 총괄</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미응답 질문 묶기·FAQ 등록 후 자동 재검증 구현</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Outbox 기반 미응답 비동기 저장 구현</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백엔드·프론트 보안 고도화</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p:txBody>
      </p:sp>
      <p:sp>
        <p:nvSpPr>
          <p:cNvPr id="34" name="임진우 역할"/>
          <p:cNvSpPr txBox="1"/>
          <p:nvPr/>
        </p:nvSpPr>
        <p:spPr>
          <a:xfrm>
            <a:off x="7155180" y="3122928"/>
            <a:ext cx="2577465" cy="1216152"/>
          </a:xfrm>
          <a:prstGeom prst="rect">
            <a:avLst/>
          </a:prstGeom>
          <a:noFill/>
          <a:ln/>
        </p:spPr>
        <p:txBody>
          <a:bodyPr wrap="square" lIns="0" tIns="0" rIns="0" bIns="0" anchor="t"/>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rPr>
              <a:t>비동기 AI 채팅 및 장애 복구 시스템 구현</a:t>
            </a:r>
            <a:endPar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rPr>
              <a:t>LLM·Embedding 모델 서빙 환경 구축 및 성능 최적화</a:t>
            </a:r>
            <a:endPar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rPr>
              <a:t>서비스 운영 모니터링 및 AWS CI/CD </a:t>
            </a:r>
            <a:br>
              <a:rPr xmlns:mc="http://schemas.openxmlformats.org/markup-compatibility/2006" xmlns:hp="http://schemas.haansoft.com/office/presentation/8.0" kumimoji="0" lang="ko-KR" altLang="en-US" sz="1000" b="0" i="0" u="none" strike="noStrike" kern="1200" cap="none" spc="0" normalizeH="0" baseline="0" mc:Ignorable="hp" hp:hslEmbossed="0">
                <a:solidFill>
                  <a:srgbClr val="17171a"/>
                </a:solidFill>
                <a:latin typeface="맑은 고딕"/>
                <a:ea typeface="맑은 고딕"/>
                <a:cs typeface="맑은 고딕"/>
              </a:rPr>
            </a:br>
            <a:r>
              <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rPr>
              <a:t>자동화 구축</a:t>
            </a:r>
            <a:endPar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rPr>
              <a:t>상담사 연결, 메시지 유사도 검사 및 </a:t>
            </a:r>
            <a:br>
              <a:rPr xmlns:mc="http://schemas.openxmlformats.org/markup-compatibility/2006" xmlns:hp="http://schemas.haansoft.com/office/presentation/8.0" kumimoji="0" lang="ko-KR" altLang="en-US" sz="1000" b="0" i="0" u="none" strike="noStrike" kern="1200" cap="none" spc="0" normalizeH="0" baseline="0" mc:Ignorable="hp" hp:hslEmbossed="0">
                <a:solidFill>
                  <a:srgbClr val="17171a"/>
                </a:solidFill>
                <a:latin typeface="맑은 고딕"/>
                <a:ea typeface="맑은 고딕"/>
                <a:cs typeface="맑은 고딕"/>
              </a:rPr>
            </a:br>
            <a:r>
              <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rPr>
              <a:t>상담 이력 관리 시스템 구현</a:t>
            </a:r>
            <a:endParaRPr xmlns:mc="http://schemas.openxmlformats.org/markup-compatibility/2006" xmlns:hp="http://schemas.haansoft.com/office/presentation/8.0" kumimoji="0" lang="en-US" sz="1000" b="0" i="0" u="none" strike="noStrike" kern="1200" cap="none" spc="0" normalizeH="0" baseline="0" mc:Ignorable="hp" hp:hslEmbossed="0">
              <a:solidFill>
                <a:srgbClr val="17171a"/>
              </a:solidFill>
              <a:latin typeface="맑은 고딕"/>
              <a:ea typeface="맑은 고딕"/>
              <a:cs typeface="맑은 고딕"/>
            </a:endParaRPr>
          </a:p>
        </p:txBody>
      </p:sp>
      <p:sp>
        <p:nvSpPr>
          <p:cNvPr id="35" name="임진우 역할"/>
          <p:cNvSpPr txBox="1"/>
          <p:nvPr/>
        </p:nvSpPr>
        <p:spPr>
          <a:xfrm>
            <a:off x="10327006" y="3122928"/>
            <a:ext cx="2577465" cy="1216152"/>
          </a:xfrm>
          <a:prstGeom prst="rect">
            <a:avLst/>
          </a:prstGeom>
          <a:noFill/>
          <a:ln/>
        </p:spPr>
        <p:txBody>
          <a:bodyPr wrap="square" lIns="0" tIns="0" rIns="0" bIns="0" anchor="t"/>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임베딩 모델 선정</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챗봇 임계값 선정</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의도 별 재답변 구현</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공지/오류 배너 및 목록 조회, 관리</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a:p>
            <a:pPr marL="342900" lvl="0" indent="-342900" algn="l" defTabSz="914400" rtl="0" eaLnBrk="1" latinLnBrk="0" hangingPunct="1">
              <a:lnSpc>
                <a:spcPct val="100000"/>
              </a:lnSpc>
              <a:spcBef>
                <a:spcPts val="0"/>
              </a:spcBef>
              <a:spcAft>
                <a:spcPts val="400"/>
              </a:spcAft>
              <a:buSzPct val="100000"/>
              <a:buChar char="•"/>
              <a:defRPr/>
            </a:pPr>
            <a:r>
              <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rPr>
              <a:t>사용자 알림 구현</a:t>
            </a:r>
            <a:endParaRPr xmlns:mc="http://schemas.openxmlformats.org/markup-compatibility/2006" xmlns:hp="http://schemas.haansoft.com/office/presentation/8.0" kumimoji="0" lang="en-US" sz="1100" b="0" i="0" u="none" strike="noStrike" kern="1200" cap="none" spc="0" normalizeH="0" baseline="0" mc:Ignorable="hp" hp:hslEmbossed="0">
              <a:solidFill>
                <a:srgbClr val="17171a"/>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endParaRPr lang="en-US" altLang="ko-KR" sz="1600" b="1">
              <a:solidFill>
                <a:schemeClr val="accent1"/>
              </a:solidFill>
            </a:endParaRP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9"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54"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04</a:t>
            </a: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endParaRPr sz="1800" b="1">
              <a:solidFill>
                <a:schemeClr val="tx1"/>
              </a:solidFill>
            </a:endParaRP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endParaRPr sz="1800" b="1">
              <a:solidFill>
                <a:schemeClr val="tx1"/>
              </a:solidFill>
            </a:endParaRP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endParaRPr sz="1800" b="1">
              <a:solidFill>
                <a:schemeClr val="tx1"/>
              </a:solidFill>
            </a:endParaRP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endParaRPr sz="1800" b="1">
              <a:solidFill>
                <a:schemeClr val="tx1"/>
              </a:solidFill>
            </a:endParaRP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endParaRPr sz="1200" b="1">
              <a:solidFill>
                <a:schemeClr val="accent1"/>
              </a:solidFill>
            </a:endParaRP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endParaRPr sz="1200" b="1">
              <a:solidFill>
                <a:schemeClr val="accent1"/>
              </a:solidFill>
            </a:endParaRP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endParaRPr sz="1200" b="1">
              <a:solidFill>
                <a:schemeClr val="accent1"/>
              </a:solidFill>
            </a:endParaRP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endParaRPr sz="1600" b="1">
              <a:solidFill>
                <a:schemeClr val="accent1"/>
              </a:solidFill>
            </a:endParaRP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endParaRPr sz="1000" b="1">
              <a:solidFill>
                <a:schemeClr val="bg1"/>
              </a:solidFill>
            </a:endParaRP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endParaRPr sz="1000" b="1">
              <a:solidFill>
                <a:schemeClr val="bg1"/>
              </a:solidFill>
            </a:endParaRP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endParaRPr sz="1600" b="1">
              <a:solidFill>
                <a:schemeClr val="accent1"/>
              </a:solidFill>
            </a:endParaRP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endParaRPr sz="1200" b="1">
              <a:solidFill>
                <a:schemeClr val="bg1"/>
              </a:solidFill>
            </a:endParaRP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endParaRPr sz="1200" b="1">
              <a:solidFill>
                <a:schemeClr val="bg1"/>
              </a:solidFill>
            </a:endParaRP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endParaRPr sz="1200" b="1">
              <a:solidFill>
                <a:schemeClr val="bg1"/>
              </a:solidFill>
            </a:endParaRP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endParaRPr sz="1200" b="1">
              <a:solidFill>
                <a:schemeClr val="bg1"/>
              </a:solidFill>
            </a:endParaRP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endParaRPr sz="1600" b="1">
              <a:solidFill>
                <a:schemeClr val="accent1"/>
              </a:solidFill>
            </a:endParaRP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endParaRPr sz="1200" b="1">
              <a:solidFill>
                <a:schemeClr val="bg1"/>
              </a:solidFill>
            </a:endParaRP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endParaRPr sz="1200" b="1">
              <a:solidFill>
                <a:schemeClr val="bg1"/>
              </a:solidFill>
            </a:endParaRP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endParaRPr sz="1200" b="1">
              <a:solidFill>
                <a:schemeClr val="bg1"/>
              </a:solidFill>
            </a:endParaRP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endParaRPr sz="1200" b="1">
              <a:solidFill>
                <a:schemeClr val="bg1"/>
              </a:solidFill>
            </a:endParaRP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endParaRPr sz="1600" b="1">
              <a:solidFill>
                <a:schemeClr val="accent1"/>
              </a:solidFill>
            </a:endParaRP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endParaRPr sz="1200" b="1">
              <a:solidFill>
                <a:schemeClr val="bg1"/>
              </a:solidFill>
            </a:endParaRP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endParaRPr sz="1200" b="1">
              <a:solidFill>
                <a:schemeClr val="bg1"/>
              </a:solidFill>
            </a:endParaRP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endParaRPr sz="1200" b="1">
              <a:solidFill>
                <a:schemeClr val="bg1"/>
              </a:solidFill>
            </a:endParaRP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endParaRPr sz="1600" b="1">
              <a:solidFill>
                <a:schemeClr val="accent1"/>
              </a:solidFill>
            </a:endParaRP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endParaRPr sz="1200" b="1">
              <a:solidFill>
                <a:schemeClr val="bg1"/>
              </a:solidFill>
            </a:endParaRP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endParaRPr sz="1200" b="1">
              <a:solidFill>
                <a:schemeClr val="bg1"/>
              </a:solidFill>
            </a:endParaRP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endParaRPr sz="1000" b="1">
              <a:solidFill>
                <a:schemeClr val="bg1"/>
              </a:solidFill>
            </a:endParaRPr>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endParaRPr lang="en-US" altLang="ko-KR" sz="1600" b="1">
              <a:solidFill>
                <a:schemeClr val="accent1"/>
              </a:solidFill>
            </a:endParaRP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9"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15</a:t>
            </a: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anchor="ctr" lIns="0" rIns="0" tIns="0" bIns="0">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anchor="t" lIns="0" rIns="0" tIns="0" bIns="0">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anchor="ctr" lIns="0" rIns="0" tIns="0" bIns="0">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anchor="t" lIns="0" rIns="0" tIns="0" bIns="0">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anchor="ctr" lIns="0" rIns="0" tIns="0" bIns="0">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anchor="t" lIns="0" rIns="0" tIns="0" bIns="0">
            <a:spAutoFit/>
          </a:bodyPr>
          <a:lstStyle/>
          <a:p>
            <a:pPr algn="l"/>
            <a:r>
              <a:rPr sz="1300" b="0">
                <a:solidFill>
                  <a:schemeClr val="tx1"/>
                </a:solidFill>
              </a:rPr>
              <a:t>맥락 유지, 답변 상태 안내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16</a:t>
            </a: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endParaRPr sz="1400" b="1">
              <a:solidFill>
                <a:schemeClr val="bg1"/>
              </a:solidFill>
            </a:endParaRP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endParaRPr sz="1400" b="1">
              <a:solidFill>
                <a:schemeClr val="bg1"/>
              </a:solidFill>
            </a:endParaRP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endParaRPr sz="1400" b="1">
              <a:solidFill>
                <a:schemeClr val="bg1"/>
              </a:solidFill>
            </a:endParaRP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endParaRPr sz="1400" b="1">
              <a:solidFill>
                <a:schemeClr val="bg1"/>
              </a:solidFill>
            </a:endParaRP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anchor="ctr" lIns="0" rIns="0" tIns="0" bIns="0">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anchor="t" lIns="0" rIns="0" tIns="0" bIns="0">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anchor="ctr" lIns="0" rIns="0" tIns="0" bIns="0">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anchor="t" lIns="0" rIns="0" tIns="0" bIns="0">
            <a:spAutoFit/>
          </a:bodyPr>
          <a:lstStyle/>
          <a:p>
            <a:pPr algn="l"/>
            <a:r>
              <a:rPr sz="1300" b="0">
                <a:solidFill>
                  <a:schemeClr val="tx1"/>
                </a:solidFill>
              </a:rPr>
              <a:t>이전 대화 맥락을 반영한 후속 질문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17</a:t>
            </a: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anchor="ctr" lIns="0" rIns="0" tIns="0" bIns="0">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anchor="t" lIns="0" rIns="0" tIns="0" bIns="0">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anchor="ctr" lIns="0" rIns="0" tIns="0" bIns="0">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anchor="t" lIns="0" rIns="0" tIns="0" bIns="0">
            <a:spAutoFit/>
          </a:bodyPr>
          <a:lstStyle/>
          <a:p>
            <a:pPr algn="l"/>
            <a:r>
              <a:rPr sz="1300" b="0">
                <a:solidFill>
                  <a:schemeClr val="tx1"/>
                </a:solidFill>
              </a:rPr>
              <a:t>형식 오류·내부 정보 노출 차단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20</a:t>
            </a: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30000" rIns="230000" tIns="0" bIns="0"/>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anchor="ctr" lIns="0" rIns="0" tIns="0" bIns="0">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anchor="t" lIns="0" rIns="0" tIns="0" bIns="0">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anchor="ctr" lIns="0" rIns="0" tIns="0" bIns="0">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anchor="t" lIns="0" rIns="0" tIns="0" bIns="0">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anchor="ctr" lIns="0" rIns="0" tIns="0" bIns="0">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anchor="t" lIns="0" rIns="0" tIns="0" bIns="0">
            <a:spAutoFit/>
          </a:bodyPr>
          <a:lstStyle/>
          <a:p>
            <a:pPr algn="l"/>
            <a:r>
              <a:rPr sz="1300" b="0">
                <a:solidFill>
                  <a:schemeClr val="tx1"/>
                </a:solidFill>
              </a:rPr>
              <a:t>내 지역(IP 기반) 급상승 TOP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21</a:t>
            </a: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endParaRPr sz="1400" b="1">
              <a:solidFill>
                <a:schemeClr val="bg1"/>
              </a:solidFill>
            </a:endParaRP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endParaRPr sz="1400" b="1">
              <a:solidFill>
                <a:schemeClr val="bg1"/>
              </a:solidFill>
            </a:endParaRP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endParaRPr sz="1400" b="1">
              <a:solidFill>
                <a:schemeClr val="bg1"/>
              </a:solidFill>
            </a:endParaRP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endParaRPr sz="1400" b="1">
              <a:solidFill>
                <a:schemeClr val="bg1"/>
              </a:solidFill>
            </a:endParaRP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anchor="ctr" lIns="0" rIns="0" tIns="0" bIns="0">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anchor="t" lIns="0" rIns="0" tIns="0" bIns="0">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anchor="ctr" lIns="0" rIns="0" tIns="0" bIns="0">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anchor="t" lIns="0" rIns="0" tIns="0" bIns="0">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anchor="ctr" lIns="0" rIns="0" tIns="0" bIns="0">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anchor="t" lIns="0" rIns="0" tIns="0" bIns="0">
            <a:spAutoFit/>
          </a:bodyPr>
          <a:lstStyle/>
          <a:p>
            <a:pPr algn="l"/>
            <a:r>
              <a:rPr sz="1300" b="0">
                <a:solidFill>
                  <a:schemeClr val="tx1"/>
                </a:solidFill>
              </a:rPr>
              <a:t>상품 가입·해지·결합 처리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22</a:t>
            </a: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anchor="ctr" lIns="0" rIns="0" tIns="0" bIns="0">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anchor="t" lIns="0" rIns="0" tIns="0" bIns="0">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anchor="ctr" lIns="0" rIns="0" tIns="0" bIns="0">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anchor="t" lIns="0" rIns="0" tIns="0" bIns="0">
            <a:spAutoFit/>
          </a:bodyPr>
          <a:lstStyle/>
          <a:p>
            <a:pPr algn="l"/>
            <a:r>
              <a:rPr sz="1300" b="0">
                <a:solidFill>
                  <a:schemeClr val="tx1"/>
                </a:solidFill>
              </a:rPr>
              <a:t>챗봇에서 상담사로 연결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endParaRPr sz="1300" b="1">
              <a:solidFill>
                <a:schemeClr val="accent1"/>
              </a:solidFill>
            </a:endParaRP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endParaRPr sz="3400" b="1">
              <a:solidFill>
                <a:schemeClr val="tx2"/>
              </a:solidFill>
            </a:endParaRP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endParaRPr sz="1500" b="0">
              <a:solidFill>
                <a:schemeClr val="accent3"/>
              </a:solidFill>
            </a:endParaRP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8"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23</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endParaRPr sz="1500" b="1">
              <a:solidFill>
                <a:schemeClr val="bg1"/>
              </a:solidFill>
            </a:endParaRP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endParaRPr sz="2000" b="1">
              <a:solidFill>
                <a:schemeClr val="tx2"/>
              </a:solidFill>
            </a:endParaRP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endParaRPr sz="1200" b="0">
              <a:solidFill>
                <a:schemeClr val="tx1"/>
              </a:solidFill>
            </a:endParaRPr>
          </a:p>
          <a:p>
            <a:pPr marL="200000" lvl="0" indent="-200000" algn="l">
              <a:spcAft>
                <a:spcPts val="600"/>
              </a:spcAft>
              <a:buChar char="•"/>
              <a:defRPr/>
            </a:pPr>
            <a:r>
              <a:rPr sz="1200" b="0">
                <a:solidFill>
                  <a:schemeClr val="tx1"/>
                </a:solidFill>
              </a:rPr>
              <a:t>의도별(사용자·매장·상품 데이터)로 필터</a:t>
            </a:r>
            <a:endParaRPr sz="1200" b="0">
              <a:solidFill>
                <a:schemeClr val="tx1"/>
              </a:solidFill>
            </a:endParaRP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endParaRPr sz="1500" b="1">
              <a:solidFill>
                <a:schemeClr val="bg1"/>
              </a:solidFill>
            </a:endParaRP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endParaRPr sz="2000" b="1">
              <a:solidFill>
                <a:schemeClr val="tx2"/>
              </a:solidFill>
            </a:endParaRP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endParaRPr sz="1200" b="0">
              <a:solidFill>
                <a:schemeClr val="tx1"/>
              </a:solidFill>
            </a:endParaRPr>
          </a:p>
          <a:p>
            <a:pPr marL="200000" lvl="0" indent="-200000" algn="l">
              <a:spcAft>
                <a:spcPts val="600"/>
              </a:spcAft>
              <a:buChar char="•"/>
              <a:defRPr/>
            </a:pPr>
            <a:r>
              <a:rPr sz="1200" b="0">
                <a:solidFill>
                  <a:schemeClr val="tx1"/>
                </a:solidFill>
              </a:rPr>
              <a:t>전체 FAQ 평균 값을 함께 표시</a:t>
            </a:r>
            <a:endParaRPr sz="1200" b="0">
              <a:solidFill>
                <a:schemeClr val="tx1"/>
              </a:solidFill>
            </a:endParaRP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endParaRPr sz="1500" b="1">
              <a:solidFill>
                <a:schemeClr val="bg1"/>
              </a:solidFill>
            </a:endParaRP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endParaRPr sz="2000" b="1">
              <a:solidFill>
                <a:schemeClr val="tx2"/>
              </a:solidFill>
            </a:endParaRP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endParaRPr sz="1200" b="0">
              <a:solidFill>
                <a:schemeClr val="tx1"/>
              </a:solidFill>
            </a:endParaRPr>
          </a:p>
          <a:p>
            <a:pPr marL="200000" lvl="0" indent="-200000" algn="l">
              <a:spcAft>
                <a:spcPts val="600"/>
              </a:spcAft>
              <a:buChar char="•"/>
              <a:defRPr/>
            </a:pPr>
            <a:r>
              <a:rPr sz="1200" b="0">
                <a:solidFill>
                  <a:schemeClr val="tx1"/>
                </a:solidFill>
              </a:rPr>
              <a:t>함께 등장한 FAQ Top 5 확인</a:t>
            </a:r>
            <a:endParaRPr sz="1200" b="0">
              <a:solidFill>
                <a:schemeClr val="tx1"/>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8000000" cy="300000"/>
          </a:xfrm>
          <a:prstGeom prst="rect">
            <a:avLst/>
          </a:prstGeom>
          <a:noFill/>
        </p:spPr>
        <p:txBody>
          <a:bodyPr wrap="square" anchor="ctr" lIns="0" rIns="0" tIns="0" bIns="0">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24</a:t>
            </a: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anchor="ctr" lIns="0" rIns="0" tIns="0" bIns="0">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anchor="t" lIns="0" rIns="0" tIns="0" bIns="0">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anchor="ctr" lIns="0" rIns="0" tIns="0" bIns="0">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anchor="t" lIns="0" rIns="0" tIns="0" bIns="0">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anchor="ctr" lIns="0" rIns="0" tIns="0" bIns="0">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anchor="t" lIns="0" rIns="0" tIns="0" bIns="0">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anchor="ctr" lIns="0" rIns="0" tIns="0" bIns="0">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anchor="t" lIns="0" rIns="0" tIns="0" bIns="0">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8000000" cy="300000"/>
          </a:xfrm>
          <a:prstGeom prst="rect">
            <a:avLst/>
          </a:prstGeom>
          <a:noFill/>
        </p:spPr>
        <p:txBody>
          <a:bodyPr wrap="square" anchor="ctr" lIns="0" rIns="0" tIns="0" bIns="0">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25</a:t>
            </a: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검토 결과 설명"/>
          <p:cNvSpPr txBox="1"/>
          <p:nvPr/>
        </p:nvSpPr>
        <p:spPr>
          <a:xfrm>
            <a:off x="2103983" y="6180000"/>
            <a:ext cx="4968220" cy="760000"/>
          </a:xfrm>
          <a:prstGeom prst="rect">
            <a:avLst/>
          </a:prstGeom>
          <a:noFill/>
        </p:spPr>
        <p:txBody>
          <a:bodyPr wrap="square" anchor="t" lIns="0" rIns="0" tIns="0" bIns="0">
            <a:spAutoFit/>
          </a:bodyPr>
          <a:lstStyle/>
          <a:p>
            <a:pPr algn="l" marL="200000" indent="-200000">
              <a:spcAft>
                <a:spcPts val="400"/>
              </a:spcAft>
              <a:buChar char="•"/>
            </a:pPr>
            <a:r>
              <a:rPr sz="1250" b="0">
                <a:solidFill>
                  <a:schemeClr val="tx1"/>
                </a:solidFill>
              </a:rPr>
              <a:t>대상 FAQ의 질문·답변과 의심 태그 표시</a:t>
            </a:r>
          </a:p>
          <a:p>
            <a:pPr algn="l" marL="200000" indent="-200000">
              <a:spcAft>
                <a:spcPts val="400"/>
              </a:spcAft>
              <a:buChar char="•"/>
            </a:pPr>
            <a:r>
              <a:rPr sz="1250" b="0">
                <a:solidFill>
                  <a:schemeClr val="tx1"/>
                </a:solidFill>
              </a:rPr>
              <a:t>후보 FAQ별 중복/별개 판정과 권고사항 제시</a:t>
            </a:r>
          </a:p>
          <a:p>
            <a:pPr algn="l" marL="200000" indent="-200000">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anchor="t" lIns="0" rIns="0" tIns="0" bIns="0">
            <a:spAutoFit/>
          </a:bodyPr>
          <a:lstStyle/>
          <a:p>
            <a:pPr algn="l" marL="200000" indent="-200000">
              <a:spcAft>
                <a:spcPts val="400"/>
              </a:spcAft>
              <a:buChar char="•"/>
            </a:pPr>
            <a:r>
              <a:rPr sz="1250" b="0">
                <a:solidFill>
                  <a:schemeClr val="tx1"/>
                </a:solidFill>
              </a:rPr>
              <a:t>후보 FAQ의 질문·답변 확인</a:t>
            </a:r>
          </a:p>
          <a:p>
            <a:pPr algn="l" marL="200000" indent="-200000">
              <a:spcAft>
                <a:spcPts val="400"/>
              </a:spcAft>
              <a:buChar char="•"/>
            </a:pPr>
            <a:r>
              <a:rPr sz="1250" b="0">
                <a:solidFill>
                  <a:schemeClr val="tx1"/>
                </a:solidFill>
              </a:rPr>
              <a:t>함께 검색된 유저 질문으로 근거 확인</a:t>
            </a:r>
          </a:p>
          <a:p>
            <a:pPr algn="l" marL="200000" indent="-200000">
              <a:spcAft>
                <a:spcPts val="400"/>
              </a:spcAft>
              <a:buChar char="•"/>
            </a:pPr>
            <a:r>
              <a:rPr sz="1250" b="0">
                <a:solidFill>
                  <a:schemeClr val="tx1"/>
                </a:solidFill>
              </a:rPr>
              <a:t>판정 결과와 판단 근거 제시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8000000" cy="300000"/>
          </a:xfrm>
          <a:prstGeom prst="rect">
            <a:avLst/>
          </a:prstGeom>
          <a:noFill/>
        </p:spPr>
        <p:txBody>
          <a:bodyPr wrap="square" anchor="ctr" lIns="0" rIns="0" tIns="0" bIns="0">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27</a:t>
            </a: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anchor="ctr" lIns="0" rIns="0" tIns="0" bIns="0">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anchor="t" lIns="0" rIns="0" tIns="0" bIns="0">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anchor="ctr" lIns="0" rIns="0" tIns="0" bIns="0">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anchor="t" lIns="0" rIns="0" tIns="0" bIns="0">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anchor="ctr" lIns="0" rIns="0" tIns="0" bIns="0">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anchor="t" lIns="0" rIns="0" tIns="0" bIns="0">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anchor="ctr" lIns="0" rIns="0" tIns="0" bIns="0">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anchor="t" lIns="0" rIns="0" tIns="0" bIns="0">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endParaRPr sz="1300" b="1">
              <a:solidFill>
                <a:schemeClr val="accent1"/>
              </a:solidFill>
            </a:endParaRP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endParaRPr sz="3400" b="1">
              <a:solidFill>
                <a:schemeClr val="tx2"/>
              </a:solidFill>
            </a:endParaRP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endParaRPr sz="1500" b="0">
              <a:solidFill>
                <a:schemeClr val="accent3"/>
              </a:solidFill>
            </a:endParaRP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8"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endParaRPr sz="1200" b="1">
              <a:solidFill>
                <a:schemeClr val="accent3"/>
              </a:solidFill>
            </a:endParaRP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endParaRPr sz="1200" b="1">
              <a:solidFill>
                <a:schemeClr val="accent3"/>
              </a:solidFill>
            </a:endParaRP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endParaRPr sz="1200" b="1">
              <a:solidFill>
                <a:schemeClr val="bg1"/>
              </a:solidFill>
            </a:endParaRP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endParaRPr sz="1200" b="1">
              <a:solidFill>
                <a:schemeClr val="bg1"/>
              </a:solidFill>
            </a:endParaRP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endParaRPr sz="1400" b="1">
              <a:solidFill>
                <a:schemeClr val="bg1"/>
              </a:solidFill>
            </a:endParaRP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endParaRPr sz="1400" b="1">
              <a:solidFill>
                <a:schemeClr val="bg1"/>
              </a:solidFill>
            </a:endParaRP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endParaRPr sz="1200" b="0">
              <a:solidFill>
                <a:schemeClr val="tx1"/>
              </a:solidFill>
            </a:endParaRPr>
          </a:p>
          <a:p>
            <a:pPr marL="200000" lvl="0" indent="-200000" algn="l">
              <a:spcAft>
                <a:spcPts val="300"/>
              </a:spcAft>
              <a:buChar char="•"/>
              <a:defRPr/>
            </a:pPr>
            <a:r>
              <a:rPr sz="1200" b="0">
                <a:solidFill>
                  <a:schemeClr val="tx1"/>
                </a:solidFill>
              </a:rPr>
              <a:t>FAQ로 등록 · 보류 · 반려 중 선택</a:t>
            </a:r>
            <a:endParaRPr sz="1200" b="0">
              <a:solidFill>
                <a:schemeClr val="tx1"/>
              </a:solidFill>
            </a:endParaRP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endParaRPr sz="1400" b="1">
              <a:solidFill>
                <a:schemeClr val="bg1"/>
              </a:solidFill>
            </a:endParaRP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endParaRPr sz="1400" b="1">
              <a:solidFill>
                <a:schemeClr val="bg1"/>
              </a:solidFill>
            </a:endParaRP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endParaRPr sz="1200" b="0">
              <a:solidFill>
                <a:schemeClr val="tx1"/>
              </a:solidFill>
            </a:endParaRPr>
          </a:p>
          <a:p>
            <a:pPr marL="200000" lvl="0" indent="-200000" algn="l">
              <a:spcAft>
                <a:spcPts val="300"/>
              </a:spcAft>
              <a:buChar char="•"/>
              <a:defRPr/>
            </a:pPr>
            <a:r>
              <a:rPr sz="1200" b="0">
                <a:solidFill>
                  <a:schemeClr val="tx1"/>
                </a:solidFill>
              </a:rPr>
              <a:t>답변 캐시 허용 여부 선택</a:t>
            </a:r>
            <a:endParaRPr sz="1200" b="0">
              <a:solidFill>
                <a:schemeClr val="tx1"/>
              </a:solidFill>
            </a:endParaRP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endParaRPr sz="1400" b="1">
              <a:solidFill>
                <a:schemeClr val="bg1"/>
              </a:solidFill>
            </a:endParaRP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endParaRPr sz="1400" b="1">
              <a:solidFill>
                <a:schemeClr val="bg1"/>
              </a:solidFill>
            </a:endParaRP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endParaRPr lang="ko-KR" altLang="en-US" sz="1200" b="0">
              <a:solidFill>
                <a:schemeClr val="tx1"/>
              </a:solidFill>
            </a:endParaRPr>
          </a:p>
          <a:p>
            <a:pPr marL="200000" lvl="0" indent="-200000" algn="l">
              <a:spcAft>
                <a:spcPts val="300"/>
              </a:spcAft>
              <a:buChar char="•"/>
              <a:defRPr/>
            </a:pPr>
            <a:r>
              <a:rPr sz="1200" b="0">
                <a:solidFill>
                  <a:schemeClr val="tx1"/>
                </a:solidFill>
              </a:rPr>
              <a:t>표현은 삭제하거나 직접 추가 (최대 10개)</a:t>
            </a:r>
            <a:endParaRPr sz="1200" b="0">
              <a:solidFill>
                <a:schemeClr val="tx1"/>
              </a:solidFil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endParaRPr sz="1300" b="1">
              <a:solidFill>
                <a:schemeClr val="accent1"/>
              </a:solidFill>
            </a:endParaRP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endParaRPr sz="3400" b="1">
              <a:solidFill>
                <a:schemeClr val="tx2"/>
              </a:solidFill>
            </a:endParaRP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endParaRPr sz="1500" b="0">
              <a:solidFill>
                <a:schemeClr val="accent3"/>
              </a:solidFill>
            </a:endParaRP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8"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29</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endParaRPr sz="1200" b="1">
              <a:solidFill>
                <a:schemeClr val="bg1"/>
              </a:solidFill>
            </a:endParaRP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endParaRPr sz="1200" b="1">
              <a:solidFill>
                <a:schemeClr val="bg1"/>
              </a:solidFill>
            </a:endParaRP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endParaRPr sz="1200" b="1">
              <a:solidFill>
                <a:schemeClr val="bg1"/>
              </a:solidFill>
            </a:endParaRP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endParaRPr sz="1200" b="1">
              <a:solidFill>
                <a:schemeClr val="bg1"/>
              </a:solidFill>
            </a:endParaRP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endParaRPr sz="1400" b="1">
              <a:solidFill>
                <a:schemeClr val="bg1"/>
              </a:solidFill>
            </a:endParaRP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endParaRPr sz="1500" b="1">
              <a:solidFill>
                <a:schemeClr val="tx2"/>
              </a:solidFill>
            </a:endParaRP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endParaRPr sz="1200" b="0">
              <a:solidFill>
                <a:schemeClr val="tx1"/>
              </a:solidFill>
            </a:endParaRP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endParaRPr sz="1400" b="1">
              <a:solidFill>
                <a:schemeClr val="bg1"/>
              </a:solidFill>
            </a:endParaRP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endParaRPr sz="1500" b="1">
              <a:solidFill>
                <a:schemeClr val="tx2"/>
              </a:solidFill>
            </a:endParaRP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endParaRPr sz="1200" b="0">
              <a:solidFill>
                <a:schemeClr val="tx1"/>
              </a:solidFill>
            </a:endParaRP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endParaRPr sz="1400" b="1">
              <a:solidFill>
                <a:schemeClr val="bg1"/>
              </a:solidFill>
            </a:endParaRP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endParaRPr sz="1500" b="1">
              <a:solidFill>
                <a:schemeClr val="tx2"/>
              </a:solidFill>
            </a:endParaRP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endParaRPr sz="1200" b="0">
              <a:solidFill>
                <a:schemeClr val="tx1"/>
              </a:solidFill>
            </a:endParaRP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endParaRPr sz="1400" b="1">
              <a:solidFill>
                <a:schemeClr val="bg1"/>
              </a:solidFill>
            </a:endParaRP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endParaRPr sz="1500" b="1">
              <a:solidFill>
                <a:schemeClr val="tx2"/>
              </a:solidFill>
            </a:endParaRP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endParaRPr sz="1200" b="0">
              <a:solidFill>
                <a:schemeClr val="tx1"/>
              </a:solidFill>
            </a:endParaRP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accent3"/>
                </a:solidFill>
              </a:rPr>
              <a:t>공지 · 장애 등록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endParaRPr sz="1300" b="1">
              <a:solidFill>
                <a:schemeClr val="accent1"/>
              </a:solidFill>
            </a:endParaRP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endParaRPr sz="3400" b="1">
              <a:solidFill>
                <a:schemeClr val="tx2"/>
              </a:solidFill>
            </a:endParaRP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endParaRPr sz="1500" b="0">
              <a:solidFill>
                <a:schemeClr val="accent3"/>
              </a:solidFill>
            </a:endParaRP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8"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endParaRPr sz="1200" b="1">
              <a:solidFill>
                <a:schemeClr val="bg1"/>
              </a:solidFill>
            </a:endParaRP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endParaRPr sz="1200" b="1">
              <a:solidFill>
                <a:schemeClr val="bg1"/>
              </a:solidFill>
            </a:endParaRP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endParaRPr sz="1200" b="1">
              <a:solidFill>
                <a:schemeClr val="bg1"/>
              </a:solidFill>
            </a:endParaRP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endParaRPr sz="1200" b="1">
              <a:solidFill>
                <a:schemeClr val="bg1"/>
              </a:solidFill>
            </a:endParaRP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endParaRPr sz="1400" b="1">
              <a:solidFill>
                <a:schemeClr val="bg1"/>
              </a:solidFill>
            </a:endParaRP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endParaRPr lang="ko-KR" altLang="en-US" sz="1400" b="1">
              <a:solidFill>
                <a:schemeClr val="tx2"/>
              </a:solidFill>
            </a:endParaRP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endParaRPr lang="en-US" altLang="ko-KR" sz="1200" b="0">
              <a:solidFill>
                <a:schemeClr val="tx1"/>
              </a:solidFill>
            </a:endParaRP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endParaRPr sz="1400" b="1">
              <a:solidFill>
                <a:schemeClr val="bg1"/>
              </a:solidFill>
            </a:endParaRP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endParaRPr sz="1400" b="1">
              <a:solidFill>
                <a:schemeClr val="tx2"/>
              </a:solidFill>
            </a:endParaRP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endParaRPr sz="1200" b="0">
              <a:solidFill>
                <a:schemeClr val="tx1"/>
              </a:solidFill>
            </a:endParaRP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endParaRPr sz="1400" b="1">
              <a:solidFill>
                <a:schemeClr val="bg1"/>
              </a:solidFill>
            </a:endParaRP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endParaRPr sz="1400" b="1">
              <a:solidFill>
                <a:schemeClr val="tx2"/>
              </a:solidFill>
            </a:endParaRP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endParaRPr sz="1200" b="0">
              <a:solidFill>
                <a:schemeClr val="tx1"/>
              </a:solidFill>
            </a:endParaRP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endParaRPr sz="1400" b="1">
              <a:solidFill>
                <a:schemeClr val="bg1"/>
              </a:solidFill>
            </a:endParaRP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endParaRPr sz="1400" b="1">
              <a:solidFill>
                <a:schemeClr val="tx2"/>
              </a:solidFill>
            </a:endParaRP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endParaRPr sz="1200" b="0">
              <a:solidFill>
                <a:schemeClr val="tx1"/>
              </a:solidFill>
            </a:endParaRP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endParaRPr sz="1200" b="1">
              <a:solidFill>
                <a:schemeClr val="accent3"/>
              </a:solidFill>
            </a:endParaRP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endParaRPr sz="1200" b="1">
              <a:solidFill>
                <a:schemeClr val="bg1"/>
              </a:solidFill>
            </a:endParaRP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endParaRPr sz="1200" b="1">
              <a:solidFill>
                <a:schemeClr val="accent3"/>
              </a:solidFil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endParaRPr sz="1300" b="1">
              <a:solidFill>
                <a:schemeClr val="accent1"/>
              </a:solidFill>
            </a:endParaRP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endParaRPr sz="3400" b="1">
              <a:solidFill>
                <a:schemeClr val="tx2"/>
              </a:solidFill>
            </a:endParaRP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endParaRPr sz="1500" b="0">
              <a:solidFill>
                <a:schemeClr val="accent3"/>
              </a:solidFill>
            </a:endParaRP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endParaRPr sz="1300" b="1">
              <a:solidFill>
                <a:schemeClr val="accent3"/>
              </a:solidFill>
            </a:endParaRPr>
          </a:p>
        </p:txBody>
      </p:sp>
      <p:sp>
        <p:nvSpPr>
          <p:cNvPr id="8" name="페이지 번호"/>
          <p:cNvSpPr txBox="1"/>
          <p:nvPr/>
        </p:nvSpPr>
        <p:spPr>
          <a:xfrm>
            <a:off x="12380976" y="7104888"/>
            <a:ext cx="704088" cy="246888"/>
          </a:xfrm>
          <a:prstGeom prst="rect">
            <a:avLst/>
          </a:prstGeom>
          <a:noFill/>
        </p:spPr>
        <p:txBody>
          <a:bodyPr wrap="square" lIns="0" tIns="0" rIns="0" bIns="0" anchor="ctr">
            <a:spAutoFit/>
          </a:bodyPr>
          <a:lstStyle/>
          <a:p>
            <a:pPr lvl="0" algn="r">
              <a:defRPr/>
            </a:pPr>
            <a:r>
              <a:rP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00000" rIns="100000" tIns="0" bIns="0"/>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chemeClr val="bg1"/>
                </a:solidFill>
              </a:rPr>
              <a:t>공지 · 장애 등록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스케줄러</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05</a:t>
            </a: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6" y="3291840"/>
            <a:ext cx="1417320" cy="731520"/>
          </a:xfrm>
          <a:prstGeom prst="rect">
            <a:avLst/>
          </a:prstGeom>
          <a:noFill/>
        </p:spPr>
        <p:txBody>
          <a:bodyPr wrap="square" lIns="0" rIns="0" t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rIns="0" tIns="0" bIns="0" anchor="t">
            <a:spAutoFit/>
          </a:bodyPr>
          <a:lstStyle/>
          <a:p>
            <a:pPr algn="l"/>
            <a:r>
              <a:rPr sz="1400" b="1">
                <a:solidFill>
                  <a:srgbClr val="17171A"/>
                </a:solidFill>
              </a:rPr>
              <a:t>Nginx</a:t>
            </a:r>
          </a:p>
          <a:p>
            <a:pPr algn="l"/>
            <a:r>
              <a:rPr sz="1200" b="0">
                <a:solidFill>
                  <a:srgbClr val="686B72"/>
                </a:solidFill>
              </a:rPr>
              <a:t>React 정적 파일</a:t>
            </a:r>
          </a:p>
          <a:p>
            <a:pPr algn="l"/>
            <a:r>
              <a:rPr sz="800" b="0">
                <a:solidFill>
                  <a:srgbClr val="17171A"/>
                </a:solidFill>
              </a:rPr>
              <a:t/>
            </a:r>
          </a:p>
          <a:p>
            <a:pPr algn="l"/>
            <a:r>
              <a:rPr sz="1400" b="1">
                <a:solidFill>
                  <a:srgbClr val="17171A"/>
                </a:solidFill>
              </a:rPr>
              <a:t>CSP 적용</a:t>
            </a:r>
          </a:p>
          <a:p>
            <a:pPr algn="l"/>
            <a:r>
              <a:rPr sz="1200" b="0">
                <a:solidFill>
                  <a:srgbClr val="686B72"/>
                </a:solidFill>
              </a:rPr>
              <a:t>외부 스크립트 차단</a:t>
            </a:r>
          </a:p>
          <a:p>
            <a:pPr algn="l"/>
            <a:r>
              <a:rPr sz="800" b="0">
                <a:solidFill>
                  <a:srgbClr val="17171A"/>
                </a:solidFill>
              </a:rPr>
              <a:t/>
            </a: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rIns="0" t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95544" y="2862072"/>
            <a:ext cx="1508760" cy="1143000"/>
          </a:xfrm>
          <a:prstGeom prst="rect">
            <a:avLst/>
          </a:prstGeom>
          <a:noFill/>
        </p:spPr>
        <p:txBody>
          <a:bodyPr wrap="square" lIns="0" rIns="0" t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89520" y="2862072"/>
            <a:ext cx="1508760" cy="1143000"/>
          </a:xfrm>
          <a:prstGeom prst="rect">
            <a:avLst/>
          </a:prstGeom>
          <a:noFill/>
        </p:spPr>
        <p:txBody>
          <a:bodyPr wrap="square" lIns="0" rIns="0" t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95544" y="4325112"/>
            <a:ext cx="3566160" cy="731520"/>
          </a:xfrm>
          <a:prstGeom prst="rect">
            <a:avLst/>
          </a:prstGeom>
          <a:noFill/>
        </p:spPr>
        <p:txBody>
          <a:bodyPr wrap="square" lIns="0" rIns="0" t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rIns="0" t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rIns="0" t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rIns="0" t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3815" y="5733288"/>
            <a:ext cx="3602736" cy="685800"/>
          </a:xfrm>
          <a:prstGeom prst="rect">
            <a:avLst/>
          </a:prstGeom>
          <a:noFill/>
        </p:spPr>
        <p:txBody>
          <a:bodyPr wrap="square" lIns="0" rIns="0" t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056632" y="5733288"/>
            <a:ext cx="3602736" cy="685800"/>
          </a:xfrm>
          <a:prstGeom prst="rect">
            <a:avLst/>
          </a:prstGeom>
          <a:noFill/>
        </p:spPr>
        <p:txBody>
          <a:bodyPr wrap="square" lIns="0" rIns="0" t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299447" y="5733288"/>
            <a:ext cx="3602736" cy="685800"/>
          </a:xfrm>
          <a:prstGeom prst="rect">
            <a:avLst/>
          </a:prstGeom>
          <a:noFill/>
        </p:spPr>
        <p:txBody>
          <a:bodyPr wrap="square" lIns="0" rIns="0" t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06</a:t>
            </a: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rIns="0" t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rIns="0" t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rIns="0" t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rIns="0" t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rIns="0" t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rIns="0" t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rIns="0" t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rIns="0" t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rIns="0" t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rIns="0" t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rIns="0" t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rIns="0" t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22960" y="5852160"/>
            <a:ext cx="6675120" cy="777240"/>
          </a:xfrm>
          <a:prstGeom prst="rect">
            <a:avLst/>
          </a:prstGeom>
          <a:noFill/>
        </p:spPr>
        <p:txBody>
          <a:bodyPr wrap="square" lIns="0" rIns="0" t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07</a:t>
            </a: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6" y="3794760"/>
            <a:ext cx="6400800" cy="731520"/>
          </a:xfrm>
          <a:prstGeom prst="rect">
            <a:avLst/>
          </a:prstGeom>
          <a:noFill/>
        </p:spPr>
        <p:txBody>
          <a:bodyPr wrap="square" lIns="0" rIns="0" t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rIns="0" t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06056" y="2176272"/>
            <a:ext cx="1307592" cy="548640"/>
          </a:xfrm>
          <a:prstGeom prst="rect">
            <a:avLst/>
          </a:prstGeom>
          <a:noFill/>
        </p:spPr>
        <p:txBody>
          <a:bodyPr wrap="square" lIns="0" rIns="0" t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rIns="0" t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96528" y="2176272"/>
            <a:ext cx="1307592" cy="548640"/>
          </a:xfrm>
          <a:prstGeom prst="rect">
            <a:avLst/>
          </a:prstGeom>
          <a:noFill/>
        </p:spPr>
        <p:txBody>
          <a:bodyPr wrap="square" lIns="0" rIns="0" t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rIns="0" t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287000" y="2176272"/>
            <a:ext cx="1307592" cy="548640"/>
          </a:xfrm>
          <a:prstGeom prst="rect">
            <a:avLst/>
          </a:prstGeom>
          <a:noFill/>
        </p:spPr>
        <p:txBody>
          <a:bodyPr wrap="square" lIns="0" rIns="0" t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rIns="0" t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777472" y="2176272"/>
            <a:ext cx="1307592" cy="548640"/>
          </a:xfrm>
          <a:prstGeom prst="rect">
            <a:avLst/>
          </a:prstGeom>
          <a:noFill/>
        </p:spPr>
        <p:txBody>
          <a:bodyPr wrap="square" lIns="0" rIns="0" t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rIns="0" t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firstRow="0" bandRow="0">
                <a:tableStyleId>{5C22544A-7EE6-4342-B048-85BDC9FD1C3A}</a:tableStyleId>
              </a:tblPr>
              <a:tblGrid>
                <a:gridCol w="1234440"/>
                <a:gridCol w="4544568"/>
              </a:tblGrid>
              <a:tr h="411480">
                <a:tc>
                  <a:txBody>
                    <a:bodyPr wrap="square"/>
                    <a:lstStyle/>
                    <a:p>
                      <a:r>
                        <a:rPr sz="1200" b="1">
                          <a:solidFill>
                            <a:srgbClr val="FFFFFF"/>
                          </a:solidFill>
                        </a:rPr>
                        <a:t>규칙</a:t>
                      </a:r>
                    </a:p>
                  </a:txBody>
                  <a:tcPr marL="109728" marR="109728" marT="45720" marB="45720" anchor="ctr">
                    <a:solidFill>
                      <a:srgbClr val="17171A"/>
                    </a:solidFill>
                  </a:tcPr>
                </a:tc>
                <a:tc>
                  <a:txBody>
                    <a:bodyPr wrap="square"/>
                    <a:lstStyle/>
                    <a:p>
                      <a:r>
                        <a:rPr sz="1200" b="1">
                          <a:solidFill>
                            <a:srgbClr val="FFFFFF"/>
                          </a:solidFill>
                        </a:rPr>
                        <a:t>내용</a:t>
                      </a:r>
                    </a:p>
                  </a:txBody>
                  <a:tcPr marL="109728" marR="109728" marT="45720" marB="45720" anchor="ctr">
                    <a:solidFill>
                      <a:srgbClr val="17171A"/>
                    </a:solidFill>
                  </a:tcPr>
                </a:tc>
              </a:tr>
              <a:tr h="411480">
                <a:tc>
                  <a:txBody>
                    <a:bodyPr wrap="square"/>
                    <a:lstStyle/>
                    <a:p>
                      <a:r>
                        <a:rPr sz="1200" b="1">
                          <a:solidFill>
                            <a:srgbClr val="D91370"/>
                          </a:solidFill>
                        </a:rPr>
                        <a:t>PK</a:t>
                      </a:r>
                    </a:p>
                  </a:txBody>
                  <a:tcPr marL="109728" marR="109728" marT="45720" marB="45720" anchor="ctr">
                    <a:solidFill>
                      <a:srgbClr val="FFFFFF"/>
                    </a:solidFill>
                  </a:tcPr>
                </a:tc>
                <a:tc>
                  <a:txBody>
                    <a:bodyPr wrap="square"/>
                    <a:lstStyle/>
                    <a:p>
                      <a:r>
                        <a:rPr sz="1200">
                          <a:solidFill>
                            <a:srgbClr val="17171A"/>
                          </a:solidFill>
                        </a:rPr>
                        <a:t>BIGINT 내부 키 + 외부 노출은 UUID</a:t>
                      </a:r>
                    </a:p>
                  </a:txBody>
                  <a:tcPr marL="109728" marR="109728" marT="45720" marB="45720" anchor="ctr">
                    <a:solidFill>
                      <a:srgbClr val="FFFFFF"/>
                    </a:solidFill>
                  </a:tcPr>
                </a:tc>
              </a:tr>
              <a:tr h="411480">
                <a:tc>
                  <a:txBody>
                    <a:bodyPr wrap="square"/>
                    <a:lstStyle/>
                    <a:p>
                      <a:r>
                        <a:rPr sz="1200" b="1">
                          <a:solidFill>
                            <a:srgbClr val="D91370"/>
                          </a:solidFill>
                        </a:rPr>
                        <a:t>삭제</a:t>
                      </a:r>
                    </a:p>
                  </a:txBody>
                  <a:tcPr marL="109728" marR="109728" marT="45720" marB="45720" anchor="ctr">
                    <a:solidFill>
                      <a:srgbClr val="F6F7F8"/>
                    </a:solidFill>
                  </a:tcPr>
                </a:tc>
                <a:tc>
                  <a:txBody>
                    <a:bodyPr wrap="square"/>
                    <a:lstStyle/>
                    <a:p>
                      <a:r>
                        <a:rPr sz="1200">
                          <a:solidFill>
                            <a:srgbClr val="17171A"/>
                          </a:solidFill>
                        </a:rPr>
                        <a:t>soft delete 후 보관 기간 지나면 물리 삭제</a:t>
                      </a:r>
                    </a:p>
                  </a:txBody>
                  <a:tcPr marL="109728" marR="109728" marT="45720" marB="45720" anchor="ctr">
                    <a:solidFill>
                      <a:srgbClr val="F6F7F8"/>
                    </a:solidFill>
                  </a:tcPr>
                </a:tc>
              </a:tr>
              <a:tr h="411480">
                <a:tc>
                  <a:txBody>
                    <a:bodyPr wrap="square"/>
                    <a:lstStyle/>
                    <a:p>
                      <a:r>
                        <a:rPr sz="1200" b="1">
                          <a:solidFill>
                            <a:srgbClr val="D91370"/>
                          </a:solidFill>
                        </a:rPr>
                        <a:t>Enum</a:t>
                      </a:r>
                    </a:p>
                  </a:txBody>
                  <a:tcPr marL="109728" marR="109728" marT="45720" marB="45720" anchor="ctr">
                    <a:solidFill>
                      <a:srgbClr val="FFFFFF"/>
                    </a:solidFill>
                  </a:tcPr>
                </a:tc>
                <a:tc>
                  <a:txBody>
                    <a:bodyPr wrap="square"/>
                    <a:lstStyle/>
                    <a:p>
                      <a:r>
                        <a:rPr sz="1200">
                          <a:solidFill>
                            <a:srgbClr val="17171A"/>
                          </a:solidFill>
                        </a:rPr>
                        <a:t>VARCHAR + CHECK로 잘못된 값 차단</a:t>
                      </a:r>
                    </a:p>
                  </a:txBody>
                  <a:tcPr marL="109728" marR="109728" marT="45720" marB="45720" anchor="ctr">
                    <a:solidFill>
                      <a:srgbClr val="FFFFFF"/>
                    </a:solidFill>
                  </a:tcPr>
                </a:tc>
              </a:tr>
              <a:tr h="411480">
                <a:tc>
                  <a:txBody>
                    <a:bodyPr wrap="square"/>
                    <a:lstStyle/>
                    <a:p>
                      <a:r>
                        <a:rPr sz="1200" b="1">
                          <a:solidFill>
                            <a:srgbClr val="D91370"/>
                          </a:solidFill>
                        </a:rPr>
                        <a:t>벡터</a:t>
                      </a:r>
                    </a:p>
                  </a:txBody>
                  <a:tcPr marL="109728" marR="109728" marT="45720" marB="45720" anchor="ctr">
                    <a:solidFill>
                      <a:srgbClr val="F6F7F8"/>
                    </a:solidFill>
                  </a:tcPr>
                </a:tc>
                <a:tc>
                  <a:txBody>
                    <a:bodyPr wrap="square"/>
                    <a:lstStyle/>
                    <a:p>
                      <a:r>
                        <a:rPr sz="1200">
                          <a:solidFill>
                            <a:srgbClr val="17171A"/>
                          </a:solidFill>
                        </a:rPr>
                        <a:t>vector(1024) · HNSW · 코사인</a:t>
                      </a:r>
                    </a:p>
                  </a:txBody>
                  <a:tcPr marL="109728" marR="109728" marT="45720" marB="45720" anchor="ctr">
                    <a:solidFill>
                      <a:srgbClr val="F6F7F8"/>
                    </a:solidFill>
                  </a:tcPr>
                </a:tc>
              </a:tr>
              <a:tr h="411480">
                <a:tc>
                  <a:txBody>
                    <a:bodyPr wrap="square"/>
                    <a:lstStyle/>
                    <a:p>
                      <a:r>
                        <a:rPr sz="1200" b="1">
                          <a:solidFill>
                            <a:srgbClr val="D91370"/>
                          </a:solidFill>
                        </a:rPr>
                        <a:t>임베딩</a:t>
                      </a:r>
                    </a:p>
                  </a:txBody>
                  <a:tcPr marL="109728" marR="109728" marT="45720" marB="45720" anchor="ctr">
                    <a:solidFill>
                      <a:srgbClr val="FFFFFF"/>
                    </a:solidFill>
                  </a:tcPr>
                </a:tc>
                <a:tc>
                  <a:txBody>
                    <a:bodyPr wrap="square"/>
                    <a:lstStyle/>
                    <a:p>
                      <a:r>
                        <a:rPr sz="1200">
                          <a:solidFill>
                            <a:srgbClr val="17171A"/>
                          </a:solidFill>
                        </a:rPr>
                        <a:t>모델별 Profile 분리 (교체 대비)</a:t>
                      </a:r>
                    </a:p>
                  </a:txBody>
                  <a:tcPr marL="109728" marR="109728" marT="45720" marB="45720" anchor="ctr">
                    <a:solidFill>
                      <a:srgbClr val="FFFFFF"/>
                    </a:solidFill>
                  </a:tcPr>
                </a:tc>
              </a:tr>
              <a:tr h="411480">
                <a:tc>
                  <a:txBody>
                    <a:bodyPr wrap="square"/>
                    <a:lstStyle/>
                    <a:p>
                      <a:r>
                        <a:rPr sz="1200" b="1">
                          <a:solidFill>
                            <a:srgbClr val="D91370"/>
                          </a:solidFill>
                        </a:rPr>
                        <a:t>중복 방지</a:t>
                      </a:r>
                    </a:p>
                  </a:txBody>
                  <a:tcPr marL="109728" marR="109728" marT="45720" marB="45720" anchor="ctr">
                    <a:solidFill>
                      <a:srgbClr val="F6F7F8"/>
                    </a:solidFill>
                  </a:tcPr>
                </a:tc>
                <a:tc>
                  <a:txBody>
                    <a:bodyPr wrap="square"/>
                    <a:lstStyle/>
                    <a:p>
                      <a:r>
                        <a:rPr sz="1200">
                          <a:solidFill>
                            <a:srgbClr val="17171A"/>
                          </a:solidFill>
                        </a:rPr>
                        <a:t>조건부 UNIQUE 인덱스 18개</a:t>
                      </a:r>
                    </a:p>
                  </a:txBody>
                  <a:tcPr marL="109728" marR="109728" marT="45720" marB="45720" anchor="ctr">
                    <a:solidFill>
                      <a:srgbClr val="F6F7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상단 태그"/>
          <p:cNvSpPr txBox="1"/>
          <p:nvPr/>
        </p:nvSpPr>
        <p:spPr>
          <a:xfrm>
            <a:off x="628650" y="420000"/>
            <a:ext cx="9000000" cy="300000"/>
          </a:xfrm>
          <a:prstGeom prst="rect">
            <a:avLst/>
          </a:prstGeom>
          <a:noFill/>
        </p:spPr>
        <p:txBody>
          <a:bodyPr wrap="square" anchor="ctr" lIns="0" rIns="0" tIns="0" bIns="0">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anchor="ctr" lIns="0" rIns="0" tIns="0" bIns="0">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anchor="ctr" lIns="0" rIns="0" tIns="0" bIns="0">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anchor="ctr" lIns="0" rIns="0" tIns="0" bIns="0">
            <a:spAutoFit/>
          </a:bodyPr>
          <a:lstStyle/>
          <a:p>
            <a:pPr algn="l"/>
            <a:r>
              <a:rPr sz="1300" b="1">
                <a:solidFill>
                  <a:schemeClr val="accent3"/>
                </a:solidFill>
              </a:rPr>
              <a:t>UBot</a:t>
            </a:r>
          </a:p>
        </p:txBody>
      </p:sp>
      <p:sp>
        <p:nvSpPr>
          <p:cNvPr id="8" name="페이지 번호"/>
          <p:cNvSpPr txBox="1"/>
          <p:nvPr/>
        </p:nvSpPr>
        <p:spPr>
          <a:xfrm>
            <a:off x="12380976" y="7104888"/>
            <a:ext cx="704088" cy="246888"/>
          </a:xfrm>
          <a:prstGeom prst="rect">
            <a:avLst/>
          </a:prstGeom>
          <a:noFill/>
        </p:spPr>
        <p:txBody>
          <a:bodyPr wrap="square" anchor="ctr" lIns="0" rIns="0" tIns="0" bIns="0">
            <a:spAutoFit/>
          </a:bodyPr>
          <a:lstStyle/>
          <a:p>
            <a:pPr algn="r"/>
            <a:r>
              <a:rPr sz="1300" b="0">
                <a:solidFill>
                  <a:schemeClr val="accent3"/>
                </a:solidFill>
              </a:rPr>
              <a:t>18</a:t>
            </a: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firstRow="0" bandRow="0">
                <a:tableStyleId>{5C22544A-7EE6-4342-B048-85BDC9FD1C3A}</a:tableStyleId>
              </a:tblPr>
              <a:tblGrid>
                <a:gridCol w="1051560"/>
                <a:gridCol w="1874519"/>
                <a:gridCol w="4572000"/>
              </a:tblGrid>
              <a:tr h="512064">
                <a:tc>
                  <a:txBody>
                    <a:bodyPr wrap="square"/>
                    <a:lstStyle/>
                    <a:p>
                      <a:r>
                        <a:rPr sz="1200" b="1">
                          <a:solidFill>
                            <a:srgbClr val="FFFFFF"/>
                          </a:solidFill>
                        </a:rPr>
                        <a:t>계층</a:t>
                      </a:r>
                    </a:p>
                  </a:txBody>
                  <a:tcPr marL="109728" marR="109728" marT="45720" marB="45720" anchor="ctr">
                    <a:solidFill>
                      <a:srgbClr val="17171A"/>
                    </a:solidFill>
                  </a:tcPr>
                </a:tc>
                <a:tc>
                  <a:txBody>
                    <a:bodyPr wrap="square"/>
                    <a:lstStyle/>
                    <a:p>
                      <a:r>
                        <a:rPr sz="1200" b="1">
                          <a:solidFill>
                            <a:srgbClr val="FFFFFF"/>
                          </a:solidFill>
                        </a:rPr>
                        <a:t>위협</a:t>
                      </a:r>
                    </a:p>
                  </a:txBody>
                  <a:tcPr marL="109728" marR="109728" marT="45720" marB="45720" anchor="ctr">
                    <a:solidFill>
                      <a:srgbClr val="17171A"/>
                    </a:solidFill>
                  </a:tcPr>
                </a:tc>
                <a:tc>
                  <a:txBody>
                    <a:bodyPr wrap="square"/>
                    <a:lstStyle/>
                    <a:p>
                      <a:r>
                        <a:rPr sz="1200" b="1">
                          <a:solidFill>
                            <a:srgbClr val="FFFFFF"/>
                          </a:solidFill>
                        </a:rPr>
                        <a:t>대응</a:t>
                      </a:r>
                    </a:p>
                  </a:txBody>
                  <a:tcPr marL="109728" marR="109728" marT="45720" marB="45720" anchor="ctr">
                    <a:solidFill>
                      <a:srgbClr val="17171A"/>
                    </a:solidFill>
                  </a:tcPr>
                </a:tc>
              </a:tr>
              <a:tr h="512064">
                <a:tc>
                  <a:txBody>
                    <a:bodyPr wrap="square"/>
                    <a:lstStyle/>
                    <a:p>
                      <a:r>
                        <a:rPr sz="1200" b="1">
                          <a:solidFill>
                            <a:srgbClr val="D91370"/>
                          </a:solidFill>
                        </a:rPr>
                        <a:t>로그인</a:t>
                      </a:r>
                    </a:p>
                  </a:txBody>
                  <a:tcPr marL="109728" marR="109728" marT="45720" marB="45720" anchor="ctr">
                    <a:solidFill>
                      <a:srgbClr val="FFFFFF"/>
                    </a:solidFill>
                  </a:tcPr>
                </a:tc>
                <a:tc>
                  <a:txBody>
                    <a:bodyPr wrap="square"/>
                    <a:lstStyle/>
                    <a:p>
                      <a:r>
                        <a:rPr sz="1200">
                          <a:solidFill>
                            <a:srgbClr val="17171A"/>
                          </a:solidFill>
                        </a:rPr>
                        <a:t>비밀번호 대입</a:t>
                      </a:r>
                    </a:p>
                  </a:txBody>
                  <a:tcPr marL="109728" marR="109728" marT="45720" marB="45720" anchor="ctr">
                    <a:solidFill>
                      <a:srgbClr val="FFFFFF"/>
                    </a:solidFill>
                  </a:tcPr>
                </a:tc>
                <a:tc>
                  <a:txBody>
                    <a:bodyPr wrap="square"/>
                    <a:lstStyle/>
                    <a:p>
                      <a:r>
                        <a:rPr sz="1200">
                          <a:solidFill>
                            <a:srgbClr val="17171A"/>
                          </a:solidFill>
                        </a:rPr>
                        <a:t>같은 이메일 5회 · 같은 IP 20회 실패 시 15분 차단</a:t>
                      </a:r>
                    </a:p>
                  </a:txBody>
                  <a:tcPr marL="109728" marR="109728" marT="45720" marB="45720" anchor="ctr">
                    <a:solidFill>
                      <a:srgbClr val="FFFFFF"/>
                    </a:solidFill>
                  </a:tcPr>
                </a:tc>
              </a:tr>
              <a:tr h="512064">
                <a:tc>
                  <a:txBody>
                    <a:bodyPr wrap="square"/>
                    <a:lstStyle/>
                    <a:p>
                      <a:r>
                        <a:rPr sz="1200" b="1">
                          <a:solidFill>
                            <a:srgbClr val="D91370"/>
                          </a:solidFill>
                        </a:rPr>
                        <a:t>토큰</a:t>
                      </a:r>
                    </a:p>
                  </a:txBody>
                  <a:tcPr marL="109728" marR="109728" marT="45720" marB="45720" anchor="ctr">
                    <a:solidFill>
                      <a:srgbClr val="F6F7F8"/>
                    </a:solidFill>
                  </a:tcPr>
                </a:tc>
                <a:tc>
                  <a:txBody>
                    <a:bodyPr wrap="square"/>
                    <a:lstStyle/>
                    <a:p>
                      <a:r>
                        <a:rPr sz="1200">
                          <a:solidFill>
                            <a:srgbClr val="17171A"/>
                          </a:solidFill>
                        </a:rPr>
                        <a:t>Refresh Token 탈취</a:t>
                      </a:r>
                    </a:p>
                  </a:txBody>
                  <a:tcPr marL="109728" marR="109728" marT="45720" marB="45720" anchor="ctr">
                    <a:solidFill>
                      <a:srgbClr val="F6F7F8"/>
                    </a:solidFill>
                  </a:tcPr>
                </a:tc>
                <a:tc>
                  <a:txBody>
                    <a:bodyPr wrap="square"/>
                    <a:lstStyle/>
                    <a:p>
                      <a:r>
                        <a:rPr sz="1200">
                          <a:solidFill>
                            <a:srgbClr val="17171A"/>
                          </a:solidFill>
                        </a:rPr>
                        <a:t>SHA-256 해시만 저장, 옛 토큰 재사용 시 전부 폐기</a:t>
                      </a:r>
                    </a:p>
                  </a:txBody>
                  <a:tcPr marL="109728" marR="109728" marT="45720" marB="45720" anchor="ctr">
                    <a:solidFill>
                      <a:srgbClr val="F6F7F8"/>
                    </a:solidFill>
                  </a:tcPr>
                </a:tc>
              </a:tr>
              <a:tr h="512064">
                <a:tc>
                  <a:txBody>
                    <a:bodyPr wrap="square"/>
                    <a:lstStyle/>
                    <a:p>
                      <a:r>
                        <a:rPr sz="1200" b="1">
                          <a:solidFill>
                            <a:srgbClr val="D91370"/>
                          </a:solidFill>
                        </a:rPr>
                        <a:t>토큰</a:t>
                      </a:r>
                    </a:p>
                  </a:txBody>
                  <a:tcPr marL="109728" marR="109728" marT="45720" marB="45720" anchor="ctr">
                    <a:solidFill>
                      <a:srgbClr val="FFFFFF"/>
                    </a:solidFill>
                  </a:tcPr>
                </a:tc>
                <a:tc>
                  <a:txBody>
                    <a:bodyPr wrap="square"/>
                    <a:lstStyle/>
                    <a:p>
                      <a:r>
                        <a:rPr sz="1200">
                          <a:solidFill>
                            <a:srgbClr val="17171A"/>
                          </a:solidFill>
                        </a:rPr>
                        <a:t>로그아웃 뒤 재사용</a:t>
                      </a:r>
                    </a:p>
                  </a:txBody>
                  <a:tcPr marL="109728" marR="109728" marT="45720" marB="45720" anchor="ctr">
                    <a:solidFill>
                      <a:srgbClr val="FFFFFF"/>
                    </a:solidFill>
                  </a:tcPr>
                </a:tc>
                <a:tc>
                  <a:txBody>
                    <a:bodyPr wrap="square"/>
                    <a:lstStyle/>
                    <a:p>
                      <a:r>
                        <a:rPr sz="1200">
                          <a:solidFill>
                            <a:srgbClr val="17171A"/>
                          </a:solidFill>
                        </a:rPr>
                        <a:t>로그아웃 전 발급 토큰은 만료 전이어도 거부</a:t>
                      </a:r>
                    </a:p>
                  </a:txBody>
                  <a:tcPr marL="109728" marR="109728" marT="45720" marB="45720" anchor="ctr">
                    <a:solidFill>
                      <a:srgbClr val="FFFFFF"/>
                    </a:solidFill>
                  </a:tcPr>
                </a:tc>
              </a:tr>
              <a:tr h="512064">
                <a:tc>
                  <a:txBody>
                    <a:bodyPr wrap="square"/>
                    <a:lstStyle/>
                    <a:p>
                      <a:r>
                        <a:rPr sz="1200" b="1">
                          <a:solidFill>
                            <a:srgbClr val="D91370"/>
                          </a:solidFill>
                        </a:rPr>
                        <a:t>브라우저</a:t>
                      </a:r>
                    </a:p>
                  </a:txBody>
                  <a:tcPr marL="109728" marR="109728" marT="45720" marB="45720" anchor="ctr">
                    <a:solidFill>
                      <a:srgbClr val="F6F7F8"/>
                    </a:solidFill>
                  </a:tcPr>
                </a:tc>
                <a:tc>
                  <a:txBody>
                    <a:bodyPr wrap="square"/>
                    <a:lstStyle/>
                    <a:p>
                      <a:r>
                        <a:rPr sz="1200">
                          <a:solidFill>
                            <a:srgbClr val="17171A"/>
                          </a:solidFill>
                        </a:rPr>
                        <a:t>외부 스크립트 (XSS)</a:t>
                      </a:r>
                    </a:p>
                  </a:txBody>
                  <a:tcPr marL="109728" marR="109728" marT="45720" marB="45720" anchor="ctr">
                    <a:solidFill>
                      <a:srgbClr val="F6F7F8"/>
                    </a:solidFill>
                  </a:tcPr>
                </a:tc>
                <a:tc>
                  <a:txBody>
                    <a:bodyPr wrap="square"/>
                    <a:lstStyle/>
                    <a:p>
                      <a:r>
                        <a:rPr sz="1200">
                          <a:solidFill>
                            <a:srgbClr val="17171A"/>
                          </a:solidFill>
                        </a:rPr>
                        <a:t>CSP: 자기 자신 + 카카오만 허용, 외부 form 차단</a:t>
                      </a:r>
                    </a:p>
                  </a:txBody>
                  <a:tcPr marL="109728" marR="109728" marT="45720" marB="45720" anchor="ctr">
                    <a:solidFill>
                      <a:srgbClr val="F6F7F8"/>
                    </a:solidFill>
                  </a:tcPr>
                </a:tc>
              </a:tr>
              <a:tr h="512064">
                <a:tc>
                  <a:txBody>
                    <a:bodyPr wrap="square"/>
                    <a:lstStyle/>
                    <a:p>
                      <a:r>
                        <a:rPr sz="1200" b="1">
                          <a:solidFill>
                            <a:srgbClr val="D91370"/>
                          </a:solidFill>
                        </a:rPr>
                        <a:t>서버</a:t>
                      </a:r>
                    </a:p>
                  </a:txBody>
                  <a:tcPr marL="109728" marR="109728" marT="45720" marB="45720" anchor="ctr">
                    <a:solidFill>
                      <a:srgbClr val="FFFFFF"/>
                    </a:solidFill>
                  </a:tcPr>
                </a:tc>
                <a:tc>
                  <a:txBody>
                    <a:bodyPr wrap="square"/>
                    <a:lstStyle/>
                    <a:p>
                      <a:r>
                        <a:rPr sz="1200">
                          <a:solidFill>
                            <a:srgbClr val="17171A"/>
                          </a:solidFill>
                        </a:rPr>
                        <a:t>다른 사이트 호출</a:t>
                      </a:r>
                    </a:p>
                  </a:txBody>
                  <a:tcPr marL="109728" marR="109728" marT="45720" marB="45720" anchor="ctr">
                    <a:solidFill>
                      <a:srgbClr val="FFFFFF"/>
                    </a:solidFill>
                  </a:tcPr>
                </a:tc>
                <a:tc>
                  <a:txBody>
                    <a:bodyPr wrap="square"/>
                    <a:lstStyle/>
                    <a:p>
                      <a:r>
                        <a:rPr sz="1200">
                          <a:solidFill>
                            <a:srgbClr val="17171A"/>
                          </a:solidFill>
                        </a:rPr>
                        <a:t>허용 origin만 CORS 통과, 클릭재킹 차단 헤더</a:t>
                      </a:r>
                    </a:p>
                  </a:txBody>
                  <a:tcPr marL="109728" marR="109728" marT="45720" marB="45720" anchor="ctr">
                    <a:solidFill>
                      <a:srgbClr val="FFFFFF"/>
                    </a:solidFill>
                  </a:tcPr>
                </a:tc>
              </a:tr>
              <a:tr h="512064">
                <a:tc>
                  <a:txBody>
                    <a:bodyPr wrap="square"/>
                    <a:lstStyle/>
                    <a:p>
                      <a:r>
                        <a:rPr sz="1200" b="1">
                          <a:solidFill>
                            <a:srgbClr val="D91370"/>
                          </a:solidFill>
                        </a:rPr>
                        <a:t>서버</a:t>
                      </a:r>
                    </a:p>
                  </a:txBody>
                  <a:tcPr marL="109728" marR="109728" marT="45720" marB="45720" anchor="ctr">
                    <a:solidFill>
                      <a:srgbClr val="F6F7F8"/>
                    </a:solidFill>
                  </a:tcPr>
                </a:tc>
                <a:tc>
                  <a:txBody>
                    <a:bodyPr wrap="square"/>
                    <a:lstStyle/>
                    <a:p>
                      <a:r>
                        <a:rPr sz="1200">
                          <a:solidFill>
                            <a:srgbClr val="17171A"/>
                          </a:solidFill>
                        </a:rPr>
                        <a:t>요청 폭주</a:t>
                      </a:r>
                    </a:p>
                  </a:txBody>
                  <a:tcPr marL="109728" marR="109728" marT="45720" marB="45720" anchor="ctr">
                    <a:solidFill>
                      <a:srgbClr val="F6F7F8"/>
                    </a:solidFill>
                  </a:tcPr>
                </a:tc>
                <a:tc>
                  <a:txBody>
                    <a:bodyPr wrap="square"/>
                    <a:lstStyle/>
                    <a:p>
                      <a:r>
                        <a:rPr sz="1200">
                          <a:solidFill>
                            <a:srgbClr val="17171A"/>
                          </a:solidFill>
                        </a:rPr>
                        <a:t>게스트는 IP별, 회원은 토큰별 속도 제한</a:t>
                      </a:r>
                    </a:p>
                  </a:txBody>
                  <a:tcPr marL="109728" marR="109728" marT="45720" marB="45720" anchor="ctr">
                    <a:solidFill>
                      <a:srgbClr val="F6F7F8"/>
                    </a:solidFill>
                  </a:tcPr>
                </a:tc>
              </a:tr>
              <a:tr h="512064">
                <a:tc>
                  <a:txBody>
                    <a:bodyPr wrap="square"/>
                    <a:lstStyle/>
                    <a:p>
                      <a:r>
                        <a:rPr sz="1200" b="1">
                          <a:solidFill>
                            <a:srgbClr val="D91370"/>
                          </a:solidFill>
                        </a:rPr>
                        <a:t>데이터</a:t>
                      </a:r>
                    </a:p>
                  </a:txBody>
                  <a:tcPr marL="109728" marR="109728" marT="45720" marB="45720" anchor="ctr">
                    <a:solidFill>
                      <a:srgbClr val="FFFFFF"/>
                    </a:solidFill>
                  </a:tcPr>
                </a:tc>
                <a:tc>
                  <a:txBody>
                    <a:bodyPr wrap="square"/>
                    <a:lstStyle/>
                    <a:p>
                      <a:r>
                        <a:rPr sz="1200">
                          <a:solidFill>
                            <a:srgbClr val="17171A"/>
                          </a:solidFill>
                        </a:rPr>
                        <a:t>개인정보 노출</a:t>
                      </a:r>
                    </a:p>
                  </a:txBody>
                  <a:tcPr marL="109728" marR="109728" marT="45720" marB="45720" anchor="ctr">
                    <a:solidFill>
                      <a:srgbClr val="FFFFFF"/>
                    </a:solidFill>
                  </a:tcPr>
                </a:tc>
                <a:tc>
                  <a:txBody>
                    <a:bodyPr wrap="square"/>
                    <a:lstStyle/>
                    <a:p>
                      <a:r>
                        <a:rPr sz="1200">
                          <a:solidFill>
                            <a:srgbClr val="17171A"/>
                          </a:solidFill>
                        </a:rPr>
                        <a:t>질문 접수 즉시 마스킹, 이후 모든 단계는 마스킹본</a:t>
                      </a:r>
                    </a:p>
                  </a:txBody>
                  <a:tcPr marL="109728" marR="109728" marT="45720" marB="45720" anchor="ctr">
                    <a:solidFill>
                      <a:srgbClr val="FFFFFF"/>
                    </a:solidFill>
                  </a:tcPr>
                </a:tc>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86216" y="2240280"/>
            <a:ext cx="4297680" cy="320040"/>
          </a:xfrm>
          <a:prstGeom prst="rect">
            <a:avLst/>
          </a:prstGeom>
          <a:noFill/>
        </p:spPr>
        <p:txBody>
          <a:bodyPr wrap="square" lIns="0" rIns="0" t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rIns="0" t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rIns="0" t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rIns="0" t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rIns="0" t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rIns="0" t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rIns="0" t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rIns="0" t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rIns="0" t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rIns="0" t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rIns="0" t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rIns="0" t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rIns="0" t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rIns="0" t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rIns="0" t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rIns="0" t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rIns="0" t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586216" y="5001768"/>
            <a:ext cx="4297680" cy="1051560"/>
          </a:xfrm>
          <a:prstGeom prst="rect">
            <a:avLst/>
          </a:prstGeom>
          <a:noFill/>
        </p:spPr>
        <p:txBody>
          <a:bodyPr wrap="square" lIns="0" rIns="0" t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9.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
            <a:extLst xmlns:a="http://schemas.openxmlformats.org/drawingml/2006/main">
              <a:ext uri="{FF2B5EF4-FFF2-40B4-BE49-F238E27FC236}">
                <a16:creationId xmlns:a16="http://schemas.microsoft.com/office/drawing/2014/main" id="{6E43B183-F952-4C4D-AAA3-5ABF2222B18F}"/>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E571B005-3017-4B15-A24C-FE8E556F1F1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Qwen3 4B OFF 선택</a:t>
            </a:r>
          </a:p>
        </p:txBody>
      </p:sp>
      <p:sp>
        <p:nvSpPr>
          <p:cNvPr id="3" name="own-text-3">
            <a:extLst xmlns:a="http://schemas.openxmlformats.org/drawingml/2006/main">
              <a:ext uri="{FF2B5EF4-FFF2-40B4-BE49-F238E27FC236}">
                <a16:creationId xmlns:a16="http://schemas.microsoft.com/office/drawing/2014/main" id="{1E9FC062-03B6-45DA-BB9D-F9D8C97A7DD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모델 크기별 약점을 확인하고, 최종 4B 후보는 오류의 교정 가능성으로 판단</a:t>
            </a:r>
          </a:p>
        </p:txBody>
      </p:sp>
      <p:sp>
        <p:nvSpPr>
          <p:cNvPr id="4" name="own-text-4">
            <a:extLst xmlns:a="http://schemas.openxmlformats.org/drawingml/2006/main">
              <a:ext uri="{FF2B5EF4-FFF2-40B4-BE49-F238E27FC236}">
                <a16:creationId xmlns:a16="http://schemas.microsoft.com/office/drawing/2014/main" id="{03D02F02-6596-4095-91E9-28F25E7DCC22}"/>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C2CCDEA5-4798-4062-9A12-D6D29A9A787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09</a:t>
            </a:r>
          </a:p>
        </p:txBody>
      </p:sp>
      <p:sp>
        <p:nvSpPr>
          <p:cNvPr id="6" name="own-text-6">
            <a:extLst xmlns:a="http://schemas.openxmlformats.org/drawingml/2006/main">
              <a:ext uri="{FF2B5EF4-FFF2-40B4-BE49-F238E27FC236}">
                <a16:creationId xmlns:a16="http://schemas.microsoft.com/office/drawing/2014/main" id="{DC659458-ED76-4B6C-9F64-8EECA4F7A79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초기 9모델과 추가 12B·14B 검토. 진단 단계별 데이터·환경이 달라 수치를 하나의 순위표로 합산하지 않음.</a:t>
            </a:r>
          </a:p>
        </p:txBody>
      </p:sp>
      <p:graphicFrame>
        <p:nvGraphicFramePr>
          <p:cNvPr id="7" name="">
            <a:extLst xmlns:a="http://schemas.openxmlformats.org/drawingml/2006/main">
              <a:ext uri="{FF2B5EF4-FFF2-40B4-BE49-F238E27FC236}">
                <a16:creationId xmlns:a16="http://schemas.microsoft.com/office/drawing/2014/main" id="{DE696B59-FBCA-4517-A207-4BB858D2C8A4}"/>
              </a:ext>
            </a:extLst>
          </p:cNvPr>
          <p:cNvGraphicFramePr/>
          <p:nvPr/>
        </p:nvGraphicFramePr>
        <p:xfrm>
          <a:off xmlns:a="http://schemas.openxmlformats.org/drawingml/2006/main" x="628650" y="2076450"/>
          <a:ext xmlns:a="http://schemas.openxmlformats.org/drawingml/2006/main" cx="7239000" cy="4067175"/>
        </p:xfrm>
        <a:graphic xmlns:a="http://schemas.openxmlformats.org/drawingml/2006/main">
          <a:graphicData uri="http://schemas.openxmlformats.org/drawingml/2006/table">
            <a:tbl>
              <a:tblPr/>
              <a:tblGrid>
                <a:gridCol w="2419350"/>
                <a:gridCol w="4819650"/>
              </a:tblGrid>
              <a:tr h="677863">
                <a:tc>
                  <a:txBody>
                    <a:bodyPr>
                      <a:noAutofit/>
                    </a:bodyPr>
                    <a:lstStyle/>
                    <a:p>
                      <a:r>
                        <a:rPr sz="1598" b="1">
                          <a:solidFill>
                            <a:srgbClr val="FFFFFF"/>
                          </a:solidFill>
                          <a:latin typeface="맑은 고딕"/>
                          <a:ea typeface="맑은 고딕"/>
                          <a:cs typeface="맑은 고딕"/>
                        </a:rPr>
                        <a:t>검토 후보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제외·후순위 근거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77863">
                <a:tc>
                  <a:txBody>
                    <a:bodyPr>
                      <a:noAutofit/>
                    </a:bodyPr>
                    <a:lstStyle/>
                    <a:p>
                      <a:r>
                        <a:rPr sz="1598" b="0">
                          <a:solidFill>
                            <a:srgbClr val="17171A"/>
                          </a:solidFill>
                          <a:latin typeface="맑은 고딕"/>
                          <a:ea typeface="맑은 고딕"/>
                          <a:cs typeface="맑은 고딕"/>
                        </a:rPr>
                        <a:t>Gemma 270M·1B</a:t>
                      </a:r>
                    </a:p>
                    <a:p>
                      <a:r>
                        <a:rPr sz="1598" b="0">
                          <a:solidFill>
                            <a:srgbClr val="17171A"/>
                          </a:solidFill>
                          <a:latin typeface="맑은 고딕"/>
                          <a:ea typeface="맑은 고딕"/>
                          <a:cs typeface="맑은 고딕"/>
                        </a:rPr>
                        <a:t>Qwen 0.6B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형식·자료 부재 대응 취약</a:t>
                      </a:r>
                    </a:p>
                    <a:p>
                      <a:r>
                        <a:rPr sz="1598" b="0">
                          <a:solidFill>
                            <a:srgbClr val="17171A"/>
                          </a:solidFill>
                          <a:latin typeface="맑은 고딕"/>
                          <a:ea typeface="맑은 고딕"/>
                          <a:cs typeface="맑은 고딕"/>
                        </a:rPr>
                        <a:t>Gemma 포맷 성공 25.3%·35.7%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1.7B</a:t>
                      </a:r>
                    </a:p>
                    <a:p>
                      <a:r>
                        <a:rPr sz="1598" b="0">
                          <a:solidFill>
                            <a:srgbClr val="17171A"/>
                          </a:solidFill>
                          <a:latin typeface="맑은 고딕"/>
                          <a:ea typeface="맑은 고딕"/>
                          <a:cs typeface="맑은 고딕"/>
                        </a:rPr>
                        <a:t>EXAONE 2.4B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내용 품질 부족</a:t>
                      </a:r>
                    </a:p>
                    <a:p>
                      <a:r>
                        <a:rPr sz="1598" b="0">
                          <a:solidFill>
                            <a:srgbClr val="17171A"/>
                          </a:solidFill>
                          <a:latin typeface="맑은 고딕"/>
                          <a:ea typeface="맑은 고딕"/>
                          <a:cs typeface="맑은 고딕"/>
                        </a:rPr>
                        <a:t>1.7B 정답 47%(300건), 2.4B 표본 10/26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EXAONE 7.8B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자료가 없을 때 보류 실패</a:t>
                      </a:r>
                    </a:p>
                    <a:p>
                      <a:r>
                        <a:rPr sz="1598" b="0">
                          <a:solidFill>
                            <a:srgbClr val="17171A"/>
                          </a:solidFill>
                          <a:latin typeface="맑은 고딕"/>
                          <a:ea typeface="맑은 고딕"/>
                          <a:cs typeface="맑은 고딕"/>
                        </a:rPr>
                        <a:t>기대 ABSTAIN 88건 중 0건 일치</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4B 추론 ON</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품질은 좋지만 응답 지연</a:t>
                      </a:r>
                    </a:p>
                    <a:p>
                      <a:r>
                        <a:rPr sz="1598" b="0">
                          <a:solidFill>
                            <a:srgbClr val="17171A"/>
                          </a:solidFill>
                          <a:latin typeface="맑은 고딕"/>
                          <a:ea typeface="맑은 고딕"/>
                          <a:cs typeface="맑은 고딕"/>
                        </a:rPr>
                        <a:t>P95 47.6초, 300건 모두 5초 초과</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8B·14B</a:t>
                      </a:r>
                    </a:p>
                    <a:p>
                      <a:r>
                        <a:rPr sz="1598" b="0">
                          <a:solidFill>
                            <a:srgbClr val="17171A"/>
                          </a:solidFill>
                          <a:latin typeface="맑은 고딕"/>
                          <a:ea typeface="맑은 고딕"/>
                          <a:cs typeface="맑은 고딕"/>
                        </a:rPr>
                        <a:t>Gemma 12B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품질 후보로 검토한 뒤</a:t>
                      </a:r>
                    </a:p>
                    <a:p>
                      <a:r>
                        <a:rPr sz="1598" b="0">
                          <a:solidFill>
                            <a:srgbClr val="17171A"/>
                          </a:solidFill>
                          <a:latin typeface="맑은 고딕"/>
                          <a:ea typeface="맑은 고딕"/>
                          <a:cs typeface="맑은 고딕"/>
                        </a:rPr>
                        <a:t>운영 부담을 줄일 4B 계열 튜닝 검토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EEF86F2A-4830-479E-9417-B7648B8FADC1}"/>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최종 4B 후보의 오류 차이</a:t>
            </a:r>
          </a:p>
        </p:txBody>
      </p:sp>
      <p:sp>
        <p:nvSpPr>
          <p:cNvPr id="9" name="own-text-8">
            <a:extLst xmlns:a="http://schemas.openxmlformats.org/drawingml/2006/main">
              <a:ext uri="{FF2B5EF4-FFF2-40B4-BE49-F238E27FC236}">
                <a16:creationId xmlns:a16="http://schemas.microsoft.com/office/drawing/2014/main" id="{14CFD27A-E7B0-486A-92E8-BF63EC2A29ED}"/>
              </a:ext>
            </a:extLst>
          </p:cNvPr>
          <p:cNvSpPr>
            <a:spLocks xmlns:a="http://schemas.openxmlformats.org/drawingml/2006/main" noGrp="1"/>
          </p:cNvSpPr>
          <p:nvPr/>
        </p:nvSpPr>
        <p:spPr>
          <a:xfrm xmlns:a="http://schemas.openxmlformats.org/drawingml/2006/main">
            <a:off x="8248650" y="25146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기준 정확도: Gemma 65.1% / Qwen 63.0%</a:t>
            </a:r>
          </a:p>
        </p:txBody>
      </p:sp>
      <p:sp>
        <p:nvSpPr>
          <p:cNvPr id="10" name="own-text-9">
            <a:extLst xmlns:a="http://schemas.openxmlformats.org/drawingml/2006/main">
              <a:ext uri="{FF2B5EF4-FFF2-40B4-BE49-F238E27FC236}">
                <a16:creationId xmlns:a16="http://schemas.microsoft.com/office/drawing/2014/main" id="{413A9563-F376-4BC5-B5F6-E25EC25C1098}"/>
              </a:ext>
            </a:extLst>
          </p:cNvPr>
          <p:cNvSpPr>
            <a:spLocks xmlns:a="http://schemas.openxmlformats.org/drawingml/2006/main" noGrp="1"/>
          </p:cNvSpPr>
          <p:nvPr/>
        </p:nvSpPr>
        <p:spPr>
          <a:xfrm xmlns:a="http://schemas.openxmlformats.org/drawingml/2006/main">
            <a:off x="8248650" y="28956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86B72"/>
                </a:solidFill>
                <a:latin typeface="맑은 고딕"/>
                <a:ea typeface="맑은 고딕"/>
                <a:cs typeface="맑은 고딕"/>
              </a:defRPr>
            </a:defPPr>
            <a:lvl1pPr algn="l">
              <a:defRPr sz="1800" b="1">
                <a:solidFill>
                  <a:srgbClr val="686B72"/>
                </a:solidFill>
                <a:latin typeface="맑은 고딕"/>
                <a:ea typeface="맑은 고딕"/>
                <a:cs typeface="맑은 고딕"/>
              </a:defRPr>
            </a:lvl1pPr>
            <a:lvl2pPr algn="l">
              <a:defRPr sz="1800" b="1">
                <a:solidFill>
                  <a:srgbClr val="686B72"/>
                </a:solidFill>
                <a:latin typeface="맑은 고딕"/>
                <a:ea typeface="맑은 고딕"/>
                <a:cs typeface="맑은 고딕"/>
              </a:defRPr>
            </a:lvl2pPr>
            <a:lvl3pPr algn="l">
              <a:defRPr sz="1800" b="1">
                <a:solidFill>
                  <a:srgbClr val="686B72"/>
                </a:solidFill>
                <a:latin typeface="맑은 고딕"/>
                <a:ea typeface="맑은 고딕"/>
                <a:cs typeface="맑은 고딕"/>
              </a:defRPr>
            </a:lvl3pPr>
            <a:lvl4pPr algn="l">
              <a:defRPr sz="1800" b="1">
                <a:solidFill>
                  <a:srgbClr val="686B72"/>
                </a:solidFill>
                <a:latin typeface="맑은 고딕"/>
                <a:ea typeface="맑은 고딕"/>
                <a:cs typeface="맑은 고딕"/>
              </a:defRPr>
            </a:lvl4pPr>
            <a:lvl5pPr algn="l">
              <a:defRPr sz="1800" b="1">
                <a:solidFill>
                  <a:srgbClr val="686B72"/>
                </a:solidFill>
                <a:latin typeface="맑은 고딕"/>
                <a:ea typeface="맑은 고딕"/>
                <a:cs typeface="맑은 고딕"/>
              </a:defRPr>
            </a:lvl5pPr>
            <a:lvl6pPr algn="l">
              <a:defRPr sz="1800" b="1">
                <a:solidFill>
                  <a:srgbClr val="686B72"/>
                </a:solidFill>
                <a:latin typeface="맑은 고딕"/>
                <a:ea typeface="맑은 고딕"/>
                <a:cs typeface="맑은 고딕"/>
              </a:defRPr>
            </a:lvl6pPr>
            <a:lvl7pPr algn="l">
              <a:defRPr sz="1800" b="1">
                <a:solidFill>
                  <a:srgbClr val="686B72"/>
                </a:solidFill>
                <a:latin typeface="맑은 고딕"/>
                <a:ea typeface="맑은 고딕"/>
                <a:cs typeface="맑은 고딕"/>
              </a:defRPr>
            </a:lvl7pPr>
            <a:lvl8pPr algn="l">
              <a:defRPr sz="1800" b="1">
                <a:solidFill>
                  <a:srgbClr val="686B72"/>
                </a:solidFill>
                <a:latin typeface="맑은 고딕"/>
                <a:ea typeface="맑은 고딕"/>
                <a:cs typeface="맑은 고딕"/>
              </a:defRPr>
            </a:lvl8pPr>
            <a:lvl9pPr algn="l">
              <a:defRPr sz="1800" b="1">
                <a:solidFill>
                  <a:srgbClr val="686B72"/>
                </a:solidFill>
                <a:latin typeface="맑은 고딕"/>
                <a:ea typeface="맑은 고딕"/>
                <a:cs typeface="맑은 고딕"/>
              </a:defRPr>
            </a:lvl9pPr>
          </a:lstStyle>
          <a:p xmlns:a="http://schemas.openxmlformats.org/drawingml/2006/main">
            <a:pPr algn="l">
              <a:defRPr sz="1800" b="1">
                <a:solidFill>
                  <a:srgbClr val="686B72"/>
                </a:solidFill>
                <a:latin typeface="맑은 고딕"/>
                <a:ea typeface="맑은 고딕"/>
                <a:cs typeface="맑은 고딕"/>
              </a:defRPr>
            </a:pPr>
            <a:r>
              <a:rPr sz="1800" b="1">
                <a:solidFill>
                  <a:srgbClr val="686B72"/>
                </a:solidFill>
                <a:latin typeface="맑은 고딕"/>
                <a:ea typeface="맑은 고딕"/>
                <a:cs typeface="맑은 고딕"/>
              </a:rPr>
              <a:t>Gemma 4B</a:t>
            </a:r>
          </a:p>
        </p:txBody>
      </p:sp>
      <p:sp>
        <p:nvSpPr>
          <p:cNvPr id="11" name="own-text-10">
            <a:extLst xmlns:a="http://schemas.openxmlformats.org/drawingml/2006/main">
              <a:ext uri="{FF2B5EF4-FFF2-40B4-BE49-F238E27FC236}">
                <a16:creationId xmlns:a16="http://schemas.microsoft.com/office/drawing/2014/main" id="{91CAB4C8-0E46-4BE1-9852-55125A1E6CAD}"/>
              </a:ext>
            </a:extLst>
          </p:cNvPr>
          <p:cNvSpPr>
            <a:spLocks xmlns:a="http://schemas.openxmlformats.org/drawingml/2006/main" noGrp="1"/>
          </p:cNvSpPr>
          <p:nvPr/>
        </p:nvSpPr>
        <p:spPr>
          <a:xfrm xmlns:a="http://schemas.openxmlformats.org/drawingml/2006/main">
            <a:off x="8248650" y="32766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계산·조건 오류와 근거 밖 보충</a:t>
            </a:r>
          </a:p>
        </p:txBody>
      </p:sp>
      <p:sp>
        <p:nvSpPr>
          <p:cNvPr id="12" name="own-text-11">
            <a:extLst xmlns:a="http://schemas.openxmlformats.org/drawingml/2006/main">
              <a:ext uri="{FF2B5EF4-FFF2-40B4-BE49-F238E27FC236}">
                <a16:creationId xmlns:a16="http://schemas.microsoft.com/office/drawing/2014/main" id="{7E7BE823-B64A-4DB0-BA9C-12DBB6131331}"/>
              </a:ext>
            </a:extLst>
          </p:cNvPr>
          <p:cNvSpPr>
            <a:spLocks xmlns:a="http://schemas.openxmlformats.org/drawingml/2006/main" noGrp="1"/>
          </p:cNvSpPr>
          <p:nvPr/>
        </p:nvSpPr>
        <p:spPr>
          <a:xfrm xmlns:a="http://schemas.openxmlformats.org/drawingml/2006/main">
            <a:off x="8248650" y="3743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Qwen 4B OFF</a:t>
            </a:r>
          </a:p>
        </p:txBody>
      </p:sp>
      <p:sp>
        <p:nvSpPr>
          <p:cNvPr id="13" name="own-text-12">
            <a:extLst xmlns:a="http://schemas.openxmlformats.org/drawingml/2006/main">
              <a:ext uri="{FF2B5EF4-FFF2-40B4-BE49-F238E27FC236}">
                <a16:creationId xmlns:a16="http://schemas.microsoft.com/office/drawing/2014/main" id="{8F40175E-39E8-4EB3-AEB4-7CFC7900CAE1}"/>
              </a:ext>
            </a:extLst>
          </p:cNvPr>
          <p:cNvSpPr>
            <a:spLocks xmlns:a="http://schemas.openxmlformats.org/drawingml/2006/main" noGrp="1"/>
          </p:cNvSpPr>
          <p:nvPr/>
        </p:nvSpPr>
        <p:spPr>
          <a:xfrm xmlns:a="http://schemas.openxmlformats.org/drawingml/2006/main">
            <a:off x="8248650" y="4152900"/>
            <a:ext cx="4857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오답 중 과잉 보류 36.6%</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답하게 만드는 프롬프트 교정을 우선</a:t>
            </a:r>
          </a:p>
        </p:txBody>
      </p:sp>
      <p:sp>
        <p:nvSpPr>
          <p:cNvPr id="14" name="own-text-13">
            <a:extLst xmlns:a="http://schemas.openxmlformats.org/drawingml/2006/main">
              <a:ext uri="{FF2B5EF4-FFF2-40B4-BE49-F238E27FC236}">
                <a16:creationId xmlns:a16="http://schemas.microsoft.com/office/drawing/2014/main" id="{9F73FC9E-E568-49C6-B12F-1C9777532821}"/>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이전 Qwen3, L4·동접 32명·30초 완료 RPS</a:t>
            </a:r>
          </a:p>
        </p:txBody>
      </p:sp>
      <p:graphicFrame>
        <p:nvGraphicFramePr>
          <p:cNvPr id="15" name="Chart">
            <a:extLst xmlns:a="http://schemas.openxmlformats.org/drawingml/2006/main">
              <a:ext uri="{FF2B5EF4-FFF2-40B4-BE49-F238E27FC236}">
                <a16:creationId xmlns:a16="http://schemas.microsoft.com/office/drawing/2014/main" id="{5D70C10D-4A76-4E55-915D-71287042336D}"/>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2d3983aadb1e40c8"/>
          </a:graphicData>
        </a:graphic>
      </p:graphicFrame>
    </p:spTree>
    <p:extLst>
      <p:ext uri="{BB962C8B-B14F-4D97-AF65-F5344CB8AC3E}">
        <p14:creationId xmlns:p14="http://schemas.microsoft.com/office/powerpoint/2010/main" val="971658971"/>
      </p:ext>
    </p:extLst>
  </p:cSld>
</p:sld>
</file>

<file path=ppt/slides/slide30.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4">
            <a:extLst xmlns:a="http://schemas.openxmlformats.org/drawingml/2006/main">
              <a:ext uri="{FF2B5EF4-FFF2-40B4-BE49-F238E27FC236}">
                <a16:creationId xmlns:a16="http://schemas.microsoft.com/office/drawing/2014/main" id="{A92AFF9C-D5E4-436B-A0B6-26EF1443A3E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5">
            <a:extLst xmlns:a="http://schemas.openxmlformats.org/drawingml/2006/main">
              <a:ext uri="{FF2B5EF4-FFF2-40B4-BE49-F238E27FC236}">
                <a16:creationId xmlns:a16="http://schemas.microsoft.com/office/drawing/2014/main" id="{327EEFC3-C3A1-4422-BE1B-B498CE34F5A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6">
            <a:extLst xmlns:a="http://schemas.openxmlformats.org/drawingml/2006/main">
              <a:ext uri="{FF2B5EF4-FFF2-40B4-BE49-F238E27FC236}">
                <a16:creationId xmlns:a16="http://schemas.microsoft.com/office/drawing/2014/main" id="{109CCB42-1126-440C-A56E-FE697F8FEAC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7">
            <a:extLst xmlns:a="http://schemas.openxmlformats.org/drawingml/2006/main">
              <a:ext uri="{FF2B5EF4-FFF2-40B4-BE49-F238E27FC236}">
                <a16:creationId xmlns:a16="http://schemas.microsoft.com/office/drawing/2014/main" id="{F12A457E-5C57-4C85-82E3-23A5BCB9E64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8">
            <a:extLst xmlns:a="http://schemas.openxmlformats.org/drawingml/2006/main">
              <a:ext uri="{FF2B5EF4-FFF2-40B4-BE49-F238E27FC236}">
                <a16:creationId xmlns:a16="http://schemas.microsoft.com/office/drawing/2014/main" id="{7AC6CBAF-488C-420D-A354-3F044CC1E38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10</a:t>
            </a:r>
          </a:p>
        </p:txBody>
      </p:sp>
      <p:sp>
        <p:nvSpPr>
          <p:cNvPr id="6" name="own-text-19">
            <a:extLst xmlns:a="http://schemas.openxmlformats.org/drawingml/2006/main">
              <a:ext uri="{FF2B5EF4-FFF2-40B4-BE49-F238E27FC236}">
                <a16:creationId xmlns:a16="http://schemas.microsoft.com/office/drawing/2014/main" id="{5EEF789F-BAA5-49A5-BD8D-25C3D0FF61E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왼쪽은 6조합 공통 404문항(PI·HR·SR 및 NC·MC 집중 표본). 오른쪽 Q4·Q8은 별도 공통 1,300문항.</a:t>
            </a:r>
          </a:p>
        </p:txBody>
      </p:sp>
      <p:graphicFrame>
        <p:nvGraphicFramePr>
          <p:cNvPr id="7" name="">
            <a:extLst xmlns:a="http://schemas.openxmlformats.org/drawingml/2006/main">
              <a:ext uri="{FF2B5EF4-FFF2-40B4-BE49-F238E27FC236}">
                <a16:creationId xmlns:a16="http://schemas.microsoft.com/office/drawing/2014/main" id="{518AA75E-DC95-4512-9672-9D5468E0BBC0}"/>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t1c</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0">
            <a:extLst xmlns:a="http://schemas.openxmlformats.org/drawingml/2006/main">
              <a:ext uri="{FF2B5EF4-FFF2-40B4-BE49-F238E27FC236}">
                <a16:creationId xmlns:a16="http://schemas.microsoft.com/office/drawing/2014/main" id="{205010E9-6AFD-4412-820B-D62DBA3F3EFC}"/>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21">
            <a:extLst xmlns:a="http://schemas.openxmlformats.org/drawingml/2006/main">
              <a:ext uri="{FF2B5EF4-FFF2-40B4-BE49-F238E27FC236}">
                <a16:creationId xmlns:a16="http://schemas.microsoft.com/office/drawing/2014/main" id="{C4A81F72-B230-43F8-AE5C-02F600D69EDB}"/>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2">
            <a:extLst xmlns:a="http://schemas.openxmlformats.org/drawingml/2006/main">
              <a:ext uri="{FF2B5EF4-FFF2-40B4-BE49-F238E27FC236}">
                <a16:creationId xmlns:a16="http://schemas.microsoft.com/office/drawing/2014/main" id="{2DC98E5E-725C-44A9-9260-1FE6005941CC}"/>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짝 검정 p=0.22 / p=0.85</a:t>
            </a:r>
          </a:p>
        </p:txBody>
      </p:sp>
      <p:sp>
        <p:nvSpPr>
          <p:cNvPr id="11" name="own-text-23">
            <a:extLst xmlns:a="http://schemas.openxmlformats.org/drawingml/2006/main">
              <a:ext uri="{FF2B5EF4-FFF2-40B4-BE49-F238E27FC236}">
                <a16:creationId xmlns:a16="http://schemas.microsoft.com/office/drawing/2014/main" id="{34BCE96E-AA75-4B6C-B373-6C5147C7F2DA}"/>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4">
            <a:extLst xmlns:a="http://schemas.openxmlformats.org/drawingml/2006/main">
              <a:ext uri="{FF2B5EF4-FFF2-40B4-BE49-F238E27FC236}">
                <a16:creationId xmlns:a16="http://schemas.microsoft.com/office/drawing/2014/main" id="{D2ACA51D-724B-46C2-A979-614B8AEC3C16}"/>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5">
            <a:extLst xmlns:a="http://schemas.openxmlformats.org/drawingml/2006/main">
              <a:ext uri="{FF2B5EF4-FFF2-40B4-BE49-F238E27FC236}">
                <a16:creationId xmlns:a16="http://schemas.microsoft.com/office/drawing/2014/main" id="{E0A7858E-AB9B-48B0-87C8-CCD8E1575FC3}"/>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26">
            <a:extLst xmlns:a="http://schemas.openxmlformats.org/drawingml/2006/main">
              <a:ext uri="{FF2B5EF4-FFF2-40B4-BE49-F238E27FC236}">
                <a16:creationId xmlns:a16="http://schemas.microsoft.com/office/drawing/2014/main" id="{C017AA4B-E8B7-4298-8F71-9F5E6F05591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7">
            <a:extLst xmlns:a="http://schemas.openxmlformats.org/drawingml/2006/main">
              <a:ext uri="{FF2B5EF4-FFF2-40B4-BE49-F238E27FC236}">
                <a16:creationId xmlns:a16="http://schemas.microsoft.com/office/drawing/2014/main" id="{2A9A7C99-9A7B-4875-855C-C30248329C1B}"/>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95868052"/>
      </p:ext>
    </p:extLst>
  </p:cSld>
</p:sld>
</file>

<file path=ppt/slides/slide3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28">
            <a:extLst xmlns:a="http://schemas.openxmlformats.org/drawingml/2006/main">
              <a:ext uri="{FF2B5EF4-FFF2-40B4-BE49-F238E27FC236}">
                <a16:creationId xmlns:a16="http://schemas.microsoft.com/office/drawing/2014/main" id="{A07FC4A0-C67A-47A8-938F-040F9C64809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9">
            <a:extLst xmlns:a="http://schemas.openxmlformats.org/drawingml/2006/main">
              <a:ext uri="{FF2B5EF4-FFF2-40B4-BE49-F238E27FC236}">
                <a16:creationId xmlns:a16="http://schemas.microsoft.com/office/drawing/2014/main" id="{654C3C20-9CCB-4A3E-B903-FF7742E5735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0">
            <a:extLst xmlns:a="http://schemas.openxmlformats.org/drawingml/2006/main">
              <a:ext uri="{FF2B5EF4-FFF2-40B4-BE49-F238E27FC236}">
                <a16:creationId xmlns:a16="http://schemas.microsoft.com/office/drawing/2014/main" id="{A950585D-7481-4D40-B5ED-C99A12F426A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v5_i4 비교</a:t>
            </a:r>
          </a:p>
        </p:txBody>
      </p:sp>
      <p:sp>
        <p:nvSpPr>
          <p:cNvPr id="4" name="own-text-31">
            <a:extLst xmlns:a="http://schemas.openxmlformats.org/drawingml/2006/main">
              <a:ext uri="{FF2B5EF4-FFF2-40B4-BE49-F238E27FC236}">
                <a16:creationId xmlns:a16="http://schemas.microsoft.com/office/drawing/2014/main" id="{33CB7BEB-3F2E-42E5-98B6-F30210EF50E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2">
            <a:extLst xmlns:a="http://schemas.openxmlformats.org/drawingml/2006/main">
              <a:ext uri="{FF2B5EF4-FFF2-40B4-BE49-F238E27FC236}">
                <a16:creationId xmlns:a16="http://schemas.microsoft.com/office/drawing/2014/main" id="{0EF85FEB-966F-40CE-8A1F-7EE144AAAD1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11</a:t>
            </a:r>
          </a:p>
        </p:txBody>
      </p:sp>
      <p:sp>
        <p:nvSpPr>
          <p:cNvPr id="6" name="own-text-33">
            <a:extLst xmlns:a="http://schemas.openxmlformats.org/drawingml/2006/main">
              <a:ext uri="{FF2B5EF4-FFF2-40B4-BE49-F238E27FC236}">
                <a16:creationId xmlns:a16="http://schemas.microsoft.com/office/drawing/2014/main" id="{7789CC85-9AB2-435D-8DF6-963C8A41AD1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정확도 차이 p=0.740. HR 유형은 94/100에서 82/100으로 하락. 같은 모델이며 Ollama 0.40.2와 0.40.3 차이가 남음.</a:t>
            </a:r>
          </a:p>
        </p:txBody>
      </p:sp>
      <p:sp>
        <p:nvSpPr>
          <p:cNvPr id="7" name="own-text-34">
            <a:extLst xmlns:a="http://schemas.openxmlformats.org/drawingml/2006/main">
              <a:ext uri="{FF2B5EF4-FFF2-40B4-BE49-F238E27FC236}">
                <a16:creationId xmlns:a16="http://schemas.microsoft.com/office/drawing/2014/main" id="{6CE7F287-3357-40CB-9AF0-9037123AECA9}"/>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4EFB8C62-7316-4018-B3D0-3B4CA9DB3A7E}"/>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1f456c8439d140bd"/>
          </a:graphicData>
        </a:graphic>
      </p:graphicFrame>
      <p:graphicFrame>
        <p:nvGraphicFramePr>
          <p:cNvPr id="9" name="">
            <a:extLst xmlns:a="http://schemas.openxmlformats.org/drawingml/2006/main">
              <a:ext uri="{FF2B5EF4-FFF2-40B4-BE49-F238E27FC236}">
                <a16:creationId xmlns:a16="http://schemas.microsoft.com/office/drawing/2014/main" id="{98AD6AA8-C202-4DE0-9936-816EB4C69948}"/>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35">
            <a:extLst xmlns:a="http://schemas.openxmlformats.org/drawingml/2006/main">
              <a:ext uri="{FF2B5EF4-FFF2-40B4-BE49-F238E27FC236}">
                <a16:creationId xmlns:a16="http://schemas.microsoft.com/office/drawing/2014/main" id="{90CF7378-9968-4763-9931-CDD5D8517129}"/>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6">
            <a:extLst xmlns:a="http://schemas.openxmlformats.org/drawingml/2006/main">
              <a:ext uri="{FF2B5EF4-FFF2-40B4-BE49-F238E27FC236}">
                <a16:creationId xmlns:a16="http://schemas.microsoft.com/office/drawing/2014/main" id="{897E8A8E-9CC5-4F44-9C77-F4FBD12D9911}"/>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867278871"/>
      </p:ext>
    </p:extLst>
  </p:cSld>
</p:sld>
</file>

<file path=ppt/slides/slide3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621EB03-9D49-4EFB-904C-68BCEB0C32C9}"/>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0CD7787-E1CA-454B-BAFE-30C6B97270C9}"/>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9746D0B9-D89A-4DB7-9EC6-003D87F25449}"/>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DEF7395-9BA0-4E2B-A6DF-91DA1B7F0AA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1E32500A-A5D8-4DD9-888F-52AB278BF701}"/>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00C603D6-3CB8-48FF-A953-22B547F1E9F1}"/>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96266E0-7712-46C0-BE84-78239370CDED}"/>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637B4645-F72F-420F-BAF4-BA76576FD95F}"/>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DE9A384-D7CB-4571-AA35-5DD108EA6815}"/>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37">
            <a:extLst xmlns:a="http://schemas.openxmlformats.org/drawingml/2006/main">
              <a:ext uri="{FF2B5EF4-FFF2-40B4-BE49-F238E27FC236}">
                <a16:creationId xmlns:a16="http://schemas.microsoft.com/office/drawing/2014/main" id="{1C08EAE2-DB35-44BE-8E1E-5853EC50237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8">
            <a:extLst xmlns:a="http://schemas.openxmlformats.org/drawingml/2006/main">
              <a:ext uri="{FF2B5EF4-FFF2-40B4-BE49-F238E27FC236}">
                <a16:creationId xmlns:a16="http://schemas.microsoft.com/office/drawing/2014/main" id="{4CAF08C7-7CF8-4788-9FA5-7139BEA7D0C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9">
            <a:extLst xmlns:a="http://schemas.openxmlformats.org/drawingml/2006/main">
              <a:ext uri="{FF2B5EF4-FFF2-40B4-BE49-F238E27FC236}">
                <a16:creationId xmlns:a16="http://schemas.microsoft.com/office/drawing/2014/main" id="{CC597A7D-884A-46FE-98BC-6C84C33FF1B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가드 검사 후 FAQ 검색에 사용</a:t>
            </a:r>
          </a:p>
        </p:txBody>
      </p:sp>
      <p:sp>
        <p:nvSpPr>
          <p:cNvPr id="4" name="own-text-40">
            <a:extLst xmlns:a="http://schemas.openxmlformats.org/drawingml/2006/main">
              <a:ext uri="{FF2B5EF4-FFF2-40B4-BE49-F238E27FC236}">
                <a16:creationId xmlns:a16="http://schemas.microsoft.com/office/drawing/2014/main" id="{A5C978D4-5425-4407-89BC-02D4DDF4342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1">
            <a:extLst xmlns:a="http://schemas.openxmlformats.org/drawingml/2006/main">
              <a:ext uri="{FF2B5EF4-FFF2-40B4-BE49-F238E27FC236}">
                <a16:creationId xmlns:a16="http://schemas.microsoft.com/office/drawing/2014/main" id="{B313B416-03CD-4B47-A16A-990728A51355}"/>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12</a:t>
            </a:r>
          </a:p>
        </p:txBody>
      </p:sp>
      <p:sp>
        <p:nvSpPr>
          <p:cNvPr id="6" name="own-text-42">
            <a:extLst xmlns:a="http://schemas.openxmlformats.org/drawingml/2006/main">
              <a:ext uri="{FF2B5EF4-FFF2-40B4-BE49-F238E27FC236}">
                <a16:creationId xmlns:a16="http://schemas.microsoft.com/office/drawing/2014/main" id="{CB0FD5AF-4F9D-4161-8B2E-84DBFF10C4C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검색 효과는 같은 이력 질문 41건의 정답 FAQ 적중. 네 단계 전체의 최종 답변 정확도를 같은 표본으로 전수 비교한 자료는 없음.</a:t>
            </a:r>
          </a:p>
        </p:txBody>
      </p:sp>
      <p:sp>
        <p:nvSpPr>
          <p:cNvPr id="7" name="pipeline-43">
            <a:extLst xmlns:a="http://schemas.openxmlformats.org/drawingml/2006/main">
              <a:ext uri="{FF2B5EF4-FFF2-40B4-BE49-F238E27FC236}">
                <a16:creationId xmlns:a16="http://schemas.microsoft.com/office/drawing/2014/main" id="{81523121-2A01-42F5-805F-99013BDA5A09}"/>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4">
            <a:extLst xmlns:a="http://schemas.openxmlformats.org/drawingml/2006/main">
              <a:ext uri="{FF2B5EF4-FFF2-40B4-BE49-F238E27FC236}">
                <a16:creationId xmlns:a16="http://schemas.microsoft.com/office/drawing/2014/main" id="{6929C6DF-9D2C-40C0-8EC3-5A60F2851FF2}"/>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5">
            <a:extLst xmlns:a="http://schemas.openxmlformats.org/drawingml/2006/main">
              <a:ext uri="{FF2B5EF4-FFF2-40B4-BE49-F238E27FC236}">
                <a16:creationId xmlns:a16="http://schemas.microsoft.com/office/drawing/2014/main" id="{5F273EDE-0F29-4B9A-8522-CDC5654134E6}"/>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6">
            <a:extLst xmlns:a="http://schemas.openxmlformats.org/drawingml/2006/main">
              <a:ext uri="{FF2B5EF4-FFF2-40B4-BE49-F238E27FC236}">
                <a16:creationId xmlns:a16="http://schemas.microsoft.com/office/drawing/2014/main" id="{DAA09993-2E2C-4423-AB60-37B31F97A5B0}"/>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7">
            <a:extLst xmlns:a="http://schemas.openxmlformats.org/drawingml/2006/main">
              <a:ext uri="{FF2B5EF4-FFF2-40B4-BE49-F238E27FC236}">
                <a16:creationId xmlns:a16="http://schemas.microsoft.com/office/drawing/2014/main" id="{F209A492-A985-493B-956E-8DACFA5AC1AB}"/>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8">
            <a:extLst xmlns:a="http://schemas.openxmlformats.org/drawingml/2006/main">
              <a:ext uri="{FF2B5EF4-FFF2-40B4-BE49-F238E27FC236}">
                <a16:creationId xmlns:a16="http://schemas.microsoft.com/office/drawing/2014/main" id="{057C9C1F-104A-4947-8CE2-017938195EFA}"/>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9">
            <a:extLst xmlns:a="http://schemas.openxmlformats.org/drawingml/2006/main">
              <a:ext uri="{FF2B5EF4-FFF2-40B4-BE49-F238E27FC236}">
                <a16:creationId xmlns:a16="http://schemas.microsoft.com/office/drawing/2014/main" id="{E7012A51-859A-4ED3-B2B3-73AEAD488E1F}"/>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가드</a:t>
            </a:r>
          </a:p>
        </p:txBody>
      </p:sp>
      <p:sp>
        <p:nvSpPr>
          <p:cNvPr id="18" name="pipeline-50">
            <a:extLst xmlns:a="http://schemas.openxmlformats.org/drawingml/2006/main">
              <a:ext uri="{FF2B5EF4-FFF2-40B4-BE49-F238E27FC236}">
                <a16:creationId xmlns:a16="http://schemas.microsoft.com/office/drawing/2014/main" id="{7CC1BFB2-3CD2-4935-86ED-51AE2997D9BE}"/>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1">
            <a:extLst xmlns:a="http://schemas.openxmlformats.org/drawingml/2006/main">
              <a:ext uri="{FF2B5EF4-FFF2-40B4-BE49-F238E27FC236}">
                <a16:creationId xmlns:a16="http://schemas.microsoft.com/office/drawing/2014/main" id="{1450E403-65DA-4898-9BCD-7523CA62AEC5}"/>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2">
            <a:extLst xmlns:a="http://schemas.openxmlformats.org/drawingml/2006/main">
              <a:ext uri="{FF2B5EF4-FFF2-40B4-BE49-F238E27FC236}">
                <a16:creationId xmlns:a16="http://schemas.microsoft.com/office/drawing/2014/main" id="{AD4D7D46-A7D8-49FC-BE6F-D02257995EC9}"/>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2E6CA9AF-32D7-4534-824C-15BA547331BD}"/>
              </a:ext>
            </a:extLst>
          </p:cNvPr>
          <p:cNvGraphicFramePr/>
          <p:nvPr/>
        </p:nvGraphicFramePr>
        <p:xfrm>
          <a:off xmlns:a="http://schemas.openxmlformats.org/drawingml/2006/main" x="628650" y="4981575"/>
          <a:ext xmlns:a="http://schemas.openxmlformats.org/drawingml/2006/main" cx="12458700" cy="1352550"/>
        </p:xfrm>
        <a:graphic xmlns:a="http://schemas.openxmlformats.org/drawingml/2006/main">
          <a:graphicData uri="http://schemas.openxmlformats.org/drawingml/2006/table">
            <a:tbl>
              <a:tblPr/>
              <a:tblGrid>
                <a:gridCol w="3905250"/>
                <a:gridCol w="2571750"/>
                <a:gridCol w="2990850"/>
                <a:gridCol w="2990850"/>
              </a:tblGrid>
              <a:tr h="450850">
                <a:tc>
                  <a:txBody>
                    <a:bodyPr>
                      <a:noAutofit/>
                    </a:bodyPr>
                    <a:lstStyle/>
                    <a:p>
                      <a:r>
                        <a:rPr sz="1800" b="1">
                          <a:solidFill>
                            <a:srgbClr val="FFFFFF"/>
                          </a:solidFill>
                          <a:latin typeface="맑은 고딕"/>
                          <a:ea typeface="맑은 고딕"/>
                          <a:cs typeface="맑은 고딕"/>
                        </a:rPr>
                        <a:t>같은 41개 이력 질문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원문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초기 판정+가드</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검색 전용 재설계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0850">
                <a:tc>
                  <a:txBody>
                    <a:bodyPr>
                      <a:noAutofit/>
                    </a:bodyPr>
                    <a:lstStyle/>
                    <a:p>
                      <a:r>
                        <a:rPr sz="1800" b="0">
                          <a:solidFill>
                            <a:srgbClr val="17171A"/>
                          </a:solidFill>
                          <a:latin typeface="맑은 고딕"/>
                          <a:ea typeface="맑은 고딕"/>
                          <a:cs typeface="맑은 고딕"/>
                        </a:rPr>
                        <a:t>정답 FAQ 적중</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16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25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29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0850">
                <a:tc>
                  <a:txBody>
                    <a:bodyPr>
                      <a:noAutofit/>
                    </a:bodyPr>
                    <a:lstStyle/>
                    <a:p>
                      <a:r>
                        <a:rPr sz="1800" b="1">
                          <a:solidFill>
                            <a:srgbClr val="F72585"/>
                          </a:solidFill>
                          <a:latin typeface="맑은 고딕"/>
                          <a:ea typeface="맑은 고딕"/>
                          <a:cs typeface="맑은 고딕"/>
                        </a:rPr>
                        <a:t>적중률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61.0%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70.7%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275712872"/>
      </p:ext>
    </p:extLst>
  </p:cSld>
</p:sld>
</file>

<file path=ppt/slides/slide3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E449B42-7A07-431E-962C-CBABF2D15805}"/>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53">
            <a:extLst xmlns:a="http://schemas.openxmlformats.org/drawingml/2006/main">
              <a:ext uri="{FF2B5EF4-FFF2-40B4-BE49-F238E27FC236}">
                <a16:creationId xmlns:a16="http://schemas.microsoft.com/office/drawing/2014/main" id="{A7AF0A81-0F1B-460E-9CCB-0D7DE1591D41}"/>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4">
            <a:extLst xmlns:a="http://schemas.openxmlformats.org/drawingml/2006/main">
              <a:ext uri="{FF2B5EF4-FFF2-40B4-BE49-F238E27FC236}">
                <a16:creationId xmlns:a16="http://schemas.microsoft.com/office/drawing/2014/main" id="{EF9FEE7A-D8CB-470E-AD23-4D341B8E83B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5">
            <a:extLst xmlns:a="http://schemas.openxmlformats.org/drawingml/2006/main">
              <a:ext uri="{FF2B5EF4-FFF2-40B4-BE49-F238E27FC236}">
                <a16:creationId xmlns:a16="http://schemas.microsoft.com/office/drawing/2014/main" id="{ADDCAA9A-D278-4F93-99C4-9A546FF5B18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6">
            <a:extLst xmlns:a="http://schemas.openxmlformats.org/drawingml/2006/main">
              <a:ext uri="{FF2B5EF4-FFF2-40B4-BE49-F238E27FC236}">
                <a16:creationId xmlns:a16="http://schemas.microsoft.com/office/drawing/2014/main" id="{9C2CC838-9FA5-4AE3-AC08-DFB33E83FB1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7">
            <a:extLst xmlns:a="http://schemas.openxmlformats.org/drawingml/2006/main">
              <a:ext uri="{FF2B5EF4-FFF2-40B4-BE49-F238E27FC236}">
                <a16:creationId xmlns:a16="http://schemas.microsoft.com/office/drawing/2014/main" id="{5ECA5B31-F03E-48D8-945F-2EAA1575B50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13</a:t>
            </a:r>
          </a:p>
        </p:txBody>
      </p:sp>
      <p:sp>
        <p:nvSpPr>
          <p:cNvPr id="6" name="own-text-58">
            <a:extLst xmlns:a="http://schemas.openxmlformats.org/drawingml/2006/main">
              <a:ext uri="{FF2B5EF4-FFF2-40B4-BE49-F238E27FC236}">
                <a16:creationId xmlns:a16="http://schemas.microsoft.com/office/drawing/2014/main" id="{C881C2B1-A5A2-465E-AFAF-E75273EBFE4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9">
            <a:extLst xmlns:a="http://schemas.openxmlformats.org/drawingml/2006/main">
              <a:ext uri="{FF2B5EF4-FFF2-40B4-BE49-F238E27FC236}">
                <a16:creationId xmlns:a16="http://schemas.microsoft.com/office/drawing/2014/main" id="{CC034C8A-1994-4E20-A936-4D7B10F75AC9}"/>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0">
            <a:extLst xmlns:a="http://schemas.openxmlformats.org/drawingml/2006/main">
              <a:ext uri="{FF2B5EF4-FFF2-40B4-BE49-F238E27FC236}">
                <a16:creationId xmlns:a16="http://schemas.microsoft.com/office/drawing/2014/main" id="{F4B3A445-51EE-42F5-8B49-23942A0872C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1">
            <a:extLst xmlns:a="http://schemas.openxmlformats.org/drawingml/2006/main">
              <a:ext uri="{FF2B5EF4-FFF2-40B4-BE49-F238E27FC236}">
                <a16:creationId xmlns:a16="http://schemas.microsoft.com/office/drawing/2014/main" id="{32D56635-F919-4C7D-B0CF-445CEF9BD31A}"/>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2">
            <a:extLst xmlns:a="http://schemas.openxmlformats.org/drawingml/2006/main">
              <a:ext uri="{FF2B5EF4-FFF2-40B4-BE49-F238E27FC236}">
                <a16:creationId xmlns:a16="http://schemas.microsoft.com/office/drawing/2014/main" id="{C807BC69-FB6C-4E77-A1DC-0E0B39717E68}"/>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3">
            <a:extLst xmlns:a="http://schemas.openxmlformats.org/drawingml/2006/main">
              <a:ext uri="{FF2B5EF4-FFF2-40B4-BE49-F238E27FC236}">
                <a16:creationId xmlns:a16="http://schemas.microsoft.com/office/drawing/2014/main" id="{78B61F3C-B5AD-4B81-9541-01E06D269DC1}"/>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4">
            <a:extLst xmlns:a="http://schemas.openxmlformats.org/drawingml/2006/main">
              <a:ext uri="{FF2B5EF4-FFF2-40B4-BE49-F238E27FC236}">
                <a16:creationId xmlns:a16="http://schemas.microsoft.com/office/drawing/2014/main" id="{4B701CCC-FFEE-4203-95DA-ACCF286938C8}"/>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5">
            <a:extLst xmlns:a="http://schemas.openxmlformats.org/drawingml/2006/main">
              <a:ext uri="{FF2B5EF4-FFF2-40B4-BE49-F238E27FC236}">
                <a16:creationId xmlns:a16="http://schemas.microsoft.com/office/drawing/2014/main" id="{308DCA8C-D304-4C4A-B2AE-75A129E6C61D}"/>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원문·keep의 근거 맞힘은 각각 76/100</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코드 가드는 실제 변형 9/300건 탐지</a:t>
            </a:r>
          </a:p>
        </p:txBody>
      </p:sp>
      <p:sp>
        <p:nvSpPr>
          <p:cNvPr id="15" name="own-text-66">
            <a:extLst xmlns:a="http://schemas.openxmlformats.org/drawingml/2006/main">
              <a:ext uri="{FF2B5EF4-FFF2-40B4-BE49-F238E27FC236}">
                <a16:creationId xmlns:a16="http://schemas.microsoft.com/office/drawing/2014/main" id="{8004261A-28BC-4AD3-86A6-83DB9D399AC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DAD4C58-E2A8-436D-B9A7-FE7CF5A9DA5A}"/>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SA</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67">
            <a:extLst xmlns:a="http://schemas.openxmlformats.org/drawingml/2006/main">
              <a:ext uri="{FF2B5EF4-FFF2-40B4-BE49-F238E27FC236}">
                <a16:creationId xmlns:a16="http://schemas.microsoft.com/office/drawing/2014/main" id="{8ABC999C-9247-4C73-B1BC-7D8C6DCF4426}"/>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8">
            <a:extLst xmlns:a="http://schemas.openxmlformats.org/drawingml/2006/main">
              <a:ext uri="{FF2B5EF4-FFF2-40B4-BE49-F238E27FC236}">
                <a16:creationId xmlns:a16="http://schemas.microsoft.com/office/drawing/2014/main" id="{53674463-5EEC-4C4B-8D30-873D8A771788}"/>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070535735"/>
      </p:ext>
    </p:extLst>
  </p:cSld>
</p:sld>
</file>

<file path=ppt/slides/slide3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A31F1F1-4733-4D02-BAD9-93CFC4D93D59}"/>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C1D4FDCB-7139-4193-B696-DC17E20B1352}"/>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69">
            <a:extLst xmlns:a="http://schemas.openxmlformats.org/drawingml/2006/main">
              <a:ext uri="{FF2B5EF4-FFF2-40B4-BE49-F238E27FC236}">
                <a16:creationId xmlns:a16="http://schemas.microsoft.com/office/drawing/2014/main" id="{D8E51467-2227-4AC4-A86F-2901D335AC9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0">
            <a:extLst xmlns:a="http://schemas.openxmlformats.org/drawingml/2006/main">
              <a:ext uri="{FF2B5EF4-FFF2-40B4-BE49-F238E27FC236}">
                <a16:creationId xmlns:a16="http://schemas.microsoft.com/office/drawing/2014/main" id="{9F9CBD24-316A-4945-9B0F-AC75477B27F2}"/>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slot으로 하위 질문별 출력 제어</a:t>
            </a:r>
          </a:p>
        </p:txBody>
      </p:sp>
      <p:sp>
        <p:nvSpPr>
          <p:cNvPr id="3" name="own-text-71">
            <a:extLst xmlns:a="http://schemas.openxmlformats.org/drawingml/2006/main">
              <a:ext uri="{FF2B5EF4-FFF2-40B4-BE49-F238E27FC236}">
                <a16:creationId xmlns:a16="http://schemas.microsoft.com/office/drawing/2014/main" id="{CDFD3644-DCEC-462A-8CAE-12131243F41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각 질문의 answer와 status를 따로 받고, 코드는 ANSWER 본문만 합쳐 안내를 부착</a:t>
            </a:r>
          </a:p>
        </p:txBody>
      </p:sp>
      <p:sp>
        <p:nvSpPr>
          <p:cNvPr id="4" name="own-text-72">
            <a:extLst xmlns:a="http://schemas.openxmlformats.org/drawingml/2006/main">
              <a:ext uri="{FF2B5EF4-FFF2-40B4-BE49-F238E27FC236}">
                <a16:creationId xmlns:a16="http://schemas.microsoft.com/office/drawing/2014/main" id="{7415F74C-E3A0-4B0F-A27F-D220A27B76E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3">
            <a:extLst xmlns:a="http://schemas.openxmlformats.org/drawingml/2006/main">
              <a:ext uri="{FF2B5EF4-FFF2-40B4-BE49-F238E27FC236}">
                <a16:creationId xmlns:a16="http://schemas.microsoft.com/office/drawing/2014/main" id="{5F7BC7EA-95EC-4146-BF5D-0AF6FC0B368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14</a:t>
            </a:r>
          </a:p>
        </p:txBody>
      </p:sp>
      <p:sp>
        <p:nvSpPr>
          <p:cNvPr id="6" name="own-text-74">
            <a:extLst xmlns:a="http://schemas.openxmlformats.org/drawingml/2006/main">
              <a:ext uri="{FF2B5EF4-FFF2-40B4-BE49-F238E27FC236}">
                <a16:creationId xmlns:a16="http://schemas.microsoft.com/office/drawing/2014/main" id="{9E05DF1E-CB7E-4604-A4CE-FC4A89CFC41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Judge 337문항. 세 모드 모두 분류기 적용. 반복 고지는 모델 본문에서 불가 안내가 두 문장 이상인 경우.</a:t>
            </a:r>
          </a:p>
        </p:txBody>
      </p:sp>
      <p:sp>
        <p:nvSpPr>
          <p:cNvPr id="7" name="pipeline-75">
            <a:extLst xmlns:a="http://schemas.openxmlformats.org/drawingml/2006/main">
              <a:ext uri="{FF2B5EF4-FFF2-40B4-BE49-F238E27FC236}">
                <a16:creationId xmlns:a16="http://schemas.microsoft.com/office/drawing/2014/main" id="{21F498BD-0300-46F6-ADFA-3EF62513BD8E}"/>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ANSWER</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ABSTAIN</a:t>
            </a:r>
          </a:p>
        </p:txBody>
      </p:sp>
      <p:sp>
        <p:nvSpPr>
          <p:cNvPr id="8" name="pipeline-76">
            <a:extLst xmlns:a="http://schemas.openxmlformats.org/drawingml/2006/main">
              <a:ext uri="{FF2B5EF4-FFF2-40B4-BE49-F238E27FC236}">
                <a16:creationId xmlns:a16="http://schemas.microsoft.com/office/drawing/2014/main" id="{2680B548-EC3C-4B43-83DD-1BC5396CAD8A}"/>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ANSWER 본문만 합침</a:t>
            </a:r>
          </a:p>
        </p:txBody>
      </p:sp>
      <p:sp>
        <p:nvSpPr>
          <p:cNvPr id="9" name="pipeline-77">
            <a:extLst xmlns:a="http://schemas.openxmlformats.org/drawingml/2006/main">
              <a:ext uri="{FF2B5EF4-FFF2-40B4-BE49-F238E27FC236}">
                <a16:creationId xmlns:a16="http://schemas.microsoft.com/office/drawing/2014/main" id="{F77FC357-A631-4E09-AFF1-1677848B7413}"/>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코드 고정 안내</a:t>
            </a:r>
          </a:p>
        </p:txBody>
      </p:sp>
      <p:graphicFrame>
        <p:nvGraphicFramePr>
          <p:cNvPr id="12" name="">
            <a:extLst xmlns:a="http://schemas.openxmlformats.org/drawingml/2006/main">
              <a:ext uri="{FF2B5EF4-FFF2-40B4-BE49-F238E27FC236}">
                <a16:creationId xmlns:a16="http://schemas.microsoft.com/office/drawing/2014/main" id="{B1A5EB5A-94A8-4B36-9F93-96E950F9278C}"/>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5000625"/>
                <a:gridCol w="2486025"/>
                <a:gridCol w="2486025"/>
                <a:gridCol w="2486025"/>
              </a:tblGrid>
              <a:tr h="423863">
                <a:tc>
                  <a:txBody>
                    <a:bodyPr>
                      <a:noAutofit/>
                    </a:bodyPr>
                    <a:lstStyle/>
                    <a:p>
                      <a:r>
                        <a:rPr sz="1800"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single</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sub</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slot</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800"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800"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800"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800"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78">
            <a:extLst xmlns:a="http://schemas.openxmlformats.org/drawingml/2006/main">
              <a:ext uri="{FF2B5EF4-FFF2-40B4-BE49-F238E27FC236}">
                <a16:creationId xmlns:a16="http://schemas.microsoft.com/office/drawing/2014/main" id="{40A2F58E-6FEF-428C-A925-8CAB5FB5D988}"/>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9">
            <a:extLst xmlns:a="http://schemas.openxmlformats.org/drawingml/2006/main">
              <a:ext uri="{FF2B5EF4-FFF2-40B4-BE49-F238E27FC236}">
                <a16:creationId xmlns:a16="http://schemas.microsoft.com/office/drawing/2014/main" id="{4D1AE1A0-823B-4C09-8532-9A13109580F3}"/>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1">
                <a:solidFill>
                  <a:srgbClr val="17171A"/>
                </a:solidFill>
                <a:latin typeface="맑은 고딕"/>
                <a:ea typeface="맑은 고딕"/>
                <a:cs typeface="맑은 고딕"/>
              </a:defRPr>
            </a:defPPr>
            <a:lvl1pPr algn="l">
              <a:defRPr sz="1702" b="1">
                <a:solidFill>
                  <a:srgbClr val="17171A"/>
                </a:solidFill>
                <a:latin typeface="맑은 고딕"/>
                <a:ea typeface="맑은 고딕"/>
                <a:cs typeface="맑은 고딕"/>
              </a:defRPr>
            </a:lvl1pPr>
            <a:lvl2pPr algn="l">
              <a:defRPr sz="1702" b="1">
                <a:solidFill>
                  <a:srgbClr val="17171A"/>
                </a:solidFill>
                <a:latin typeface="맑은 고딕"/>
                <a:ea typeface="맑은 고딕"/>
                <a:cs typeface="맑은 고딕"/>
              </a:defRPr>
            </a:lvl2pPr>
            <a:lvl3pPr algn="l">
              <a:defRPr sz="1702" b="1">
                <a:solidFill>
                  <a:srgbClr val="17171A"/>
                </a:solidFill>
                <a:latin typeface="맑은 고딕"/>
                <a:ea typeface="맑은 고딕"/>
                <a:cs typeface="맑은 고딕"/>
              </a:defRPr>
            </a:lvl3pPr>
            <a:lvl4pPr algn="l">
              <a:defRPr sz="1702" b="1">
                <a:solidFill>
                  <a:srgbClr val="17171A"/>
                </a:solidFill>
                <a:latin typeface="맑은 고딕"/>
                <a:ea typeface="맑은 고딕"/>
                <a:cs typeface="맑은 고딕"/>
              </a:defRPr>
            </a:lvl4pPr>
            <a:lvl5pPr algn="l">
              <a:defRPr sz="1702" b="1">
                <a:solidFill>
                  <a:srgbClr val="17171A"/>
                </a:solidFill>
                <a:latin typeface="맑은 고딕"/>
                <a:ea typeface="맑은 고딕"/>
                <a:cs typeface="맑은 고딕"/>
              </a:defRPr>
            </a:lvl5pPr>
            <a:lvl6pPr algn="l">
              <a:defRPr sz="1702" b="1">
                <a:solidFill>
                  <a:srgbClr val="17171A"/>
                </a:solidFill>
                <a:latin typeface="맑은 고딕"/>
                <a:ea typeface="맑은 고딕"/>
                <a:cs typeface="맑은 고딕"/>
              </a:defRPr>
            </a:lvl6pPr>
            <a:lvl7pPr algn="l">
              <a:defRPr sz="1702" b="1">
                <a:solidFill>
                  <a:srgbClr val="17171A"/>
                </a:solidFill>
                <a:latin typeface="맑은 고딕"/>
                <a:ea typeface="맑은 고딕"/>
                <a:cs typeface="맑은 고딕"/>
              </a:defRPr>
            </a:lvl7pPr>
            <a:lvl8pPr algn="l">
              <a:defRPr sz="1702" b="1">
                <a:solidFill>
                  <a:srgbClr val="17171A"/>
                </a:solidFill>
                <a:latin typeface="맑은 고딕"/>
                <a:ea typeface="맑은 고딕"/>
                <a:cs typeface="맑은 고딕"/>
              </a:defRPr>
            </a:lvl8pPr>
            <a:lvl9pPr algn="l">
              <a:defRPr sz="1702" b="1">
                <a:solidFill>
                  <a:srgbClr val="17171A"/>
                </a:solidFill>
                <a:latin typeface="맑은 고딕"/>
                <a:ea typeface="맑은 고딕"/>
                <a:cs typeface="맑은 고딕"/>
              </a:defRPr>
            </a:lvl9pPr>
          </a:lstStyle>
          <a:p xmlns:a="http://schemas.openxmlformats.org/drawingml/2006/main">
            <a:pPr algn="l">
              <a:defRPr sz="1702" b="1">
                <a:solidFill>
                  <a:srgbClr val="17171A"/>
                </a:solidFill>
                <a:latin typeface="맑은 고딕"/>
                <a:ea typeface="맑은 고딕"/>
                <a:cs typeface="맑은 고딕"/>
              </a:defRPr>
            </a:pPr>
            <a:r>
              <a:rPr sz="1702" b="1">
                <a:solidFill>
                  <a:srgbClr val="17171A"/>
                </a:solidFill>
                <a:latin typeface="맑은 고딕"/>
                <a:ea typeface="맑은 고딕"/>
                <a:cs typeface="맑은 고딕"/>
              </a:rPr>
              <a:t>sub 대비 실행 오류 12건에서 1건</a:t>
            </a:r>
          </a:p>
        </p:txBody>
      </p:sp>
    </p:spTree>
    <p:extLst>
      <p:ext uri="{BB962C8B-B14F-4D97-AF65-F5344CB8AC3E}">
        <p14:creationId xmlns:p14="http://schemas.microsoft.com/office/powerpoint/2010/main" val="1865501056"/>
      </p:ext>
    </p:extLst>
  </p:cSld>
</p:sld>
</file>

<file path=ppt/slides/slide3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0" name="own-text-80">
            <a:extLst xmlns:a="http://schemas.openxmlformats.org/drawingml/2006/main">
              <a:ext uri="{FF2B5EF4-FFF2-40B4-BE49-F238E27FC236}">
                <a16:creationId xmlns:a16="http://schemas.microsoft.com/office/drawing/2014/main" id="{22B2166F-37C7-48B3-AEDF-541BEE17DE0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1">
            <a:extLst xmlns:a="http://schemas.openxmlformats.org/drawingml/2006/main">
              <a:ext uri="{FF2B5EF4-FFF2-40B4-BE49-F238E27FC236}">
                <a16:creationId xmlns:a16="http://schemas.microsoft.com/office/drawing/2014/main" id="{E30882E3-96FF-44CF-A575-F7B76D1F6A9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2">
            <a:extLst xmlns:a="http://schemas.openxmlformats.org/drawingml/2006/main">
              <a:ext uri="{FF2B5EF4-FFF2-40B4-BE49-F238E27FC236}">
                <a16:creationId xmlns:a16="http://schemas.microsoft.com/office/drawing/2014/main" id="{2AE6F7A7-68C1-42AD-8168-46DA21C652C8}"/>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3">
            <a:extLst xmlns:a="http://schemas.openxmlformats.org/drawingml/2006/main">
              <a:ext uri="{FF2B5EF4-FFF2-40B4-BE49-F238E27FC236}">
                <a16:creationId xmlns:a16="http://schemas.microsoft.com/office/drawing/2014/main" id="{429689C5-2588-4BBF-91BD-383E7C0D4FD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4">
            <a:extLst xmlns:a="http://schemas.openxmlformats.org/drawingml/2006/main">
              <a:ext uri="{FF2B5EF4-FFF2-40B4-BE49-F238E27FC236}">
                <a16:creationId xmlns:a16="http://schemas.microsoft.com/office/drawing/2014/main" id="{3690F0BC-72B7-4802-9D26-E3D41161749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33</a:t>
            </a:r>
          </a:p>
        </p:txBody>
      </p:sp>
      <p:sp>
        <p:nvSpPr>
          <p:cNvPr id="6" name="own-text-85">
            <a:extLst xmlns:a="http://schemas.openxmlformats.org/drawingml/2006/main">
              <a:ext uri="{FF2B5EF4-FFF2-40B4-BE49-F238E27FC236}">
                <a16:creationId xmlns:a16="http://schemas.microsoft.com/office/drawing/2014/main" id="{2E9202C6-2290-4F4E-B52E-8EE3AF0EDF08}"/>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코드·설정의 기본값. cron은 KST, fixedDelay는 작업 완료 후 대기. 실제 운영 활성값·환경변수에 따라 달라질 수 있음.</a:t>
            </a:r>
          </a:p>
        </p:txBody>
      </p:sp>
      <p:graphicFrame>
        <p:nvGraphicFramePr>
          <p:cNvPr id="7" name="">
            <a:extLst xmlns:a="http://schemas.openxmlformats.org/drawingml/2006/main">
              <a:ext uri="{FF2B5EF4-FFF2-40B4-BE49-F238E27FC236}">
                <a16:creationId xmlns:a16="http://schemas.microsoft.com/office/drawing/2014/main" id="{9E99A0F7-264E-4D4D-9F26-9F482BFAE799}"/>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1">
                          <a:solidFill>
                            <a:srgbClr val="F72585"/>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86">
            <a:extLst xmlns:a="http://schemas.openxmlformats.org/drawingml/2006/main">
              <a:ext uri="{FF2B5EF4-FFF2-40B4-BE49-F238E27FC236}">
                <a16:creationId xmlns:a16="http://schemas.microsoft.com/office/drawing/2014/main" id="{4190A6D7-C225-4A83-91EC-DC34428702C6}"/>
              </a:ext>
            </a:extLst>
          </p:cNvPr>
          <p:cNvSpPr>
            <a:spLocks xmlns:a="http://schemas.openxmlformats.org/drawingml/2006/main" noGrp="1"/>
          </p:cNvSpPr>
          <p:nvPr/>
        </p:nvSpPr>
        <p:spPr>
          <a:xfrm xmlns:a="http://schemas.openxmlformats.org/drawingml/2006/main">
            <a:off x="628650" y="62579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1">
                <a:solidFill>
                  <a:srgbClr val="F72585"/>
                </a:solidFill>
                <a:latin typeface="맑은 고딕"/>
                <a:ea typeface="맑은 고딕"/>
                <a:cs typeface="맑은 고딕"/>
              </a:defRPr>
            </a:defPPr>
            <a:lvl1pPr algn="l">
              <a:defRPr sz="1702" b="1">
                <a:solidFill>
                  <a:srgbClr val="F72585"/>
                </a:solidFill>
                <a:latin typeface="맑은 고딕"/>
                <a:ea typeface="맑은 고딕"/>
                <a:cs typeface="맑은 고딕"/>
              </a:defRPr>
            </a:lvl1pPr>
            <a:lvl2pPr algn="l">
              <a:defRPr sz="1702" b="1">
                <a:solidFill>
                  <a:srgbClr val="F72585"/>
                </a:solidFill>
                <a:latin typeface="맑은 고딕"/>
                <a:ea typeface="맑은 고딕"/>
                <a:cs typeface="맑은 고딕"/>
              </a:defRPr>
            </a:lvl2pPr>
            <a:lvl3pPr algn="l">
              <a:defRPr sz="1702" b="1">
                <a:solidFill>
                  <a:srgbClr val="F72585"/>
                </a:solidFill>
                <a:latin typeface="맑은 고딕"/>
                <a:ea typeface="맑은 고딕"/>
                <a:cs typeface="맑은 고딕"/>
              </a:defRPr>
            </a:lvl3pPr>
            <a:lvl4pPr algn="l">
              <a:defRPr sz="1702" b="1">
                <a:solidFill>
                  <a:srgbClr val="F72585"/>
                </a:solidFill>
                <a:latin typeface="맑은 고딕"/>
                <a:ea typeface="맑은 고딕"/>
                <a:cs typeface="맑은 고딕"/>
              </a:defRPr>
            </a:lvl4pPr>
            <a:lvl5pPr algn="l">
              <a:defRPr sz="1702" b="1">
                <a:solidFill>
                  <a:srgbClr val="F72585"/>
                </a:solidFill>
                <a:latin typeface="맑은 고딕"/>
                <a:ea typeface="맑은 고딕"/>
                <a:cs typeface="맑은 고딕"/>
              </a:defRPr>
            </a:lvl5pPr>
            <a:lvl6pPr algn="l">
              <a:defRPr sz="1702" b="1">
                <a:solidFill>
                  <a:srgbClr val="F72585"/>
                </a:solidFill>
                <a:latin typeface="맑은 고딕"/>
                <a:ea typeface="맑은 고딕"/>
                <a:cs typeface="맑은 고딕"/>
              </a:defRPr>
            </a:lvl6pPr>
            <a:lvl7pPr algn="l">
              <a:defRPr sz="1702" b="1">
                <a:solidFill>
                  <a:srgbClr val="F72585"/>
                </a:solidFill>
                <a:latin typeface="맑은 고딕"/>
                <a:ea typeface="맑은 고딕"/>
                <a:cs typeface="맑은 고딕"/>
              </a:defRPr>
            </a:lvl7pPr>
            <a:lvl8pPr algn="l">
              <a:defRPr sz="1702" b="1">
                <a:solidFill>
                  <a:srgbClr val="F72585"/>
                </a:solidFill>
                <a:latin typeface="맑은 고딕"/>
                <a:ea typeface="맑은 고딕"/>
                <a:cs typeface="맑은 고딕"/>
              </a:defRPr>
            </a:lvl8pPr>
            <a:lvl9pPr algn="l">
              <a:defRPr sz="1702" b="1">
                <a:solidFill>
                  <a:srgbClr val="F72585"/>
                </a:solidFill>
                <a:latin typeface="맑은 고딕"/>
                <a:ea typeface="맑은 고딕"/>
                <a:cs typeface="맑은 고딕"/>
              </a:defRPr>
            </a:lvl9pPr>
          </a:lstStyle>
          <a:p xmlns:a="http://schemas.openxmlformats.org/drawingml/2006/main">
            <a:pPr algn="l">
              <a:defRPr sz="1702" b="1">
                <a:solidFill>
                  <a:srgbClr val="F72585"/>
                </a:solidFill>
                <a:latin typeface="맑은 고딕"/>
                <a:ea typeface="맑은 고딕"/>
                <a:cs typeface="맑은 고딕"/>
              </a:defRPr>
            </a:pPr>
            <a:r>
              <a:rPr sz="1702" b="1">
                <a:solidFill>
                  <a:srgbClr val="F72585"/>
                </a:solidFill>
                <a:latin typeface="맑은 고딕"/>
                <a:ea typeface="맑은 고딕"/>
                <a:cs typeface="맑은 고딕"/>
              </a:rPr>
              <a:t>담당 구현</a:t>
            </a:r>
          </a:p>
        </p:txBody>
      </p:sp>
      <p:sp>
        <p:nvSpPr>
          <p:cNvPr id="9" name="own-text-87">
            <a:extLst xmlns:a="http://schemas.openxmlformats.org/drawingml/2006/main">
              <a:ext uri="{FF2B5EF4-FFF2-40B4-BE49-F238E27FC236}">
                <a16:creationId xmlns:a16="http://schemas.microsoft.com/office/drawing/2014/main" id="{2D02354F-65C3-4D44-AFF2-FD61B2068BF7}"/>
              </a:ext>
            </a:extLst>
          </p:cNvPr>
          <p:cNvSpPr>
            <a:spLocks xmlns:a="http://schemas.openxmlformats.org/drawingml/2006/main" noGrp="1"/>
          </p:cNvSpPr>
          <p:nvPr/>
        </p:nvSpPr>
        <p:spPr>
          <a:xfrm xmlns:a="http://schemas.openxmlformats.org/drawingml/2006/main">
            <a:off x="2571750" y="6238875"/>
            <a:ext cx="1051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보관 정리: 분산 잠금, 1,000건 단위 commit, 실패 시 재시도</a:t>
            </a:r>
          </a:p>
        </p:txBody>
      </p:sp>
    </p:spTree>
    <p:extLst>
      <p:ext uri="{BB962C8B-B14F-4D97-AF65-F5344CB8AC3E}">
        <p14:creationId xmlns:p14="http://schemas.microsoft.com/office/powerpoint/2010/main" val="1310516285"/>
      </p:ext>
    </p:extLst>
  </p:cSld>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1191</ep:Words>
  <ep:PresentationFormat>On-screen Show (16:9)</ep:PresentationFormat>
  <ep:Paragraphs>363</ep:Paragraphs>
  <ep:Slides>24</ep:Slides>
  <ep:Notes>1</ep:Notes>
  <ep:TotalTime>0</ep:TotalTime>
  <ep:HiddenSlides>0</ep:HiddenSlides>
  <ep:MMClips>0</ep:MMClips>
  <ep:HeadingPairs>
    <vt:vector size="4" baseType="variant">
      <vt:variant>
        <vt:lpstr>테마</vt:lpstr>
      </vt:variant>
      <vt:variant>
        <vt:i4>1</vt:i4>
      </vt:variant>
      <vt:variant>
        <vt:lpstr>슬라이드 제목</vt:lpstr>
      </vt:variant>
      <vt:variant>
        <vt:i4>24</vt:i4>
      </vt:variant>
    </vt:vector>
  </ep:HeadingPairs>
  <ep:TitlesOfParts>
    <vt:vector size="25" baseType="lpstr">
      <vt:lpstr>UBot</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2026-10-25T05:22:11.000</dcterms:created>
  <dc:creator>PptxGenJS</dc:creator>
  <cp:lastModifiedBy>gart0</cp:lastModifiedBy>
  <dcterms:modified xsi:type="dcterms:W3CDTF">2026-10-25T15:05:15.202</dcterms:modified>
  <cp:revision>8</cp:revision>
  <dc:subject>PptxGenJS Presentation</dc:subject>
  <dc:title>PptxGenJS Presentation</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