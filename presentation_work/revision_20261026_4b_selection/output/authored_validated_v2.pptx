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slides/charts/chart1.xml" ContentType="application/vnd.openxmlformats-officedocument.drawingml.chart+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2.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f0871824bf48404e" /><Relationship Type="http://schemas.openxmlformats.org/officeDocument/2006/relationships/extended-properties" Target="/docProps/app.xml" Id="R897534c658d84183" /><Relationship Type="http://schemas.openxmlformats.org/officeDocument/2006/relationships/officeDocument" Target="/ppt/presentation.xml" Id="R3554df9240984a69" /></Relationships>
</file>

<file path=ppt/presentation.xml><?xml version="1.0" encoding="utf-8"?>
<p:presentation xmlns:p="http://schemas.openxmlformats.org/presentationml/2006/main">
  <p:sldMasterIdLst>
    <p:sldMasterId xmlns:r="http://schemas.openxmlformats.org/officeDocument/2006/relationships" id="2147483648" r:id="R3fcf8495a70145c3"/>
  </p:sldMasterIdLst>
  <p:notesMasterIdLst>
    <p:notesMasterId xmlns:r="http://schemas.openxmlformats.org/officeDocument/2006/relationships" r:id="R23297b0e992b4985"/>
  </p:notesMasterIdLst>
  <p:sldIdLst>
    <p:sldId xmlns:r="http://schemas.openxmlformats.org/officeDocument/2006/relationships" id="256" r:id="R7f55d1aa8a9e48da"/>
    <p:sldId xmlns:r="http://schemas.openxmlformats.org/officeDocument/2006/relationships" id="257" r:id="R1433908687bd4d48"/>
    <p:sldId xmlns:r="http://schemas.openxmlformats.org/officeDocument/2006/relationships" id="258" r:id="Rb4e09010a1e2419a"/>
    <p:sldId xmlns:r="http://schemas.openxmlformats.org/officeDocument/2006/relationships" id="259" r:id="R911ab6c166e84d5b"/>
    <p:sldId xmlns:r="http://schemas.openxmlformats.org/officeDocument/2006/relationships" id="260" r:id="R1161c4d2f2a84937"/>
    <p:sldId xmlns:r="http://schemas.openxmlformats.org/officeDocument/2006/relationships" id="261" r:id="R731b8283aac44b75"/>
    <p:sldId xmlns:r="http://schemas.openxmlformats.org/officeDocument/2006/relationships" id="262" r:id="Rd80ea7c0de004d16"/>
    <p:sldId xmlns:r="http://schemas.openxmlformats.org/officeDocument/2006/relationships" id="263" r:id="R3c5aea1862474827"/>
  </p:sldIdLst>
  <p:sldSz cx="13716000" cy="7715250"/>
  <p:notesSz cx="6858000" cy="9144000"/>
  <p:defaultText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a82eb9d28f044687" /><Relationship Type="http://schemas.openxmlformats.org/officeDocument/2006/relationships/slideMaster" Target="/ppt/slideMasters/slideMaster1.xml" Id="R3fcf8495a70145c3" /><Relationship Type="http://schemas.openxmlformats.org/officeDocument/2006/relationships/notesMaster" Target="/ppt/notesMasters/notesMaster1.xml" Id="R23297b0e992b4985" /><Relationship Type="http://schemas.openxmlformats.org/officeDocument/2006/relationships/presProps" Target="/ppt/presProps.xml" Id="R43b8f3ce62124785" /><Relationship Type="http://schemas.openxmlformats.org/officeDocument/2006/relationships/viewProps" Target="/ppt/viewProps.xml" Id="Rf0203a32912b4629" /><Relationship Type="http://schemas.openxmlformats.org/officeDocument/2006/relationships/tableStyles" Target="/ppt/tableStyles.xml" Id="Rb051ecd013554aa3" /><Relationship Type="http://schemas.openxmlformats.org/officeDocument/2006/relationships/slide" Target="/ppt/slides/slide1.xml" Id="R7f55d1aa8a9e48da" /><Relationship Type="http://schemas.openxmlformats.org/officeDocument/2006/relationships/slide" Target="/ppt/slides/slide2.xml" Id="R1433908687bd4d48" /><Relationship Type="http://schemas.openxmlformats.org/officeDocument/2006/relationships/slide" Target="/ppt/slides/slide3.xml" Id="Rb4e09010a1e2419a" /><Relationship Type="http://schemas.openxmlformats.org/officeDocument/2006/relationships/slide" Target="/ppt/slides/slide4.xml" Id="R911ab6c166e84d5b" /><Relationship Type="http://schemas.openxmlformats.org/officeDocument/2006/relationships/slide" Target="/ppt/slides/slide5.xml" Id="R1161c4d2f2a84937" /><Relationship Type="http://schemas.openxmlformats.org/officeDocument/2006/relationships/slide" Target="/ppt/slides/slide6.xml" Id="R731b8283aac44b75" /><Relationship Type="http://schemas.openxmlformats.org/officeDocument/2006/relationships/slide" Target="/ppt/slides/slide7.xml" Id="Rd80ea7c0de004d16" /><Relationship Type="http://schemas.openxmlformats.org/officeDocument/2006/relationships/slide" Target="/ppt/slides/slide8.xml" Id="R3c5aea186247482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ec42f26ef87471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UBot">
  <a:themeElements>
    <a:clrScheme name="UBot">
      <a:dk1>
        <a:srgbClr val="17171A"/>
      </a:dk1>
      <a:lt1>
        <a:srgbClr val="FFFFFF"/>
      </a:lt1>
      <a:dk2>
        <a:srgbClr val="17171A"/>
      </a:dk2>
      <a:lt2>
        <a:srgbClr val="F6F7F8"/>
      </a:lt2>
      <a:accent1>
        <a:srgbClr val="F72585"/>
      </a:accent1>
      <a:accent2>
        <a:srgbClr val="E5E6E9"/>
      </a:accent2>
      <a:accent3>
        <a:srgbClr val="686B72"/>
      </a:accent3>
      <a:accent4>
        <a:srgbClr val="D91370"/>
      </a:accent4>
      <a:accent5>
        <a:srgbClr val="6F55DD"/>
      </a:accent5>
      <a:accent6>
        <a:srgbClr val="4B3BB5"/>
      </a:accent6>
      <a:hlink>
        <a:srgbClr val="F72585"/>
      </a:hlink>
      <a:folHlink>
        <a:srgbClr val="686B72"/>
      </a:folHlink>
    </a:clrScheme>
    <a:fontScheme name="UBot">
      <a:majorFont>
        <a:latin typeface="맑은 고딕"/>
        <a:ea typeface="맑은 고딕"/>
        <a:cs typeface=""/>
        <a:font script="Jpan" typeface="Yu Gothic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맑은 고딕"/>
        <a:cs typeface=""/>
        <a:font script="Jpan" typeface="Yu Gothic"/>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UBot">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e0412e214814f95" /><Relationship Type="http://schemas.openxmlformats.org/officeDocument/2006/relationships/notesMaster" Target="/ppt/notesMasters/notesMaster1.xml" Id="Re15522a000944da8" /></Relationships>
</file>

<file path=ppt/notesSlides/_rels/notesSlide2.xml.rels>&#65279;<?xml version="1.0" encoding="utf-8"?><Relationships xmlns="http://schemas.openxmlformats.org/package/2006/relationships"><Relationship Type="http://schemas.openxmlformats.org/officeDocument/2006/relationships/slide" Target="/ppt/slides/slide2.xml" Id="R50c8c037649a4a78" /><Relationship Type="http://schemas.openxmlformats.org/officeDocument/2006/relationships/notesMaster" Target="/ppt/notesMasters/notesMaster1.xml" Id="Ra22feec2282545e0" /></Relationships>
</file>

<file path=ppt/notesSlides/_rels/notesSlide3.xml.rels>&#65279;<?xml version="1.0" encoding="utf-8"?><Relationships xmlns="http://schemas.openxmlformats.org/package/2006/relationships"><Relationship Type="http://schemas.openxmlformats.org/officeDocument/2006/relationships/slide" Target="/ppt/slides/slide3.xml" Id="Rac157e9153bc4892" /><Relationship Type="http://schemas.openxmlformats.org/officeDocument/2006/relationships/notesMaster" Target="/ppt/notesMasters/notesMaster1.xml" Id="R93cb9b6d6c254019" /></Relationships>
</file>

<file path=ppt/notesSlides/_rels/notesSlide4.xml.rels>&#65279;<?xml version="1.0" encoding="utf-8"?><Relationships xmlns="http://schemas.openxmlformats.org/package/2006/relationships"><Relationship Type="http://schemas.openxmlformats.org/officeDocument/2006/relationships/slide" Target="/ppt/slides/slide4.xml" Id="R89940b6186584129" /><Relationship Type="http://schemas.openxmlformats.org/officeDocument/2006/relationships/notesMaster" Target="/ppt/notesMasters/notesMaster1.xml" Id="R3dca65d6006c41ed" /></Relationships>
</file>

<file path=ppt/notesSlides/_rels/notesSlide5.xml.rels>&#65279;<?xml version="1.0" encoding="utf-8"?><Relationships xmlns="http://schemas.openxmlformats.org/package/2006/relationships"><Relationship Type="http://schemas.openxmlformats.org/officeDocument/2006/relationships/slide" Target="/ppt/slides/slide5.xml" Id="R141d801897a24a34" /><Relationship Type="http://schemas.openxmlformats.org/officeDocument/2006/relationships/notesMaster" Target="/ppt/notesMasters/notesMaster1.xml" Id="Rd67b47fd82954260" /></Relationships>
</file>

<file path=ppt/notesSlides/_rels/notesSlide6.xml.rels>&#65279;<?xml version="1.0" encoding="utf-8"?><Relationships xmlns="http://schemas.openxmlformats.org/package/2006/relationships"><Relationship Type="http://schemas.openxmlformats.org/officeDocument/2006/relationships/slide" Target="/ppt/slides/slide6.xml" Id="R9d60d4be25c34656" /><Relationship Type="http://schemas.openxmlformats.org/officeDocument/2006/relationships/notesMaster" Target="/ppt/notesMasters/notesMaster1.xml" Id="R9720529391a34a60" /></Relationships>
</file>

<file path=ppt/notesSlides/_rels/notesSlide7.xml.rels>&#65279;<?xml version="1.0" encoding="utf-8"?><Relationships xmlns="http://schemas.openxmlformats.org/package/2006/relationships"><Relationship Type="http://schemas.openxmlformats.org/officeDocument/2006/relationships/slide" Target="/ppt/slides/slide7.xml" Id="R17340a35daf64226" /><Relationship Type="http://schemas.openxmlformats.org/officeDocument/2006/relationships/notesMaster" Target="/ppt/notesMasters/notesMaster1.xml" Id="R49b574c91e8c4f49" /></Relationships>
</file>

<file path=ppt/notesSlides/_rels/notesSlide8.xml.rels>&#65279;<?xml version="1.0" encoding="utf-8"?><Relationships xmlns="http://schemas.openxmlformats.org/package/2006/relationships"><Relationship Type="http://schemas.openxmlformats.org/officeDocument/2006/relationships/slide" Target="/ppt/slides/slide8.xml" Id="Recfb58d8bc2b4597" /><Relationship Type="http://schemas.openxmlformats.org/officeDocument/2006/relationships/notesMaster" Target="/ppt/notesMasters/notesMaster1.xml" Id="R3cbe728f2ae94e9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메모 (24초)</a:t>
            </a:r>
          </a:p>
          <a:p xmlns:a="http://schemas.openxmlformats.org/drawingml/2006/main">
            <a:r>
              <a:t>여러 모델에 같은 FAQ 문제를 주고 정답과 환각을 전수 평가했습니다. 조건과 예외, 자료가 없을 때의 대응, 멀티턴과 공격도 봤습니다. 큰 모델은 정확도가 높아도 동시 서빙 부담이 있어 4B 후보를 다시 평가했습니다. 두4B의 오류 차이와 최종 튜닝 대상 선정 근거는 다음 장에서 보겠습니다.</a:t>
            </a:r>
          </a:p>
          <a:p xmlns:a="http://schemas.openxmlformats.org/drawingml/2006/main">
            <a:r>
              <a:t/>
            </a:r>
          </a:p>
          <a:p xmlns:a="http://schemas.openxmlformats.org/drawingml/2006/main">
            <a:r>
              <a:t>비교 조건과 해석</a:t>
            </a:r>
          </a:p>
          <a:p xmlns:a="http://schemas.openxmlformats.org/drawingml/2006/main">
            <a:r>
              <a:t>v2 try1=9모델, 표본 검수 26건과 결정론 형식 지표. v2 try2 Qwen1.7B 정답47%=300건 Judge. v3 EXAONE7.8B 기대 ABSTAIN88건 중0; Qwen4B ON P95 47.6초. v3의 1차 MVP는 Qwen14B OFF였고, v4에서 작은4B 모델의 튜닝을 검토했다. 이를 처음부터4B가 전 지표 최고였다고 설명하지 않는다. v4 오답 중 과잉보류 Qwen352/962=36.6%, Gemma32/908=3.5%. Qwen 실제로 답한 문항의 정확도77%는 선택 편향이 있어 전체 정확도로 쓰지 않는다. L4 vLLM P32/U32 30초 단회 RPS4B9.13/8B6.10/14B3.33은 이전 Qwen3 계열, 최종 Instruct w4a16 직접 측정이 아니다. 품질 및 지연 SLO를 적용한 보장 수용량도 아니다.</a:t>
            </a:r>
          </a:p>
          <a:p xmlns:a="http://schemas.openxmlformats.org/drawingml/2006/main">
            <a:r>
              <a:t/>
            </a:r>
          </a:p>
          <a:p xmlns:a="http://schemas.openxmlformats.org/drawingml/2006/main">
            <a:r>
              <a:t>근거</a:t>
            </a:r>
          </a:p>
          <a:p xmlns:a="http://schemas.openxmlformats.org/drawingml/2006/main">
            <a:r>
              <a:t>C:/Ureka/ureca_project2/LLM_Test/model_test_v2/try1/results/all_summary.md</a:t>
            </a:r>
          </a:p>
          <a:p xmlns:a="http://schemas.openxmlformats.org/drawingml/2006/main">
            <a:r>
              <a:t>C:/Ureka/ureca_project2/LLM_Test/model_test_v2/try2/results/all_summary.md</a:t>
            </a:r>
          </a:p>
          <a:p xmlns:a="http://schemas.openxmlformats.org/drawingml/2006/main">
            <a:r>
              <a:t>C:/Ureka/ureca_project2/LLM_Test/model_test_v3/try1/results/all_summary.md</a:t>
            </a:r>
          </a:p>
          <a:p xmlns:a="http://schemas.openxmlformats.org/drawingml/2006/main">
            <a:r>
              <a:t>C:/Ureka/ureca_project2/LLM_Test/model_test_v3/try1/results/summary/model_selection.md</a:t>
            </a:r>
          </a:p>
          <a:p xmlns:a="http://schemas.openxmlformats.org/drawingml/2006/main">
            <a:r>
              <a:t>C:/Ureka/ureca_project2/LLM_Test/model_test_v4/try1/results/summary/brief_report.md</a:t>
            </a:r>
          </a:p>
          <a:p xmlns:a="http://schemas.openxmlformats.org/drawingml/2006/main">
            <a:r>
              <a:t>C:/Ureka/ureca_project2/LLM_Test/model_test_v4/try1/results/summary/tuning_target_decision.md</a:t>
            </a:r>
          </a:p>
          <a:p xmlns:a="http://schemas.openxmlformats.org/drawingml/2006/main">
            <a:r>
              <a:t>C:/Ureka/ureca_project2/LLM_Test/servingtest/l4/reports/L4_MULTIMODEL_RESULTS_20261006.md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메모 (38초)</a:t>
            </a:r>
          </a:p>
          <a:p xmlns:a="http://schemas.openxmlformats.org/drawingml/2006/main">
            <a:r>
              <a:t>전체 정답률은Gemma가2.1%포인트높았지만,오답의종류를다시봤습니다. Qwen오답의36.6%는답할수있는내용을보류한경우였고,352건중255건은환각도없었습니다. 실제로답한문항에서는정답률과계산형정답률이더높았습니다. 반대로답이없는670문항에서Gemma는오답18.4%,환각31.9%로Qwen보다높았고,답변가능으로출력한경우에도환각률이18.3%였습니다. 그래서보류안정성과프롬프트교정가능성을보고Qwen을튜닝대상으로정했습니다.</a:t>
            </a:r>
          </a:p>
          <a:p xmlns:a="http://schemas.openxmlformats.org/drawingml/2006/main">
            <a:r>
              <a:t/>
            </a:r>
          </a:p>
          <a:p xmlns:a="http://schemas.openxmlformats.org/drawingml/2006/main">
            <a:r>
              <a:t>비교 조건과 해석</a:t>
            </a:r>
          </a:p>
          <a:p xmlns:a="http://schemas.openxmlformats.org/drawingml/2006/main">
            <a:r>
              <a:t>주요근거=tuning_target_decision.md1-1·1-2. RT제외Gemma2598/Qwen2600,전체정답률65.05%/63.0%. 과잉보류32/908=3.5%,352/962=36.6%;그중환각없음15/255. 기대ANSWER이며본문도ANSWER인선택표본정답922/1319=69.9%,839/1090=77.0%;계산CE/UI/AR정답188/392=48.0%,156/281=55.5%. 답한표본은모델별로다르므로전체정답률또는보류를답변으로바꿨을때의예상정답률이아님. 기대보류계열830건(ABSTAIN670/CONFLICT90/OUT_OF_SCOPE70)정답660/724=79.5%/87.2%. 기대ABSTAIN670건오답123/71=18.4%/10.6%,환각214/143=31.9%/21.3%. 출력라벨ANSWER환각240/1313=18.3%,48/577=8.3%;본문ANSWER기준환각과구분. 정답과환각은독립이므로두비율을더하지않는다. 계산오적용은환각과별개일수있다. Qwen계산형답변환각62/281=22.1%로Gemma66/392=16.8%보다높은위험도남음. 따라서Gemma의보류를전혀통제할수없다거나Qwen이모든영역에서더안전하다는결론은아님. 우측사례CE-0031/UI-0055는결정문1-5. 1-3의근거→보류→본문연결,1-4의불필요한되묻기는관측된교정가설근거. 이후개선효과는다음프롬프트슬라이드의같은표본으로검증해야함. v3/v4의환각률차이를튜닝효과로연결하지않는다.</a:t>
            </a:r>
          </a:p>
          <a:p xmlns:a="http://schemas.openxmlformats.org/drawingml/2006/main">
            <a:r>
              <a:t/>
            </a:r>
          </a:p>
          <a:p xmlns:a="http://schemas.openxmlformats.org/drawingml/2006/main">
            <a:r>
              <a:t>근거</a:t>
            </a:r>
          </a:p>
          <a:p xmlns:a="http://schemas.openxmlformats.org/drawingml/2006/main">
            <a:r>
              <a:t>C:/Ureka/ureca_project2/LLM_Test/model_test_v4/try1/results/summary/tuning_target_decision.md</a:t>
            </a:r>
          </a:p>
          <a:p xmlns:a="http://schemas.openxmlformats.org/drawingml/2006/main">
            <a:r>
              <a:t>C:/Ureka/ureca_project2/LLM_Test/presentation_work/revision_20261026_4b_selection/selection_metrics.json</a:t>
            </a:r>
          </a:p>
          <a:p xmlns:a="http://schemas.openxmlformats.org/drawingml/2006/main">
            <a:r>
              <a:t>C:/Ureka/ureca_project2/LLM_Test/presentation_work/revision_20261026_4b_selection/derive_selection_metrics.py</a:t>
            </a:r>
          </a:p>
          <a:p xmlns:a="http://schemas.openxmlformats.org/drawingml/2006/main">
            <a:r>
              <a:t>C:/Ureka/ureca_project2/LLM_Test/presentation_work/evidence_20261026/gemma_v3_v4_and_status.json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메모 (27초)</a:t>
            </a:r>
          </a:p>
          <a:p xmlns:a="http://schemas.openxmlformats.org/drawingml/2006/main">
            <a:r>
              <a:t>OFF를 튜닝한 뒤에도 Instruct의 정답 이점이 남았습니다. 기본 프롬프트만 적용한 Instruct Q4가 마지막 OFF 튜닝보다 공통 표본에서 더 정확했습니다. Q8은 전체 평가에서 정확도와 환각 차이가 유의하지 않았지만 응답 시간과 가중치 용량이 늘었습니다. 그래서 Q4를 택하고, 남은 추측성 덧붙임을 프롬프트로 교정했습니다.</a:t>
            </a:r>
          </a:p>
          <a:p xmlns:a="http://schemas.openxmlformats.org/drawingml/2006/main">
            <a:r>
              <a:t/>
            </a:r>
          </a:p>
          <a:p xmlns:a="http://schemas.openxmlformats.org/drawingml/2006/main">
            <a:r>
              <a:t>비교 조건과 해석</a:t>
            </a:r>
          </a:p>
          <a:p xmlns:a="http://schemas.openxmlformats.org/drawingml/2006/main">
            <a:r>
              <a:t>공통404건은 OFF 초안254정답96환각, t1c313/99, GemmaQ4 283/120, GemmaQAT290/172, InstructQ4 344/93, InstructQ8 354/90. GemmaQAT HR-0163 미채점1건을 제외했다. t1c와Instruct만 비교한405건=314/99 vs345/93, 정확도+7.65%p(p=.00117), 환각 차이 유의하지 않음(p=.645). NC·MC는 OFF 오답을 집중한 표본으로 전체 정확도의 대표 표본이 아니다. 미측정895건을 OFF 기준선 유지한 t1c 합성1,300건 정확도66.77%,환각23.08%는 실측이 아니므로 본문 표에 넣지 않았다. Q4/Q8 1,300건 정답77.5/78.8 환각26.2/26.5 p=.22/.85. 평균응답2.61/3.49초·파일2.5/4.3GB는 T4 순차측정이고 Q4와Q8의 동시성 직접 비교가 아니다. 4bit가 동시 서빙 여유에 유리할 것으로 고려한 판단과 실측을 구분한다. Instruct의 답먼저 키 순서와 모델·프롬프트·로컬/EC2 환경 차이가 섞여 순수 모델 단독 효과는 아니다.</a:t>
            </a:r>
          </a:p>
          <a:p xmlns:a="http://schemas.openxmlformats.org/drawingml/2006/main">
            <a:r>
              <a:t/>
            </a:r>
          </a:p>
          <a:p xmlns:a="http://schemas.openxmlformats.org/drawingml/2006/main">
            <a:r>
              <a:t>근거</a:t>
            </a:r>
          </a:p>
          <a:p xmlns:a="http://schemas.openxmlformats.org/drawingml/2006/main">
            <a:r>
              <a:t>C:/Ureka/ureca_project2/LLM_Test/presentation_work/revision_20261026_4b_selection/slide_metrics.json</a:t>
            </a:r>
          </a:p>
          <a:p xmlns:a="http://schemas.openxmlformats.org/drawingml/2006/main">
            <a:r>
              <a:t>C:/Ureka/ureca_project2/LLM_Test/presentation_work/evidence_20261026/off_tuned_vs_instruct.json</a:t>
            </a:r>
          </a:p>
          <a:p xmlns:a="http://schemas.openxmlformats.org/drawingml/2006/main">
            <a:r>
              <a:t>C:/Ureka/ureca_project2/LLM_Test/model_test_v5/try1/results/summary/quantization_decision.md</a:t>
            </a:r>
          </a:p>
          <a:p xmlns:a="http://schemas.openxmlformats.org/drawingml/2006/main">
            <a:r>
              <a:t>C:/Ureka/ureca_project2/LLM_Test/model_test_v5/try1/results/summary/cause_breakdown.md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메모 (24초)</a:t>
            </a:r>
          </a:p>
          <a:p xmlns:a="http://schemas.openxmlformats.org/drawingml/2006/main">
            <a:r>
              <a:t>프롬프트로 가장 크게 줄인 것은 환각과 불필요한 되묻기입니다. 같은900문항에서 환각은184건에서122건, 되묻기는126건에서1건으로 줄었습니다. 50자 제한으로 생긴 누락을 되돌리고, 중복된 고지 지시를 한곳으로 모았습니다. 다만 전체 정확도 상승은 확인되지 않았고, FAQ번호와 반복 표현은 여전히 남아 다음 출력 구조 개선으로 이어졌습니다.</a:t>
            </a:r>
          </a:p>
          <a:p xmlns:a="http://schemas.openxmlformats.org/drawingml/2006/main">
            <a:r>
              <a:t/>
            </a:r>
          </a:p>
          <a:p xmlns:a="http://schemas.openxmlformats.org/drawingml/2006/main">
            <a:r>
              <a:t>비교 조건과 해석</a:t>
            </a:r>
          </a:p>
          <a:p xmlns:a="http://schemas.openxmlformats.org/drawingml/2006/main">
            <a:r>
              <a:t>base→i4 정답703→698/900 p=.73988. 환각184→122=−6.89%p 상대−33.7%, McNemar p=.00000168. asks126→1. FAQID147→77. 반복303→234는 문서의4범주(불가문장이중화/따라서재진술/문장재진술/질문복사) 코드집계이며 단순동일문장반복 규칙은900건모두0이다. 다음slot슬라이드의 반복고지81→0 또는 문장2gram재진술22→22와 같은 지표·표본이 아니므로 234→0으로 이어붙이지 않는다. 현재 백엔드는 파생slot프롬프트를 쓰며13.56%는 전체최종파이프라인환각률이 아니다.</a:t>
            </a:r>
          </a:p>
          <a:p xmlns:a="http://schemas.openxmlformats.org/drawingml/2006/main">
            <a:r>
              <a:t/>
            </a:r>
          </a:p>
          <a:p xmlns:a="http://schemas.openxmlformats.org/drawingml/2006/main">
            <a:r>
              <a:t>근거</a:t>
            </a:r>
          </a:p>
          <a:p xmlns:a="http://schemas.openxmlformats.org/drawingml/2006/main">
            <a:r>
              <a:t>C:/Ureka/ureca_project2/LLM_Test/prompts_test_v7/try1/results/llm_judge/pv7-try1_variant_compare_vs_v4_base.md</a:t>
            </a:r>
          </a:p>
          <a:p xmlns:a="http://schemas.openxmlformats.org/drawingml/2006/main">
            <a:r>
              <a:t>C:/Ureka/ureca_project2/LLM_Test/prompts_test_v7/try1/results/summary/failure_analysis.md</a:t>
            </a:r>
          </a:p>
          <a:p xmlns:a="http://schemas.openxmlformats.org/drawingml/2006/main">
            <a:r>
              <a:t>C:/Ureka/ureca_project2/LLM_Test/prompts_test_v7/SETUP.md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메모 (30초)</a:t>
            </a:r>
          </a:p>
          <a:p xmlns:a="http://schemas.openxmlformats.org/drawingml/2006/main">
            <a:r>
              <a:t>여러 질문을 나누고 생략된 대상을 복원하기 위해 판정 모델을 도입했습니다. 분리나 멀티턴 표지가 없는 질문은 먼저 원문으로 검색하고, 기준을 통과하면 판정을 건너뜁니다. 질문 분리100건 전체에서 필요한FAQ를 모두 찾은 문항은 판정 없이69건, 초기 판정81건, 개선 판정84건입니다. 질문 개수를 맞게 나눈 문항도81건에서90건이 됐습니다. 이는 답변 정확도가 아니라 검색과 분리 성능입니다.</a:t>
            </a:r>
          </a:p>
          <a:p xmlns:a="http://schemas.openxmlformats.org/drawingml/2006/main">
            <a:r>
              <a:t/>
            </a:r>
          </a:p>
          <a:p xmlns:a="http://schemas.openxmlformats.org/drawingml/2006/main">
            <a:r>
              <a:t>비교 조건과 해석</a:t>
            </a:r>
          </a:p>
          <a:p xmlns:a="http://schemas.openxmlformats.org/drawingml/2006/main">
            <a:r>
              <a:t>별도 질문분리100건·정답의도201개. final/split/split-analysis.json의 원문·old·search 저장검색 결과에서 재집계. 모든 의도 정답 FAQ 검색=69/81/84, 의도별 FAQ 적중=161/181/182; 기준 top3·score&gt;=.75. 질문 개수 일치=초기81/개선90. 문서의 2차 재설계 현재 운영 프롬프트와 같은 결과다. 질문·gold는 AI 생성, 사람 검수 전이고 단회 실행. 전체 기능평가200건(이력 없음141/있음59)과 별도 제작100건이므로 같은300건 전후 비교로 합산하지 않는다. 기존41건은200건에서 이력59건 중 정답FAQ가 지정된41건만 추린 초기진단이었다. 그 수치를 전체 테스트로 해석하면 안 되므로 본문에서 별도100건 전체 결과로 교체했다. 원문 검색은 저장 벡터검색 기준선이며 구버전 전체API 실측이 아니다. 초기/분류기/slot의 종단 정답·환각 완전공통4단계 자료는 없고 분류기는 실제 호출 생략 수를 다음 장에서 제시한다.</a:t>
            </a:r>
          </a:p>
          <a:p xmlns:a="http://schemas.openxmlformats.org/drawingml/2006/main">
            <a:r>
              <a:t/>
            </a:r>
          </a:p>
          <a:p xmlns:a="http://schemas.openxmlformats.org/drawingml/2006/main">
            <a:r>
              <a:t>근거</a:t>
            </a:r>
          </a:p>
          <a:p xmlns:a="http://schemas.openxmlformats.org/drawingml/2006/main">
            <a:r>
              <a:t>C:/Ureka/ureca_project2/BackEnd/docs/질문분리_멀티턴_테스트_보고서.md</a:t>
            </a:r>
          </a:p>
          <a:p xmlns:a="http://schemas.openxmlformats.org/drawingml/2006/main">
            <a:r>
              <a:t>C:/Ureka/ureca_project2/eval_205_multiturn/docs-evaluation/2026-10-16-split/final/split/split-analysis.json</a:t>
            </a:r>
          </a:p>
          <a:p xmlns:a="http://schemas.openxmlformats.org/drawingml/2006/main">
            <a:r>
              <a:t>C:/Ureka/ureca_project2/LLM_Test/presentation_work/revision_20261026_4b_selection/feedback_metrics.json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메모 (30초)</a:t>
            </a:r>
          </a:p>
          <a:p xmlns:a="http://schemas.openxmlformats.org/drawingml/2006/main">
            <a:r>
              <a:t>판정모델이검색어를잘만들어도뜻을바꾸면답변이오염될수있습니다. 그래서검색어는검색에만쓰고답변에는원문과원문조각을줬습니다. 선정한전파사례는8건에서3건으로줄었지만이를전체환각감소율로쓰지는않았습니다. 분류기는실제390건중174건의판정호출을생략했고,기본단건은50건중49건이판정없이끝났습니다.</a:t>
            </a:r>
          </a:p>
          <a:p xmlns:a="http://schemas.openxmlformats.org/drawingml/2006/main">
            <a:r>
              <a:t/>
            </a:r>
          </a:p>
          <a:p xmlns:a="http://schemas.openxmlformats.org/drawingml/2006/main">
            <a:r>
              <a:t>비교 조건과 해석</a:t>
            </a:r>
          </a:p>
          <a:p xmlns:a="http://schemas.openxmlformats.org/drawingml/2006/main">
            <a:r>
              <a:t>원문/keep100건근거맞힘76/20일부/4틀림동일:원문전달이항상정답률을높인실험은아니고의미변형전파를피하려는설계다. 초기HANDOFF의선정전파사례8→3은반복실행·독립Judge의정량환각률이아니다. 가드300출력에서9개(명령6부정3)실제변형·관측오탐0,검증세트튜닝및미탐한계. 이전답변오류주입8건중2~3건전파되어이력도멀티턴에만제공. 분류기초기200평가이력없는141중66생략,이력59중4원문검색종료로합계70/200=35%는경로분석수치. 최종390trace실측은planner_called216,ORIGINAL_SEARCH_FIRST174;SA50중1호출49생략. 항상1회판정하면390회라는설계기준과대비한절감이며상태모델/도구/출력재호출등전체LLM호출은아니다. 현재네단계전체동일종단정답률자료는없다.</a:t>
            </a:r>
          </a:p>
          <a:p xmlns:a="http://schemas.openxmlformats.org/drawingml/2006/main">
            <a:r>
              <a:t/>
            </a:r>
          </a:p>
          <a:p xmlns:a="http://schemas.openxmlformats.org/drawingml/2006/main">
            <a:r>
              <a:t>근거</a:t>
            </a:r>
          </a:p>
          <a:p xmlns:a="http://schemas.openxmlformats.org/drawingml/2006/main">
            <a:r>
              <a:t>C:/Ureka/ureca_project2/BackEnd/docs/질문분리_멀티턴_테스트_보고서.md</a:t>
            </a:r>
          </a:p>
          <a:p xmlns:a="http://schemas.openxmlformats.org/drawingml/2006/main">
            <a:r>
              <a:t>C:/Ureka/ureca_project2/eval_205_multiturn/docs-evaluation/2026-10-15-keep-search/HANDOFF.md</a:t>
            </a:r>
          </a:p>
          <a:p xmlns:a="http://schemas.openxmlformats.org/drawingml/2006/main">
            <a:r>
              <a:t>C:/Ureka/ureca_project2/LLM_Test/presentation_work/evidence_20261026/recomputed_metrics.json</a:t>
            </a:r>
          </a:p>
          <a:p xmlns:a="http://schemas.openxmlformats.org/drawingml/2006/main">
            <a:r>
              <a:t>C:/Ureka/ureca_project2/LLM_Test/presentation_work/revision_20261026_4b_selection/slide_metrics.json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메모 (31초)</a:t>
            </a:r>
          </a:p>
          <a:p xmlns:a="http://schemas.openxmlformats.org/drawingml/2006/main">
            <a:r>
              <a:t>프롬프트만으로남았던고지문제는출력단위를바꿔제어했습니다. 질문별칸에서답할수있는본문만남기고보류안내는코드가붙입니다. 공통337문항에서FAQ번호노출은17,3,0건이고반복고지는81,12,0건입니다. 하지만일반문장재진술은single과slot이모두22건으로남았습니다. 이개선은전체정답이나환각의일괄개선과구분해야합니다.</a:t>
            </a:r>
          </a:p>
          <a:p xmlns:a="http://schemas.openxmlformats.org/drawingml/2006/main">
            <a:r>
              <a:t/>
            </a:r>
          </a:p>
          <a:p xmlns:a="http://schemas.openxmlformats.org/drawingml/2006/main">
            <a:r>
              <a:t>비교 조건과 해석</a:t>
            </a:r>
          </a:p>
          <a:p xmlns:a="http://schemas.openxmlformats.org/drawingml/2006/main">
            <a:r>
              <a:t>single_v1/sub_v4/slot_v4세모드의공통Judge337문항. 정답276/257/270,환각44/30/33. Native표는모두같은337ID. 모든390건의FAQID17/3/0·반복고지81/12/0과동일. 반복고지는기존case_scores.leak.notice_sentences길이&gt;=2로집계하여FAQ인용문장제외. 일반재진술은문장최소12개2gram·작은쪽집합대비중복60%이상인쌍이있는응답수이며새보조지표. 모든반복표현이나프롬프트900건303→234와직접비교하지않는다. 최종사용자본문의반복고지는single81/sub70/slot2로코드안내도포함하므로모델본문0과다르다. 전체390건모델·코드중복고지sub67→slot1. sub실행오류LLM00512→slotCHAT0211(LLM0050). single도오류1이므로single대비오류개선아님. sub/slot공통339정답259→272 p=.0596;환각30→33 p=.743. single/slot공통350정답284→278 p=.418,환각44→36 p=.302. 품질향상통계적입증없음. 후속feat277가드는같은390에서정답률71.35/환각12.92로달라져이390slot실험을현재배포전체성능이라고하지않는다.</a:t>
            </a:r>
          </a:p>
          <a:p xmlns:a="http://schemas.openxmlformats.org/drawingml/2006/main">
            <a:r>
              <a:t/>
            </a:r>
          </a:p>
          <a:p xmlns:a="http://schemas.openxmlformats.org/drawingml/2006/main">
            <a:r>
              <a:t>근거</a:t>
            </a:r>
          </a:p>
          <a:p xmlns:a="http://schemas.openxmlformats.org/drawingml/2006/main">
            <a:r>
              <a:t>C:/Ureka/ureca_project2/LLM_Test/presentation_work/revision_20261026_4b_selection/derive_slide_metrics.py</a:t>
            </a:r>
          </a:p>
          <a:p xmlns:a="http://schemas.openxmlformats.org/drawingml/2006/main">
            <a:r>
              <a:t>C:/Ureka/ureca_project2/LLM_Test/presentation_work/revision_20261026_4b_selection/slide_metrics.json</a:t>
            </a:r>
          </a:p>
          <a:p xmlns:a="http://schemas.openxmlformats.org/drawingml/2006/main">
            <a:r>
              <a:t>C:/Ureka/ureca_project2/LLM_Test/pipeline_test_v4/try2/results/all_summary.md</a:t>
            </a:r>
          </a:p>
          <a:p xmlns:a="http://schemas.openxmlformats.org/drawingml/2006/main">
            <a:r>
              <a:t>C:/Ureka/ureca_project2/LLM_Test/pipeline_test_v1/try1/results/interim_summary.md</a:t>
            </a:r>
          </a:p>
          <a:p xmlns:a="http://schemas.openxmlformats.org/drawingml/2006/main">
            <a:r>
              <a:t>C:/Ureka/ureca_project2/LLM_Test/pipeline_test_v5/try1/results/all_summary.md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메모 (24초)</a:t>
            </a:r>
          </a:p>
          <a:p xmlns:a="http://schemas.openxmlformats.org/drawingml/2006/main">
            <a:r>
              <a:t>스케줄러는팀전체기능을주기와역할로묶었습니다. 예약이나요금일정에맞춰알림을보내고,사용량이한도에도달하면안내합니다. FAQ랭킹과미응답그룹이름도정기적으로갱신합니다. 이외에기간이지난데이터정리,관리자검토작업,비동기처리와상담복구를주기적으로실행합니다.</a:t>
            </a:r>
          </a:p>
          <a:p xmlns:a="http://schemas.openxmlformats.org/drawingml/2006/main">
            <a:r>
              <a:t/>
            </a:r>
          </a:p>
          <a:p xmlns:a="http://schemas.openxmlformats.org/drawingml/2006/main">
            <a:r>
              <a:t>비교 조건과 해석</a:t>
            </a:r>
          </a:p>
          <a:p xmlns:a="http://schemas.openxmlformats.org/drawingml/2006/main">
            <a:r>
              <a:t>예약24/6/1h,납부기한0~3일·연체1~30일미납액&gt;0,로밍시작/종료D1/D0,약정할부D30/D7/D1,데이터80/100단계중복방지. 보관정리질문원문과연결3개월뒤익명화·집계행3년,로그예약알림주로3개월·구독청구5년등프로젝트정책이며법률적합성주장아님. ShedLock최소10분최대30분·1분간격최대3회재시도·하위부터삭제. FAQ랭킹20분창top5·최소10회·2일기준·급상승비율5. 미응답이름5분간격batch10·최근질문10·20분예산. 검토매분은예약시점확인,기본DBenabledfalse·interval1440분·관리자5~43200분설정;매분LLM분석아님. Outboxbatch20최대5재시도base10초. 상담5초maintainSessions/recoverPending와별도문장색인,검토worker2초·alert5초,금칙어캐시5초,취소구독15초,적체지표초기30초후5분. app.role별예약/worker분리조건존재. 실제활성화및운영성공률미조회.</a:t>
            </a:r>
          </a:p>
          <a:p xmlns:a="http://schemas.openxmlformats.org/drawingml/2006/main">
            <a:r>
              <a:t/>
            </a:r>
          </a:p>
          <a:p xmlns:a="http://schemas.openxmlformats.org/drawingml/2006/main">
            <a:r>
              <a:t>근거</a:t>
            </a:r>
          </a:p>
          <a:p xmlns:a="http://schemas.openxmlformats.org/drawingml/2006/main">
            <a:r>
              <a:t>C:/Ureka/ureca_project2/BackEnd/src/main/resources/application.yml</a:t>
            </a:r>
          </a:p>
          <a:p xmlns:a="http://schemas.openxmlformats.org/drawingml/2006/main">
            <a:r>
              <a:t>C:/Ureka/ureca_project2/BackEnd/src/main/java/com/ubot/retention/scheduler/DataRetentionScheduler.java</a:t>
            </a:r>
          </a:p>
          <a:p xmlns:a="http://schemas.openxmlformats.org/drawingml/2006/main">
            <a:r>
              <a:t>C:/Ureka/ureca_project2/BackEnd/src/main/resources/db/migration/R__purge_expired_data.sql</a:t>
            </a:r>
          </a:p>
          <a:p xmlns:a="http://schemas.openxmlformats.org/drawingml/2006/main">
            <a:r>
              <a:t>C:/Ureka/ureca_project2/LLM_Test/presentation_work/evidence_20261026/evidence_review.json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6cc993b29c14159"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c867a35bac44408" /><Relationship Type="http://schemas.openxmlformats.org/officeDocument/2006/relationships/slideLayout" Target="/ppt/slideLayouts/slideLayout1.xml" Id="R39f7a4da55ff49cc"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9f7a4da55ff49cc"/>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UBot">
  <a:themeElements>
    <a:clrScheme name="UBot">
      <a:dk1>
        <a:srgbClr val="17171A"/>
      </a:dk1>
      <a:lt1>
        <a:srgbClr val="FFFFFF"/>
      </a:lt1>
      <a:dk2>
        <a:srgbClr val="17171A"/>
      </a:dk2>
      <a:lt2>
        <a:srgbClr val="F6F7F8"/>
      </a:lt2>
      <a:accent1>
        <a:srgbClr val="F72585"/>
      </a:accent1>
      <a:accent2>
        <a:srgbClr val="E5E6E9"/>
      </a:accent2>
      <a:accent3>
        <a:srgbClr val="686B72"/>
      </a:accent3>
      <a:accent4>
        <a:srgbClr val="D91370"/>
      </a:accent4>
      <a:accent5>
        <a:srgbClr val="6F55DD"/>
      </a:accent5>
      <a:accent6>
        <a:srgbClr val="4B3BB5"/>
      </a:accent6>
      <a:hlink>
        <a:srgbClr val="F72585"/>
      </a:hlink>
      <a:folHlink>
        <a:srgbClr val="686B72"/>
      </a:folHlink>
    </a:clrScheme>
    <a:fontScheme name="UBot">
      <a:majorFont>
        <a:latin typeface="맑은 고딕"/>
        <a:ea typeface="맑은 고딕"/>
        <a:cs typeface=""/>
        <a:font script="Jpan" typeface="Yu Gothic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맑은 고딕"/>
        <a:cs typeface=""/>
        <a:font script="Jpan" typeface="Yu Gothic"/>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UBot">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39ab052ac6948b0" /><Relationship Type="http://schemas.openxmlformats.org/officeDocument/2006/relationships/chart" Target="/ppt/slides/charts/chart1.xml" Id="R334a79df351a4d30" /><Relationship Type="http://schemas.openxmlformats.org/officeDocument/2006/relationships/notesSlide" Target="/ppt/notesSlides/notesSlide1.xml" Id="Rc09295b97926452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a91d3deeef34505" /><Relationship Type="http://schemas.openxmlformats.org/officeDocument/2006/relationships/notesSlide" Target="/ppt/notesSlides/notesSlide2.xml" Id="R67b173110f8c4e6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849a8292aa14f21" /><Relationship Type="http://schemas.openxmlformats.org/officeDocument/2006/relationships/notesSlide" Target="/ppt/notesSlides/notesSlide3.xml" Id="R39a385f4ae2847e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fea936e44de405e" /><Relationship Type="http://schemas.openxmlformats.org/officeDocument/2006/relationships/chart" Target="/ppt/slides/charts/chart2.xml" Id="Rd89d4c2e614c4057" /><Relationship Type="http://schemas.openxmlformats.org/officeDocument/2006/relationships/notesSlide" Target="/ppt/notesSlides/notesSlide4.xml" Id="R2e543778e24d4ac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1177cc417e042ad" /><Relationship Type="http://schemas.openxmlformats.org/officeDocument/2006/relationships/notesSlide" Target="/ppt/notesSlides/notesSlide5.xml" Id="R0be7c0d478604c7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0dd948f5ac24478" /><Relationship Type="http://schemas.openxmlformats.org/officeDocument/2006/relationships/notesSlide" Target="/ppt/notesSlides/notesSlide6.xml" Id="R8a5a593126f04f2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4d93917b9dd4ab9" /><Relationship Type="http://schemas.openxmlformats.org/officeDocument/2006/relationships/notesSlide" Target="/ppt/notesSlides/notesSlide7.xml" Id="R745f48c2ca2541d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919bc1e22a04e30" /><Relationship Type="http://schemas.openxmlformats.org/officeDocument/2006/relationships/notesSlide" Target="/ppt/notesSlides/notesSlide8.xml" Id="Rc3c38b2731eb4e5e"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HTTP 완료 RPS</c:v>
          </c:tx>
          <c:spPr>
            <a:solidFill xmlns:a="http://schemas.openxmlformats.org/drawingml/2006/main">
              <a:srgbClr val="F72585"/>
            </a:solidFill>
          </c:spPr>
          <c:invertIfNegative val="0"/>
          <c:cat>
            <c:strRef>
              <c:f>'Chart Data'!$A$2:$A$4</c:f>
              <c:strCache>
                <c:ptCount val="3"/>
                <c:pt idx="0">
                  <c:v>4B</c:v>
                </c:pt>
                <c:pt idx="1">
                  <c:v>8B</c:v>
                </c:pt>
                <c:pt idx="2">
                  <c:v>14B</c:v>
                </c:pt>
              </c:strCache>
            </c:strRef>
          </c:cat>
          <c:val>
            <c:numRef>
              <c:f>'Chart Data'!$B$2:$B$4</c:f>
              <c:numCache>
                <c:formatCode>General</c:formatCode>
                <c:ptCount val="3"/>
                <c:pt idx="0">
                  <c:v>9.13</c:v>
                </c:pt>
                <c:pt idx="1">
                  <c:v>6.1</c:v>
                </c:pt>
                <c:pt idx="2">
                  <c:v>3.33</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725" b="1">
                  <a:solidFill>
                    <a:srgbClr val="17171A"/>
                  </a:solidFill>
                  <a:latin typeface="맑은 고딕"/>
                  <a:ea typeface="맑은 고딕"/>
                  <a:cs typeface="맑은 고딕"/>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DDDE1"/>
            </a:solidFill>
          </a:ln>
        </c:spPr>
        <c:txPr>
          <a:bodyPr xmlns:a="http://schemas.openxmlformats.org/drawingml/2006/main" anchorCtr="1"/>
          <a:lstStyle xmlns:a="http://schemas.openxmlformats.org/drawingml/2006/main"/>
          <a:p xmlns:a="http://schemas.openxmlformats.org/drawingml/2006/main">
            <a:pPr>
              <a:defRPr sz="1425">
                <a:solidFill>
                  <a:srgbClr val="17171A"/>
                </a:solidFill>
                <a:latin typeface="맑은 고딕"/>
                <a:ea typeface="맑은 고딕"/>
                <a:cs typeface="맑은 고딕"/>
              </a:defRPr>
            </a:pPr>
          </a:p>
        </c:txPr>
        <c:crossAx val="48672768"/>
      </c:catAx>
      <c:valAx>
        <c:axId val="48672768"/>
        <c:scaling>
          <c:orientation val="minMax"/>
          <c:max val="12"/>
          <c:min val="0"/>
        </c:scaling>
        <c:delete val="0"/>
        <c:axPos val="l"/>
        <c:majorGridlines>
          <c:spPr>
            <a:ln xmlns:a="http://schemas.openxmlformats.org/drawingml/2006/main" w="6668">
              <a:solidFill>
                <a:srgbClr val="DDDDE1"/>
              </a:solidFill>
            </a:ln>
          </c:spPr>
        </c:majorGridlines>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75">
                <a:solidFill>
                  <a:srgbClr val="686B72"/>
                </a:solidFill>
                <a:latin typeface="맑은 고딕"/>
                <a:ea typeface="맑은 고딕"/>
                <a:cs typeface="맑은 고딕"/>
              </a:defRPr>
            </a:pPr>
          </a:p>
        </c:txPr>
        <c:crossAx val="48650112"/>
        <c:crossBetween val="between"/>
        <c:majorUnit val="3"/>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기본 프롬프트</c:v>
          </c:tx>
          <c:spPr>
            <a:solidFill xmlns:a="http://schemas.openxmlformats.org/drawingml/2006/main">
              <a:srgbClr val="B9BAC1"/>
            </a:solidFill>
          </c:spPr>
          <c:invertIfNegative val="0"/>
          <c:cat>
            <c:strRef>
              <c:f>'Chart Data'!$A$2:$A$3</c:f>
              <c:strCache>
                <c:ptCount val="2"/>
                <c:pt idx="0">
                  <c:v>환각</c:v>
                </c:pt>
                <c:pt idx="1">
                  <c:v>되묻기</c:v>
                </c:pt>
              </c:strCache>
            </c:strRef>
          </c:cat>
          <c:val>
            <c:numRef>
              <c:f>'Chart Data'!$B$2:$B$3</c:f>
              <c:numCache>
                <c:formatCode>General</c:formatCode>
                <c:ptCount val="2"/>
                <c:pt idx="0">
                  <c:v>20.44</c:v>
                </c:pt>
                <c:pt idx="1">
                  <c:v>14</c:v>
                </c:pt>
              </c:numCache>
            </c:numRef>
          </c:val>
        </c:ser>
        <c:ser>
          <c:idx val="1"/>
          <c:order val="1"/>
          <c:tx>
            <c:v>개선 프롬프트</c:v>
          </c:tx>
          <c:spPr>
            <a:solidFill xmlns:a="http://schemas.openxmlformats.org/drawingml/2006/main">
              <a:srgbClr val="F72585"/>
            </a:solidFill>
          </c:spPr>
          <c:invertIfNegative val="0"/>
          <c:cat>
            <c:strRef>
              <c:f>'Chart Data'!$C$2:$C$3</c:f>
              <c:strCache>
                <c:ptCount val="2"/>
                <c:pt idx="0">
                  <c:v>환각</c:v>
                </c:pt>
                <c:pt idx="1">
                  <c:v>되묻기</c:v>
                </c:pt>
              </c:strCache>
            </c:strRef>
          </c:cat>
          <c:val>
            <c:numRef>
              <c:f>'Chart Data'!$D$2:$D$3</c:f>
              <c:numCache>
                <c:formatCode>General</c:formatCode>
                <c:ptCount val="2"/>
                <c:pt idx="0">
                  <c:v>13.56</c:v>
                </c:pt>
                <c:pt idx="1">
                  <c:v>0.11</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725" b="1">
                  <a:solidFill>
                    <a:srgbClr val="17171A"/>
                  </a:solidFill>
                  <a:latin typeface="맑은 고딕"/>
                  <a:ea typeface="맑은 고딕"/>
                  <a:cs typeface="맑은 고딕"/>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DDDE1"/>
            </a:solidFill>
          </a:ln>
        </c:spPr>
        <c:txPr>
          <a:bodyPr xmlns:a="http://schemas.openxmlformats.org/drawingml/2006/main" anchorCtr="1"/>
          <a:lstStyle xmlns:a="http://schemas.openxmlformats.org/drawingml/2006/main"/>
          <a:p xmlns:a="http://schemas.openxmlformats.org/drawingml/2006/main">
            <a:pPr>
              <a:defRPr sz="1425">
                <a:solidFill>
                  <a:srgbClr val="17171A"/>
                </a:solidFill>
                <a:latin typeface="맑은 고딕"/>
                <a:ea typeface="맑은 고딕"/>
                <a:cs typeface="맑은 고딕"/>
              </a:defRPr>
            </a:pPr>
          </a:p>
        </c:txPr>
        <c:crossAx val="48672768"/>
      </c:catAx>
      <c:valAx>
        <c:axId val="48672768"/>
        <c:scaling>
          <c:orientation val="minMax"/>
          <c:max val="25"/>
          <c:min val="0"/>
        </c:scaling>
        <c:delete val="0"/>
        <c:axPos val="l"/>
        <c:majorGridlines>
          <c:spPr>
            <a:ln xmlns:a="http://schemas.openxmlformats.org/drawingml/2006/main" w="6668">
              <a:solidFill>
                <a:srgbClr val="DDDDE1"/>
              </a:solidFill>
            </a:ln>
          </c:spPr>
        </c:majorGridlines>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75">
                <a:solidFill>
                  <a:srgbClr val="686B72"/>
                </a:solidFill>
                <a:latin typeface="맑은 고딕"/>
                <a:ea typeface="맑은 고딕"/>
                <a:cs typeface="맑은 고딕"/>
              </a:defRPr>
            </a:pPr>
          </a:p>
        </c:txPr>
        <c:crossAx val="48650112"/>
        <c:crossBetween val="between"/>
        <c:majorUnit val="5"/>
      </c:valAx>
      <c:spPr>
        <a:noFill xmlns:a="http://schemas.openxmlformats.org/drawingml/2006/main"/>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686B72"/>
              </a:solidFill>
              <a:latin typeface="맑은 고딕"/>
              <a:ea typeface="맑은 고딕"/>
              <a:cs typeface="맑은 고딕"/>
            </a:defRPr>
          </a:pPr>
        </a:p>
      </c:txPr>
    </c:legend>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sp>
        <p:nvSpPr>
          <p:cNvPr id="15" name="own-text-1">
            <a:extLst xmlns:a="http://schemas.openxmlformats.org/drawingml/2006/main">
              <a:ext uri="{FF2B5EF4-FFF2-40B4-BE49-F238E27FC236}">
                <a16:creationId xmlns:a16="http://schemas.microsoft.com/office/drawing/2014/main" id="{608A326C-AAF5-4C26-A24B-F58CF024D8F2}"/>
              </a:ext>
            </a:extLst>
          </p:cNvPr>
          <p:cNvSpPr>
            <a:spLocks xmlns:a="http://schemas.openxmlformats.org/drawingml/2006/main" noGrp="1"/>
          </p:cNvSpPr>
          <p:nvPr/>
        </p:nvSpPr>
        <p:spPr>
          <a:xfrm xmlns:a="http://schemas.openxmlformats.org/drawingml/2006/main">
            <a:off x="628650" y="420053"/>
            <a:ext cx="11430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xmlns:a="http://schemas.openxmlformats.org/drawingml/2006/main">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모델 선정</a:t>
            </a:r>
          </a:p>
        </p:txBody>
      </p:sp>
      <p:sp>
        <p:nvSpPr>
          <p:cNvPr id="2" name="own-text-2">
            <a:extLst xmlns:a="http://schemas.openxmlformats.org/drawingml/2006/main">
              <a:ext uri="{FF2B5EF4-FFF2-40B4-BE49-F238E27FC236}">
                <a16:creationId xmlns:a16="http://schemas.microsoft.com/office/drawing/2014/main" id="{7CE94359-FA73-4A32-90C3-DF3C5B07C359}"/>
              </a:ext>
            </a:extLst>
          </p:cNvPr>
          <p:cNvSpPr>
            <a:spLocks xmlns:a="http://schemas.openxmlformats.org/drawingml/2006/main" noGrp="1"/>
          </p:cNvSpPr>
          <p:nvPr/>
        </p:nvSpPr>
        <p:spPr>
          <a:xfrm xmlns:a="http://schemas.openxmlformats.org/drawingml/2006/main">
            <a:off x="628650" y="760095"/>
            <a:ext cx="12001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xmlns:a="http://schemas.openxmlformats.org/drawingml/2006/main">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1차 모델 선별과 4B 후보 압축</a:t>
            </a:r>
          </a:p>
        </p:txBody>
      </p:sp>
      <p:sp>
        <p:nvSpPr>
          <p:cNvPr id="3" name="own-text-3">
            <a:extLst xmlns:a="http://schemas.openxmlformats.org/drawingml/2006/main">
              <a:ext uri="{FF2B5EF4-FFF2-40B4-BE49-F238E27FC236}">
                <a16:creationId xmlns:a16="http://schemas.microsoft.com/office/drawing/2014/main" id="{D179A3C0-B4AE-46C8-BFB6-936B3E224493}"/>
              </a:ext>
            </a:extLst>
          </p:cNvPr>
          <p:cNvSpPr>
            <a:spLocks xmlns:a="http://schemas.openxmlformats.org/drawingml/2006/main" noGrp="1"/>
          </p:cNvSpPr>
          <p:nvPr/>
        </p:nvSpPr>
        <p:spPr>
          <a:xfrm xmlns:a="http://schemas.openxmlformats.org/drawingml/2006/main">
            <a:off x="628650" y="1500188"/>
            <a:ext cx="12001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초기 9종에서 후보를 줄인 뒤, 7종·11설정을 전수 평가한 정답률과 환각률</a:t>
            </a:r>
          </a:p>
        </p:txBody>
      </p:sp>
      <p:sp>
        <p:nvSpPr>
          <p:cNvPr id="4" name="own-text-4">
            <a:extLst xmlns:a="http://schemas.openxmlformats.org/drawingml/2006/main">
              <a:ext uri="{FF2B5EF4-FFF2-40B4-BE49-F238E27FC236}">
                <a16:creationId xmlns:a16="http://schemas.microsoft.com/office/drawing/2014/main" id="{75611D4C-DA0F-463E-BF74-050B17E1A868}"/>
              </a:ext>
            </a:extLst>
          </p:cNvPr>
          <p:cNvSpPr>
            <a:spLocks xmlns:a="http://schemas.openxmlformats.org/drawingml/2006/main" noGrp="1"/>
          </p:cNvSpPr>
          <p:nvPr/>
        </p:nvSpPr>
        <p:spPr>
          <a:xfrm xmlns:a="http://schemas.openxmlformats.org/drawingml/2006/main">
            <a:off x="628650" y="7104698"/>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xmlns:a="http://schemas.openxmlformats.org/drawingml/2006/main">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5">
            <a:extLst xmlns:a="http://schemas.openxmlformats.org/drawingml/2006/main">
              <a:ext uri="{FF2B5EF4-FFF2-40B4-BE49-F238E27FC236}">
                <a16:creationId xmlns:a16="http://schemas.microsoft.com/office/drawing/2014/main" id="{97C1A58F-AA57-4FE7-B012-54BBC0F0AAAB}"/>
              </a:ext>
            </a:extLst>
          </p:cNvPr>
          <p:cNvSpPr>
            <a:spLocks xmlns:a="http://schemas.openxmlformats.org/drawingml/2006/main" noGrp="1"/>
          </p:cNvSpPr>
          <p:nvPr/>
        </p:nvSpPr>
        <p:spPr>
          <a:xfrm xmlns:a="http://schemas.openxmlformats.org/drawingml/2006/main">
            <a:off x="12382500" y="7104698"/>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xmlns:a="http://schemas.openxmlformats.org/drawingml/2006/main">
            <a:pPr algn="r">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01</a:t>
            </a:r>
          </a:p>
        </p:txBody>
      </p:sp>
      <p:sp>
        <p:nvSpPr>
          <p:cNvPr id="6" name="own-text-6">
            <a:extLst xmlns:a="http://schemas.openxmlformats.org/drawingml/2006/main">
              <a:ext uri="{FF2B5EF4-FFF2-40B4-BE49-F238E27FC236}">
                <a16:creationId xmlns:a16="http://schemas.microsoft.com/office/drawing/2014/main" id="{D84DFC30-238B-4D8B-8E6F-72CBF09680FD}"/>
              </a:ext>
            </a:extLst>
          </p:cNvPr>
          <p:cNvSpPr>
            <a:spLocks xmlns:a="http://schemas.openxmlformats.org/drawingml/2006/main" noGrp="1"/>
          </p:cNvSpPr>
          <p:nvPr/>
        </p:nvSpPr>
        <p:spPr>
          <a:xfrm xmlns:a="http://schemas.openxmlformats.org/drawingml/2006/main">
            <a:off x="628650" y="6515100"/>
            <a:ext cx="12458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686B72"/>
                </a:solidFill>
                <a:latin typeface="맑은 고딕"/>
                <a:ea typeface="맑은 고딕"/>
                <a:cs typeface="맑은 고딕"/>
              </a:defRPr>
            </a:defPPr>
            <a:lvl1pPr algn="l">
              <a:defRPr sz="1350" b="0">
                <a:solidFill>
                  <a:srgbClr val="686B72"/>
                </a:solidFill>
                <a:latin typeface="맑은 고딕"/>
                <a:ea typeface="맑은 고딕"/>
                <a:cs typeface="맑은 고딕"/>
              </a:defRPr>
            </a:lvl1pPr>
            <a:lvl2pPr algn="l">
              <a:defRPr sz="1350" b="0">
                <a:solidFill>
                  <a:srgbClr val="686B72"/>
                </a:solidFill>
                <a:latin typeface="맑은 고딕"/>
                <a:ea typeface="맑은 고딕"/>
                <a:cs typeface="맑은 고딕"/>
              </a:defRPr>
            </a:lvl2pPr>
            <a:lvl3pPr algn="l">
              <a:defRPr sz="1350" b="0">
                <a:solidFill>
                  <a:srgbClr val="686B72"/>
                </a:solidFill>
                <a:latin typeface="맑은 고딕"/>
                <a:ea typeface="맑은 고딕"/>
                <a:cs typeface="맑은 고딕"/>
              </a:defRPr>
            </a:lvl3pPr>
            <a:lvl4pPr algn="l">
              <a:defRPr sz="1350" b="0">
                <a:solidFill>
                  <a:srgbClr val="686B72"/>
                </a:solidFill>
                <a:latin typeface="맑은 고딕"/>
                <a:ea typeface="맑은 고딕"/>
                <a:cs typeface="맑은 고딕"/>
              </a:defRPr>
            </a:lvl4pPr>
            <a:lvl5pPr algn="l">
              <a:defRPr sz="1350" b="0">
                <a:solidFill>
                  <a:srgbClr val="686B72"/>
                </a:solidFill>
                <a:latin typeface="맑은 고딕"/>
                <a:ea typeface="맑은 고딕"/>
                <a:cs typeface="맑은 고딕"/>
              </a:defRPr>
            </a:lvl5pPr>
            <a:lvl6pPr algn="l">
              <a:defRPr sz="1350" b="0">
                <a:solidFill>
                  <a:srgbClr val="686B72"/>
                </a:solidFill>
                <a:latin typeface="맑은 고딕"/>
                <a:ea typeface="맑은 고딕"/>
                <a:cs typeface="맑은 고딕"/>
              </a:defRPr>
            </a:lvl6pPr>
            <a:lvl7pPr algn="l">
              <a:defRPr sz="1350" b="0">
                <a:solidFill>
                  <a:srgbClr val="686B72"/>
                </a:solidFill>
                <a:latin typeface="맑은 고딕"/>
                <a:ea typeface="맑은 고딕"/>
                <a:cs typeface="맑은 고딕"/>
              </a:defRPr>
            </a:lvl7pPr>
            <a:lvl8pPr algn="l">
              <a:defRPr sz="1350" b="0">
                <a:solidFill>
                  <a:srgbClr val="686B72"/>
                </a:solidFill>
                <a:latin typeface="맑은 고딕"/>
                <a:ea typeface="맑은 고딕"/>
                <a:cs typeface="맑은 고딕"/>
              </a:defRPr>
            </a:lvl8pPr>
            <a:lvl9pPr algn="l">
              <a:defRPr sz="1350" b="0">
                <a:solidFill>
                  <a:srgbClr val="686B72"/>
                </a:solidFill>
                <a:latin typeface="맑은 고딕"/>
                <a:ea typeface="맑은 고딕"/>
                <a:cs typeface="맑은 고딕"/>
              </a:defRPr>
            </a:lvl9pPr>
          </a:lstStyle>
          <a:p xmlns:a="http://schemas.openxmlformats.org/drawingml/2006/main">
            <a:pPr algn="l">
              <a:defRPr sz="1350" b="0">
                <a:solidFill>
                  <a:srgbClr val="686B72"/>
                </a:solidFill>
                <a:latin typeface="맑은 고딕"/>
                <a:ea typeface="맑은 고딕"/>
                <a:cs typeface="맑은 고딕"/>
              </a:defRPr>
            </a:pPr>
            <a:r>
              <a:rPr sz="1350" b="0">
                <a:solidFill>
                  <a:srgbClr val="686B72"/>
                </a:solidFill>
                <a:latin typeface="맑은 고딕"/>
                <a:ea typeface="맑은 고딕"/>
                <a:cs typeface="맑은 고딕"/>
              </a:rPr>
              <a:t>시험: 단일·유사·다중 FAQ, 개인화·조건·예외, 근거 부재·충돌, 멀티턴, 공격·범위 밖, API(13유형)</a:t>
            </a:r>
          </a:p>
          <a:p xmlns:a="http://schemas.openxmlformats.org/drawingml/2006/main">
            <a:pPr algn="l">
              <a:defRPr sz="1350" b="0">
                <a:solidFill>
                  <a:srgbClr val="686B72"/>
                </a:solidFill>
                <a:latin typeface="맑은 고딕"/>
                <a:ea typeface="맑은 고딕"/>
                <a:cs typeface="맑은 고딕"/>
              </a:defRPr>
            </a:pPr>
            <a:r>
              <a:rPr sz="1350" b="0">
                <a:solidFill>
                  <a:srgbClr val="686B72"/>
                </a:solidFill>
                <a:latin typeface="맑은 고딕"/>
                <a:ea typeface="맑은 고딕"/>
                <a:cs typeface="맑은 고딕"/>
              </a:rPr>
              <a:t>평가: 필수 사실·조건·답변 가능 여부를 만족하면 정답, 근거 밖 내용은 환각. 형식·일관성·지연·메모리·동시성도 고려.</a:t>
            </a:r>
          </a:p>
        </p:txBody>
      </p:sp>
      <p:graphicFrame>
        <p:nvGraphicFramePr>
          <p:cNvPr id="7" name="">
            <a:extLst xmlns:a="http://schemas.openxmlformats.org/drawingml/2006/main">
              <a:ext uri="{FF2B5EF4-FFF2-40B4-BE49-F238E27FC236}">
                <a16:creationId xmlns:a16="http://schemas.microsoft.com/office/drawing/2014/main" id="{169C683A-8FDA-4C17-940A-C36B3D4A4244}"/>
              </a:ext>
            </a:extLst>
          </p:cNvPr>
          <p:cNvGraphicFramePr/>
          <p:nvPr/>
        </p:nvGraphicFramePr>
        <p:xfrm>
          <a:off xmlns:a="http://schemas.openxmlformats.org/drawingml/2006/main" x="628650" y="2076450"/>
          <a:ext xmlns:a="http://schemas.openxmlformats.org/drawingml/2006/main" cx="7239000" cy="3886200"/>
        </p:xfrm>
        <a:graphic xmlns:a="http://schemas.openxmlformats.org/drawingml/2006/main">
          <a:graphicData uri="http://schemas.openxmlformats.org/drawingml/2006/table">
            <a:tbl>
              <a:tblPr/>
              <a:tblGrid>
                <a:gridCol w="2143125"/>
                <a:gridCol w="1143000"/>
                <a:gridCol w="1143000"/>
                <a:gridCol w="2809875"/>
              </a:tblGrid>
              <a:tr h="323850">
                <a:tc>
                  <a:txBody>
                    <a:bodyPr>
                      <a:noAutofit/>
                    </a:bodyPr>
                    <a:lstStyle/>
                    <a:p>
                      <a:r>
                        <a:rPr sz="1373" b="1">
                          <a:solidFill>
                            <a:srgbClr val="FFFFFF"/>
                          </a:solidFill>
                          <a:latin typeface="맑은 고딕"/>
                          <a:ea typeface="맑은 고딕"/>
                          <a:cs typeface="맑은 고딕"/>
                        </a:rPr>
                        <a:t>300문항 전수 평가</a:t>
                      </a:r>
                    </a:p>
                  </a:txBody>
                  <a:tcPr marL="95250" marR="76200" marT="38100" marB="381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373" b="1">
                          <a:solidFill>
                            <a:srgbClr val="FFFFFF"/>
                          </a:solidFill>
                          <a:latin typeface="맑은 고딕"/>
                          <a:ea typeface="맑은 고딕"/>
                          <a:cs typeface="맑은 고딕"/>
                        </a:rPr>
                        <a:t>정답률</a:t>
                      </a:r>
                    </a:p>
                  </a:txBody>
                  <a:tcPr marL="95250" marR="76200" marT="38100" marB="381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373" b="1">
                          <a:solidFill>
                            <a:srgbClr val="FFFFFF"/>
                          </a:solidFill>
                          <a:latin typeface="맑은 고딕"/>
                          <a:ea typeface="맑은 고딕"/>
                          <a:cs typeface="맑은 고딕"/>
                        </a:rPr>
                        <a:t>환각률</a:t>
                      </a:r>
                    </a:p>
                  </a:txBody>
                  <a:tcPr marL="95250" marR="76200" marT="38100" marB="381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373" b="1">
                          <a:solidFill>
                            <a:srgbClr val="FFFFFF"/>
                          </a:solidFill>
                          <a:latin typeface="맑은 고딕"/>
                          <a:ea typeface="맑은 고딕"/>
                          <a:cs typeface="맑은 고딕"/>
                        </a:rPr>
                        <a:t>제외·후순위 근거</a:t>
                      </a:r>
                    </a:p>
                  </a:txBody>
                  <a:tcPr marL="95250" marR="76200" marT="38100" marB="381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323850">
                <a:tc>
                  <a:txBody>
                    <a:bodyPr>
                      <a:noAutofit/>
                    </a:bodyPr>
                    <a:lstStyle/>
                    <a:p>
                      <a:r>
                        <a:rPr sz="1373" b="0">
                          <a:solidFill>
                            <a:srgbClr val="17171A"/>
                          </a:solidFill>
                          <a:latin typeface="맑은 고딕"/>
                          <a:ea typeface="맑은 고딕"/>
                          <a:cs typeface="맑은 고딕"/>
                        </a:rPr>
                        <a:t>Gemma3 4B</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31.3%</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50.3%</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답 없는 질문에 취약</a:t>
                      </a:r>
                    </a:p>
                  </a:txBody>
                  <a:tcPr marL="95250" marR="76200" marT="38100" marB="38100" anchor="ctr">
                    <a:lnR w="6668">
                      <a:solidFill>
                        <a:srgbClr val="DDDDE1"/>
                      </a:solidFill>
                      <a:prstDash val="solid"/>
                    </a:lnR>
                    <a:lnB w="6668">
                      <a:solidFill>
                        <a:srgbClr val="DDDDE1"/>
                      </a:solidFill>
                      <a:prstDash val="solid"/>
                    </a:lnB>
                    <a:solidFill>
                      <a:srgbClr val="FFFFFF"/>
                    </a:solidFill>
                  </a:tcPr>
                </a:tc>
              </a:tr>
              <a:tr h="323850">
                <a:tc>
                  <a:txBody>
                    <a:bodyPr>
                      <a:noAutofit/>
                    </a:bodyPr>
                    <a:lstStyle/>
                    <a:p>
                      <a:r>
                        <a:rPr sz="1373" b="0">
                          <a:solidFill>
                            <a:srgbClr val="17171A"/>
                          </a:solidFill>
                          <a:latin typeface="맑은 고딕"/>
                          <a:ea typeface="맑은 고딕"/>
                          <a:cs typeface="맑은 고딕"/>
                        </a:rPr>
                        <a:t>Qwen3 1.7B ON</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39.0%</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43.0%</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내용 품질 부족</a:t>
                      </a:r>
                    </a:p>
                  </a:txBody>
                  <a:tcPr marL="95250" marR="76200" marT="38100" marB="38100" anchor="ctr">
                    <a:lnR w="6668">
                      <a:solidFill>
                        <a:srgbClr val="DDDDE1"/>
                      </a:solidFill>
                      <a:prstDash val="solid"/>
                    </a:lnR>
                    <a:lnB w="6668">
                      <a:solidFill>
                        <a:srgbClr val="DDDDE1"/>
                      </a:solidFill>
                      <a:prstDash val="solid"/>
                    </a:lnB>
                    <a:solidFill>
                      <a:srgbClr val="FFFFFF"/>
                    </a:solidFill>
                  </a:tcPr>
                </a:tc>
              </a:tr>
              <a:tr h="323850">
                <a:tc>
                  <a:txBody>
                    <a:bodyPr>
                      <a:noAutofit/>
                    </a:bodyPr>
                    <a:lstStyle/>
                    <a:p>
                      <a:r>
                        <a:rPr sz="1373" b="0">
                          <a:solidFill>
                            <a:srgbClr val="17171A"/>
                          </a:solidFill>
                          <a:latin typeface="맑은 고딕"/>
                          <a:ea typeface="맑은 고딕"/>
                          <a:cs typeface="맑은 고딕"/>
                        </a:rPr>
                        <a:t>Qwen3 4B ON</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72.3%</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13.7%</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95% 응답 47.6초 이내</a:t>
                      </a:r>
                    </a:p>
                  </a:txBody>
                  <a:tcPr marL="95250" marR="76200" marT="38100" marB="38100" anchor="ctr">
                    <a:lnR w="6668">
                      <a:solidFill>
                        <a:srgbClr val="DDDDE1"/>
                      </a:solidFill>
                      <a:prstDash val="solid"/>
                    </a:lnR>
                    <a:lnB w="6668">
                      <a:solidFill>
                        <a:srgbClr val="DDDDE1"/>
                      </a:solidFill>
                      <a:prstDash val="solid"/>
                    </a:lnB>
                    <a:solidFill>
                      <a:srgbClr val="FFFFFF"/>
                    </a:solidFill>
                  </a:tcPr>
                </a:tc>
              </a:tr>
              <a:tr h="323850">
                <a:tc>
                  <a:txBody>
                    <a:bodyPr>
                      <a:noAutofit/>
                    </a:bodyPr>
                    <a:lstStyle/>
                    <a:p>
                      <a:r>
                        <a:rPr sz="1373" b="0">
                          <a:solidFill>
                            <a:srgbClr val="17171A"/>
                          </a:solidFill>
                          <a:latin typeface="맑은 고딕"/>
                          <a:ea typeface="맑은 고딕"/>
                          <a:cs typeface="맑은 고딕"/>
                        </a:rPr>
                        <a:t>Qwen3 8B ON</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59.7%</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26.8%</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품질·지연 모두 검토</a:t>
                      </a:r>
                    </a:p>
                  </a:txBody>
                  <a:tcPr marL="95250" marR="76200" marT="38100" marB="38100" anchor="ctr">
                    <a:lnR w="6668">
                      <a:solidFill>
                        <a:srgbClr val="DDDDE1"/>
                      </a:solidFill>
                      <a:prstDash val="solid"/>
                    </a:lnR>
                    <a:lnB w="6668">
                      <a:solidFill>
                        <a:srgbClr val="DDDDE1"/>
                      </a:solidFill>
                      <a:prstDash val="solid"/>
                    </a:lnB>
                    <a:solidFill>
                      <a:srgbClr val="FFFFFF"/>
                    </a:solidFill>
                  </a:tcPr>
                </a:tc>
              </a:tr>
              <a:tr h="323850">
                <a:tc>
                  <a:txBody>
                    <a:bodyPr>
                      <a:noAutofit/>
                    </a:bodyPr>
                    <a:lstStyle/>
                    <a:p>
                      <a:r>
                        <a:rPr sz="1373" b="0">
                          <a:solidFill>
                            <a:srgbClr val="17171A"/>
                          </a:solidFill>
                          <a:latin typeface="맑은 고딕"/>
                          <a:ea typeface="맑은 고딕"/>
                          <a:cs typeface="맑은 고딕"/>
                        </a:rPr>
                        <a:t>EXAONE 7.8B</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37.3%</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53.3%</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보류 대상 88건 실패</a:t>
                      </a:r>
                    </a:p>
                  </a:txBody>
                  <a:tcPr marL="95250" marR="76200" marT="38100" marB="38100" anchor="ctr">
                    <a:lnR w="6668">
                      <a:solidFill>
                        <a:srgbClr val="DDDDE1"/>
                      </a:solidFill>
                      <a:prstDash val="solid"/>
                    </a:lnR>
                    <a:lnB w="6668">
                      <a:solidFill>
                        <a:srgbClr val="DDDDE1"/>
                      </a:solidFill>
                      <a:prstDash val="solid"/>
                    </a:lnB>
                    <a:solidFill>
                      <a:srgbClr val="FFFFFF"/>
                    </a:solidFill>
                  </a:tcPr>
                </a:tc>
              </a:tr>
              <a:tr h="323850">
                <a:tc>
                  <a:txBody>
                    <a:bodyPr>
                      <a:noAutofit/>
                    </a:bodyPr>
                    <a:lstStyle/>
                    <a:p>
                      <a:r>
                        <a:rPr sz="1373" b="0">
                          <a:solidFill>
                            <a:srgbClr val="17171A"/>
                          </a:solidFill>
                          <a:latin typeface="맑은 고딕"/>
                          <a:ea typeface="맑은 고딕"/>
                          <a:cs typeface="맑은 고딕"/>
                        </a:rPr>
                        <a:t>Gemma3 12B</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64.0%</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21.3%</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모델 크기·조건 판단</a:t>
                      </a:r>
                    </a:p>
                  </a:txBody>
                  <a:tcPr marL="95250" marR="76200" marT="38100" marB="38100" anchor="ctr">
                    <a:lnR w="6668">
                      <a:solidFill>
                        <a:srgbClr val="DDDDE1"/>
                      </a:solidFill>
                      <a:prstDash val="solid"/>
                    </a:lnR>
                    <a:lnB w="6668">
                      <a:solidFill>
                        <a:srgbClr val="DDDDE1"/>
                      </a:solidFill>
                      <a:prstDash val="solid"/>
                    </a:lnB>
                    <a:solidFill>
                      <a:srgbClr val="FFFFFF"/>
                    </a:solidFill>
                  </a:tcPr>
                </a:tc>
              </a:tr>
              <a:tr h="323850">
                <a:tc>
                  <a:txBody>
                    <a:bodyPr>
                      <a:noAutofit/>
                    </a:bodyPr>
                    <a:lstStyle/>
                    <a:p>
                      <a:r>
                        <a:rPr sz="1373" b="0">
                          <a:solidFill>
                            <a:srgbClr val="17171A"/>
                          </a:solidFill>
                          <a:latin typeface="맑은 고딕"/>
                          <a:ea typeface="맑은 고딕"/>
                          <a:cs typeface="맑은 고딕"/>
                        </a:rPr>
                        <a:t>Qwen3 14B ON</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75.6%</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24.7%</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95% 응답 28.5초 이내</a:t>
                      </a:r>
                    </a:p>
                  </a:txBody>
                  <a:tcPr marL="95250" marR="76200" marT="38100" marB="38100" anchor="ctr">
                    <a:lnR w="6668">
                      <a:solidFill>
                        <a:srgbClr val="DDDDE1"/>
                      </a:solidFill>
                      <a:prstDash val="solid"/>
                    </a:lnR>
                    <a:lnB w="6668">
                      <a:solidFill>
                        <a:srgbClr val="DDDDE1"/>
                      </a:solidFill>
                      <a:prstDash val="solid"/>
                    </a:lnB>
                    <a:solidFill>
                      <a:srgbClr val="FFFFFF"/>
                    </a:solidFill>
                  </a:tcPr>
                </a:tc>
              </a:tr>
              <a:tr h="323850">
                <a:tc>
                  <a:txBody>
                    <a:bodyPr>
                      <a:noAutofit/>
                    </a:bodyPr>
                    <a:lstStyle/>
                    <a:p>
                      <a:r>
                        <a:rPr sz="1373" b="0">
                          <a:solidFill>
                            <a:srgbClr val="17171A"/>
                          </a:solidFill>
                          <a:latin typeface="맑은 고딕"/>
                          <a:ea typeface="맑은 고딕"/>
                          <a:cs typeface="맑은 고딕"/>
                        </a:rPr>
                        <a:t>Qwen3 1.7B OFF</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23.0%</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56.7%</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내용 품질 부족</a:t>
                      </a:r>
                    </a:p>
                  </a:txBody>
                  <a:tcPr marL="95250" marR="76200" marT="38100" marB="38100" anchor="ctr">
                    <a:lnR w="6668">
                      <a:solidFill>
                        <a:srgbClr val="DDDDE1"/>
                      </a:solidFill>
                      <a:prstDash val="solid"/>
                    </a:lnR>
                    <a:lnB w="6668">
                      <a:solidFill>
                        <a:srgbClr val="DDDDE1"/>
                      </a:solidFill>
                      <a:prstDash val="solid"/>
                    </a:lnB>
                    <a:solidFill>
                      <a:srgbClr val="FFFFFF"/>
                    </a:solidFill>
                  </a:tcPr>
                </a:tc>
              </a:tr>
              <a:tr h="323850">
                <a:tc>
                  <a:txBody>
                    <a:bodyPr>
                      <a:noAutofit/>
                    </a:bodyPr>
                    <a:lstStyle/>
                    <a:p>
                      <a:r>
                        <a:rPr sz="1373" b="1">
                          <a:solidFill>
                            <a:srgbClr val="F72585"/>
                          </a:solidFill>
                          <a:latin typeface="맑은 고딕"/>
                          <a:ea typeface="맑은 고딕"/>
                          <a:cs typeface="맑은 고딕"/>
                        </a:rPr>
                        <a:t>Qwen3 4B OFF</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373" b="1">
                          <a:solidFill>
                            <a:srgbClr val="F72585"/>
                          </a:solidFill>
                          <a:latin typeface="맑은 고딕"/>
                          <a:ea typeface="맑은 고딕"/>
                          <a:cs typeface="맑은 고딕"/>
                        </a:rPr>
                        <a:t>43.7%</a:t>
                      </a:r>
                    </a:p>
                  </a:txBody>
                  <a:tcPr marL="95250" marR="76200" marT="38100" marB="38100" anchor="ctr">
                    <a:lnR w="6668">
                      <a:solidFill>
                        <a:srgbClr val="DDDDE1"/>
                      </a:solidFill>
                      <a:prstDash val="solid"/>
                    </a:lnR>
                    <a:lnB w="6668">
                      <a:solidFill>
                        <a:srgbClr val="DDDDE1"/>
                      </a:solidFill>
                      <a:prstDash val="solid"/>
                    </a:lnB>
                    <a:solidFill>
                      <a:srgbClr val="FFF1F7"/>
                    </a:solidFill>
                  </a:tcPr>
                </a:tc>
                <a:tc>
                  <a:txBody>
                    <a:bodyPr>
                      <a:noAutofit/>
                    </a:bodyPr>
                    <a:lstStyle/>
                    <a:p>
                      <a:r>
                        <a:rPr sz="1373" b="1">
                          <a:solidFill>
                            <a:srgbClr val="F72585"/>
                          </a:solidFill>
                          <a:latin typeface="맑은 고딕"/>
                          <a:ea typeface="맑은 고딕"/>
                          <a:cs typeface="맑은 고딕"/>
                        </a:rPr>
                        <a:t>29.0%</a:t>
                      </a:r>
                    </a:p>
                  </a:txBody>
                  <a:tcPr marL="95250" marR="76200" marT="38100" marB="38100" anchor="ctr">
                    <a:lnR w="6668">
                      <a:solidFill>
                        <a:srgbClr val="DDDDE1"/>
                      </a:solidFill>
                      <a:prstDash val="solid"/>
                    </a:lnR>
                    <a:lnB w="6668">
                      <a:solidFill>
                        <a:srgbClr val="DDDDE1"/>
                      </a:solidFill>
                      <a:prstDash val="solid"/>
                    </a:lnB>
                    <a:solidFill>
                      <a:srgbClr val="FFF1F7"/>
                    </a:solidFill>
                  </a:tcPr>
                </a:tc>
                <a:tc>
                  <a:txBody>
                    <a:bodyPr>
                      <a:noAutofit/>
                    </a:bodyPr>
                    <a:lstStyle/>
                    <a:p>
                      <a:r>
                        <a:rPr sz="1373" b="1">
                          <a:solidFill>
                            <a:srgbClr val="F72585"/>
                          </a:solidFill>
                          <a:latin typeface="맑은 고딕"/>
                          <a:ea typeface="맑은 고딕"/>
                          <a:cs typeface="맑은 고딕"/>
                        </a:rPr>
                        <a:t>이후 4B 튜닝 후보</a:t>
                      </a:r>
                    </a:p>
                  </a:txBody>
                  <a:tcPr marL="95250" marR="76200" marT="38100" marB="38100" anchor="ctr">
                    <a:lnR w="6668">
                      <a:solidFill>
                        <a:srgbClr val="DDDDE1"/>
                      </a:solidFill>
                      <a:prstDash val="solid"/>
                    </a:lnR>
                    <a:lnB w="6668">
                      <a:solidFill>
                        <a:srgbClr val="DDDDE1"/>
                      </a:solidFill>
                      <a:prstDash val="solid"/>
                    </a:lnB>
                    <a:solidFill>
                      <a:srgbClr val="FFF1F7"/>
                    </a:solidFill>
                  </a:tcPr>
                </a:tc>
              </a:tr>
              <a:tr h="323850">
                <a:tc>
                  <a:txBody>
                    <a:bodyPr>
                      <a:noAutofit/>
                    </a:bodyPr>
                    <a:lstStyle/>
                    <a:p>
                      <a:r>
                        <a:rPr sz="1373" b="0">
                          <a:solidFill>
                            <a:srgbClr val="17171A"/>
                          </a:solidFill>
                          <a:latin typeface="맑은 고딕"/>
                          <a:ea typeface="맑은 고딕"/>
                          <a:cs typeface="맑은 고딕"/>
                        </a:rPr>
                        <a:t>Qwen3 8B OFF</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43.7%</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26.0%</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4B 튜닝 후 확장 후보</a:t>
                      </a:r>
                    </a:p>
                  </a:txBody>
                  <a:tcPr marL="95250" marR="76200" marT="38100" marB="38100" anchor="ctr">
                    <a:lnR w="6668">
                      <a:solidFill>
                        <a:srgbClr val="DDDDE1"/>
                      </a:solidFill>
                      <a:prstDash val="solid"/>
                    </a:lnR>
                    <a:lnB w="6668">
                      <a:solidFill>
                        <a:srgbClr val="DDDDE1"/>
                      </a:solidFill>
                      <a:prstDash val="solid"/>
                    </a:lnB>
                    <a:solidFill>
                      <a:srgbClr val="FFFFFF"/>
                    </a:solidFill>
                  </a:tcPr>
                </a:tc>
              </a:tr>
              <a:tr h="323850">
                <a:tc>
                  <a:txBody>
                    <a:bodyPr>
                      <a:noAutofit/>
                    </a:bodyPr>
                    <a:lstStyle/>
                    <a:p>
                      <a:r>
                        <a:rPr sz="1373" b="0">
                          <a:solidFill>
                            <a:srgbClr val="17171A"/>
                          </a:solidFill>
                          <a:latin typeface="맑은 고딕"/>
                          <a:ea typeface="맑은 고딕"/>
                          <a:cs typeface="맑은 고딕"/>
                        </a:rPr>
                        <a:t>Qwen3 14B OFF</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70.7%</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23.7%</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1차 MVP·서빙 부담 검토</a:t>
                      </a:r>
                    </a:p>
                  </a:txBody>
                  <a:tcPr marL="95250" marR="76200" marT="38100" marB="38100" anchor="ctr">
                    <a:lnR w="6668">
                      <a:solidFill>
                        <a:srgbClr val="DDDDE1"/>
                      </a:solidFill>
                      <a:prstDash val="solid"/>
                    </a:lnR>
                    <a:lnB w="6668">
                      <a:solidFill>
                        <a:srgbClr val="DDDDE1"/>
                      </a:solidFill>
                      <a:prstDash val="solid"/>
                    </a:lnB>
                    <a:solidFill>
                      <a:srgbClr val="FFFFFF"/>
                    </a:solidFill>
                  </a:tcPr>
                </a:tc>
              </a:tr>
            </a:tbl>
          </a:graphicData>
        </a:graphic>
      </p:graphicFrame>
      <p:sp>
        <p:nvSpPr>
          <p:cNvPr id="8" name="own-text-7">
            <a:extLst xmlns:a="http://schemas.openxmlformats.org/drawingml/2006/main">
              <a:ext uri="{FF2B5EF4-FFF2-40B4-BE49-F238E27FC236}">
                <a16:creationId xmlns:a16="http://schemas.microsoft.com/office/drawing/2014/main" id="{9B1304B2-1A23-4B11-860A-17A8C3DA9FD6}"/>
              </a:ext>
            </a:extLst>
          </p:cNvPr>
          <p:cNvSpPr>
            <a:spLocks xmlns:a="http://schemas.openxmlformats.org/drawingml/2006/main" noGrp="1"/>
          </p:cNvSpPr>
          <p:nvPr/>
        </p:nvSpPr>
        <p:spPr>
          <a:xfrm xmlns:a="http://schemas.openxmlformats.org/drawingml/2006/main">
            <a:off x="628650" y="6057900"/>
            <a:ext cx="723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52" b="0">
                <a:solidFill>
                  <a:srgbClr val="686B72"/>
                </a:solidFill>
                <a:latin typeface="맑은 고딕"/>
                <a:ea typeface="맑은 고딕"/>
                <a:cs typeface="맑은 고딕"/>
              </a:defRPr>
            </a:defPPr>
            <a:lvl1pPr algn="l">
              <a:defRPr sz="1252" b="0">
                <a:solidFill>
                  <a:srgbClr val="686B72"/>
                </a:solidFill>
                <a:latin typeface="맑은 고딕"/>
                <a:ea typeface="맑은 고딕"/>
                <a:cs typeface="맑은 고딕"/>
              </a:defRPr>
            </a:lvl1pPr>
            <a:lvl2pPr algn="l">
              <a:defRPr sz="1252" b="0">
                <a:solidFill>
                  <a:srgbClr val="686B72"/>
                </a:solidFill>
                <a:latin typeface="맑은 고딕"/>
                <a:ea typeface="맑은 고딕"/>
                <a:cs typeface="맑은 고딕"/>
              </a:defRPr>
            </a:lvl2pPr>
            <a:lvl3pPr algn="l">
              <a:defRPr sz="1252" b="0">
                <a:solidFill>
                  <a:srgbClr val="686B72"/>
                </a:solidFill>
                <a:latin typeface="맑은 고딕"/>
                <a:ea typeface="맑은 고딕"/>
                <a:cs typeface="맑은 고딕"/>
              </a:defRPr>
            </a:lvl3pPr>
            <a:lvl4pPr algn="l">
              <a:defRPr sz="1252" b="0">
                <a:solidFill>
                  <a:srgbClr val="686B72"/>
                </a:solidFill>
                <a:latin typeface="맑은 고딕"/>
                <a:ea typeface="맑은 고딕"/>
                <a:cs typeface="맑은 고딕"/>
              </a:defRPr>
            </a:lvl4pPr>
            <a:lvl5pPr algn="l">
              <a:defRPr sz="1252" b="0">
                <a:solidFill>
                  <a:srgbClr val="686B72"/>
                </a:solidFill>
                <a:latin typeface="맑은 고딕"/>
                <a:ea typeface="맑은 고딕"/>
                <a:cs typeface="맑은 고딕"/>
              </a:defRPr>
            </a:lvl5pPr>
            <a:lvl6pPr algn="l">
              <a:defRPr sz="1252" b="0">
                <a:solidFill>
                  <a:srgbClr val="686B72"/>
                </a:solidFill>
                <a:latin typeface="맑은 고딕"/>
                <a:ea typeface="맑은 고딕"/>
                <a:cs typeface="맑은 고딕"/>
              </a:defRPr>
            </a:lvl6pPr>
            <a:lvl7pPr algn="l">
              <a:defRPr sz="1252" b="0">
                <a:solidFill>
                  <a:srgbClr val="686B72"/>
                </a:solidFill>
                <a:latin typeface="맑은 고딕"/>
                <a:ea typeface="맑은 고딕"/>
                <a:cs typeface="맑은 고딕"/>
              </a:defRPr>
            </a:lvl7pPr>
            <a:lvl8pPr algn="l">
              <a:defRPr sz="1252" b="0">
                <a:solidFill>
                  <a:srgbClr val="686B72"/>
                </a:solidFill>
                <a:latin typeface="맑은 고딕"/>
                <a:ea typeface="맑은 고딕"/>
                <a:cs typeface="맑은 고딕"/>
              </a:defRPr>
            </a:lvl8pPr>
            <a:lvl9pPr algn="l">
              <a:defRPr sz="1252" b="0">
                <a:solidFill>
                  <a:srgbClr val="686B72"/>
                </a:solidFill>
                <a:latin typeface="맑은 고딕"/>
                <a:ea typeface="맑은 고딕"/>
                <a:cs typeface="맑은 고딕"/>
              </a:defRPr>
            </a:lvl9pPr>
          </a:lstStyle>
          <a:p xmlns:a="http://schemas.openxmlformats.org/drawingml/2006/main">
            <a:pPr algn="l">
              <a:defRPr sz="1252" b="0">
                <a:solidFill>
                  <a:srgbClr val="686B72"/>
                </a:solidFill>
                <a:latin typeface="맑은 고딕"/>
                <a:ea typeface="맑은 고딕"/>
                <a:cs typeface="맑은 고딕"/>
              </a:defRPr>
            </a:pPr>
            <a:r>
              <a:rPr sz="1252" b="0">
                <a:solidFill>
                  <a:srgbClr val="686B72"/>
                </a:solidFill>
                <a:latin typeface="맑은 고딕"/>
                <a:ea typeface="맑은 고딕"/>
                <a:cs typeface="맑은 고딕"/>
              </a:rPr>
              <a:t>앞서 Qwen 0.6B·Gemma 270M/1B·EXAONE 2.4B는 형식·내용 문제로 제외</a:t>
            </a:r>
          </a:p>
          <a:p xmlns:a="http://schemas.openxmlformats.org/drawingml/2006/main">
            <a:pPr algn="l">
              <a:defRPr sz="1252" b="0">
                <a:solidFill>
                  <a:srgbClr val="686B72"/>
                </a:solidFill>
                <a:latin typeface="맑은 고딕"/>
                <a:ea typeface="맑은 고딕"/>
                <a:cs typeface="맑은 고딕"/>
              </a:defRPr>
            </a:pPr>
            <a:r>
              <a:rPr sz="1252" b="0">
                <a:solidFill>
                  <a:srgbClr val="686B72"/>
                </a:solidFill>
                <a:latin typeface="맑은 고딕"/>
                <a:ea typeface="맑은 고딕"/>
                <a:cs typeface="맑은 고딕"/>
              </a:rPr>
              <a:t>해당 후보는 전수 정답률·환각률 평가가 없어 표에 넣지 않음</a:t>
            </a:r>
          </a:p>
        </p:txBody>
      </p:sp>
      <p:sp>
        <p:nvSpPr>
          <p:cNvPr id="9" name="own-text-8">
            <a:extLst xmlns:a="http://schemas.openxmlformats.org/drawingml/2006/main">
              <a:ext uri="{FF2B5EF4-FFF2-40B4-BE49-F238E27FC236}">
                <a16:creationId xmlns:a16="http://schemas.microsoft.com/office/drawing/2014/main" id="{A2C5C143-6CAE-42B4-8A70-5907710F1CF5}"/>
              </a:ext>
            </a:extLst>
          </p:cNvPr>
          <p:cNvSpPr>
            <a:spLocks xmlns:a="http://schemas.openxmlformats.org/drawingml/2006/main" noGrp="1"/>
          </p:cNvSpPr>
          <p:nvPr/>
        </p:nvSpPr>
        <p:spPr>
          <a:xfrm xmlns:a="http://schemas.openxmlformats.org/drawingml/2006/main">
            <a:off x="8248650" y="2076450"/>
            <a:ext cx="485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17171A"/>
                </a:solidFill>
                <a:latin typeface="맑은 고딕"/>
                <a:ea typeface="맑은 고딕"/>
                <a:cs typeface="맑은 고딕"/>
              </a:defRPr>
            </a:defPPr>
            <a:lvl1pPr algn="l">
              <a:defRPr sz="1800" b="1">
                <a:solidFill>
                  <a:srgbClr val="17171A"/>
                </a:solidFill>
                <a:latin typeface="맑은 고딕"/>
                <a:ea typeface="맑은 고딕"/>
                <a:cs typeface="맑은 고딕"/>
              </a:defRPr>
            </a:lvl1pPr>
            <a:lvl2pPr algn="l">
              <a:defRPr sz="1800" b="1">
                <a:solidFill>
                  <a:srgbClr val="17171A"/>
                </a:solidFill>
                <a:latin typeface="맑은 고딕"/>
                <a:ea typeface="맑은 고딕"/>
                <a:cs typeface="맑은 고딕"/>
              </a:defRPr>
            </a:lvl2pPr>
            <a:lvl3pPr algn="l">
              <a:defRPr sz="1800" b="1">
                <a:solidFill>
                  <a:srgbClr val="17171A"/>
                </a:solidFill>
                <a:latin typeface="맑은 고딕"/>
                <a:ea typeface="맑은 고딕"/>
                <a:cs typeface="맑은 고딕"/>
              </a:defRPr>
            </a:lvl3pPr>
            <a:lvl4pPr algn="l">
              <a:defRPr sz="1800" b="1">
                <a:solidFill>
                  <a:srgbClr val="17171A"/>
                </a:solidFill>
                <a:latin typeface="맑은 고딕"/>
                <a:ea typeface="맑은 고딕"/>
                <a:cs typeface="맑은 고딕"/>
              </a:defRPr>
            </a:lvl4pPr>
            <a:lvl5pPr algn="l">
              <a:defRPr sz="1800" b="1">
                <a:solidFill>
                  <a:srgbClr val="17171A"/>
                </a:solidFill>
                <a:latin typeface="맑은 고딕"/>
                <a:ea typeface="맑은 고딕"/>
                <a:cs typeface="맑은 고딕"/>
              </a:defRPr>
            </a:lvl5pPr>
            <a:lvl6pPr algn="l">
              <a:defRPr sz="1800" b="1">
                <a:solidFill>
                  <a:srgbClr val="17171A"/>
                </a:solidFill>
                <a:latin typeface="맑은 고딕"/>
                <a:ea typeface="맑은 고딕"/>
                <a:cs typeface="맑은 고딕"/>
              </a:defRPr>
            </a:lvl6pPr>
            <a:lvl7pPr algn="l">
              <a:defRPr sz="1800" b="1">
                <a:solidFill>
                  <a:srgbClr val="17171A"/>
                </a:solidFill>
                <a:latin typeface="맑은 고딕"/>
                <a:ea typeface="맑은 고딕"/>
                <a:cs typeface="맑은 고딕"/>
              </a:defRPr>
            </a:lvl7pPr>
            <a:lvl8pPr algn="l">
              <a:defRPr sz="1800" b="1">
                <a:solidFill>
                  <a:srgbClr val="17171A"/>
                </a:solidFill>
                <a:latin typeface="맑은 고딕"/>
                <a:ea typeface="맑은 고딕"/>
                <a:cs typeface="맑은 고딕"/>
              </a:defRPr>
            </a:lvl8pPr>
            <a:lvl9pPr algn="l">
              <a:defRPr sz="1800" b="1">
                <a:solidFill>
                  <a:srgbClr val="17171A"/>
                </a:solidFill>
                <a:latin typeface="맑은 고딕"/>
                <a:ea typeface="맑은 고딕"/>
                <a:cs typeface="맑은 고딕"/>
              </a:defRPr>
            </a:lvl9pPr>
          </a:lstStyle>
          <a:p xmlns:a="http://schemas.openxmlformats.org/drawingml/2006/main">
            <a:pPr algn="l">
              <a:defRPr sz="1800" b="1">
                <a:solidFill>
                  <a:srgbClr val="17171A"/>
                </a:solidFill>
                <a:latin typeface="맑은 고딕"/>
                <a:ea typeface="맑은 고딕"/>
                <a:cs typeface="맑은 고딕"/>
              </a:defRPr>
            </a:pPr>
            <a:r>
              <a:rPr sz="1800" b="1">
                <a:solidFill>
                  <a:srgbClr val="17171A"/>
                </a:solidFill>
                <a:latin typeface="맑은 고딕"/>
                <a:ea typeface="맑은 고딕"/>
                <a:cs typeface="맑은 고딕"/>
              </a:rPr>
              <a:t>4B 후보 재평가 (약 2,600건)</a:t>
            </a:r>
          </a:p>
        </p:txBody>
      </p:sp>
      <p:graphicFrame>
        <p:nvGraphicFramePr>
          <p:cNvPr id="10" name="">
            <a:extLst xmlns:a="http://schemas.openxmlformats.org/drawingml/2006/main">
              <a:ext uri="{FF2B5EF4-FFF2-40B4-BE49-F238E27FC236}">
                <a16:creationId xmlns:a16="http://schemas.microsoft.com/office/drawing/2014/main" id="{C697B893-236D-4F3C-95F2-6487DE86CE26}"/>
              </a:ext>
            </a:extLst>
          </p:cNvPr>
          <p:cNvGraphicFramePr/>
          <p:nvPr/>
        </p:nvGraphicFramePr>
        <p:xfrm>
          <a:off xmlns:a="http://schemas.openxmlformats.org/drawingml/2006/main" x="8248650" y="2514600"/>
          <a:ext xmlns:a="http://schemas.openxmlformats.org/drawingml/2006/main" cx="4857750" cy="1066800"/>
        </p:xfrm>
        <a:graphic xmlns:a="http://schemas.openxmlformats.org/drawingml/2006/main">
          <a:graphicData uri="http://schemas.openxmlformats.org/drawingml/2006/table">
            <a:tbl>
              <a:tblPr/>
              <a:tblGrid>
                <a:gridCol w="2381250"/>
                <a:gridCol w="1238250"/>
                <a:gridCol w="1238250"/>
              </a:tblGrid>
              <a:tr h="355600">
                <a:tc>
                  <a:txBody>
                    <a:bodyPr>
                      <a:noAutofit/>
                    </a:bodyPr>
                    <a:lstStyle/>
                    <a:p>
                      <a:r>
                        <a:rPr sz="1448" b="1">
                          <a:solidFill>
                            <a:srgbClr val="FFFFFF"/>
                          </a:solidFill>
                          <a:latin typeface="맑은 고딕"/>
                          <a:ea typeface="맑은 고딕"/>
                          <a:cs typeface="맑은 고딕"/>
                        </a:rPr>
                        <a:t>모델</a:t>
                      </a:r>
                    </a:p>
                  </a:txBody>
                  <a:tcPr marL="95250" marR="76200" marT="38100" marB="381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448" b="1">
                          <a:solidFill>
                            <a:srgbClr val="FFFFFF"/>
                          </a:solidFill>
                          <a:latin typeface="맑은 고딕"/>
                          <a:ea typeface="맑은 고딕"/>
                          <a:cs typeface="맑은 고딕"/>
                        </a:rPr>
                        <a:t>정답률</a:t>
                      </a:r>
                    </a:p>
                  </a:txBody>
                  <a:tcPr marL="95250" marR="76200" marT="38100" marB="381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448" b="1">
                          <a:solidFill>
                            <a:srgbClr val="FFFFFF"/>
                          </a:solidFill>
                          <a:latin typeface="맑은 고딕"/>
                          <a:ea typeface="맑은 고딕"/>
                          <a:cs typeface="맑은 고딕"/>
                        </a:rPr>
                        <a:t>환각률</a:t>
                      </a:r>
                    </a:p>
                  </a:txBody>
                  <a:tcPr marL="95250" marR="76200" marT="38100" marB="381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355600">
                <a:tc>
                  <a:txBody>
                    <a:bodyPr>
                      <a:noAutofit/>
                    </a:bodyPr>
                    <a:lstStyle/>
                    <a:p>
                      <a:r>
                        <a:rPr sz="1448" b="0">
                          <a:solidFill>
                            <a:srgbClr val="17171A"/>
                          </a:solidFill>
                          <a:latin typeface="맑은 고딕"/>
                          <a:ea typeface="맑은 고딕"/>
                          <a:cs typeface="맑은 고딕"/>
                        </a:rPr>
                        <a:t>Gemma3 4B</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448" b="0">
                          <a:solidFill>
                            <a:srgbClr val="17171A"/>
                          </a:solidFill>
                          <a:latin typeface="맑은 고딕"/>
                          <a:ea typeface="맑은 고딕"/>
                          <a:cs typeface="맑은 고딕"/>
                        </a:rPr>
                        <a:t>65.1%</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448" b="0">
                          <a:solidFill>
                            <a:srgbClr val="17171A"/>
                          </a:solidFill>
                          <a:latin typeface="맑은 고딕"/>
                          <a:ea typeface="맑은 고딕"/>
                          <a:cs typeface="맑은 고딕"/>
                        </a:rPr>
                        <a:t>24.1%</a:t>
                      </a:r>
                    </a:p>
                  </a:txBody>
                  <a:tcPr marL="95250" marR="76200" marT="38100" marB="38100" anchor="ctr">
                    <a:lnR w="6668">
                      <a:solidFill>
                        <a:srgbClr val="DDDDE1"/>
                      </a:solidFill>
                      <a:prstDash val="solid"/>
                    </a:lnR>
                    <a:lnB w="6668">
                      <a:solidFill>
                        <a:srgbClr val="DDDDE1"/>
                      </a:solidFill>
                      <a:prstDash val="solid"/>
                    </a:lnB>
                    <a:solidFill>
                      <a:srgbClr val="FFFFFF"/>
                    </a:solidFill>
                  </a:tcPr>
                </a:tc>
              </a:tr>
              <a:tr h="355600">
                <a:tc>
                  <a:txBody>
                    <a:bodyPr>
                      <a:noAutofit/>
                    </a:bodyPr>
                    <a:lstStyle/>
                    <a:p>
                      <a:r>
                        <a:rPr sz="1448" b="1">
                          <a:solidFill>
                            <a:srgbClr val="F72585"/>
                          </a:solidFill>
                          <a:latin typeface="맑은 고딕"/>
                          <a:ea typeface="맑은 고딕"/>
                          <a:cs typeface="맑은 고딕"/>
                        </a:rPr>
                        <a:t>Qwen3 4B OFF</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448" b="1">
                          <a:solidFill>
                            <a:srgbClr val="F72585"/>
                          </a:solidFill>
                          <a:latin typeface="맑은 고딕"/>
                          <a:ea typeface="맑은 고딕"/>
                          <a:cs typeface="맑은 고딕"/>
                        </a:rPr>
                        <a:t>63.0%</a:t>
                      </a:r>
                    </a:p>
                  </a:txBody>
                  <a:tcPr marL="95250" marR="76200" marT="38100" marB="38100" anchor="ctr">
                    <a:lnR w="6668">
                      <a:solidFill>
                        <a:srgbClr val="DDDDE1"/>
                      </a:solidFill>
                      <a:prstDash val="solid"/>
                    </a:lnR>
                    <a:lnB w="6668">
                      <a:solidFill>
                        <a:srgbClr val="DDDDE1"/>
                      </a:solidFill>
                      <a:prstDash val="solid"/>
                    </a:lnB>
                    <a:solidFill>
                      <a:srgbClr val="FFF1F7"/>
                    </a:solidFill>
                  </a:tcPr>
                </a:tc>
                <a:tc>
                  <a:txBody>
                    <a:bodyPr>
                      <a:noAutofit/>
                    </a:bodyPr>
                    <a:lstStyle/>
                    <a:p>
                      <a:r>
                        <a:rPr sz="1448" b="1">
                          <a:solidFill>
                            <a:srgbClr val="F72585"/>
                          </a:solidFill>
                          <a:latin typeface="맑은 고딕"/>
                          <a:ea typeface="맑은 고딕"/>
                          <a:cs typeface="맑은 고딕"/>
                        </a:rPr>
                        <a:t>22.0%</a:t>
                      </a:r>
                    </a:p>
                  </a:txBody>
                  <a:tcPr marL="95250" marR="76200" marT="38100" marB="38100" anchor="ctr">
                    <a:lnR w="6668">
                      <a:solidFill>
                        <a:srgbClr val="DDDDE1"/>
                      </a:solidFill>
                      <a:prstDash val="solid"/>
                    </a:lnR>
                    <a:lnB w="6668">
                      <a:solidFill>
                        <a:srgbClr val="DDDDE1"/>
                      </a:solidFill>
                      <a:prstDash val="solid"/>
                    </a:lnB>
                    <a:solidFill>
                      <a:srgbClr val="FFF1F7"/>
                    </a:solidFill>
                  </a:tcPr>
                </a:tc>
              </a:tr>
            </a:tbl>
          </a:graphicData>
        </a:graphic>
      </p:graphicFrame>
      <p:sp>
        <p:nvSpPr>
          <p:cNvPr id="11" name="own-text-9">
            <a:extLst xmlns:a="http://schemas.openxmlformats.org/drawingml/2006/main">
              <a:ext uri="{FF2B5EF4-FFF2-40B4-BE49-F238E27FC236}">
                <a16:creationId xmlns:a16="http://schemas.microsoft.com/office/drawing/2014/main" id="{9C0757C7-655F-4339-B525-D1D0A071B539}"/>
              </a:ext>
            </a:extLst>
          </p:cNvPr>
          <p:cNvSpPr>
            <a:spLocks xmlns:a="http://schemas.openxmlformats.org/drawingml/2006/main" noGrp="1"/>
          </p:cNvSpPr>
          <p:nvPr/>
        </p:nvSpPr>
        <p:spPr>
          <a:xfrm xmlns:a="http://schemas.openxmlformats.org/drawingml/2006/main">
            <a:off x="8248650" y="3781425"/>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98" b="0">
                <a:solidFill>
                  <a:srgbClr val="17171A"/>
                </a:solidFill>
                <a:latin typeface="맑은 고딕"/>
                <a:ea typeface="맑은 고딕"/>
                <a:cs typeface="맑은 고딕"/>
              </a:defRPr>
            </a:defPPr>
            <a:lvl1pPr algn="l">
              <a:defRPr sz="1598" b="0">
                <a:solidFill>
                  <a:srgbClr val="17171A"/>
                </a:solidFill>
                <a:latin typeface="맑은 고딕"/>
                <a:ea typeface="맑은 고딕"/>
                <a:cs typeface="맑은 고딕"/>
              </a:defRPr>
            </a:lvl1pPr>
            <a:lvl2pPr algn="l">
              <a:defRPr sz="1598" b="0">
                <a:solidFill>
                  <a:srgbClr val="17171A"/>
                </a:solidFill>
                <a:latin typeface="맑은 고딕"/>
                <a:ea typeface="맑은 고딕"/>
                <a:cs typeface="맑은 고딕"/>
              </a:defRPr>
            </a:lvl2pPr>
            <a:lvl3pPr algn="l">
              <a:defRPr sz="1598" b="0">
                <a:solidFill>
                  <a:srgbClr val="17171A"/>
                </a:solidFill>
                <a:latin typeface="맑은 고딕"/>
                <a:ea typeface="맑은 고딕"/>
                <a:cs typeface="맑은 고딕"/>
              </a:defRPr>
            </a:lvl3pPr>
            <a:lvl4pPr algn="l">
              <a:defRPr sz="1598" b="0">
                <a:solidFill>
                  <a:srgbClr val="17171A"/>
                </a:solidFill>
                <a:latin typeface="맑은 고딕"/>
                <a:ea typeface="맑은 고딕"/>
                <a:cs typeface="맑은 고딕"/>
              </a:defRPr>
            </a:lvl4pPr>
            <a:lvl5pPr algn="l">
              <a:defRPr sz="1598" b="0">
                <a:solidFill>
                  <a:srgbClr val="17171A"/>
                </a:solidFill>
                <a:latin typeface="맑은 고딕"/>
                <a:ea typeface="맑은 고딕"/>
                <a:cs typeface="맑은 고딕"/>
              </a:defRPr>
            </a:lvl5pPr>
            <a:lvl6pPr algn="l">
              <a:defRPr sz="1598" b="0">
                <a:solidFill>
                  <a:srgbClr val="17171A"/>
                </a:solidFill>
                <a:latin typeface="맑은 고딕"/>
                <a:ea typeface="맑은 고딕"/>
                <a:cs typeface="맑은 고딕"/>
              </a:defRPr>
            </a:lvl6pPr>
            <a:lvl7pPr algn="l">
              <a:defRPr sz="1598" b="0">
                <a:solidFill>
                  <a:srgbClr val="17171A"/>
                </a:solidFill>
                <a:latin typeface="맑은 고딕"/>
                <a:ea typeface="맑은 고딕"/>
                <a:cs typeface="맑은 고딕"/>
              </a:defRPr>
            </a:lvl7pPr>
            <a:lvl8pPr algn="l">
              <a:defRPr sz="1598" b="0">
                <a:solidFill>
                  <a:srgbClr val="17171A"/>
                </a:solidFill>
                <a:latin typeface="맑은 고딕"/>
                <a:ea typeface="맑은 고딕"/>
                <a:cs typeface="맑은 고딕"/>
              </a:defRPr>
            </a:lvl8pPr>
            <a:lvl9pPr algn="l">
              <a:defRPr sz="1598" b="0">
                <a:solidFill>
                  <a:srgbClr val="17171A"/>
                </a:solidFill>
                <a:latin typeface="맑은 고딕"/>
                <a:ea typeface="맑은 고딕"/>
                <a:cs typeface="맑은 고딕"/>
              </a:defRPr>
            </a:lvl9pPr>
          </a:lstStyle>
          <a:p xmlns:a="http://schemas.openxmlformats.org/drawingml/2006/main">
            <a:pPr algn="l">
              <a:defRPr sz="1598" b="0">
                <a:solidFill>
                  <a:srgbClr val="17171A"/>
                </a:solidFill>
                <a:latin typeface="맑은 고딕"/>
                <a:ea typeface="맑은 고딕"/>
                <a:cs typeface="맑은 고딕"/>
              </a:defRPr>
            </a:pPr>
            <a:r>
              <a:rPr sz="1598" b="0">
                <a:solidFill>
                  <a:srgbClr val="17171A"/>
                </a:solidFill>
                <a:latin typeface="맑은 고딕"/>
                <a:ea typeface="맑은 고딕"/>
                <a:cs typeface="맑은 고딕"/>
              </a:rPr>
              <a:t>Gemma: 계산·조건 오류와 근거 밖 보충</a:t>
            </a:r>
          </a:p>
        </p:txBody>
      </p:sp>
      <p:sp>
        <p:nvSpPr>
          <p:cNvPr id="12" name="own-text-10">
            <a:extLst xmlns:a="http://schemas.openxmlformats.org/drawingml/2006/main">
              <a:ext uri="{FF2B5EF4-FFF2-40B4-BE49-F238E27FC236}">
                <a16:creationId xmlns:a16="http://schemas.microsoft.com/office/drawing/2014/main" id="{054B45F1-53C2-4083-9B97-0FD76F550B3D}"/>
              </a:ext>
            </a:extLst>
          </p:cNvPr>
          <p:cNvSpPr>
            <a:spLocks xmlns:a="http://schemas.openxmlformats.org/drawingml/2006/main" noGrp="1"/>
          </p:cNvSpPr>
          <p:nvPr/>
        </p:nvSpPr>
        <p:spPr>
          <a:xfrm xmlns:a="http://schemas.openxmlformats.org/drawingml/2006/main">
            <a:off x="8248650" y="4238625"/>
            <a:ext cx="4857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98" b="1">
                <a:solidFill>
                  <a:srgbClr val="F72585"/>
                </a:solidFill>
                <a:latin typeface="맑은 고딕"/>
                <a:ea typeface="맑은 고딕"/>
                <a:cs typeface="맑은 고딕"/>
              </a:defRPr>
            </a:defPPr>
            <a:lvl1pPr algn="l">
              <a:defRPr sz="1598" b="1">
                <a:solidFill>
                  <a:srgbClr val="F72585"/>
                </a:solidFill>
                <a:latin typeface="맑은 고딕"/>
                <a:ea typeface="맑은 고딕"/>
                <a:cs typeface="맑은 고딕"/>
              </a:defRPr>
            </a:lvl1pPr>
            <a:lvl2pPr algn="l">
              <a:defRPr sz="1598" b="1">
                <a:solidFill>
                  <a:srgbClr val="F72585"/>
                </a:solidFill>
                <a:latin typeface="맑은 고딕"/>
                <a:ea typeface="맑은 고딕"/>
                <a:cs typeface="맑은 고딕"/>
              </a:defRPr>
            </a:lvl2pPr>
            <a:lvl3pPr algn="l">
              <a:defRPr sz="1598" b="1">
                <a:solidFill>
                  <a:srgbClr val="F72585"/>
                </a:solidFill>
                <a:latin typeface="맑은 고딕"/>
                <a:ea typeface="맑은 고딕"/>
                <a:cs typeface="맑은 고딕"/>
              </a:defRPr>
            </a:lvl3pPr>
            <a:lvl4pPr algn="l">
              <a:defRPr sz="1598" b="1">
                <a:solidFill>
                  <a:srgbClr val="F72585"/>
                </a:solidFill>
                <a:latin typeface="맑은 고딕"/>
                <a:ea typeface="맑은 고딕"/>
                <a:cs typeface="맑은 고딕"/>
              </a:defRPr>
            </a:lvl4pPr>
            <a:lvl5pPr algn="l">
              <a:defRPr sz="1598" b="1">
                <a:solidFill>
                  <a:srgbClr val="F72585"/>
                </a:solidFill>
                <a:latin typeface="맑은 고딕"/>
                <a:ea typeface="맑은 고딕"/>
                <a:cs typeface="맑은 고딕"/>
              </a:defRPr>
            </a:lvl5pPr>
            <a:lvl6pPr algn="l">
              <a:defRPr sz="1598" b="1">
                <a:solidFill>
                  <a:srgbClr val="F72585"/>
                </a:solidFill>
                <a:latin typeface="맑은 고딕"/>
                <a:ea typeface="맑은 고딕"/>
                <a:cs typeface="맑은 고딕"/>
              </a:defRPr>
            </a:lvl6pPr>
            <a:lvl7pPr algn="l">
              <a:defRPr sz="1598" b="1">
                <a:solidFill>
                  <a:srgbClr val="F72585"/>
                </a:solidFill>
                <a:latin typeface="맑은 고딕"/>
                <a:ea typeface="맑은 고딕"/>
                <a:cs typeface="맑은 고딕"/>
              </a:defRPr>
            </a:lvl7pPr>
            <a:lvl8pPr algn="l">
              <a:defRPr sz="1598" b="1">
                <a:solidFill>
                  <a:srgbClr val="F72585"/>
                </a:solidFill>
                <a:latin typeface="맑은 고딕"/>
                <a:ea typeface="맑은 고딕"/>
                <a:cs typeface="맑은 고딕"/>
              </a:defRPr>
            </a:lvl8pPr>
            <a:lvl9pPr algn="l">
              <a:defRPr sz="1598" b="1">
                <a:solidFill>
                  <a:srgbClr val="F72585"/>
                </a:solidFill>
                <a:latin typeface="맑은 고딕"/>
                <a:ea typeface="맑은 고딕"/>
                <a:cs typeface="맑은 고딕"/>
              </a:defRPr>
            </a:lvl9pPr>
          </a:lstStyle>
          <a:p xmlns:a="http://schemas.openxmlformats.org/drawingml/2006/main">
            <a:pPr algn="l">
              <a:defRPr sz="1598" b="1">
                <a:solidFill>
                  <a:srgbClr val="F72585"/>
                </a:solidFill>
                <a:latin typeface="맑은 고딕"/>
                <a:ea typeface="맑은 고딕"/>
                <a:cs typeface="맑은 고딕"/>
              </a:defRPr>
            </a:pPr>
            <a:r>
              <a:rPr sz="1598" b="1">
                <a:solidFill>
                  <a:srgbClr val="F72585"/>
                </a:solidFill>
                <a:latin typeface="맑은 고딕"/>
                <a:ea typeface="맑은 고딕"/>
                <a:cs typeface="맑은 고딕"/>
              </a:rPr>
              <a:t>Qwen: 오답 중 과잉 보류 36.6%</a:t>
            </a:r>
          </a:p>
          <a:p xmlns:a="http://schemas.openxmlformats.org/drawingml/2006/main">
            <a:pPr algn="l">
              <a:defRPr sz="1598" b="1">
                <a:solidFill>
                  <a:srgbClr val="F72585"/>
                </a:solidFill>
                <a:latin typeface="맑은 고딕"/>
                <a:ea typeface="맑은 고딕"/>
                <a:cs typeface="맑은 고딕"/>
              </a:defRPr>
            </a:pPr>
            <a:r>
              <a:rPr sz="1598" b="1">
                <a:solidFill>
                  <a:srgbClr val="F72585"/>
                </a:solidFill>
                <a:latin typeface="맑은 고딕"/>
                <a:ea typeface="맑은 고딕"/>
                <a:cs typeface="맑은 고딕"/>
              </a:rPr>
              <a:t>답하도록 프롬프트로 교정할 여지를 고려</a:t>
            </a:r>
          </a:p>
        </p:txBody>
      </p:sp>
      <p:sp>
        <p:nvSpPr>
          <p:cNvPr id="13" name="own-text-11">
            <a:extLst xmlns:a="http://schemas.openxmlformats.org/drawingml/2006/main">
              <a:ext uri="{FF2B5EF4-FFF2-40B4-BE49-F238E27FC236}">
                <a16:creationId xmlns:a16="http://schemas.microsoft.com/office/drawing/2014/main" id="{CE30DB31-07C1-458F-9EFF-DDD0D6C9FCAA}"/>
              </a:ext>
            </a:extLst>
          </p:cNvPr>
          <p:cNvSpPr>
            <a:spLocks xmlns:a="http://schemas.openxmlformats.org/drawingml/2006/main" noGrp="1"/>
          </p:cNvSpPr>
          <p:nvPr/>
        </p:nvSpPr>
        <p:spPr>
          <a:xfrm xmlns:a="http://schemas.openxmlformats.org/drawingml/2006/main">
            <a:off x="8248650" y="4914900"/>
            <a:ext cx="4857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98" b="0">
                <a:solidFill>
                  <a:srgbClr val="686B72"/>
                </a:solidFill>
                <a:latin typeface="맑은 고딕"/>
                <a:ea typeface="맑은 고딕"/>
                <a:cs typeface="맑은 고딕"/>
              </a:defRPr>
            </a:defPPr>
            <a:lvl1pPr algn="l">
              <a:defRPr sz="1298" b="0">
                <a:solidFill>
                  <a:srgbClr val="686B72"/>
                </a:solidFill>
                <a:latin typeface="맑은 고딕"/>
                <a:ea typeface="맑은 고딕"/>
                <a:cs typeface="맑은 고딕"/>
              </a:defRPr>
            </a:lvl1pPr>
            <a:lvl2pPr algn="l">
              <a:defRPr sz="1298" b="0">
                <a:solidFill>
                  <a:srgbClr val="686B72"/>
                </a:solidFill>
                <a:latin typeface="맑은 고딕"/>
                <a:ea typeface="맑은 고딕"/>
                <a:cs typeface="맑은 고딕"/>
              </a:defRPr>
            </a:lvl2pPr>
            <a:lvl3pPr algn="l">
              <a:defRPr sz="1298" b="0">
                <a:solidFill>
                  <a:srgbClr val="686B72"/>
                </a:solidFill>
                <a:latin typeface="맑은 고딕"/>
                <a:ea typeface="맑은 고딕"/>
                <a:cs typeface="맑은 고딕"/>
              </a:defRPr>
            </a:lvl3pPr>
            <a:lvl4pPr algn="l">
              <a:defRPr sz="1298" b="0">
                <a:solidFill>
                  <a:srgbClr val="686B72"/>
                </a:solidFill>
                <a:latin typeface="맑은 고딕"/>
                <a:ea typeface="맑은 고딕"/>
                <a:cs typeface="맑은 고딕"/>
              </a:defRPr>
            </a:lvl4pPr>
            <a:lvl5pPr algn="l">
              <a:defRPr sz="1298" b="0">
                <a:solidFill>
                  <a:srgbClr val="686B72"/>
                </a:solidFill>
                <a:latin typeface="맑은 고딕"/>
                <a:ea typeface="맑은 고딕"/>
                <a:cs typeface="맑은 고딕"/>
              </a:defRPr>
            </a:lvl5pPr>
            <a:lvl6pPr algn="l">
              <a:defRPr sz="1298" b="0">
                <a:solidFill>
                  <a:srgbClr val="686B72"/>
                </a:solidFill>
                <a:latin typeface="맑은 고딕"/>
                <a:ea typeface="맑은 고딕"/>
                <a:cs typeface="맑은 고딕"/>
              </a:defRPr>
            </a:lvl6pPr>
            <a:lvl7pPr algn="l">
              <a:defRPr sz="1298" b="0">
                <a:solidFill>
                  <a:srgbClr val="686B72"/>
                </a:solidFill>
                <a:latin typeface="맑은 고딕"/>
                <a:ea typeface="맑은 고딕"/>
                <a:cs typeface="맑은 고딕"/>
              </a:defRPr>
            </a:lvl7pPr>
            <a:lvl8pPr algn="l">
              <a:defRPr sz="1298" b="0">
                <a:solidFill>
                  <a:srgbClr val="686B72"/>
                </a:solidFill>
                <a:latin typeface="맑은 고딕"/>
                <a:ea typeface="맑은 고딕"/>
                <a:cs typeface="맑은 고딕"/>
              </a:defRPr>
            </a:lvl8pPr>
            <a:lvl9pPr algn="l">
              <a:defRPr sz="1298" b="0">
                <a:solidFill>
                  <a:srgbClr val="686B72"/>
                </a:solidFill>
                <a:latin typeface="맑은 고딕"/>
                <a:ea typeface="맑은 고딕"/>
                <a:cs typeface="맑은 고딕"/>
              </a:defRPr>
            </a:lvl9pPr>
          </a:lstStyle>
          <a:p xmlns:a="http://schemas.openxmlformats.org/drawingml/2006/main">
            <a:pPr algn="l">
              <a:defRPr sz="1298" b="0">
                <a:solidFill>
                  <a:srgbClr val="686B72"/>
                </a:solidFill>
                <a:latin typeface="맑은 고딕"/>
                <a:ea typeface="맑은 고딕"/>
                <a:cs typeface="맑은 고딕"/>
              </a:defRPr>
            </a:pPr>
            <a:r>
              <a:rPr sz="1298" b="0">
                <a:solidFill>
                  <a:srgbClr val="686B72"/>
                </a:solidFill>
                <a:latin typeface="맑은 고딕"/>
                <a:ea typeface="맑은 고딕"/>
                <a:cs typeface="맑은 고딕"/>
              </a:rPr>
              <a:t>동시 32명, 초당 완료 요청 수 (L4·30초 시험)</a:t>
            </a:r>
          </a:p>
        </p:txBody>
      </p:sp>
      <p:graphicFrame>
        <p:nvGraphicFramePr>
          <p:cNvPr id="14" name="Chart">
            <a:extLst xmlns:a="http://schemas.openxmlformats.org/drawingml/2006/main">
              <a:ext uri="{FF2B5EF4-FFF2-40B4-BE49-F238E27FC236}">
                <a16:creationId xmlns:a16="http://schemas.microsoft.com/office/drawing/2014/main" id="{7AA59CA2-1E4E-4F6D-9EC8-B5E90ADB04DB}"/>
              </a:ext>
            </a:extLst>
          </p:cNvPr>
          <p:cNvGraphicFramePr/>
          <p:nvPr/>
        </p:nvGraphicFramePr>
        <p:xfrm>
          <a:off xmlns:a="http://schemas.openxmlformats.org/drawingml/2006/main" x="8248650" y="5257800"/>
          <a:ext xmlns:a="http://schemas.openxmlformats.org/drawingml/2006/main" cx="4857750" cy="1190625"/>
        </p:xfrm>
        <a:graphic xmlns:a="http://schemas.openxmlformats.org/drawingml/2006/main">
          <a:graphicData uri="http://schemas.openxmlformats.org/drawingml/2006/chart">
            <c:chart xmlns:r="http://schemas.openxmlformats.org/officeDocument/2006/relationships" xmlns:c="http://schemas.openxmlformats.org/drawingml/2006/chart" r:id="R334a79df351a4d30"/>
          </a:graphicData>
        </a:graphic>
      </p:graphicFrame>
    </p:spTree>
    <p:extLst>
      <p:ext uri="{BB962C8B-B14F-4D97-AF65-F5344CB8AC3E}">
        <p14:creationId xmlns:p14="http://schemas.microsoft.com/office/powerpoint/2010/main" val="971658971"/>
      </p:ext>
    </p:extLst>
  </p:cSld>
</p:sld>
</file>

<file path=ppt/slides/slide2.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sp>
        <p:nvSpPr>
          <p:cNvPr id="16" name="own-text-12">
            <a:extLst xmlns:a="http://schemas.openxmlformats.org/drawingml/2006/main">
              <a:ext uri="{FF2B5EF4-FFF2-40B4-BE49-F238E27FC236}">
                <a16:creationId xmlns:a16="http://schemas.microsoft.com/office/drawing/2014/main" id="{E83E74C0-27E2-4C94-9DA6-B914D56DB796}"/>
              </a:ext>
            </a:extLst>
          </p:cNvPr>
          <p:cNvSpPr>
            <a:spLocks xmlns:a="http://schemas.openxmlformats.org/drawingml/2006/main" noGrp="1"/>
          </p:cNvSpPr>
          <p:nvPr/>
        </p:nvSpPr>
        <p:spPr>
          <a:xfrm xmlns:a="http://schemas.openxmlformats.org/drawingml/2006/main">
            <a:off x="628650" y="420053"/>
            <a:ext cx="11430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xmlns:a="http://schemas.openxmlformats.org/drawingml/2006/main">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모델 선정</a:t>
            </a:r>
          </a:p>
        </p:txBody>
      </p:sp>
      <p:sp>
        <p:nvSpPr>
          <p:cNvPr id="2" name="own-text-13">
            <a:extLst xmlns:a="http://schemas.openxmlformats.org/drawingml/2006/main">
              <a:ext uri="{FF2B5EF4-FFF2-40B4-BE49-F238E27FC236}">
                <a16:creationId xmlns:a16="http://schemas.microsoft.com/office/drawing/2014/main" id="{3E015952-9074-415B-BD97-9C7B07AB69F1}"/>
              </a:ext>
            </a:extLst>
          </p:cNvPr>
          <p:cNvSpPr>
            <a:spLocks xmlns:a="http://schemas.openxmlformats.org/drawingml/2006/main" noGrp="1"/>
          </p:cNvSpPr>
          <p:nvPr/>
        </p:nvSpPr>
        <p:spPr>
          <a:xfrm xmlns:a="http://schemas.openxmlformats.org/drawingml/2006/main">
            <a:off x="628650" y="760095"/>
            <a:ext cx="12001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xmlns:a="http://schemas.openxmlformats.org/drawingml/2006/main">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Gemma와 Qwen, 4B 튜닝 대상 선정</a:t>
            </a:r>
          </a:p>
        </p:txBody>
      </p:sp>
      <p:sp>
        <p:nvSpPr>
          <p:cNvPr id="3" name="own-text-14">
            <a:extLst xmlns:a="http://schemas.openxmlformats.org/drawingml/2006/main">
              <a:ext uri="{FF2B5EF4-FFF2-40B4-BE49-F238E27FC236}">
                <a16:creationId xmlns:a16="http://schemas.microsoft.com/office/drawing/2014/main" id="{35F004AF-E4C7-42A1-A041-236E98F13CB5}"/>
              </a:ext>
            </a:extLst>
          </p:cNvPr>
          <p:cNvSpPr>
            <a:spLocks xmlns:a="http://schemas.openxmlformats.org/drawingml/2006/main" noGrp="1"/>
          </p:cNvSpPr>
          <p:nvPr/>
        </p:nvSpPr>
        <p:spPr>
          <a:xfrm xmlns:a="http://schemas.openxmlformats.org/drawingml/2006/main">
            <a:off x="628650" y="1500188"/>
            <a:ext cx="12001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같은 v4 조건에서 보류 안정성·오답 유형·프롬프트 교정 가능성을 비교</a:t>
            </a:r>
          </a:p>
        </p:txBody>
      </p:sp>
      <p:sp>
        <p:nvSpPr>
          <p:cNvPr id="4" name="own-text-15">
            <a:extLst xmlns:a="http://schemas.openxmlformats.org/drawingml/2006/main">
              <a:ext uri="{FF2B5EF4-FFF2-40B4-BE49-F238E27FC236}">
                <a16:creationId xmlns:a16="http://schemas.microsoft.com/office/drawing/2014/main" id="{27289552-C2FF-4304-85BE-3C67162283BA}"/>
              </a:ext>
            </a:extLst>
          </p:cNvPr>
          <p:cNvSpPr>
            <a:spLocks xmlns:a="http://schemas.openxmlformats.org/drawingml/2006/main" noGrp="1"/>
          </p:cNvSpPr>
          <p:nvPr/>
        </p:nvSpPr>
        <p:spPr>
          <a:xfrm xmlns:a="http://schemas.openxmlformats.org/drawingml/2006/main">
            <a:off x="628650" y="7104698"/>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xmlns:a="http://schemas.openxmlformats.org/drawingml/2006/main">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16">
            <a:extLst xmlns:a="http://schemas.openxmlformats.org/drawingml/2006/main">
              <a:ext uri="{FF2B5EF4-FFF2-40B4-BE49-F238E27FC236}">
                <a16:creationId xmlns:a16="http://schemas.microsoft.com/office/drawing/2014/main" id="{4A061B2E-B11A-4EB8-A776-0D632ED7B9D3}"/>
              </a:ext>
            </a:extLst>
          </p:cNvPr>
          <p:cNvSpPr>
            <a:spLocks xmlns:a="http://schemas.openxmlformats.org/drawingml/2006/main" noGrp="1"/>
          </p:cNvSpPr>
          <p:nvPr/>
        </p:nvSpPr>
        <p:spPr>
          <a:xfrm xmlns:a="http://schemas.openxmlformats.org/drawingml/2006/main">
            <a:off x="12382500" y="7104698"/>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xmlns:a="http://schemas.openxmlformats.org/drawingml/2006/main">
            <a:pPr algn="r">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02</a:t>
            </a:r>
          </a:p>
        </p:txBody>
      </p:sp>
      <p:sp>
        <p:nvSpPr>
          <p:cNvPr id="6" name="own-text-17">
            <a:extLst xmlns:a="http://schemas.openxmlformats.org/drawingml/2006/main">
              <a:ext uri="{FF2B5EF4-FFF2-40B4-BE49-F238E27FC236}">
                <a16:creationId xmlns:a16="http://schemas.microsoft.com/office/drawing/2014/main" id="{81C4EB39-FF17-4C85-9FAA-D4B4B2099F0C}"/>
              </a:ext>
            </a:extLst>
          </p:cNvPr>
          <p:cNvSpPr>
            <a:spLocks xmlns:a="http://schemas.openxmlformats.org/drawingml/2006/main" noGrp="1"/>
          </p:cNvSpPr>
          <p:nvPr/>
        </p:nvSpPr>
        <p:spPr>
          <a:xfrm xmlns:a="http://schemas.openxmlformats.org/drawingml/2006/main">
            <a:off x="628650" y="6610350"/>
            <a:ext cx="12458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xmlns:a="http://schemas.openxmlformats.org/drawingml/2006/main">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답변·계산 정답률은 실제 답한 표본으로 선택 편향 포함. 보류 정답 830건은 자료 부족·충돌·범위 밖 문항.</a:t>
            </a:r>
          </a:p>
          <a:p xmlns:a="http://schemas.openxmlformats.org/drawingml/2006/main">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답이 없는 문항은 두 모델 공통 670건. 답변 가능 출력은 모델 상태값 기준. 정답과 환각은 별도 판정.</a:t>
            </a:r>
          </a:p>
        </p:txBody>
      </p:sp>
      <p:graphicFrame>
        <p:nvGraphicFramePr>
          <p:cNvPr id="7" name="">
            <a:extLst xmlns:a="http://schemas.openxmlformats.org/drawingml/2006/main">
              <a:ext uri="{FF2B5EF4-FFF2-40B4-BE49-F238E27FC236}">
                <a16:creationId xmlns:a16="http://schemas.microsoft.com/office/drawing/2014/main" id="{9D54864D-BCEB-49EF-ACB8-EC87E2B088FF}"/>
              </a:ext>
            </a:extLst>
          </p:cNvPr>
          <p:cNvGraphicFramePr/>
          <p:nvPr/>
        </p:nvGraphicFramePr>
        <p:xfrm>
          <a:off xmlns:a="http://schemas.openxmlformats.org/drawingml/2006/main" x="628650" y="2076450"/>
          <a:ext xmlns:a="http://schemas.openxmlformats.org/drawingml/2006/main" cx="8001000" cy="3619500"/>
        </p:xfrm>
        <a:graphic xmlns:a="http://schemas.openxmlformats.org/drawingml/2006/main">
          <a:graphicData uri="http://schemas.openxmlformats.org/drawingml/2006/table">
            <a:tbl>
              <a:tblPr/>
              <a:tblGrid>
                <a:gridCol w="4724400"/>
                <a:gridCol w="1638300"/>
                <a:gridCol w="1638300"/>
              </a:tblGrid>
              <a:tr h="452438">
                <a:tc>
                  <a:txBody>
                    <a:bodyPr>
                      <a:noAutofit/>
                    </a:bodyPr>
                    <a:lstStyle/>
                    <a:p>
                      <a:r>
                        <a:rPr sz="1598" b="1">
                          <a:solidFill>
                            <a:srgbClr val="FFFFFF"/>
                          </a:solidFill>
                          <a:latin typeface="맑은 고딕"/>
                          <a:ea typeface="맑은 고딕"/>
                          <a:cs typeface="맑은 고딕"/>
                        </a:rPr>
                        <a:t>v4 기준선 비교</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98" b="1">
                          <a:solidFill>
                            <a:srgbClr val="FFFFFF"/>
                          </a:solidFill>
                          <a:latin typeface="맑은 고딕"/>
                          <a:ea typeface="맑은 고딕"/>
                          <a:cs typeface="맑은 고딕"/>
                        </a:rPr>
                        <a:t>Gemma3</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98" b="1">
                          <a:solidFill>
                            <a:srgbClr val="FFFFFF"/>
                          </a:solidFill>
                          <a:latin typeface="맑은 고딕"/>
                          <a:ea typeface="맑은 고딕"/>
                          <a:cs typeface="맑은 고딕"/>
                        </a:rPr>
                        <a:t>Qwen3 OFF</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452438">
                <a:tc>
                  <a:txBody>
                    <a:bodyPr>
                      <a:noAutofit/>
                    </a:bodyPr>
                    <a:lstStyle/>
                    <a:p>
                      <a:r>
                        <a:rPr sz="1598" b="1">
                          <a:solidFill>
                            <a:srgbClr val="F72585"/>
                          </a:solidFill>
                          <a:latin typeface="맑은 고딕"/>
                          <a:ea typeface="맑은 고딕"/>
                          <a:cs typeface="맑은 고딕"/>
                        </a:rPr>
                        <a:t>오답 중 답할 수 있는데 보류</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3.5%</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36.6%</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452438">
                <a:tc>
                  <a:txBody>
                    <a:bodyPr>
                      <a:noAutofit/>
                    </a:bodyPr>
                    <a:lstStyle/>
                    <a:p>
                      <a:r>
                        <a:rPr sz="1598" b="1">
                          <a:solidFill>
                            <a:srgbClr val="F72585"/>
                          </a:solidFill>
                          <a:latin typeface="맑은 고딕"/>
                          <a:ea typeface="맑은 고딕"/>
                          <a:cs typeface="맑은 고딕"/>
                        </a:rPr>
                        <a:t>답변했을 때의 정답률</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69.9%</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77.0%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452438">
                <a:tc>
                  <a:txBody>
                    <a:bodyPr>
                      <a:noAutofit/>
                    </a:bodyPr>
                    <a:lstStyle/>
                    <a:p>
                      <a:r>
                        <a:rPr sz="1598" b="0">
                          <a:solidFill>
                            <a:srgbClr val="17171A"/>
                          </a:solidFill>
                          <a:latin typeface="맑은 고딕"/>
                          <a:ea typeface="맑은 고딕"/>
                          <a:cs typeface="맑은 고딕"/>
                        </a:rPr>
                        <a:t>계산형 답변의 정답률</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48.0%</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55.5%</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52438">
                <a:tc>
                  <a:txBody>
                    <a:bodyPr>
                      <a:noAutofit/>
                    </a:bodyPr>
                    <a:lstStyle/>
                    <a:p>
                      <a:r>
                        <a:rPr sz="1598" b="0">
                          <a:solidFill>
                            <a:srgbClr val="17171A"/>
                          </a:solidFill>
                          <a:latin typeface="맑은 고딕"/>
                          <a:ea typeface="맑은 고딕"/>
                          <a:cs typeface="맑은 고딕"/>
                        </a:rPr>
                        <a:t>보류가 정답인 문항의 정답률</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79.5%</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87.2%</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52438">
                <a:tc>
                  <a:txBody>
                    <a:bodyPr>
                      <a:noAutofit/>
                    </a:bodyPr>
                    <a:lstStyle/>
                    <a:p>
                      <a:r>
                        <a:rPr sz="1598" b="0">
                          <a:solidFill>
                            <a:srgbClr val="17171A"/>
                          </a:solidFill>
                          <a:latin typeface="맑은 고딕"/>
                          <a:ea typeface="맑은 고딕"/>
                          <a:cs typeface="맑은 고딕"/>
                        </a:rPr>
                        <a:t>답이 없는 문항의 오답률</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18.4%</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10.6%</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52438">
                <a:tc>
                  <a:txBody>
                    <a:bodyPr>
                      <a:noAutofit/>
                    </a:bodyPr>
                    <a:lstStyle/>
                    <a:p>
                      <a:r>
                        <a:rPr sz="1598" b="0">
                          <a:solidFill>
                            <a:srgbClr val="17171A"/>
                          </a:solidFill>
                          <a:latin typeface="맑은 고딕"/>
                          <a:ea typeface="맑은 고딕"/>
                          <a:cs typeface="맑은 고딕"/>
                        </a:rPr>
                        <a:t>답이 없는 문항의 환각률</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31.9%</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21.3%</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52438">
                <a:tc>
                  <a:txBody>
                    <a:bodyPr>
                      <a:noAutofit/>
                    </a:bodyPr>
                    <a:lstStyle/>
                    <a:p>
                      <a:r>
                        <a:rPr sz="1598" b="0">
                          <a:solidFill>
                            <a:srgbClr val="17171A"/>
                          </a:solidFill>
                          <a:latin typeface="맑은 고딕"/>
                          <a:ea typeface="맑은 고딕"/>
                          <a:cs typeface="맑은 고딕"/>
                        </a:rPr>
                        <a:t>답변 가능 출력의 환각률</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18.3%</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8.3%</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bl>
          </a:graphicData>
        </a:graphic>
      </p:graphicFrame>
      <p:sp>
        <p:nvSpPr>
          <p:cNvPr id="8" name="own-text-18">
            <a:extLst xmlns:a="http://schemas.openxmlformats.org/drawingml/2006/main">
              <a:ext uri="{FF2B5EF4-FFF2-40B4-BE49-F238E27FC236}">
                <a16:creationId xmlns:a16="http://schemas.microsoft.com/office/drawing/2014/main" id="{788840E0-DAEE-407B-A4CD-AF9E7B075E01}"/>
              </a:ext>
            </a:extLst>
          </p:cNvPr>
          <p:cNvSpPr>
            <a:spLocks xmlns:a="http://schemas.openxmlformats.org/drawingml/2006/main" noGrp="1"/>
          </p:cNvSpPr>
          <p:nvPr/>
        </p:nvSpPr>
        <p:spPr>
          <a:xfrm xmlns:a="http://schemas.openxmlformats.org/drawingml/2006/main">
            <a:off x="9086850" y="2095500"/>
            <a:ext cx="4000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17171A"/>
                </a:solidFill>
                <a:latin typeface="맑은 고딕"/>
                <a:ea typeface="맑은 고딕"/>
                <a:cs typeface="맑은 고딕"/>
              </a:defRPr>
            </a:defPPr>
            <a:lvl1pPr algn="l">
              <a:defRPr sz="1800" b="1">
                <a:solidFill>
                  <a:srgbClr val="17171A"/>
                </a:solidFill>
                <a:latin typeface="맑은 고딕"/>
                <a:ea typeface="맑은 고딕"/>
                <a:cs typeface="맑은 고딕"/>
              </a:defRPr>
            </a:lvl1pPr>
            <a:lvl2pPr algn="l">
              <a:defRPr sz="1800" b="1">
                <a:solidFill>
                  <a:srgbClr val="17171A"/>
                </a:solidFill>
                <a:latin typeface="맑은 고딕"/>
                <a:ea typeface="맑은 고딕"/>
                <a:cs typeface="맑은 고딕"/>
              </a:defRPr>
            </a:lvl2pPr>
            <a:lvl3pPr algn="l">
              <a:defRPr sz="1800" b="1">
                <a:solidFill>
                  <a:srgbClr val="17171A"/>
                </a:solidFill>
                <a:latin typeface="맑은 고딕"/>
                <a:ea typeface="맑은 고딕"/>
                <a:cs typeface="맑은 고딕"/>
              </a:defRPr>
            </a:lvl3pPr>
            <a:lvl4pPr algn="l">
              <a:defRPr sz="1800" b="1">
                <a:solidFill>
                  <a:srgbClr val="17171A"/>
                </a:solidFill>
                <a:latin typeface="맑은 고딕"/>
                <a:ea typeface="맑은 고딕"/>
                <a:cs typeface="맑은 고딕"/>
              </a:defRPr>
            </a:lvl4pPr>
            <a:lvl5pPr algn="l">
              <a:defRPr sz="1800" b="1">
                <a:solidFill>
                  <a:srgbClr val="17171A"/>
                </a:solidFill>
                <a:latin typeface="맑은 고딕"/>
                <a:ea typeface="맑은 고딕"/>
                <a:cs typeface="맑은 고딕"/>
              </a:defRPr>
            </a:lvl5pPr>
            <a:lvl6pPr algn="l">
              <a:defRPr sz="1800" b="1">
                <a:solidFill>
                  <a:srgbClr val="17171A"/>
                </a:solidFill>
                <a:latin typeface="맑은 고딕"/>
                <a:ea typeface="맑은 고딕"/>
                <a:cs typeface="맑은 고딕"/>
              </a:defRPr>
            </a:lvl6pPr>
            <a:lvl7pPr algn="l">
              <a:defRPr sz="1800" b="1">
                <a:solidFill>
                  <a:srgbClr val="17171A"/>
                </a:solidFill>
                <a:latin typeface="맑은 고딕"/>
                <a:ea typeface="맑은 고딕"/>
                <a:cs typeface="맑은 고딕"/>
              </a:defRPr>
            </a:lvl7pPr>
            <a:lvl8pPr algn="l">
              <a:defRPr sz="1800" b="1">
                <a:solidFill>
                  <a:srgbClr val="17171A"/>
                </a:solidFill>
                <a:latin typeface="맑은 고딕"/>
                <a:ea typeface="맑은 고딕"/>
                <a:cs typeface="맑은 고딕"/>
              </a:defRPr>
            </a:lvl8pPr>
            <a:lvl9pPr algn="l">
              <a:defRPr sz="1800" b="1">
                <a:solidFill>
                  <a:srgbClr val="17171A"/>
                </a:solidFill>
                <a:latin typeface="맑은 고딕"/>
                <a:ea typeface="맑은 고딕"/>
                <a:cs typeface="맑은 고딕"/>
              </a:defRPr>
            </a:lvl9pPr>
          </a:lstStyle>
          <a:p xmlns:a="http://schemas.openxmlformats.org/drawingml/2006/main">
            <a:pPr algn="l">
              <a:defRPr sz="1800" b="1">
                <a:solidFill>
                  <a:srgbClr val="17171A"/>
                </a:solidFill>
                <a:latin typeface="맑은 고딕"/>
                <a:ea typeface="맑은 고딕"/>
                <a:cs typeface="맑은 고딕"/>
              </a:defRPr>
            </a:pPr>
            <a:r>
              <a:rPr sz="1800" b="1">
                <a:solidFill>
                  <a:srgbClr val="17171A"/>
                </a:solidFill>
                <a:latin typeface="맑은 고딕"/>
                <a:ea typeface="맑은 고딕"/>
                <a:cs typeface="맑은 고딕"/>
              </a:rPr>
              <a:t>Gemma의 계산·조건 오적용</a:t>
            </a:r>
          </a:p>
        </p:txBody>
      </p:sp>
      <p:sp>
        <p:nvSpPr>
          <p:cNvPr id="9" name="own-text-19">
            <a:extLst xmlns:a="http://schemas.openxmlformats.org/drawingml/2006/main">
              <a:ext uri="{FF2B5EF4-FFF2-40B4-BE49-F238E27FC236}">
                <a16:creationId xmlns:a16="http://schemas.microsoft.com/office/drawing/2014/main" id="{45863B97-5E7D-4378-8B17-36968E9E304D}"/>
              </a:ext>
            </a:extLst>
          </p:cNvPr>
          <p:cNvSpPr>
            <a:spLocks xmlns:a="http://schemas.openxmlformats.org/drawingml/2006/main" noGrp="1"/>
          </p:cNvSpPr>
          <p:nvPr/>
        </p:nvSpPr>
        <p:spPr>
          <a:xfrm xmlns:a="http://schemas.openxmlformats.org/drawingml/2006/main">
            <a:off x="9086850" y="2628900"/>
            <a:ext cx="4000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2" b="0">
                <a:solidFill>
                  <a:srgbClr val="17171A"/>
                </a:solidFill>
                <a:latin typeface="맑은 고딕"/>
                <a:ea typeface="맑은 고딕"/>
                <a:cs typeface="맑은 고딕"/>
              </a:defRPr>
            </a:defPPr>
            <a:lvl1pPr algn="l">
              <a:defRPr sz="1702" b="0">
                <a:solidFill>
                  <a:srgbClr val="17171A"/>
                </a:solidFill>
                <a:latin typeface="맑은 고딕"/>
                <a:ea typeface="맑은 고딕"/>
                <a:cs typeface="맑은 고딕"/>
              </a:defRPr>
            </a:lvl1pPr>
            <a:lvl2pPr algn="l">
              <a:defRPr sz="1702" b="0">
                <a:solidFill>
                  <a:srgbClr val="17171A"/>
                </a:solidFill>
                <a:latin typeface="맑은 고딕"/>
                <a:ea typeface="맑은 고딕"/>
                <a:cs typeface="맑은 고딕"/>
              </a:defRPr>
            </a:lvl2pPr>
            <a:lvl3pPr algn="l">
              <a:defRPr sz="1702" b="0">
                <a:solidFill>
                  <a:srgbClr val="17171A"/>
                </a:solidFill>
                <a:latin typeface="맑은 고딕"/>
                <a:ea typeface="맑은 고딕"/>
                <a:cs typeface="맑은 고딕"/>
              </a:defRPr>
            </a:lvl3pPr>
            <a:lvl4pPr algn="l">
              <a:defRPr sz="1702" b="0">
                <a:solidFill>
                  <a:srgbClr val="17171A"/>
                </a:solidFill>
                <a:latin typeface="맑은 고딕"/>
                <a:ea typeface="맑은 고딕"/>
                <a:cs typeface="맑은 고딕"/>
              </a:defRPr>
            </a:lvl4pPr>
            <a:lvl5pPr algn="l">
              <a:defRPr sz="1702" b="0">
                <a:solidFill>
                  <a:srgbClr val="17171A"/>
                </a:solidFill>
                <a:latin typeface="맑은 고딕"/>
                <a:ea typeface="맑은 고딕"/>
                <a:cs typeface="맑은 고딕"/>
              </a:defRPr>
            </a:lvl5pPr>
            <a:lvl6pPr algn="l">
              <a:defRPr sz="1702" b="0">
                <a:solidFill>
                  <a:srgbClr val="17171A"/>
                </a:solidFill>
                <a:latin typeface="맑은 고딕"/>
                <a:ea typeface="맑은 고딕"/>
                <a:cs typeface="맑은 고딕"/>
              </a:defRPr>
            </a:lvl6pPr>
            <a:lvl7pPr algn="l">
              <a:defRPr sz="1702" b="0">
                <a:solidFill>
                  <a:srgbClr val="17171A"/>
                </a:solidFill>
                <a:latin typeface="맑은 고딕"/>
                <a:ea typeface="맑은 고딕"/>
                <a:cs typeface="맑은 고딕"/>
              </a:defRPr>
            </a:lvl7pPr>
            <a:lvl8pPr algn="l">
              <a:defRPr sz="1702" b="0">
                <a:solidFill>
                  <a:srgbClr val="17171A"/>
                </a:solidFill>
                <a:latin typeface="맑은 고딕"/>
                <a:ea typeface="맑은 고딕"/>
                <a:cs typeface="맑은 고딕"/>
              </a:defRPr>
            </a:lvl8pPr>
            <a:lvl9pPr algn="l">
              <a:defRPr sz="1702" b="0">
                <a:solidFill>
                  <a:srgbClr val="17171A"/>
                </a:solidFill>
                <a:latin typeface="맑은 고딕"/>
                <a:ea typeface="맑은 고딕"/>
                <a:cs typeface="맑은 고딕"/>
              </a:defRPr>
            </a:lvl9pPr>
          </a:lstStyle>
          <a:p xmlns:a="http://schemas.openxmlformats.org/drawingml/2006/main">
            <a:pPr algn="l">
              <a:defRPr sz="1702" b="0">
                <a:solidFill>
                  <a:srgbClr val="17171A"/>
                </a:solidFill>
                <a:latin typeface="맑은 고딕"/>
                <a:ea typeface="맑은 고딕"/>
                <a:cs typeface="맑은 고딕"/>
              </a:defRPr>
            </a:pPr>
            <a:r>
              <a:rPr sz="1702" b="0">
                <a:solidFill>
                  <a:srgbClr val="17171A"/>
                </a:solidFill>
                <a:latin typeface="맑은 고딕"/>
                <a:ea typeface="맑은 고딕"/>
                <a:cs typeface="맑은 고딕"/>
              </a:rPr>
              <a:t>문자 100건 제공·95건 사용</a:t>
            </a:r>
          </a:p>
          <a:p xmlns:a="http://schemas.openxmlformats.org/drawingml/2006/main">
            <a:pPr algn="l">
              <a:defRPr sz="1702" b="0">
                <a:solidFill>
                  <a:srgbClr val="17171A"/>
                </a:solidFill>
                <a:latin typeface="맑은 고딕"/>
                <a:ea typeface="맑은 고딕"/>
                <a:cs typeface="맑은 고딕"/>
              </a:defRPr>
            </a:pPr>
            <a:r>
              <a:rPr sz="1702" b="0">
                <a:solidFill>
                  <a:srgbClr val="17171A"/>
                </a:solidFill>
                <a:latin typeface="맑은 고딕"/>
                <a:ea typeface="맑은 고딕"/>
                <a:cs typeface="맑은 고딕"/>
              </a:rPr>
              <a:t>“5건 초과, 110원”으로 답변</a:t>
            </a:r>
          </a:p>
        </p:txBody>
      </p:sp>
      <p:sp>
        <p:nvSpPr>
          <p:cNvPr id="10" name="own-text-20">
            <a:extLst xmlns:a="http://schemas.openxmlformats.org/drawingml/2006/main">
              <a:ext uri="{FF2B5EF4-FFF2-40B4-BE49-F238E27FC236}">
                <a16:creationId xmlns:a16="http://schemas.microsoft.com/office/drawing/2014/main" id="{BF1E3D28-848B-4AF6-B0F3-C1EAB9E5CE1E}"/>
              </a:ext>
            </a:extLst>
          </p:cNvPr>
          <p:cNvSpPr>
            <a:spLocks xmlns:a="http://schemas.openxmlformats.org/drawingml/2006/main" noGrp="1"/>
          </p:cNvSpPr>
          <p:nvPr/>
        </p:nvSpPr>
        <p:spPr>
          <a:xfrm xmlns:a="http://schemas.openxmlformats.org/drawingml/2006/main">
            <a:off x="9086850" y="3476625"/>
            <a:ext cx="4000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2" b="0">
                <a:solidFill>
                  <a:srgbClr val="17171A"/>
                </a:solidFill>
                <a:latin typeface="맑은 고딕"/>
                <a:ea typeface="맑은 고딕"/>
                <a:cs typeface="맑은 고딕"/>
              </a:defRPr>
            </a:defPPr>
            <a:lvl1pPr algn="l">
              <a:defRPr sz="1702" b="0">
                <a:solidFill>
                  <a:srgbClr val="17171A"/>
                </a:solidFill>
                <a:latin typeface="맑은 고딕"/>
                <a:ea typeface="맑은 고딕"/>
                <a:cs typeface="맑은 고딕"/>
              </a:defRPr>
            </a:lvl1pPr>
            <a:lvl2pPr algn="l">
              <a:defRPr sz="1702" b="0">
                <a:solidFill>
                  <a:srgbClr val="17171A"/>
                </a:solidFill>
                <a:latin typeface="맑은 고딕"/>
                <a:ea typeface="맑은 고딕"/>
                <a:cs typeface="맑은 고딕"/>
              </a:defRPr>
            </a:lvl2pPr>
            <a:lvl3pPr algn="l">
              <a:defRPr sz="1702" b="0">
                <a:solidFill>
                  <a:srgbClr val="17171A"/>
                </a:solidFill>
                <a:latin typeface="맑은 고딕"/>
                <a:ea typeface="맑은 고딕"/>
                <a:cs typeface="맑은 고딕"/>
              </a:defRPr>
            </a:lvl3pPr>
            <a:lvl4pPr algn="l">
              <a:defRPr sz="1702" b="0">
                <a:solidFill>
                  <a:srgbClr val="17171A"/>
                </a:solidFill>
                <a:latin typeface="맑은 고딕"/>
                <a:ea typeface="맑은 고딕"/>
                <a:cs typeface="맑은 고딕"/>
              </a:defRPr>
            </a:lvl4pPr>
            <a:lvl5pPr algn="l">
              <a:defRPr sz="1702" b="0">
                <a:solidFill>
                  <a:srgbClr val="17171A"/>
                </a:solidFill>
                <a:latin typeface="맑은 고딕"/>
                <a:ea typeface="맑은 고딕"/>
                <a:cs typeface="맑은 고딕"/>
              </a:defRPr>
            </a:lvl5pPr>
            <a:lvl6pPr algn="l">
              <a:defRPr sz="1702" b="0">
                <a:solidFill>
                  <a:srgbClr val="17171A"/>
                </a:solidFill>
                <a:latin typeface="맑은 고딕"/>
                <a:ea typeface="맑은 고딕"/>
                <a:cs typeface="맑은 고딕"/>
              </a:defRPr>
            </a:lvl6pPr>
            <a:lvl7pPr algn="l">
              <a:defRPr sz="1702" b="0">
                <a:solidFill>
                  <a:srgbClr val="17171A"/>
                </a:solidFill>
                <a:latin typeface="맑은 고딕"/>
                <a:ea typeface="맑은 고딕"/>
                <a:cs typeface="맑은 고딕"/>
              </a:defRPr>
            </a:lvl7pPr>
            <a:lvl8pPr algn="l">
              <a:defRPr sz="1702" b="0">
                <a:solidFill>
                  <a:srgbClr val="17171A"/>
                </a:solidFill>
                <a:latin typeface="맑은 고딕"/>
                <a:ea typeface="맑은 고딕"/>
                <a:cs typeface="맑은 고딕"/>
              </a:defRPr>
            </a:lvl8pPr>
            <a:lvl9pPr algn="l">
              <a:defRPr sz="1702" b="0">
                <a:solidFill>
                  <a:srgbClr val="17171A"/>
                </a:solidFill>
                <a:latin typeface="맑은 고딕"/>
                <a:ea typeface="맑은 고딕"/>
                <a:cs typeface="맑은 고딕"/>
              </a:defRPr>
            </a:lvl9pPr>
          </a:lstStyle>
          <a:p xmlns:a="http://schemas.openxmlformats.org/drawingml/2006/main">
            <a:pPr algn="l">
              <a:defRPr sz="1702" b="0">
                <a:solidFill>
                  <a:srgbClr val="17171A"/>
                </a:solidFill>
                <a:latin typeface="맑은 고딕"/>
                <a:ea typeface="맑은 고딕"/>
                <a:cs typeface="맑은 고딕"/>
              </a:defRPr>
            </a:pPr>
            <a:r>
              <a:rPr sz="1702" b="0">
                <a:solidFill>
                  <a:srgbClr val="17171A"/>
                </a:solidFill>
                <a:latin typeface="맑은 고딕"/>
                <a:ea typeface="맑은 고딕"/>
                <a:cs typeface="맑은 고딕"/>
              </a:rPr>
              <a:t>4,999점 보유·사용 한도 5,000점</a:t>
            </a:r>
          </a:p>
          <a:p xmlns:a="http://schemas.openxmlformats.org/drawingml/2006/main">
            <a:pPr algn="l">
              <a:defRPr sz="1702" b="0">
                <a:solidFill>
                  <a:srgbClr val="17171A"/>
                </a:solidFill>
                <a:latin typeface="맑은 고딕"/>
                <a:ea typeface="맑은 고딕"/>
                <a:cs typeface="맑은 고딕"/>
              </a:defRPr>
            </a:pPr>
            <a:r>
              <a:rPr sz="1702" b="0">
                <a:solidFill>
                  <a:srgbClr val="17171A"/>
                </a:solidFill>
                <a:latin typeface="맑은 고딕"/>
                <a:ea typeface="맑은 고딕"/>
                <a:cs typeface="맑은 고딕"/>
              </a:rPr>
              <a:t>“5,000점 사용 가능”으로 답변</a:t>
            </a:r>
          </a:p>
        </p:txBody>
      </p:sp>
      <p:sp>
        <p:nvSpPr>
          <p:cNvPr id="11" name="own-text-21">
            <a:extLst xmlns:a="http://schemas.openxmlformats.org/drawingml/2006/main">
              <a:ext uri="{FF2B5EF4-FFF2-40B4-BE49-F238E27FC236}">
                <a16:creationId xmlns:a16="http://schemas.microsoft.com/office/drawing/2014/main" id="{E9468F7A-E094-440B-886C-E5B48CE509C9}"/>
              </a:ext>
            </a:extLst>
          </p:cNvPr>
          <p:cNvSpPr>
            <a:spLocks xmlns:a="http://schemas.openxmlformats.org/drawingml/2006/main" noGrp="1"/>
          </p:cNvSpPr>
          <p:nvPr/>
        </p:nvSpPr>
        <p:spPr>
          <a:xfrm xmlns:a="http://schemas.openxmlformats.org/drawingml/2006/main">
            <a:off x="9086850" y="4333875"/>
            <a:ext cx="4000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F72585"/>
                </a:solidFill>
                <a:latin typeface="맑은 고딕"/>
                <a:ea typeface="맑은 고딕"/>
                <a:cs typeface="맑은 고딕"/>
              </a:defRPr>
            </a:defPPr>
            <a:lvl1pPr algn="l">
              <a:defRPr sz="1800" b="1">
                <a:solidFill>
                  <a:srgbClr val="F72585"/>
                </a:solidFill>
                <a:latin typeface="맑은 고딕"/>
                <a:ea typeface="맑은 고딕"/>
                <a:cs typeface="맑은 고딕"/>
              </a:defRPr>
            </a:lvl1pPr>
            <a:lvl2pPr algn="l">
              <a:defRPr sz="1800" b="1">
                <a:solidFill>
                  <a:srgbClr val="F72585"/>
                </a:solidFill>
                <a:latin typeface="맑은 고딕"/>
                <a:ea typeface="맑은 고딕"/>
                <a:cs typeface="맑은 고딕"/>
              </a:defRPr>
            </a:lvl2pPr>
            <a:lvl3pPr algn="l">
              <a:defRPr sz="1800" b="1">
                <a:solidFill>
                  <a:srgbClr val="F72585"/>
                </a:solidFill>
                <a:latin typeface="맑은 고딕"/>
                <a:ea typeface="맑은 고딕"/>
                <a:cs typeface="맑은 고딕"/>
              </a:defRPr>
            </a:lvl3pPr>
            <a:lvl4pPr algn="l">
              <a:defRPr sz="1800" b="1">
                <a:solidFill>
                  <a:srgbClr val="F72585"/>
                </a:solidFill>
                <a:latin typeface="맑은 고딕"/>
                <a:ea typeface="맑은 고딕"/>
                <a:cs typeface="맑은 고딕"/>
              </a:defRPr>
            </a:lvl4pPr>
            <a:lvl5pPr algn="l">
              <a:defRPr sz="1800" b="1">
                <a:solidFill>
                  <a:srgbClr val="F72585"/>
                </a:solidFill>
                <a:latin typeface="맑은 고딕"/>
                <a:ea typeface="맑은 고딕"/>
                <a:cs typeface="맑은 고딕"/>
              </a:defRPr>
            </a:lvl5pPr>
            <a:lvl6pPr algn="l">
              <a:defRPr sz="1800" b="1">
                <a:solidFill>
                  <a:srgbClr val="F72585"/>
                </a:solidFill>
                <a:latin typeface="맑은 고딕"/>
                <a:ea typeface="맑은 고딕"/>
                <a:cs typeface="맑은 고딕"/>
              </a:defRPr>
            </a:lvl6pPr>
            <a:lvl7pPr algn="l">
              <a:defRPr sz="1800" b="1">
                <a:solidFill>
                  <a:srgbClr val="F72585"/>
                </a:solidFill>
                <a:latin typeface="맑은 고딕"/>
                <a:ea typeface="맑은 고딕"/>
                <a:cs typeface="맑은 고딕"/>
              </a:defRPr>
            </a:lvl7pPr>
            <a:lvl8pPr algn="l">
              <a:defRPr sz="1800" b="1">
                <a:solidFill>
                  <a:srgbClr val="F72585"/>
                </a:solidFill>
                <a:latin typeface="맑은 고딕"/>
                <a:ea typeface="맑은 고딕"/>
                <a:cs typeface="맑은 고딕"/>
              </a:defRPr>
            </a:lvl8pPr>
            <a:lvl9pPr algn="l">
              <a:defRPr sz="1800" b="1">
                <a:solidFill>
                  <a:srgbClr val="F72585"/>
                </a:solidFill>
                <a:latin typeface="맑은 고딕"/>
                <a:ea typeface="맑은 고딕"/>
                <a:cs typeface="맑은 고딕"/>
              </a:defRPr>
            </a:lvl9pPr>
          </a:lstStyle>
          <a:p xmlns:a="http://schemas.openxmlformats.org/drawingml/2006/main">
            <a:pPr algn="l">
              <a:defRPr sz="1800" b="1">
                <a:solidFill>
                  <a:srgbClr val="F72585"/>
                </a:solidFill>
                <a:latin typeface="맑은 고딕"/>
                <a:ea typeface="맑은 고딕"/>
                <a:cs typeface="맑은 고딕"/>
              </a:defRPr>
            </a:pPr>
            <a:r>
              <a:rPr sz="1800" b="1">
                <a:solidFill>
                  <a:srgbClr val="F72585"/>
                </a:solidFill>
                <a:latin typeface="맑은 고딕"/>
                <a:ea typeface="맑은 고딕"/>
                <a:cs typeface="맑은 고딕"/>
              </a:rPr>
              <a:t>Qwen의 프롬프트 교정 여지</a:t>
            </a:r>
          </a:p>
        </p:txBody>
      </p:sp>
      <p:sp>
        <p:nvSpPr>
          <p:cNvPr id="12" name="own-text-22">
            <a:extLst xmlns:a="http://schemas.openxmlformats.org/drawingml/2006/main">
              <a:ext uri="{FF2B5EF4-FFF2-40B4-BE49-F238E27FC236}">
                <a16:creationId xmlns:a16="http://schemas.microsoft.com/office/drawing/2014/main" id="{BA174B9D-52EE-4434-9D41-57CD9809D297}"/>
              </a:ext>
            </a:extLst>
          </p:cNvPr>
          <p:cNvSpPr>
            <a:spLocks xmlns:a="http://schemas.openxmlformats.org/drawingml/2006/main" noGrp="1"/>
          </p:cNvSpPr>
          <p:nvPr/>
        </p:nvSpPr>
        <p:spPr>
          <a:xfrm xmlns:a="http://schemas.openxmlformats.org/drawingml/2006/main">
            <a:off x="9086850" y="4829175"/>
            <a:ext cx="400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17171A"/>
                </a:solidFill>
                <a:latin typeface="맑은 고딕"/>
                <a:ea typeface="맑은 고딕"/>
                <a:cs typeface="맑은 고딕"/>
              </a:defRPr>
            </a:defPPr>
            <a:lvl1pPr algn="l">
              <a:defRPr sz="1800" b="1">
                <a:solidFill>
                  <a:srgbClr val="17171A"/>
                </a:solidFill>
                <a:latin typeface="맑은 고딕"/>
                <a:ea typeface="맑은 고딕"/>
                <a:cs typeface="맑은 고딕"/>
              </a:defRPr>
            </a:lvl1pPr>
            <a:lvl2pPr algn="l">
              <a:defRPr sz="1800" b="1">
                <a:solidFill>
                  <a:srgbClr val="17171A"/>
                </a:solidFill>
                <a:latin typeface="맑은 고딕"/>
                <a:ea typeface="맑은 고딕"/>
                <a:cs typeface="맑은 고딕"/>
              </a:defRPr>
            </a:lvl2pPr>
            <a:lvl3pPr algn="l">
              <a:defRPr sz="1800" b="1">
                <a:solidFill>
                  <a:srgbClr val="17171A"/>
                </a:solidFill>
                <a:latin typeface="맑은 고딕"/>
                <a:ea typeface="맑은 고딕"/>
                <a:cs typeface="맑은 고딕"/>
              </a:defRPr>
            </a:lvl3pPr>
            <a:lvl4pPr algn="l">
              <a:defRPr sz="1800" b="1">
                <a:solidFill>
                  <a:srgbClr val="17171A"/>
                </a:solidFill>
                <a:latin typeface="맑은 고딕"/>
                <a:ea typeface="맑은 고딕"/>
                <a:cs typeface="맑은 고딕"/>
              </a:defRPr>
            </a:lvl4pPr>
            <a:lvl5pPr algn="l">
              <a:defRPr sz="1800" b="1">
                <a:solidFill>
                  <a:srgbClr val="17171A"/>
                </a:solidFill>
                <a:latin typeface="맑은 고딕"/>
                <a:ea typeface="맑은 고딕"/>
                <a:cs typeface="맑은 고딕"/>
              </a:defRPr>
            </a:lvl5pPr>
            <a:lvl6pPr algn="l">
              <a:defRPr sz="1800" b="1">
                <a:solidFill>
                  <a:srgbClr val="17171A"/>
                </a:solidFill>
                <a:latin typeface="맑은 고딕"/>
                <a:ea typeface="맑은 고딕"/>
                <a:cs typeface="맑은 고딕"/>
              </a:defRPr>
            </a:lvl6pPr>
            <a:lvl7pPr algn="l">
              <a:defRPr sz="1800" b="1">
                <a:solidFill>
                  <a:srgbClr val="17171A"/>
                </a:solidFill>
                <a:latin typeface="맑은 고딕"/>
                <a:ea typeface="맑은 고딕"/>
                <a:cs typeface="맑은 고딕"/>
              </a:defRPr>
            </a:lvl7pPr>
            <a:lvl8pPr algn="l">
              <a:defRPr sz="1800" b="1">
                <a:solidFill>
                  <a:srgbClr val="17171A"/>
                </a:solidFill>
                <a:latin typeface="맑은 고딕"/>
                <a:ea typeface="맑은 고딕"/>
                <a:cs typeface="맑은 고딕"/>
              </a:defRPr>
            </a:lvl8pPr>
            <a:lvl9pPr algn="l">
              <a:defRPr sz="1800" b="1">
                <a:solidFill>
                  <a:srgbClr val="17171A"/>
                </a:solidFill>
                <a:latin typeface="맑은 고딕"/>
                <a:ea typeface="맑은 고딕"/>
                <a:cs typeface="맑은 고딕"/>
              </a:defRPr>
            </a:lvl9pPr>
          </a:lstStyle>
          <a:p xmlns:a="http://schemas.openxmlformats.org/drawingml/2006/main">
            <a:pPr algn="l">
              <a:defRPr sz="1800" b="1">
                <a:solidFill>
                  <a:srgbClr val="17171A"/>
                </a:solidFill>
                <a:latin typeface="맑은 고딕"/>
                <a:ea typeface="맑은 고딕"/>
                <a:cs typeface="맑은 고딕"/>
              </a:defRPr>
            </a:pPr>
            <a:r>
              <a:rPr sz="1800" b="1">
                <a:solidFill>
                  <a:srgbClr val="17171A"/>
                </a:solidFill>
                <a:latin typeface="맑은 고딕"/>
                <a:ea typeface="맑은 고딕"/>
                <a:cs typeface="맑은 고딕"/>
              </a:rPr>
              <a:t>과잉 보류 352건 중</a:t>
            </a:r>
          </a:p>
          <a:p xmlns:a="http://schemas.openxmlformats.org/drawingml/2006/main">
            <a:pPr algn="l">
              <a:defRPr sz="1800" b="1">
                <a:solidFill>
                  <a:srgbClr val="17171A"/>
                </a:solidFill>
                <a:latin typeface="맑은 고딕"/>
                <a:ea typeface="맑은 고딕"/>
                <a:cs typeface="맑은 고딕"/>
              </a:defRPr>
            </a:pPr>
            <a:r>
              <a:rPr sz="1800" b="1">
                <a:solidFill>
                  <a:srgbClr val="17171A"/>
                </a:solidFill>
                <a:latin typeface="맑은 고딕"/>
                <a:ea typeface="맑은 고딕"/>
                <a:cs typeface="맑은 고딕"/>
              </a:rPr>
              <a:t>255건은 환각이 없었음</a:t>
            </a:r>
          </a:p>
        </p:txBody>
      </p:sp>
      <p:sp>
        <p:nvSpPr>
          <p:cNvPr id="13" name="own-text-23">
            <a:extLst xmlns:a="http://schemas.openxmlformats.org/drawingml/2006/main">
              <a:ext uri="{FF2B5EF4-FFF2-40B4-BE49-F238E27FC236}">
                <a16:creationId xmlns:a16="http://schemas.microsoft.com/office/drawing/2014/main" id="{53847936-9EEA-4108-956C-0406BC306CF4}"/>
              </a:ext>
            </a:extLst>
          </p:cNvPr>
          <p:cNvSpPr>
            <a:spLocks xmlns:a="http://schemas.openxmlformats.org/drawingml/2006/main" noGrp="1"/>
          </p:cNvSpPr>
          <p:nvPr/>
        </p:nvSpPr>
        <p:spPr>
          <a:xfrm xmlns:a="http://schemas.openxmlformats.org/drawingml/2006/main">
            <a:off x="9086850" y="5581650"/>
            <a:ext cx="4000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52" b="0">
                <a:solidFill>
                  <a:srgbClr val="686B72"/>
                </a:solidFill>
                <a:latin typeface="맑은 고딕"/>
                <a:ea typeface="맑은 고딕"/>
                <a:cs typeface="맑은 고딕"/>
              </a:defRPr>
            </a:defPPr>
            <a:lvl1pPr algn="l">
              <a:defRPr sz="1552" b="0">
                <a:solidFill>
                  <a:srgbClr val="686B72"/>
                </a:solidFill>
                <a:latin typeface="맑은 고딕"/>
                <a:ea typeface="맑은 고딕"/>
                <a:cs typeface="맑은 고딕"/>
              </a:defRPr>
            </a:lvl1pPr>
            <a:lvl2pPr algn="l">
              <a:defRPr sz="1552" b="0">
                <a:solidFill>
                  <a:srgbClr val="686B72"/>
                </a:solidFill>
                <a:latin typeface="맑은 고딕"/>
                <a:ea typeface="맑은 고딕"/>
                <a:cs typeface="맑은 고딕"/>
              </a:defRPr>
            </a:lvl2pPr>
            <a:lvl3pPr algn="l">
              <a:defRPr sz="1552" b="0">
                <a:solidFill>
                  <a:srgbClr val="686B72"/>
                </a:solidFill>
                <a:latin typeface="맑은 고딕"/>
                <a:ea typeface="맑은 고딕"/>
                <a:cs typeface="맑은 고딕"/>
              </a:defRPr>
            </a:lvl3pPr>
            <a:lvl4pPr algn="l">
              <a:defRPr sz="1552" b="0">
                <a:solidFill>
                  <a:srgbClr val="686B72"/>
                </a:solidFill>
                <a:latin typeface="맑은 고딕"/>
                <a:ea typeface="맑은 고딕"/>
                <a:cs typeface="맑은 고딕"/>
              </a:defRPr>
            </a:lvl4pPr>
            <a:lvl5pPr algn="l">
              <a:defRPr sz="1552" b="0">
                <a:solidFill>
                  <a:srgbClr val="686B72"/>
                </a:solidFill>
                <a:latin typeface="맑은 고딕"/>
                <a:ea typeface="맑은 고딕"/>
                <a:cs typeface="맑은 고딕"/>
              </a:defRPr>
            </a:lvl5pPr>
            <a:lvl6pPr algn="l">
              <a:defRPr sz="1552" b="0">
                <a:solidFill>
                  <a:srgbClr val="686B72"/>
                </a:solidFill>
                <a:latin typeface="맑은 고딕"/>
                <a:ea typeface="맑은 고딕"/>
                <a:cs typeface="맑은 고딕"/>
              </a:defRPr>
            </a:lvl6pPr>
            <a:lvl7pPr algn="l">
              <a:defRPr sz="1552" b="0">
                <a:solidFill>
                  <a:srgbClr val="686B72"/>
                </a:solidFill>
                <a:latin typeface="맑은 고딕"/>
                <a:ea typeface="맑은 고딕"/>
                <a:cs typeface="맑은 고딕"/>
              </a:defRPr>
            </a:lvl7pPr>
            <a:lvl8pPr algn="l">
              <a:defRPr sz="1552" b="0">
                <a:solidFill>
                  <a:srgbClr val="686B72"/>
                </a:solidFill>
                <a:latin typeface="맑은 고딕"/>
                <a:ea typeface="맑은 고딕"/>
                <a:cs typeface="맑은 고딕"/>
              </a:defRPr>
            </a:lvl8pPr>
            <a:lvl9pPr algn="l">
              <a:defRPr sz="1552" b="0">
                <a:solidFill>
                  <a:srgbClr val="686B72"/>
                </a:solidFill>
                <a:latin typeface="맑은 고딕"/>
                <a:ea typeface="맑은 고딕"/>
                <a:cs typeface="맑은 고딕"/>
              </a:defRPr>
            </a:lvl9pPr>
          </a:lstStyle>
          <a:p xmlns:a="http://schemas.openxmlformats.org/drawingml/2006/main">
            <a:pPr algn="l">
              <a:defRPr sz="1552" b="0">
                <a:solidFill>
                  <a:srgbClr val="686B72"/>
                </a:solidFill>
                <a:latin typeface="맑은 고딕"/>
                <a:ea typeface="맑은 고딕"/>
                <a:cs typeface="맑은 고딕"/>
              </a:defRPr>
            </a:pPr>
            <a:r>
              <a:rPr sz="1552" b="0">
                <a:solidFill>
                  <a:srgbClr val="686B72"/>
                </a:solidFill>
                <a:latin typeface="맑은 고딕"/>
                <a:ea typeface="맑은 고딕"/>
                <a:cs typeface="맑은 고딕"/>
              </a:rPr>
              <a:t>근거 우선 선택·과도한 되묻기가</a:t>
            </a:r>
          </a:p>
          <a:p xmlns:a="http://schemas.openxmlformats.org/drawingml/2006/main">
            <a:pPr algn="l">
              <a:defRPr sz="1552" b="0">
                <a:solidFill>
                  <a:srgbClr val="686B72"/>
                </a:solidFill>
                <a:latin typeface="맑은 고딕"/>
                <a:ea typeface="맑은 고딕"/>
                <a:cs typeface="맑은 고딕"/>
              </a:defRPr>
            </a:pPr>
            <a:r>
              <a:rPr sz="1552" b="0">
                <a:solidFill>
                  <a:srgbClr val="686B72"/>
                </a:solidFill>
                <a:latin typeface="맑은 고딕"/>
                <a:ea typeface="맑은 고딕"/>
                <a:cs typeface="맑은 고딕"/>
              </a:rPr>
              <a:t>답변을 막는 구조를 확인</a:t>
            </a:r>
          </a:p>
        </p:txBody>
      </p:sp>
      <p:sp>
        <p:nvSpPr>
          <p:cNvPr id="14" name="own-text-24">
            <a:extLst xmlns:a="http://schemas.openxmlformats.org/drawingml/2006/main">
              <a:ext uri="{FF2B5EF4-FFF2-40B4-BE49-F238E27FC236}">
                <a16:creationId xmlns:a16="http://schemas.microsoft.com/office/drawing/2014/main" id="{3525FBBB-FE59-47E7-BF6B-964167CDF87B}"/>
              </a:ext>
            </a:extLst>
          </p:cNvPr>
          <p:cNvSpPr>
            <a:spLocks xmlns:a="http://schemas.openxmlformats.org/drawingml/2006/main" noGrp="1"/>
          </p:cNvSpPr>
          <p:nvPr/>
        </p:nvSpPr>
        <p:spPr>
          <a:xfrm xmlns:a="http://schemas.openxmlformats.org/drawingml/2006/main">
            <a:off x="9086850" y="6248400"/>
            <a:ext cx="400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52" b="0">
                <a:solidFill>
                  <a:srgbClr val="686B72"/>
                </a:solidFill>
                <a:latin typeface="맑은 고딕"/>
                <a:ea typeface="맑은 고딕"/>
                <a:cs typeface="맑은 고딕"/>
              </a:defRPr>
            </a:defPPr>
            <a:lvl1pPr algn="l">
              <a:defRPr sz="1252" b="0">
                <a:solidFill>
                  <a:srgbClr val="686B72"/>
                </a:solidFill>
                <a:latin typeface="맑은 고딕"/>
                <a:ea typeface="맑은 고딕"/>
                <a:cs typeface="맑은 고딕"/>
              </a:defRPr>
            </a:lvl1pPr>
            <a:lvl2pPr algn="l">
              <a:defRPr sz="1252" b="0">
                <a:solidFill>
                  <a:srgbClr val="686B72"/>
                </a:solidFill>
                <a:latin typeface="맑은 고딕"/>
                <a:ea typeface="맑은 고딕"/>
                <a:cs typeface="맑은 고딕"/>
              </a:defRPr>
            </a:lvl2pPr>
            <a:lvl3pPr algn="l">
              <a:defRPr sz="1252" b="0">
                <a:solidFill>
                  <a:srgbClr val="686B72"/>
                </a:solidFill>
                <a:latin typeface="맑은 고딕"/>
                <a:ea typeface="맑은 고딕"/>
                <a:cs typeface="맑은 고딕"/>
              </a:defRPr>
            </a:lvl3pPr>
            <a:lvl4pPr algn="l">
              <a:defRPr sz="1252" b="0">
                <a:solidFill>
                  <a:srgbClr val="686B72"/>
                </a:solidFill>
                <a:latin typeface="맑은 고딕"/>
                <a:ea typeface="맑은 고딕"/>
                <a:cs typeface="맑은 고딕"/>
              </a:defRPr>
            </a:lvl4pPr>
            <a:lvl5pPr algn="l">
              <a:defRPr sz="1252" b="0">
                <a:solidFill>
                  <a:srgbClr val="686B72"/>
                </a:solidFill>
                <a:latin typeface="맑은 고딕"/>
                <a:ea typeface="맑은 고딕"/>
                <a:cs typeface="맑은 고딕"/>
              </a:defRPr>
            </a:lvl5pPr>
            <a:lvl6pPr algn="l">
              <a:defRPr sz="1252" b="0">
                <a:solidFill>
                  <a:srgbClr val="686B72"/>
                </a:solidFill>
                <a:latin typeface="맑은 고딕"/>
                <a:ea typeface="맑은 고딕"/>
                <a:cs typeface="맑은 고딕"/>
              </a:defRPr>
            </a:lvl6pPr>
            <a:lvl7pPr algn="l">
              <a:defRPr sz="1252" b="0">
                <a:solidFill>
                  <a:srgbClr val="686B72"/>
                </a:solidFill>
                <a:latin typeface="맑은 고딕"/>
                <a:ea typeface="맑은 고딕"/>
                <a:cs typeface="맑은 고딕"/>
              </a:defRPr>
            </a:lvl7pPr>
            <a:lvl8pPr algn="l">
              <a:defRPr sz="1252" b="0">
                <a:solidFill>
                  <a:srgbClr val="686B72"/>
                </a:solidFill>
                <a:latin typeface="맑은 고딕"/>
                <a:ea typeface="맑은 고딕"/>
                <a:cs typeface="맑은 고딕"/>
              </a:defRPr>
            </a:lvl8pPr>
            <a:lvl9pPr algn="l">
              <a:defRPr sz="1252" b="0">
                <a:solidFill>
                  <a:srgbClr val="686B72"/>
                </a:solidFill>
                <a:latin typeface="맑은 고딕"/>
                <a:ea typeface="맑은 고딕"/>
                <a:cs typeface="맑은 고딕"/>
              </a:defRPr>
            </a:lvl9pPr>
          </a:lstStyle>
          <a:p xmlns:a="http://schemas.openxmlformats.org/drawingml/2006/main">
            <a:pPr algn="l">
              <a:defRPr sz="1252" b="0">
                <a:solidFill>
                  <a:srgbClr val="686B72"/>
                </a:solidFill>
                <a:latin typeface="맑은 고딕"/>
                <a:ea typeface="맑은 고딕"/>
                <a:cs typeface="맑은 고딕"/>
              </a:defRPr>
            </a:pPr>
            <a:r>
              <a:rPr sz="1252" b="0">
                <a:solidFill>
                  <a:srgbClr val="686B72"/>
                </a:solidFill>
                <a:latin typeface="맑은 고딕"/>
                <a:ea typeface="맑은 고딕"/>
                <a:cs typeface="맑은 고딕"/>
              </a:rPr>
              <a:t>답하도록 바꾸면 환각 증가 위험도 남음</a:t>
            </a:r>
          </a:p>
        </p:txBody>
      </p:sp>
      <p:sp>
        <p:nvSpPr>
          <p:cNvPr id="15" name="own-text-25">
            <a:extLst xmlns:a="http://schemas.openxmlformats.org/drawingml/2006/main">
              <a:ext uri="{FF2B5EF4-FFF2-40B4-BE49-F238E27FC236}">
                <a16:creationId xmlns:a16="http://schemas.microsoft.com/office/drawing/2014/main" id="{CE59EB09-CD9E-4B3C-B3DA-C435D901E918}"/>
              </a:ext>
            </a:extLst>
          </p:cNvPr>
          <p:cNvSpPr>
            <a:spLocks xmlns:a="http://schemas.openxmlformats.org/drawingml/2006/main" noGrp="1"/>
          </p:cNvSpPr>
          <p:nvPr/>
        </p:nvSpPr>
        <p:spPr>
          <a:xfrm xmlns:a="http://schemas.openxmlformats.org/drawingml/2006/main">
            <a:off x="628650" y="5886450"/>
            <a:ext cx="8001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72585"/>
                </a:solidFill>
                <a:latin typeface="맑은 고딕"/>
                <a:ea typeface="맑은 고딕"/>
                <a:cs typeface="맑은 고딕"/>
              </a:defRPr>
            </a:defPPr>
            <a:lvl1pPr algn="l">
              <a:defRPr sz="2100" b="1">
                <a:solidFill>
                  <a:srgbClr val="F72585"/>
                </a:solidFill>
                <a:latin typeface="맑은 고딕"/>
                <a:ea typeface="맑은 고딕"/>
                <a:cs typeface="맑은 고딕"/>
              </a:defRPr>
            </a:lvl1pPr>
            <a:lvl2pPr algn="l">
              <a:defRPr sz="2100" b="1">
                <a:solidFill>
                  <a:srgbClr val="F72585"/>
                </a:solidFill>
                <a:latin typeface="맑은 고딕"/>
                <a:ea typeface="맑은 고딕"/>
                <a:cs typeface="맑은 고딕"/>
              </a:defRPr>
            </a:lvl2pPr>
            <a:lvl3pPr algn="l">
              <a:defRPr sz="2100" b="1">
                <a:solidFill>
                  <a:srgbClr val="F72585"/>
                </a:solidFill>
                <a:latin typeface="맑은 고딕"/>
                <a:ea typeface="맑은 고딕"/>
                <a:cs typeface="맑은 고딕"/>
              </a:defRPr>
            </a:lvl3pPr>
            <a:lvl4pPr algn="l">
              <a:defRPr sz="2100" b="1">
                <a:solidFill>
                  <a:srgbClr val="F72585"/>
                </a:solidFill>
                <a:latin typeface="맑은 고딕"/>
                <a:ea typeface="맑은 고딕"/>
                <a:cs typeface="맑은 고딕"/>
              </a:defRPr>
            </a:lvl4pPr>
            <a:lvl5pPr algn="l">
              <a:defRPr sz="2100" b="1">
                <a:solidFill>
                  <a:srgbClr val="F72585"/>
                </a:solidFill>
                <a:latin typeface="맑은 고딕"/>
                <a:ea typeface="맑은 고딕"/>
                <a:cs typeface="맑은 고딕"/>
              </a:defRPr>
            </a:lvl5pPr>
            <a:lvl6pPr algn="l">
              <a:defRPr sz="2100" b="1">
                <a:solidFill>
                  <a:srgbClr val="F72585"/>
                </a:solidFill>
                <a:latin typeface="맑은 고딕"/>
                <a:ea typeface="맑은 고딕"/>
                <a:cs typeface="맑은 고딕"/>
              </a:defRPr>
            </a:lvl6pPr>
            <a:lvl7pPr algn="l">
              <a:defRPr sz="2100" b="1">
                <a:solidFill>
                  <a:srgbClr val="F72585"/>
                </a:solidFill>
                <a:latin typeface="맑은 고딕"/>
                <a:ea typeface="맑은 고딕"/>
                <a:cs typeface="맑은 고딕"/>
              </a:defRPr>
            </a:lvl7pPr>
            <a:lvl8pPr algn="l">
              <a:defRPr sz="2100" b="1">
                <a:solidFill>
                  <a:srgbClr val="F72585"/>
                </a:solidFill>
                <a:latin typeface="맑은 고딕"/>
                <a:ea typeface="맑은 고딕"/>
                <a:cs typeface="맑은 고딕"/>
              </a:defRPr>
            </a:lvl8pPr>
            <a:lvl9pPr algn="l">
              <a:defRPr sz="2100" b="1">
                <a:solidFill>
                  <a:srgbClr val="F72585"/>
                </a:solidFill>
                <a:latin typeface="맑은 고딕"/>
                <a:ea typeface="맑은 고딕"/>
                <a:cs typeface="맑은 고딕"/>
              </a:defRPr>
            </a:lvl9pPr>
          </a:lstStyle>
          <a:p xmlns:a="http://schemas.openxmlformats.org/drawingml/2006/main">
            <a:pPr algn="l">
              <a:defRPr sz="2100" b="1">
                <a:solidFill>
                  <a:srgbClr val="F72585"/>
                </a:solidFill>
                <a:latin typeface="맑은 고딕"/>
                <a:ea typeface="맑은 고딕"/>
                <a:cs typeface="맑은 고딕"/>
              </a:defRPr>
            </a:pPr>
            <a:r>
              <a:rPr sz="2100" b="1">
                <a:solidFill>
                  <a:srgbClr val="F72585"/>
                </a:solidFill>
                <a:latin typeface="맑은 고딕"/>
                <a:ea typeface="맑은 고딕"/>
                <a:cs typeface="맑은 고딕"/>
              </a:rPr>
              <a:t>전체 정답률 2.1%p 차이보다</a:t>
            </a:r>
          </a:p>
          <a:p xmlns:a="http://schemas.openxmlformats.org/drawingml/2006/main">
            <a:pPr algn="l">
              <a:defRPr sz="2100" b="1">
                <a:solidFill>
                  <a:srgbClr val="F72585"/>
                </a:solidFill>
                <a:latin typeface="맑은 고딕"/>
                <a:ea typeface="맑은 고딕"/>
                <a:cs typeface="맑은 고딕"/>
              </a:defRPr>
            </a:pPr>
            <a:r>
              <a:rPr sz="2100" b="1">
                <a:solidFill>
                  <a:srgbClr val="F72585"/>
                </a:solidFill>
                <a:latin typeface="맑은 고딕"/>
                <a:ea typeface="맑은 고딕"/>
                <a:cs typeface="맑은 고딕"/>
              </a:rPr>
              <a:t>보류 안정성과 교정 가능성을 우선</a:t>
            </a:r>
          </a:p>
        </p:txBody>
      </p:sp>
    </p:spTree>
    <p:extLst>
      <p:ext uri="{BB962C8B-B14F-4D97-AF65-F5344CB8AC3E}">
        <p14:creationId xmlns:p14="http://schemas.microsoft.com/office/powerpoint/2010/main" val="1682452019"/>
      </p:ext>
    </p:extLst>
  </p:cSld>
</p:sld>
</file>

<file path=ppt/slides/slide3.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sp>
        <p:nvSpPr>
          <p:cNvPr id="16" name="own-text-26">
            <a:extLst xmlns:a="http://schemas.openxmlformats.org/drawingml/2006/main">
              <a:ext uri="{FF2B5EF4-FFF2-40B4-BE49-F238E27FC236}">
                <a16:creationId xmlns:a16="http://schemas.microsoft.com/office/drawing/2014/main" id="{F207934A-D232-4585-92FE-75A2A50AF41A}"/>
              </a:ext>
            </a:extLst>
          </p:cNvPr>
          <p:cNvSpPr>
            <a:spLocks xmlns:a="http://schemas.openxmlformats.org/drawingml/2006/main" noGrp="1"/>
          </p:cNvSpPr>
          <p:nvPr/>
        </p:nvSpPr>
        <p:spPr>
          <a:xfrm xmlns:a="http://schemas.openxmlformats.org/drawingml/2006/main">
            <a:off x="628650" y="420053"/>
            <a:ext cx="11430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xmlns:a="http://schemas.openxmlformats.org/drawingml/2006/main">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모델 선정</a:t>
            </a:r>
          </a:p>
        </p:txBody>
      </p:sp>
      <p:sp>
        <p:nvSpPr>
          <p:cNvPr id="2" name="own-text-27">
            <a:extLst xmlns:a="http://schemas.openxmlformats.org/drawingml/2006/main">
              <a:ext uri="{FF2B5EF4-FFF2-40B4-BE49-F238E27FC236}">
                <a16:creationId xmlns:a16="http://schemas.microsoft.com/office/drawing/2014/main" id="{D54A9783-D572-467A-AF00-8D94F0D5C7EF}"/>
              </a:ext>
            </a:extLst>
          </p:cNvPr>
          <p:cNvSpPr>
            <a:spLocks xmlns:a="http://schemas.openxmlformats.org/drawingml/2006/main" noGrp="1"/>
          </p:cNvSpPr>
          <p:nvPr/>
        </p:nvSpPr>
        <p:spPr>
          <a:xfrm xmlns:a="http://schemas.openxmlformats.org/drawingml/2006/main">
            <a:off x="628650" y="760095"/>
            <a:ext cx="12001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xmlns:a="http://schemas.openxmlformats.org/drawingml/2006/main">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2차 모델 비교와 Instruct Q4 선정</a:t>
            </a:r>
          </a:p>
        </p:txBody>
      </p:sp>
      <p:sp>
        <p:nvSpPr>
          <p:cNvPr id="3" name="own-text-28">
            <a:extLst xmlns:a="http://schemas.openxmlformats.org/drawingml/2006/main">
              <a:ext uri="{FF2B5EF4-FFF2-40B4-BE49-F238E27FC236}">
                <a16:creationId xmlns:a16="http://schemas.microsoft.com/office/drawing/2014/main" id="{CE591D38-33DD-4477-8E5C-E3E2718B6D71}"/>
              </a:ext>
            </a:extLst>
          </p:cNvPr>
          <p:cNvSpPr>
            <a:spLocks xmlns:a="http://schemas.openxmlformats.org/drawingml/2006/main" noGrp="1"/>
          </p:cNvSpPr>
          <p:nvPr/>
        </p:nvSpPr>
        <p:spPr>
          <a:xfrm xmlns:a="http://schemas.openxmlformats.org/drawingml/2006/main">
            <a:off x="628650" y="1500188"/>
            <a:ext cx="12001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기본 프롬프트의 Instruct도 OFF 최종 튜닝보다 정확했고, Q4의 자원 효율을 고려</a:t>
            </a:r>
          </a:p>
        </p:txBody>
      </p:sp>
      <p:sp>
        <p:nvSpPr>
          <p:cNvPr id="4" name="own-text-29">
            <a:extLst xmlns:a="http://schemas.openxmlformats.org/drawingml/2006/main">
              <a:ext uri="{FF2B5EF4-FFF2-40B4-BE49-F238E27FC236}">
                <a16:creationId xmlns:a16="http://schemas.microsoft.com/office/drawing/2014/main" id="{1B8F6CAF-45CE-40F9-8248-976148047EB5}"/>
              </a:ext>
            </a:extLst>
          </p:cNvPr>
          <p:cNvSpPr>
            <a:spLocks xmlns:a="http://schemas.openxmlformats.org/drawingml/2006/main" noGrp="1"/>
          </p:cNvSpPr>
          <p:nvPr/>
        </p:nvSpPr>
        <p:spPr>
          <a:xfrm xmlns:a="http://schemas.openxmlformats.org/drawingml/2006/main">
            <a:off x="628650" y="7104698"/>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xmlns:a="http://schemas.openxmlformats.org/drawingml/2006/main">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30">
            <a:extLst xmlns:a="http://schemas.openxmlformats.org/drawingml/2006/main">
              <a:ext uri="{FF2B5EF4-FFF2-40B4-BE49-F238E27FC236}">
                <a16:creationId xmlns:a16="http://schemas.microsoft.com/office/drawing/2014/main" id="{B4B45735-69CC-4798-94BD-FC683BA9C9DA}"/>
              </a:ext>
            </a:extLst>
          </p:cNvPr>
          <p:cNvSpPr>
            <a:spLocks xmlns:a="http://schemas.openxmlformats.org/drawingml/2006/main" noGrp="1"/>
          </p:cNvSpPr>
          <p:nvPr/>
        </p:nvSpPr>
        <p:spPr>
          <a:xfrm xmlns:a="http://schemas.openxmlformats.org/drawingml/2006/main">
            <a:off x="12382500" y="7104698"/>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xmlns:a="http://schemas.openxmlformats.org/drawingml/2006/main">
            <a:pPr algn="r">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03</a:t>
            </a:r>
          </a:p>
        </p:txBody>
      </p:sp>
      <p:sp>
        <p:nvSpPr>
          <p:cNvPr id="6" name="own-text-31">
            <a:extLst xmlns:a="http://schemas.openxmlformats.org/drawingml/2006/main">
              <a:ext uri="{FF2B5EF4-FFF2-40B4-BE49-F238E27FC236}">
                <a16:creationId xmlns:a16="http://schemas.microsoft.com/office/drawing/2014/main" id="{28A80B57-283D-44C3-BA09-BA862076E7F5}"/>
              </a:ext>
            </a:extLst>
          </p:cNvPr>
          <p:cNvSpPr>
            <a:spLocks xmlns:a="http://schemas.openxmlformats.org/drawingml/2006/main" noGrp="1"/>
          </p:cNvSpPr>
          <p:nvPr/>
        </p:nvSpPr>
        <p:spPr>
          <a:xfrm xmlns:a="http://schemas.openxmlformats.org/drawingml/2006/main">
            <a:off x="628650" y="6515100"/>
            <a:ext cx="12458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686B72"/>
                </a:solidFill>
                <a:latin typeface="맑은 고딕"/>
                <a:ea typeface="맑은 고딕"/>
                <a:cs typeface="맑은 고딕"/>
              </a:defRPr>
            </a:defPPr>
            <a:lvl1pPr algn="l">
              <a:defRPr sz="1350" b="0">
                <a:solidFill>
                  <a:srgbClr val="686B72"/>
                </a:solidFill>
                <a:latin typeface="맑은 고딕"/>
                <a:ea typeface="맑은 고딕"/>
                <a:cs typeface="맑은 고딕"/>
              </a:defRPr>
            </a:lvl1pPr>
            <a:lvl2pPr algn="l">
              <a:defRPr sz="1350" b="0">
                <a:solidFill>
                  <a:srgbClr val="686B72"/>
                </a:solidFill>
                <a:latin typeface="맑은 고딕"/>
                <a:ea typeface="맑은 고딕"/>
                <a:cs typeface="맑은 고딕"/>
              </a:defRPr>
            </a:lvl2pPr>
            <a:lvl3pPr algn="l">
              <a:defRPr sz="1350" b="0">
                <a:solidFill>
                  <a:srgbClr val="686B72"/>
                </a:solidFill>
                <a:latin typeface="맑은 고딕"/>
                <a:ea typeface="맑은 고딕"/>
                <a:cs typeface="맑은 고딕"/>
              </a:defRPr>
            </a:lvl3pPr>
            <a:lvl4pPr algn="l">
              <a:defRPr sz="1350" b="0">
                <a:solidFill>
                  <a:srgbClr val="686B72"/>
                </a:solidFill>
                <a:latin typeface="맑은 고딕"/>
                <a:ea typeface="맑은 고딕"/>
                <a:cs typeface="맑은 고딕"/>
              </a:defRPr>
            </a:lvl4pPr>
            <a:lvl5pPr algn="l">
              <a:defRPr sz="1350" b="0">
                <a:solidFill>
                  <a:srgbClr val="686B72"/>
                </a:solidFill>
                <a:latin typeface="맑은 고딕"/>
                <a:ea typeface="맑은 고딕"/>
                <a:cs typeface="맑은 고딕"/>
              </a:defRPr>
            </a:lvl5pPr>
            <a:lvl6pPr algn="l">
              <a:defRPr sz="1350" b="0">
                <a:solidFill>
                  <a:srgbClr val="686B72"/>
                </a:solidFill>
                <a:latin typeface="맑은 고딕"/>
                <a:ea typeface="맑은 고딕"/>
                <a:cs typeface="맑은 고딕"/>
              </a:defRPr>
            </a:lvl6pPr>
            <a:lvl7pPr algn="l">
              <a:defRPr sz="1350" b="0">
                <a:solidFill>
                  <a:srgbClr val="686B72"/>
                </a:solidFill>
                <a:latin typeface="맑은 고딕"/>
                <a:ea typeface="맑은 고딕"/>
                <a:cs typeface="맑은 고딕"/>
              </a:defRPr>
            </a:lvl7pPr>
            <a:lvl8pPr algn="l">
              <a:defRPr sz="1350" b="0">
                <a:solidFill>
                  <a:srgbClr val="686B72"/>
                </a:solidFill>
                <a:latin typeface="맑은 고딕"/>
                <a:ea typeface="맑은 고딕"/>
                <a:cs typeface="맑은 고딕"/>
              </a:defRPr>
            </a:lvl8pPr>
            <a:lvl9pPr algn="l">
              <a:defRPr sz="1350" b="0">
                <a:solidFill>
                  <a:srgbClr val="686B72"/>
                </a:solidFill>
                <a:latin typeface="맑은 고딕"/>
                <a:ea typeface="맑은 고딕"/>
                <a:cs typeface="맑은 고딕"/>
              </a:defRPr>
            </a:lvl9pPr>
          </a:lstStyle>
          <a:p xmlns:a="http://schemas.openxmlformats.org/drawingml/2006/main">
            <a:pPr algn="l">
              <a:defRPr sz="1350" b="0">
                <a:solidFill>
                  <a:srgbClr val="686B72"/>
                </a:solidFill>
                <a:latin typeface="맑은 고딕"/>
                <a:ea typeface="맑은 고딕"/>
                <a:cs typeface="맑은 고딕"/>
              </a:defRPr>
            </a:pPr>
            <a:r>
              <a:rPr sz="1350" b="0">
                <a:solidFill>
                  <a:srgbClr val="686B72"/>
                </a:solidFill>
                <a:latin typeface="맑은 고딕"/>
                <a:ea typeface="맑은 고딕"/>
                <a:cs typeface="맑은 고딕"/>
              </a:rPr>
              <a:t>시험: 부분 답변·무관 FAQ·답 없는 유사 문서·유사/다중 FAQ(공통 404건), 양자화 비교는 13유형 1,300건</a:t>
            </a:r>
          </a:p>
          <a:p xmlns:a="http://schemas.openxmlformats.org/drawingml/2006/main">
            <a:pPr algn="l">
              <a:defRPr sz="1350" b="0">
                <a:solidFill>
                  <a:srgbClr val="686B72"/>
                </a:solidFill>
                <a:latin typeface="맑은 고딕"/>
                <a:ea typeface="맑은 고딕"/>
                <a:cs typeface="맑은 고딕"/>
              </a:defRPr>
            </a:pPr>
            <a:r>
              <a:rPr sz="1350" b="0">
                <a:solidFill>
                  <a:srgbClr val="686B72"/>
                </a:solidFill>
                <a:latin typeface="맑은 고딕"/>
                <a:ea typeface="맑은 고딕"/>
                <a:cs typeface="맑은 고딕"/>
              </a:rPr>
              <a:t>고려: 정답·환각뿐 아니라 오답 유형·프롬프트 교정 가능성, 응답 시간·가중치 크기와 동시 서빙 여유.</a:t>
            </a:r>
          </a:p>
        </p:txBody>
      </p:sp>
      <p:graphicFrame>
        <p:nvGraphicFramePr>
          <p:cNvPr id="7" name="">
            <a:extLst xmlns:a="http://schemas.openxmlformats.org/drawingml/2006/main">
              <a:ext uri="{FF2B5EF4-FFF2-40B4-BE49-F238E27FC236}">
                <a16:creationId xmlns:a16="http://schemas.microsoft.com/office/drawing/2014/main" id="{CE5D85E8-4E5A-4AFE-B871-F560ED6CFC3B}"/>
              </a:ext>
            </a:extLst>
          </p:cNvPr>
          <p:cNvGraphicFramePr/>
          <p:nvPr/>
        </p:nvGraphicFramePr>
        <p:xfrm>
          <a:off xmlns:a="http://schemas.openxmlformats.org/drawingml/2006/main" x="628650" y="2076450"/>
          <a:ext xmlns:a="http://schemas.openxmlformats.org/drawingml/2006/main" cx="8096250" cy="3238500"/>
        </p:xfrm>
        <a:graphic xmlns:a="http://schemas.openxmlformats.org/drawingml/2006/main">
          <a:graphicData uri="http://schemas.openxmlformats.org/drawingml/2006/table">
            <a:tbl>
              <a:tblPr/>
              <a:tblGrid>
                <a:gridCol w="4838700"/>
                <a:gridCol w="1628775"/>
                <a:gridCol w="1628775"/>
              </a:tblGrid>
              <a:tr h="462643">
                <a:tc>
                  <a:txBody>
                    <a:bodyPr>
                      <a:noAutofit/>
                    </a:bodyPr>
                    <a:lstStyle/>
                    <a:p>
                      <a:r>
                        <a:rPr sz="1695" b="1">
                          <a:solidFill>
                            <a:srgbClr val="FFFFFF"/>
                          </a:solidFill>
                          <a:latin typeface="맑은 고딕"/>
                          <a:ea typeface="맑은 고딕"/>
                          <a:cs typeface="맑은 고딕"/>
                        </a:rPr>
                        <a:t>모델·프롬프트</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695" b="1">
                          <a:solidFill>
                            <a:srgbClr val="FFFFFF"/>
                          </a:solidFill>
                          <a:latin typeface="맑은 고딕"/>
                          <a:ea typeface="맑은 고딕"/>
                          <a:cs typeface="맑은 고딕"/>
                        </a:rPr>
                        <a:t>정확도</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695" b="1">
                          <a:solidFill>
                            <a:srgbClr val="FFFFFF"/>
                          </a:solidFill>
                          <a:latin typeface="맑은 고딕"/>
                          <a:ea typeface="맑은 고딕"/>
                          <a:cs typeface="맑은 고딕"/>
                        </a:rPr>
                        <a:t>환각률</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462643">
                <a:tc>
                  <a:txBody>
                    <a:bodyPr>
                      <a:noAutofit/>
                    </a:bodyPr>
                    <a:lstStyle/>
                    <a:p>
                      <a:r>
                        <a:rPr sz="1695" b="0">
                          <a:solidFill>
                            <a:srgbClr val="17171A"/>
                          </a:solidFill>
                          <a:latin typeface="맑은 고딕"/>
                          <a:ea typeface="맑은 고딕"/>
                          <a:cs typeface="맑은 고딕"/>
                        </a:rPr>
                        <a:t>Qwen3 4B OFF · 초안</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695" b="0">
                          <a:solidFill>
                            <a:srgbClr val="17171A"/>
                          </a:solidFill>
                          <a:latin typeface="맑은 고딕"/>
                          <a:ea typeface="맑은 고딕"/>
                          <a:cs typeface="맑은 고딕"/>
                        </a:rPr>
                        <a:t>62.87%</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695" b="0">
                          <a:solidFill>
                            <a:srgbClr val="17171A"/>
                          </a:solidFill>
                          <a:latin typeface="맑은 고딕"/>
                          <a:ea typeface="맑은 고딕"/>
                          <a:cs typeface="맑은 고딕"/>
                        </a:rPr>
                        <a:t>23.76%</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62643">
                <a:tc>
                  <a:txBody>
                    <a:bodyPr>
                      <a:noAutofit/>
                    </a:bodyPr>
                    <a:lstStyle/>
                    <a:p>
                      <a:r>
                        <a:rPr sz="1695" b="0">
                          <a:solidFill>
                            <a:srgbClr val="17171A"/>
                          </a:solidFill>
                          <a:latin typeface="맑은 고딕"/>
                          <a:ea typeface="맑은 고딕"/>
                          <a:cs typeface="맑은 고딕"/>
                        </a:rPr>
                        <a:t>Qwen3 4B OFF · 최종 개선</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695" b="0">
                          <a:solidFill>
                            <a:srgbClr val="17171A"/>
                          </a:solidFill>
                          <a:latin typeface="맑은 고딕"/>
                          <a:ea typeface="맑은 고딕"/>
                          <a:cs typeface="맑은 고딕"/>
                        </a:rPr>
                        <a:t>77.48%</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695" b="0">
                          <a:solidFill>
                            <a:srgbClr val="17171A"/>
                          </a:solidFill>
                          <a:latin typeface="맑은 고딕"/>
                          <a:ea typeface="맑은 고딕"/>
                          <a:cs typeface="맑은 고딕"/>
                        </a:rPr>
                        <a:t>24.50%</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62643">
                <a:tc>
                  <a:txBody>
                    <a:bodyPr>
                      <a:noAutofit/>
                    </a:bodyPr>
                    <a:lstStyle/>
                    <a:p>
                      <a:r>
                        <a:rPr sz="1695" b="0">
                          <a:solidFill>
                            <a:srgbClr val="17171A"/>
                          </a:solidFill>
                          <a:latin typeface="맑은 고딕"/>
                          <a:ea typeface="맑은 고딕"/>
                          <a:cs typeface="맑은 고딕"/>
                        </a:rPr>
                        <a:t>Gemma3 4B · Q4_K_M</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695" b="0">
                          <a:solidFill>
                            <a:srgbClr val="17171A"/>
                          </a:solidFill>
                          <a:latin typeface="맑은 고딕"/>
                          <a:ea typeface="맑은 고딕"/>
                          <a:cs typeface="맑은 고딕"/>
                        </a:rPr>
                        <a:t>70.05%</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695" b="0">
                          <a:solidFill>
                            <a:srgbClr val="17171A"/>
                          </a:solidFill>
                          <a:latin typeface="맑은 고딕"/>
                          <a:ea typeface="맑은 고딕"/>
                          <a:cs typeface="맑은 고딕"/>
                        </a:rPr>
                        <a:t>29.70%</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62643">
                <a:tc>
                  <a:txBody>
                    <a:bodyPr>
                      <a:noAutofit/>
                    </a:bodyPr>
                    <a:lstStyle/>
                    <a:p>
                      <a:r>
                        <a:rPr sz="1695" b="0">
                          <a:solidFill>
                            <a:srgbClr val="17171A"/>
                          </a:solidFill>
                          <a:latin typeface="맑은 고딕"/>
                          <a:ea typeface="맑은 고딕"/>
                          <a:cs typeface="맑은 고딕"/>
                        </a:rPr>
                        <a:t>Gemma3 4B · QAT</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695" b="0">
                          <a:solidFill>
                            <a:srgbClr val="17171A"/>
                          </a:solidFill>
                          <a:latin typeface="맑은 고딕"/>
                          <a:ea typeface="맑은 고딕"/>
                          <a:cs typeface="맑은 고딕"/>
                        </a:rPr>
                        <a:t>71.78%</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695" b="0">
                          <a:solidFill>
                            <a:srgbClr val="17171A"/>
                          </a:solidFill>
                          <a:latin typeface="맑은 고딕"/>
                          <a:ea typeface="맑은 고딕"/>
                          <a:cs typeface="맑은 고딕"/>
                        </a:rPr>
                        <a:t>42.57%</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62643">
                <a:tc>
                  <a:txBody>
                    <a:bodyPr>
                      <a:noAutofit/>
                    </a:bodyPr>
                    <a:lstStyle/>
                    <a:p>
                      <a:r>
                        <a:rPr sz="1695" b="1">
                          <a:solidFill>
                            <a:srgbClr val="F72585"/>
                          </a:solidFill>
                          <a:latin typeface="맑은 고딕"/>
                          <a:ea typeface="맑은 고딕"/>
                          <a:cs typeface="맑은 고딕"/>
                        </a:rPr>
                        <a:t>Qwen3 4B Instruct · Q4</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695" b="1">
                          <a:solidFill>
                            <a:srgbClr val="F72585"/>
                          </a:solidFill>
                          <a:latin typeface="맑은 고딕"/>
                          <a:ea typeface="맑은 고딕"/>
                          <a:cs typeface="맑은 고딕"/>
                        </a:rPr>
                        <a:t>85.15%</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695" b="1">
                          <a:solidFill>
                            <a:srgbClr val="F72585"/>
                          </a:solidFill>
                          <a:latin typeface="맑은 고딕"/>
                          <a:ea typeface="맑은 고딕"/>
                          <a:cs typeface="맑은 고딕"/>
                        </a:rPr>
                        <a:t>23.02%</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462643">
                <a:tc>
                  <a:txBody>
                    <a:bodyPr>
                      <a:noAutofit/>
                    </a:bodyPr>
                    <a:lstStyle/>
                    <a:p>
                      <a:r>
                        <a:rPr sz="1695" b="0">
                          <a:solidFill>
                            <a:srgbClr val="17171A"/>
                          </a:solidFill>
                          <a:latin typeface="맑은 고딕"/>
                          <a:ea typeface="맑은 고딕"/>
                          <a:cs typeface="맑은 고딕"/>
                        </a:rPr>
                        <a:t>Qwen3 4B Instruct · Q8</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695" b="0">
                          <a:solidFill>
                            <a:srgbClr val="17171A"/>
                          </a:solidFill>
                          <a:latin typeface="맑은 고딕"/>
                          <a:ea typeface="맑은 고딕"/>
                          <a:cs typeface="맑은 고딕"/>
                        </a:rPr>
                        <a:t>87.62%</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695" b="0">
                          <a:solidFill>
                            <a:srgbClr val="17171A"/>
                          </a:solidFill>
                          <a:latin typeface="맑은 고딕"/>
                          <a:ea typeface="맑은 고딕"/>
                          <a:cs typeface="맑은 고딕"/>
                        </a:rPr>
                        <a:t>22.28%</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bl>
          </a:graphicData>
        </a:graphic>
      </p:graphicFrame>
      <p:sp>
        <p:nvSpPr>
          <p:cNvPr id="8" name="own-text-32">
            <a:extLst xmlns:a="http://schemas.openxmlformats.org/drawingml/2006/main">
              <a:ext uri="{FF2B5EF4-FFF2-40B4-BE49-F238E27FC236}">
                <a16:creationId xmlns:a16="http://schemas.microsoft.com/office/drawing/2014/main" id="{69BE57FB-C277-4F32-AC10-5F9F43D34148}"/>
              </a:ext>
            </a:extLst>
          </p:cNvPr>
          <p:cNvSpPr>
            <a:spLocks xmlns:a="http://schemas.openxmlformats.org/drawingml/2006/main" noGrp="1"/>
          </p:cNvSpPr>
          <p:nvPr/>
        </p:nvSpPr>
        <p:spPr>
          <a:xfrm xmlns:a="http://schemas.openxmlformats.org/drawingml/2006/main">
            <a:off x="9105900" y="2076450"/>
            <a:ext cx="4000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98" b="1">
                <a:solidFill>
                  <a:srgbClr val="17171A"/>
                </a:solidFill>
                <a:latin typeface="맑은 고딕"/>
                <a:ea typeface="맑은 고딕"/>
                <a:cs typeface="맑은 고딕"/>
              </a:defRPr>
            </a:defPPr>
            <a:lvl1pPr algn="l">
              <a:defRPr sz="1898" b="1">
                <a:solidFill>
                  <a:srgbClr val="17171A"/>
                </a:solidFill>
                <a:latin typeface="맑은 고딕"/>
                <a:ea typeface="맑은 고딕"/>
                <a:cs typeface="맑은 고딕"/>
              </a:defRPr>
            </a:lvl1pPr>
            <a:lvl2pPr algn="l">
              <a:defRPr sz="1898" b="1">
                <a:solidFill>
                  <a:srgbClr val="17171A"/>
                </a:solidFill>
                <a:latin typeface="맑은 고딕"/>
                <a:ea typeface="맑은 고딕"/>
                <a:cs typeface="맑은 고딕"/>
              </a:defRPr>
            </a:lvl2pPr>
            <a:lvl3pPr algn="l">
              <a:defRPr sz="1898" b="1">
                <a:solidFill>
                  <a:srgbClr val="17171A"/>
                </a:solidFill>
                <a:latin typeface="맑은 고딕"/>
                <a:ea typeface="맑은 고딕"/>
                <a:cs typeface="맑은 고딕"/>
              </a:defRPr>
            </a:lvl3pPr>
            <a:lvl4pPr algn="l">
              <a:defRPr sz="1898" b="1">
                <a:solidFill>
                  <a:srgbClr val="17171A"/>
                </a:solidFill>
                <a:latin typeface="맑은 고딕"/>
                <a:ea typeface="맑은 고딕"/>
                <a:cs typeface="맑은 고딕"/>
              </a:defRPr>
            </a:lvl4pPr>
            <a:lvl5pPr algn="l">
              <a:defRPr sz="1898" b="1">
                <a:solidFill>
                  <a:srgbClr val="17171A"/>
                </a:solidFill>
                <a:latin typeface="맑은 고딕"/>
                <a:ea typeface="맑은 고딕"/>
                <a:cs typeface="맑은 고딕"/>
              </a:defRPr>
            </a:lvl5pPr>
            <a:lvl6pPr algn="l">
              <a:defRPr sz="1898" b="1">
                <a:solidFill>
                  <a:srgbClr val="17171A"/>
                </a:solidFill>
                <a:latin typeface="맑은 고딕"/>
                <a:ea typeface="맑은 고딕"/>
                <a:cs typeface="맑은 고딕"/>
              </a:defRPr>
            </a:lvl6pPr>
            <a:lvl7pPr algn="l">
              <a:defRPr sz="1898" b="1">
                <a:solidFill>
                  <a:srgbClr val="17171A"/>
                </a:solidFill>
                <a:latin typeface="맑은 고딕"/>
                <a:ea typeface="맑은 고딕"/>
                <a:cs typeface="맑은 고딕"/>
              </a:defRPr>
            </a:lvl7pPr>
            <a:lvl8pPr algn="l">
              <a:defRPr sz="1898" b="1">
                <a:solidFill>
                  <a:srgbClr val="17171A"/>
                </a:solidFill>
                <a:latin typeface="맑은 고딕"/>
                <a:ea typeface="맑은 고딕"/>
                <a:cs typeface="맑은 고딕"/>
              </a:defRPr>
            </a:lvl8pPr>
            <a:lvl9pPr algn="l">
              <a:defRPr sz="1898" b="1">
                <a:solidFill>
                  <a:srgbClr val="17171A"/>
                </a:solidFill>
                <a:latin typeface="맑은 고딕"/>
                <a:ea typeface="맑은 고딕"/>
                <a:cs typeface="맑은 고딕"/>
              </a:defRPr>
            </a:lvl9pPr>
          </a:lstStyle>
          <a:p xmlns:a="http://schemas.openxmlformats.org/drawingml/2006/main">
            <a:pPr algn="l">
              <a:defRPr sz="1898" b="1">
                <a:solidFill>
                  <a:srgbClr val="17171A"/>
                </a:solidFill>
                <a:latin typeface="맑은 고딕"/>
                <a:ea typeface="맑은 고딕"/>
                <a:cs typeface="맑은 고딕"/>
              </a:defRPr>
            </a:pPr>
            <a:r>
              <a:rPr sz="1898" b="1">
                <a:solidFill>
                  <a:srgbClr val="17171A"/>
                </a:solidFill>
                <a:latin typeface="맑은 고딕"/>
                <a:ea typeface="맑은 고딕"/>
                <a:cs typeface="맑은 고딕"/>
              </a:rPr>
              <a:t>Q4와 Q8의 품질 차이</a:t>
            </a:r>
          </a:p>
        </p:txBody>
      </p:sp>
      <p:sp>
        <p:nvSpPr>
          <p:cNvPr id="9" name="own-text-33">
            <a:extLst xmlns:a="http://schemas.openxmlformats.org/drawingml/2006/main">
              <a:ext uri="{FF2B5EF4-FFF2-40B4-BE49-F238E27FC236}">
                <a16:creationId xmlns:a16="http://schemas.microsoft.com/office/drawing/2014/main" id="{1CBFFCE4-1AE8-45F6-B5C0-1A5BDEC92711}"/>
              </a:ext>
            </a:extLst>
          </p:cNvPr>
          <p:cNvSpPr>
            <a:spLocks xmlns:a="http://schemas.openxmlformats.org/drawingml/2006/main" noGrp="1"/>
          </p:cNvSpPr>
          <p:nvPr/>
        </p:nvSpPr>
        <p:spPr>
          <a:xfrm xmlns:a="http://schemas.openxmlformats.org/drawingml/2006/main">
            <a:off x="9105900" y="2628900"/>
            <a:ext cx="4000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A"/>
                </a:solidFill>
                <a:latin typeface="맑은 고딕"/>
                <a:ea typeface="맑은 고딕"/>
                <a:cs typeface="맑은 고딕"/>
              </a:defRPr>
            </a:defPPr>
            <a:lvl1pPr algn="l">
              <a:defRPr sz="1800" b="0">
                <a:solidFill>
                  <a:srgbClr val="17171A"/>
                </a:solidFill>
                <a:latin typeface="맑은 고딕"/>
                <a:ea typeface="맑은 고딕"/>
                <a:cs typeface="맑은 고딕"/>
              </a:defRPr>
            </a:lvl1pPr>
            <a:lvl2pPr algn="l">
              <a:defRPr sz="1800" b="0">
                <a:solidFill>
                  <a:srgbClr val="17171A"/>
                </a:solidFill>
                <a:latin typeface="맑은 고딕"/>
                <a:ea typeface="맑은 고딕"/>
                <a:cs typeface="맑은 고딕"/>
              </a:defRPr>
            </a:lvl2pPr>
            <a:lvl3pPr algn="l">
              <a:defRPr sz="1800" b="0">
                <a:solidFill>
                  <a:srgbClr val="17171A"/>
                </a:solidFill>
                <a:latin typeface="맑은 고딕"/>
                <a:ea typeface="맑은 고딕"/>
                <a:cs typeface="맑은 고딕"/>
              </a:defRPr>
            </a:lvl3pPr>
            <a:lvl4pPr algn="l">
              <a:defRPr sz="1800" b="0">
                <a:solidFill>
                  <a:srgbClr val="17171A"/>
                </a:solidFill>
                <a:latin typeface="맑은 고딕"/>
                <a:ea typeface="맑은 고딕"/>
                <a:cs typeface="맑은 고딕"/>
              </a:defRPr>
            </a:lvl4pPr>
            <a:lvl5pPr algn="l">
              <a:defRPr sz="1800" b="0">
                <a:solidFill>
                  <a:srgbClr val="17171A"/>
                </a:solidFill>
                <a:latin typeface="맑은 고딕"/>
                <a:ea typeface="맑은 고딕"/>
                <a:cs typeface="맑은 고딕"/>
              </a:defRPr>
            </a:lvl5pPr>
            <a:lvl6pPr algn="l">
              <a:defRPr sz="1800" b="0">
                <a:solidFill>
                  <a:srgbClr val="17171A"/>
                </a:solidFill>
                <a:latin typeface="맑은 고딕"/>
                <a:ea typeface="맑은 고딕"/>
                <a:cs typeface="맑은 고딕"/>
              </a:defRPr>
            </a:lvl6pPr>
            <a:lvl7pPr algn="l">
              <a:defRPr sz="1800" b="0">
                <a:solidFill>
                  <a:srgbClr val="17171A"/>
                </a:solidFill>
                <a:latin typeface="맑은 고딕"/>
                <a:ea typeface="맑은 고딕"/>
                <a:cs typeface="맑은 고딕"/>
              </a:defRPr>
            </a:lvl7pPr>
            <a:lvl8pPr algn="l">
              <a:defRPr sz="1800" b="0">
                <a:solidFill>
                  <a:srgbClr val="17171A"/>
                </a:solidFill>
                <a:latin typeface="맑은 고딕"/>
                <a:ea typeface="맑은 고딕"/>
                <a:cs typeface="맑은 고딕"/>
              </a:defRPr>
            </a:lvl8pPr>
            <a:lvl9pPr algn="l">
              <a:defRPr sz="1800" b="0">
                <a:solidFill>
                  <a:srgbClr val="17171A"/>
                </a:solidFill>
                <a:latin typeface="맑은 고딕"/>
                <a:ea typeface="맑은 고딕"/>
                <a:cs typeface="맑은 고딕"/>
              </a:defRPr>
            </a:lvl9pPr>
          </a:lstStyle>
          <a:p xmlns:a="http://schemas.openxmlformats.org/drawingml/2006/main">
            <a:pPr algn="l">
              <a:defRPr sz="1800" b="0">
                <a:solidFill>
                  <a:srgbClr val="17171A"/>
                </a:solidFill>
                <a:latin typeface="맑은 고딕"/>
                <a:ea typeface="맑은 고딕"/>
                <a:cs typeface="맑은 고딕"/>
              </a:defRPr>
            </a:pPr>
            <a:r>
              <a:rPr sz="1800" b="0">
                <a:solidFill>
                  <a:srgbClr val="17171A"/>
                </a:solidFill>
                <a:latin typeface="맑은 고딕"/>
                <a:ea typeface="맑은 고딕"/>
                <a:cs typeface="맑은 고딕"/>
              </a:rPr>
              <a:t>정확도 77.5% / 78.8%</a:t>
            </a:r>
          </a:p>
          <a:p xmlns:a="http://schemas.openxmlformats.org/drawingml/2006/main">
            <a:pPr algn="l">
              <a:defRPr sz="1800" b="0">
                <a:solidFill>
                  <a:srgbClr val="17171A"/>
                </a:solidFill>
                <a:latin typeface="맑은 고딕"/>
                <a:ea typeface="맑은 고딕"/>
                <a:cs typeface="맑은 고딕"/>
              </a:defRPr>
            </a:pPr>
            <a:r>
              <a:rPr sz="1800" b="0">
                <a:solidFill>
                  <a:srgbClr val="17171A"/>
                </a:solidFill>
                <a:latin typeface="맑은 고딕"/>
                <a:ea typeface="맑은 고딕"/>
                <a:cs typeface="맑은 고딕"/>
              </a:rPr>
              <a:t>환각률 26.2% / 26.5%</a:t>
            </a:r>
          </a:p>
        </p:txBody>
      </p:sp>
      <p:sp>
        <p:nvSpPr>
          <p:cNvPr id="10" name="own-text-34">
            <a:extLst xmlns:a="http://schemas.openxmlformats.org/drawingml/2006/main">
              <a:ext uri="{FF2B5EF4-FFF2-40B4-BE49-F238E27FC236}">
                <a16:creationId xmlns:a16="http://schemas.microsoft.com/office/drawing/2014/main" id="{0747B631-3D8F-4884-BCF1-83EE78737272}"/>
              </a:ext>
            </a:extLst>
          </p:cNvPr>
          <p:cNvSpPr>
            <a:spLocks xmlns:a="http://schemas.openxmlformats.org/drawingml/2006/main" noGrp="1"/>
          </p:cNvSpPr>
          <p:nvPr/>
        </p:nvSpPr>
        <p:spPr>
          <a:xfrm xmlns:a="http://schemas.openxmlformats.org/drawingml/2006/main">
            <a:off x="9105900" y="347662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95" b="0">
                <a:solidFill>
                  <a:srgbClr val="686B72"/>
                </a:solidFill>
                <a:latin typeface="맑은 고딕"/>
                <a:ea typeface="맑은 고딕"/>
                <a:cs typeface="맑은 고딕"/>
              </a:defRPr>
            </a:defPPr>
            <a:lvl1pPr algn="l">
              <a:defRPr sz="1395" b="0">
                <a:solidFill>
                  <a:srgbClr val="686B72"/>
                </a:solidFill>
                <a:latin typeface="맑은 고딕"/>
                <a:ea typeface="맑은 고딕"/>
                <a:cs typeface="맑은 고딕"/>
              </a:defRPr>
            </a:lvl1pPr>
            <a:lvl2pPr algn="l">
              <a:defRPr sz="1395" b="0">
                <a:solidFill>
                  <a:srgbClr val="686B72"/>
                </a:solidFill>
                <a:latin typeface="맑은 고딕"/>
                <a:ea typeface="맑은 고딕"/>
                <a:cs typeface="맑은 고딕"/>
              </a:defRPr>
            </a:lvl2pPr>
            <a:lvl3pPr algn="l">
              <a:defRPr sz="1395" b="0">
                <a:solidFill>
                  <a:srgbClr val="686B72"/>
                </a:solidFill>
                <a:latin typeface="맑은 고딕"/>
                <a:ea typeface="맑은 고딕"/>
                <a:cs typeface="맑은 고딕"/>
              </a:defRPr>
            </a:lvl3pPr>
            <a:lvl4pPr algn="l">
              <a:defRPr sz="1395" b="0">
                <a:solidFill>
                  <a:srgbClr val="686B72"/>
                </a:solidFill>
                <a:latin typeface="맑은 고딕"/>
                <a:ea typeface="맑은 고딕"/>
                <a:cs typeface="맑은 고딕"/>
              </a:defRPr>
            </a:lvl4pPr>
            <a:lvl5pPr algn="l">
              <a:defRPr sz="1395" b="0">
                <a:solidFill>
                  <a:srgbClr val="686B72"/>
                </a:solidFill>
                <a:latin typeface="맑은 고딕"/>
                <a:ea typeface="맑은 고딕"/>
                <a:cs typeface="맑은 고딕"/>
              </a:defRPr>
            </a:lvl5pPr>
            <a:lvl6pPr algn="l">
              <a:defRPr sz="1395" b="0">
                <a:solidFill>
                  <a:srgbClr val="686B72"/>
                </a:solidFill>
                <a:latin typeface="맑은 고딕"/>
                <a:ea typeface="맑은 고딕"/>
                <a:cs typeface="맑은 고딕"/>
              </a:defRPr>
            </a:lvl6pPr>
            <a:lvl7pPr algn="l">
              <a:defRPr sz="1395" b="0">
                <a:solidFill>
                  <a:srgbClr val="686B72"/>
                </a:solidFill>
                <a:latin typeface="맑은 고딕"/>
                <a:ea typeface="맑은 고딕"/>
                <a:cs typeface="맑은 고딕"/>
              </a:defRPr>
            </a:lvl7pPr>
            <a:lvl8pPr algn="l">
              <a:defRPr sz="1395" b="0">
                <a:solidFill>
                  <a:srgbClr val="686B72"/>
                </a:solidFill>
                <a:latin typeface="맑은 고딕"/>
                <a:ea typeface="맑은 고딕"/>
                <a:cs typeface="맑은 고딕"/>
              </a:defRPr>
            </a:lvl8pPr>
            <a:lvl9pPr algn="l">
              <a:defRPr sz="1395" b="0">
                <a:solidFill>
                  <a:srgbClr val="686B72"/>
                </a:solidFill>
                <a:latin typeface="맑은 고딕"/>
                <a:ea typeface="맑은 고딕"/>
                <a:cs typeface="맑은 고딕"/>
              </a:defRPr>
            </a:lvl9pPr>
          </a:lstStyle>
          <a:p xmlns:a="http://schemas.openxmlformats.org/drawingml/2006/main">
            <a:pPr algn="l">
              <a:defRPr sz="1395" b="0">
                <a:solidFill>
                  <a:srgbClr val="686B72"/>
                </a:solidFill>
                <a:latin typeface="맑은 고딕"/>
                <a:ea typeface="맑은 고딕"/>
                <a:cs typeface="맑은 고딕"/>
              </a:defRPr>
            </a:pPr>
            <a:r>
              <a:rPr sz="1395" b="0">
                <a:solidFill>
                  <a:srgbClr val="686B72"/>
                </a:solidFill>
                <a:latin typeface="맑은 고딕"/>
                <a:ea typeface="맑은 고딕"/>
                <a:cs typeface="맑은 고딕"/>
              </a:rPr>
              <a:t>통계적으로 뚜렷한 차이는 확인되지 않음</a:t>
            </a:r>
          </a:p>
        </p:txBody>
      </p:sp>
      <p:sp>
        <p:nvSpPr>
          <p:cNvPr id="11" name="own-text-35">
            <a:extLst xmlns:a="http://schemas.openxmlformats.org/drawingml/2006/main">
              <a:ext uri="{FF2B5EF4-FFF2-40B4-BE49-F238E27FC236}">
                <a16:creationId xmlns:a16="http://schemas.microsoft.com/office/drawing/2014/main" id="{B4030F30-2FA6-40C0-846B-3240090334A2}"/>
              </a:ext>
            </a:extLst>
          </p:cNvPr>
          <p:cNvSpPr>
            <a:spLocks xmlns:a="http://schemas.openxmlformats.org/drawingml/2006/main" noGrp="1"/>
          </p:cNvSpPr>
          <p:nvPr/>
        </p:nvSpPr>
        <p:spPr>
          <a:xfrm xmlns:a="http://schemas.openxmlformats.org/drawingml/2006/main">
            <a:off x="9105900" y="4000500"/>
            <a:ext cx="4000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98" b="1">
                <a:solidFill>
                  <a:srgbClr val="F72585"/>
                </a:solidFill>
                <a:latin typeface="맑은 고딕"/>
                <a:ea typeface="맑은 고딕"/>
                <a:cs typeface="맑은 고딕"/>
              </a:defRPr>
            </a:defPPr>
            <a:lvl1pPr algn="l">
              <a:defRPr sz="1898" b="1">
                <a:solidFill>
                  <a:srgbClr val="F72585"/>
                </a:solidFill>
                <a:latin typeface="맑은 고딕"/>
                <a:ea typeface="맑은 고딕"/>
                <a:cs typeface="맑은 고딕"/>
              </a:defRPr>
            </a:lvl1pPr>
            <a:lvl2pPr algn="l">
              <a:defRPr sz="1898" b="1">
                <a:solidFill>
                  <a:srgbClr val="F72585"/>
                </a:solidFill>
                <a:latin typeface="맑은 고딕"/>
                <a:ea typeface="맑은 고딕"/>
                <a:cs typeface="맑은 고딕"/>
              </a:defRPr>
            </a:lvl2pPr>
            <a:lvl3pPr algn="l">
              <a:defRPr sz="1898" b="1">
                <a:solidFill>
                  <a:srgbClr val="F72585"/>
                </a:solidFill>
                <a:latin typeface="맑은 고딕"/>
                <a:ea typeface="맑은 고딕"/>
                <a:cs typeface="맑은 고딕"/>
              </a:defRPr>
            </a:lvl3pPr>
            <a:lvl4pPr algn="l">
              <a:defRPr sz="1898" b="1">
                <a:solidFill>
                  <a:srgbClr val="F72585"/>
                </a:solidFill>
                <a:latin typeface="맑은 고딕"/>
                <a:ea typeface="맑은 고딕"/>
                <a:cs typeface="맑은 고딕"/>
              </a:defRPr>
            </a:lvl4pPr>
            <a:lvl5pPr algn="l">
              <a:defRPr sz="1898" b="1">
                <a:solidFill>
                  <a:srgbClr val="F72585"/>
                </a:solidFill>
                <a:latin typeface="맑은 고딕"/>
                <a:ea typeface="맑은 고딕"/>
                <a:cs typeface="맑은 고딕"/>
              </a:defRPr>
            </a:lvl5pPr>
            <a:lvl6pPr algn="l">
              <a:defRPr sz="1898" b="1">
                <a:solidFill>
                  <a:srgbClr val="F72585"/>
                </a:solidFill>
                <a:latin typeface="맑은 고딕"/>
                <a:ea typeface="맑은 고딕"/>
                <a:cs typeface="맑은 고딕"/>
              </a:defRPr>
            </a:lvl6pPr>
            <a:lvl7pPr algn="l">
              <a:defRPr sz="1898" b="1">
                <a:solidFill>
                  <a:srgbClr val="F72585"/>
                </a:solidFill>
                <a:latin typeface="맑은 고딕"/>
                <a:ea typeface="맑은 고딕"/>
                <a:cs typeface="맑은 고딕"/>
              </a:defRPr>
            </a:lvl7pPr>
            <a:lvl8pPr algn="l">
              <a:defRPr sz="1898" b="1">
                <a:solidFill>
                  <a:srgbClr val="F72585"/>
                </a:solidFill>
                <a:latin typeface="맑은 고딕"/>
                <a:ea typeface="맑은 고딕"/>
                <a:cs typeface="맑은 고딕"/>
              </a:defRPr>
            </a:lvl8pPr>
            <a:lvl9pPr algn="l">
              <a:defRPr sz="1898" b="1">
                <a:solidFill>
                  <a:srgbClr val="F72585"/>
                </a:solidFill>
                <a:latin typeface="맑은 고딕"/>
                <a:ea typeface="맑은 고딕"/>
                <a:cs typeface="맑은 고딕"/>
              </a:defRPr>
            </a:lvl9pPr>
          </a:lstStyle>
          <a:p xmlns:a="http://schemas.openxmlformats.org/drawingml/2006/main">
            <a:pPr algn="l">
              <a:defRPr sz="1898" b="1">
                <a:solidFill>
                  <a:srgbClr val="F72585"/>
                </a:solidFill>
                <a:latin typeface="맑은 고딕"/>
                <a:ea typeface="맑은 고딕"/>
                <a:cs typeface="맑은 고딕"/>
              </a:defRPr>
            </a:pPr>
            <a:r>
              <a:rPr sz="1898" b="1">
                <a:solidFill>
                  <a:srgbClr val="F72585"/>
                </a:solidFill>
                <a:latin typeface="맑은 고딕"/>
                <a:ea typeface="맑은 고딕"/>
                <a:cs typeface="맑은 고딕"/>
              </a:rPr>
              <a:t>Q4의 운영 자원 이점</a:t>
            </a:r>
          </a:p>
        </p:txBody>
      </p:sp>
      <p:sp>
        <p:nvSpPr>
          <p:cNvPr id="12" name="own-text-36">
            <a:extLst xmlns:a="http://schemas.openxmlformats.org/drawingml/2006/main">
              <a:ext uri="{FF2B5EF4-FFF2-40B4-BE49-F238E27FC236}">
                <a16:creationId xmlns:a16="http://schemas.microsoft.com/office/drawing/2014/main" id="{168EA29D-2315-4C53-BEE4-8E507DF88AD2}"/>
              </a:ext>
            </a:extLst>
          </p:cNvPr>
          <p:cNvSpPr>
            <a:spLocks xmlns:a="http://schemas.openxmlformats.org/drawingml/2006/main" noGrp="1"/>
          </p:cNvSpPr>
          <p:nvPr/>
        </p:nvSpPr>
        <p:spPr>
          <a:xfrm xmlns:a="http://schemas.openxmlformats.org/drawingml/2006/main">
            <a:off x="9105900" y="4495800"/>
            <a:ext cx="4000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48" b="0">
                <a:solidFill>
                  <a:srgbClr val="17171A"/>
                </a:solidFill>
                <a:latin typeface="맑은 고딕"/>
                <a:ea typeface="맑은 고딕"/>
                <a:cs typeface="맑은 고딕"/>
              </a:defRPr>
            </a:defPPr>
            <a:lvl1pPr algn="l">
              <a:defRPr sz="1748" b="0">
                <a:solidFill>
                  <a:srgbClr val="17171A"/>
                </a:solidFill>
                <a:latin typeface="맑은 고딕"/>
                <a:ea typeface="맑은 고딕"/>
                <a:cs typeface="맑은 고딕"/>
              </a:defRPr>
            </a:lvl1pPr>
            <a:lvl2pPr algn="l">
              <a:defRPr sz="1748" b="0">
                <a:solidFill>
                  <a:srgbClr val="17171A"/>
                </a:solidFill>
                <a:latin typeface="맑은 고딕"/>
                <a:ea typeface="맑은 고딕"/>
                <a:cs typeface="맑은 고딕"/>
              </a:defRPr>
            </a:lvl2pPr>
            <a:lvl3pPr algn="l">
              <a:defRPr sz="1748" b="0">
                <a:solidFill>
                  <a:srgbClr val="17171A"/>
                </a:solidFill>
                <a:latin typeface="맑은 고딕"/>
                <a:ea typeface="맑은 고딕"/>
                <a:cs typeface="맑은 고딕"/>
              </a:defRPr>
            </a:lvl3pPr>
            <a:lvl4pPr algn="l">
              <a:defRPr sz="1748" b="0">
                <a:solidFill>
                  <a:srgbClr val="17171A"/>
                </a:solidFill>
                <a:latin typeface="맑은 고딕"/>
                <a:ea typeface="맑은 고딕"/>
                <a:cs typeface="맑은 고딕"/>
              </a:defRPr>
            </a:lvl4pPr>
            <a:lvl5pPr algn="l">
              <a:defRPr sz="1748" b="0">
                <a:solidFill>
                  <a:srgbClr val="17171A"/>
                </a:solidFill>
                <a:latin typeface="맑은 고딕"/>
                <a:ea typeface="맑은 고딕"/>
                <a:cs typeface="맑은 고딕"/>
              </a:defRPr>
            </a:lvl5pPr>
            <a:lvl6pPr algn="l">
              <a:defRPr sz="1748" b="0">
                <a:solidFill>
                  <a:srgbClr val="17171A"/>
                </a:solidFill>
                <a:latin typeface="맑은 고딕"/>
                <a:ea typeface="맑은 고딕"/>
                <a:cs typeface="맑은 고딕"/>
              </a:defRPr>
            </a:lvl6pPr>
            <a:lvl7pPr algn="l">
              <a:defRPr sz="1748" b="0">
                <a:solidFill>
                  <a:srgbClr val="17171A"/>
                </a:solidFill>
                <a:latin typeface="맑은 고딕"/>
                <a:ea typeface="맑은 고딕"/>
                <a:cs typeface="맑은 고딕"/>
              </a:defRPr>
            </a:lvl7pPr>
            <a:lvl8pPr algn="l">
              <a:defRPr sz="1748" b="0">
                <a:solidFill>
                  <a:srgbClr val="17171A"/>
                </a:solidFill>
                <a:latin typeface="맑은 고딕"/>
                <a:ea typeface="맑은 고딕"/>
                <a:cs typeface="맑은 고딕"/>
              </a:defRPr>
            </a:lvl8pPr>
            <a:lvl9pPr algn="l">
              <a:defRPr sz="1748" b="0">
                <a:solidFill>
                  <a:srgbClr val="17171A"/>
                </a:solidFill>
                <a:latin typeface="맑은 고딕"/>
                <a:ea typeface="맑은 고딕"/>
                <a:cs typeface="맑은 고딕"/>
              </a:defRPr>
            </a:lvl9pPr>
          </a:lstStyle>
          <a:p xmlns:a="http://schemas.openxmlformats.org/drawingml/2006/main">
            <a:pPr algn="l">
              <a:defRPr sz="1748" b="0">
                <a:solidFill>
                  <a:srgbClr val="17171A"/>
                </a:solidFill>
                <a:latin typeface="맑은 고딕"/>
                <a:ea typeface="맑은 고딕"/>
                <a:cs typeface="맑은 고딕"/>
              </a:defRPr>
            </a:pPr>
            <a:r>
              <a:rPr sz="1748" b="0">
                <a:solidFill>
                  <a:srgbClr val="17171A"/>
                </a:solidFill>
                <a:latin typeface="맑은 고딕"/>
                <a:ea typeface="맑은 고딕"/>
                <a:cs typeface="맑은 고딕"/>
              </a:rPr>
              <a:t>평균 응답 2.61초 / 3.49초</a:t>
            </a:r>
          </a:p>
          <a:p xmlns:a="http://schemas.openxmlformats.org/drawingml/2006/main">
            <a:pPr algn="l">
              <a:defRPr sz="1748" b="0">
                <a:solidFill>
                  <a:srgbClr val="17171A"/>
                </a:solidFill>
                <a:latin typeface="맑은 고딕"/>
                <a:ea typeface="맑은 고딕"/>
                <a:cs typeface="맑은 고딕"/>
              </a:defRPr>
            </a:pPr>
            <a:r>
              <a:rPr sz="1748" b="0">
                <a:solidFill>
                  <a:srgbClr val="17171A"/>
                </a:solidFill>
                <a:latin typeface="맑은 고딕"/>
                <a:ea typeface="맑은 고딕"/>
                <a:cs typeface="맑은 고딕"/>
              </a:rPr>
              <a:t>가중치 2.5GB / 4.3GB</a:t>
            </a:r>
          </a:p>
        </p:txBody>
      </p:sp>
      <p:sp>
        <p:nvSpPr>
          <p:cNvPr id="13" name="rule-37">
            <a:extLst xmlns:a="http://schemas.openxmlformats.org/drawingml/2006/main">
              <a:ext uri="{FF2B5EF4-FFF2-40B4-BE49-F238E27FC236}">
                <a16:creationId xmlns:a16="http://schemas.microsoft.com/office/drawing/2014/main" id="{108C4A8D-4648-47AD-8BAF-7C2DDB80D3FF}"/>
              </a:ext>
            </a:extLst>
          </p:cNvPr>
          <p:cNvSpPr>
            <a:spLocks xmlns:a="http://schemas.openxmlformats.org/drawingml/2006/main" noGrp="1"/>
          </p:cNvSpPr>
          <p:nvPr/>
        </p:nvSpPr>
        <p:spPr>
          <a:xfrm xmlns:a="http://schemas.openxmlformats.org/drawingml/2006/main">
            <a:off x="628650" y="5581650"/>
            <a:ext cx="12458700" cy="0"/>
          </a:xfrm>
          <a:prstGeom xmlns:a="http://schemas.openxmlformats.org/drawingml/2006/main" prst="line">
            <a:avLst/>
          </a:prstGeom>
          <a:noFill xmlns:a="http://schemas.openxmlformats.org/drawingml/2006/main"/>
          <a:ln xmlns:a="http://schemas.openxmlformats.org/drawingml/2006/main" w="9525">
            <a:solidFill>
              <a:srgbClr val="DDDDE1"/>
            </a:solidFill>
            <a:prstDash val="solid"/>
          </a:ln>
        </p:spPr>
      </p:sp>
      <p:sp>
        <p:nvSpPr>
          <p:cNvPr id="14" name="own-text-38">
            <a:extLst xmlns:a="http://schemas.openxmlformats.org/drawingml/2006/main">
              <a:ext uri="{FF2B5EF4-FFF2-40B4-BE49-F238E27FC236}">
                <a16:creationId xmlns:a16="http://schemas.microsoft.com/office/drawing/2014/main" id="{4318DED0-1C0D-45A9-9FF1-2191559EF04D}"/>
              </a:ext>
            </a:extLst>
          </p:cNvPr>
          <p:cNvSpPr>
            <a:spLocks xmlns:a="http://schemas.openxmlformats.org/drawingml/2006/main" noGrp="1"/>
          </p:cNvSpPr>
          <p:nvPr/>
        </p:nvSpPr>
        <p:spPr>
          <a:xfrm xmlns:a="http://schemas.openxmlformats.org/drawingml/2006/main">
            <a:off x="628650" y="5810250"/>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98" b="1">
                <a:solidFill>
                  <a:srgbClr val="F72585"/>
                </a:solidFill>
                <a:latin typeface="맑은 고딕"/>
                <a:ea typeface="맑은 고딕"/>
                <a:cs typeface="맑은 고딕"/>
              </a:defRPr>
            </a:defPPr>
            <a:lvl1pPr algn="l">
              <a:defRPr sz="1898" b="1">
                <a:solidFill>
                  <a:srgbClr val="F72585"/>
                </a:solidFill>
                <a:latin typeface="맑은 고딕"/>
                <a:ea typeface="맑은 고딕"/>
                <a:cs typeface="맑은 고딕"/>
              </a:defRPr>
            </a:lvl1pPr>
            <a:lvl2pPr algn="l">
              <a:defRPr sz="1898" b="1">
                <a:solidFill>
                  <a:srgbClr val="F72585"/>
                </a:solidFill>
                <a:latin typeface="맑은 고딕"/>
                <a:ea typeface="맑은 고딕"/>
                <a:cs typeface="맑은 고딕"/>
              </a:defRPr>
            </a:lvl2pPr>
            <a:lvl3pPr algn="l">
              <a:defRPr sz="1898" b="1">
                <a:solidFill>
                  <a:srgbClr val="F72585"/>
                </a:solidFill>
                <a:latin typeface="맑은 고딕"/>
                <a:ea typeface="맑은 고딕"/>
                <a:cs typeface="맑은 고딕"/>
              </a:defRPr>
            </a:lvl3pPr>
            <a:lvl4pPr algn="l">
              <a:defRPr sz="1898" b="1">
                <a:solidFill>
                  <a:srgbClr val="F72585"/>
                </a:solidFill>
                <a:latin typeface="맑은 고딕"/>
                <a:ea typeface="맑은 고딕"/>
                <a:cs typeface="맑은 고딕"/>
              </a:defRPr>
            </a:lvl4pPr>
            <a:lvl5pPr algn="l">
              <a:defRPr sz="1898" b="1">
                <a:solidFill>
                  <a:srgbClr val="F72585"/>
                </a:solidFill>
                <a:latin typeface="맑은 고딕"/>
                <a:ea typeface="맑은 고딕"/>
                <a:cs typeface="맑은 고딕"/>
              </a:defRPr>
            </a:lvl5pPr>
            <a:lvl6pPr algn="l">
              <a:defRPr sz="1898" b="1">
                <a:solidFill>
                  <a:srgbClr val="F72585"/>
                </a:solidFill>
                <a:latin typeface="맑은 고딕"/>
                <a:ea typeface="맑은 고딕"/>
                <a:cs typeface="맑은 고딕"/>
              </a:defRPr>
            </a:lvl6pPr>
            <a:lvl7pPr algn="l">
              <a:defRPr sz="1898" b="1">
                <a:solidFill>
                  <a:srgbClr val="F72585"/>
                </a:solidFill>
                <a:latin typeface="맑은 고딕"/>
                <a:ea typeface="맑은 고딕"/>
                <a:cs typeface="맑은 고딕"/>
              </a:defRPr>
            </a:lvl7pPr>
            <a:lvl8pPr algn="l">
              <a:defRPr sz="1898" b="1">
                <a:solidFill>
                  <a:srgbClr val="F72585"/>
                </a:solidFill>
                <a:latin typeface="맑은 고딕"/>
                <a:ea typeface="맑은 고딕"/>
                <a:cs typeface="맑은 고딕"/>
              </a:defRPr>
            </a:lvl8pPr>
            <a:lvl9pPr algn="l">
              <a:defRPr sz="1898" b="1">
                <a:solidFill>
                  <a:srgbClr val="F72585"/>
                </a:solidFill>
                <a:latin typeface="맑은 고딕"/>
                <a:ea typeface="맑은 고딕"/>
                <a:cs typeface="맑은 고딕"/>
              </a:defRPr>
            </a:lvl9pPr>
          </a:lstStyle>
          <a:p xmlns:a="http://schemas.openxmlformats.org/drawingml/2006/main">
            <a:pPr algn="l">
              <a:defRPr sz="1898" b="1">
                <a:solidFill>
                  <a:srgbClr val="F72585"/>
                </a:solidFill>
                <a:latin typeface="맑은 고딕"/>
                <a:ea typeface="맑은 고딕"/>
                <a:cs typeface="맑은 고딕"/>
              </a:defRPr>
            </a:pPr>
            <a:r>
              <a:rPr sz="1898" b="1">
                <a:solidFill>
                  <a:srgbClr val="F72585"/>
                </a:solidFill>
                <a:latin typeface="맑은 고딕"/>
                <a:ea typeface="맑은 고딕"/>
                <a:cs typeface="맑은 고딕"/>
              </a:rPr>
              <a:t>선정 근거</a:t>
            </a:r>
          </a:p>
        </p:txBody>
      </p:sp>
      <p:sp>
        <p:nvSpPr>
          <p:cNvPr id="15" name="own-text-39">
            <a:extLst xmlns:a="http://schemas.openxmlformats.org/drawingml/2006/main">
              <a:ext uri="{FF2B5EF4-FFF2-40B4-BE49-F238E27FC236}">
                <a16:creationId xmlns:a16="http://schemas.microsoft.com/office/drawing/2014/main" id="{38254FA8-E5B6-4C30-B364-C50B4CBB7406}"/>
              </a:ext>
            </a:extLst>
          </p:cNvPr>
          <p:cNvSpPr>
            <a:spLocks xmlns:a="http://schemas.openxmlformats.org/drawingml/2006/main" noGrp="1"/>
          </p:cNvSpPr>
          <p:nvPr/>
        </p:nvSpPr>
        <p:spPr>
          <a:xfrm xmlns:a="http://schemas.openxmlformats.org/drawingml/2006/main">
            <a:off x="2571750" y="5800725"/>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98" b="0">
                <a:solidFill>
                  <a:srgbClr val="17171A"/>
                </a:solidFill>
                <a:latin typeface="맑은 고딕"/>
                <a:ea typeface="맑은 고딕"/>
                <a:cs typeface="맑은 고딕"/>
              </a:defRPr>
            </a:defPPr>
            <a:lvl1pPr algn="l">
              <a:defRPr sz="1898" b="0">
                <a:solidFill>
                  <a:srgbClr val="17171A"/>
                </a:solidFill>
                <a:latin typeface="맑은 고딕"/>
                <a:ea typeface="맑은 고딕"/>
                <a:cs typeface="맑은 고딕"/>
              </a:defRPr>
            </a:lvl1pPr>
            <a:lvl2pPr algn="l">
              <a:defRPr sz="1898" b="0">
                <a:solidFill>
                  <a:srgbClr val="17171A"/>
                </a:solidFill>
                <a:latin typeface="맑은 고딕"/>
                <a:ea typeface="맑은 고딕"/>
                <a:cs typeface="맑은 고딕"/>
              </a:defRPr>
            </a:lvl2pPr>
            <a:lvl3pPr algn="l">
              <a:defRPr sz="1898" b="0">
                <a:solidFill>
                  <a:srgbClr val="17171A"/>
                </a:solidFill>
                <a:latin typeface="맑은 고딕"/>
                <a:ea typeface="맑은 고딕"/>
                <a:cs typeface="맑은 고딕"/>
              </a:defRPr>
            </a:lvl3pPr>
            <a:lvl4pPr algn="l">
              <a:defRPr sz="1898" b="0">
                <a:solidFill>
                  <a:srgbClr val="17171A"/>
                </a:solidFill>
                <a:latin typeface="맑은 고딕"/>
                <a:ea typeface="맑은 고딕"/>
                <a:cs typeface="맑은 고딕"/>
              </a:defRPr>
            </a:lvl4pPr>
            <a:lvl5pPr algn="l">
              <a:defRPr sz="1898" b="0">
                <a:solidFill>
                  <a:srgbClr val="17171A"/>
                </a:solidFill>
                <a:latin typeface="맑은 고딕"/>
                <a:ea typeface="맑은 고딕"/>
                <a:cs typeface="맑은 고딕"/>
              </a:defRPr>
            </a:lvl5pPr>
            <a:lvl6pPr algn="l">
              <a:defRPr sz="1898" b="0">
                <a:solidFill>
                  <a:srgbClr val="17171A"/>
                </a:solidFill>
                <a:latin typeface="맑은 고딕"/>
                <a:ea typeface="맑은 고딕"/>
                <a:cs typeface="맑은 고딕"/>
              </a:defRPr>
            </a:lvl6pPr>
            <a:lvl7pPr algn="l">
              <a:defRPr sz="1898" b="0">
                <a:solidFill>
                  <a:srgbClr val="17171A"/>
                </a:solidFill>
                <a:latin typeface="맑은 고딕"/>
                <a:ea typeface="맑은 고딕"/>
                <a:cs typeface="맑은 고딕"/>
              </a:defRPr>
            </a:lvl7pPr>
            <a:lvl8pPr algn="l">
              <a:defRPr sz="1898" b="0">
                <a:solidFill>
                  <a:srgbClr val="17171A"/>
                </a:solidFill>
                <a:latin typeface="맑은 고딕"/>
                <a:ea typeface="맑은 고딕"/>
                <a:cs typeface="맑은 고딕"/>
              </a:defRPr>
            </a:lvl8pPr>
            <a:lvl9pPr algn="l">
              <a:defRPr sz="1898" b="0">
                <a:solidFill>
                  <a:srgbClr val="17171A"/>
                </a:solidFill>
                <a:latin typeface="맑은 고딕"/>
                <a:ea typeface="맑은 고딕"/>
                <a:cs typeface="맑은 고딕"/>
              </a:defRPr>
            </a:lvl9pPr>
          </a:lstStyle>
          <a:p xmlns:a="http://schemas.openxmlformats.org/drawingml/2006/main">
            <a:pPr algn="l">
              <a:defRPr sz="1898" b="0">
                <a:solidFill>
                  <a:srgbClr val="17171A"/>
                </a:solidFill>
                <a:latin typeface="맑은 고딕"/>
                <a:ea typeface="맑은 고딕"/>
                <a:cs typeface="맑은 고딕"/>
              </a:defRPr>
            </a:pPr>
            <a:r>
              <a:rPr sz="1898" b="0">
                <a:solidFill>
                  <a:srgbClr val="17171A"/>
                </a:solidFill>
                <a:latin typeface="맑은 고딕"/>
                <a:ea typeface="맑은 고딕"/>
                <a:cs typeface="맑은 고딕"/>
              </a:rPr>
              <a:t>OFF 튜닝 이후에도 정답 우위가 남음</a:t>
            </a:r>
          </a:p>
          <a:p xmlns:a="http://schemas.openxmlformats.org/drawingml/2006/main">
            <a:pPr algn="l">
              <a:defRPr sz="1898" b="0">
                <a:solidFill>
                  <a:srgbClr val="17171A"/>
                </a:solidFill>
                <a:latin typeface="맑은 고딕"/>
                <a:ea typeface="맑은 고딕"/>
                <a:cs typeface="맑은 고딕"/>
              </a:defRPr>
            </a:pPr>
            <a:r>
              <a:rPr sz="1898" b="0">
                <a:solidFill>
                  <a:srgbClr val="17171A"/>
                </a:solidFill>
                <a:latin typeface="맑은 고딕"/>
                <a:ea typeface="맑은 고딕"/>
                <a:cs typeface="맑은 고딕"/>
              </a:rPr>
              <a:t>추측·확인 경로 덧붙임은 후속 프롬프트 교정 대상으로 구체화</a:t>
            </a:r>
          </a:p>
        </p:txBody>
      </p:sp>
    </p:spTree>
    <p:extLst>
      <p:ext uri="{BB962C8B-B14F-4D97-AF65-F5344CB8AC3E}">
        <p14:creationId xmlns:p14="http://schemas.microsoft.com/office/powerpoint/2010/main" val="1317400798"/>
      </p:ext>
    </p:extLst>
  </p:cSld>
</p:sld>
</file>

<file path=ppt/slides/slide4.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sp>
        <p:nvSpPr>
          <p:cNvPr id="12" name="own-text-40">
            <a:extLst xmlns:a="http://schemas.openxmlformats.org/drawingml/2006/main">
              <a:ext uri="{FF2B5EF4-FFF2-40B4-BE49-F238E27FC236}">
                <a16:creationId xmlns:a16="http://schemas.microsoft.com/office/drawing/2014/main" id="{DD2E1D71-320D-4DC8-8049-C2AA1E616F89}"/>
              </a:ext>
            </a:extLst>
          </p:cNvPr>
          <p:cNvSpPr>
            <a:spLocks xmlns:a="http://schemas.openxmlformats.org/drawingml/2006/main" noGrp="1"/>
          </p:cNvSpPr>
          <p:nvPr/>
        </p:nvSpPr>
        <p:spPr>
          <a:xfrm xmlns:a="http://schemas.openxmlformats.org/drawingml/2006/main">
            <a:off x="628650" y="420053"/>
            <a:ext cx="11430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xmlns:a="http://schemas.openxmlformats.org/drawingml/2006/main">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프롬프트</a:t>
            </a:r>
          </a:p>
        </p:txBody>
      </p:sp>
      <p:sp>
        <p:nvSpPr>
          <p:cNvPr id="2" name="own-text-41">
            <a:extLst xmlns:a="http://schemas.openxmlformats.org/drawingml/2006/main">
              <a:ext uri="{FF2B5EF4-FFF2-40B4-BE49-F238E27FC236}">
                <a16:creationId xmlns:a16="http://schemas.microsoft.com/office/drawing/2014/main" id="{BA6DD4C0-A82A-4503-8AF9-F8800FC0405B}"/>
              </a:ext>
            </a:extLst>
          </p:cNvPr>
          <p:cNvSpPr>
            <a:spLocks xmlns:a="http://schemas.openxmlformats.org/drawingml/2006/main" noGrp="1"/>
          </p:cNvSpPr>
          <p:nvPr/>
        </p:nvSpPr>
        <p:spPr>
          <a:xfrm xmlns:a="http://schemas.openxmlformats.org/drawingml/2006/main">
            <a:off x="628650" y="760095"/>
            <a:ext cx="12001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xmlns:a="http://schemas.openxmlformats.org/drawingml/2006/main">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프롬프트 개선으로 환각과 되묻기 감소</a:t>
            </a:r>
          </a:p>
        </p:txBody>
      </p:sp>
      <p:sp>
        <p:nvSpPr>
          <p:cNvPr id="3" name="own-text-42">
            <a:extLst xmlns:a="http://schemas.openxmlformats.org/drawingml/2006/main">
              <a:ext uri="{FF2B5EF4-FFF2-40B4-BE49-F238E27FC236}">
                <a16:creationId xmlns:a16="http://schemas.microsoft.com/office/drawing/2014/main" id="{859D7F73-BF54-4086-87D1-F2A8922AC007}"/>
              </a:ext>
            </a:extLst>
          </p:cNvPr>
          <p:cNvSpPr>
            <a:spLocks xmlns:a="http://schemas.openxmlformats.org/drawingml/2006/main" noGrp="1"/>
          </p:cNvSpPr>
          <p:nvPr/>
        </p:nvSpPr>
        <p:spPr>
          <a:xfrm xmlns:a="http://schemas.openxmlformats.org/drawingml/2006/main">
            <a:off x="628650" y="1500188"/>
            <a:ext cx="12001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Qwen3 4B Instruct Q4, 동일 900문항의 기본 프롬프트와 개선 프롬프트 비교</a:t>
            </a:r>
          </a:p>
        </p:txBody>
      </p:sp>
      <p:sp>
        <p:nvSpPr>
          <p:cNvPr id="4" name="own-text-43">
            <a:extLst xmlns:a="http://schemas.openxmlformats.org/drawingml/2006/main">
              <a:ext uri="{FF2B5EF4-FFF2-40B4-BE49-F238E27FC236}">
                <a16:creationId xmlns:a16="http://schemas.microsoft.com/office/drawing/2014/main" id="{762F2923-999B-4161-BBAF-2CC0C0B83198}"/>
              </a:ext>
            </a:extLst>
          </p:cNvPr>
          <p:cNvSpPr>
            <a:spLocks xmlns:a="http://schemas.openxmlformats.org/drawingml/2006/main" noGrp="1"/>
          </p:cNvSpPr>
          <p:nvPr/>
        </p:nvSpPr>
        <p:spPr>
          <a:xfrm xmlns:a="http://schemas.openxmlformats.org/drawingml/2006/main">
            <a:off x="628650" y="7104698"/>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xmlns:a="http://schemas.openxmlformats.org/drawingml/2006/main">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44">
            <a:extLst xmlns:a="http://schemas.openxmlformats.org/drawingml/2006/main">
              <a:ext uri="{FF2B5EF4-FFF2-40B4-BE49-F238E27FC236}">
                <a16:creationId xmlns:a16="http://schemas.microsoft.com/office/drawing/2014/main" id="{38BD8416-525D-4979-900B-FD19F46B3151}"/>
              </a:ext>
            </a:extLst>
          </p:cNvPr>
          <p:cNvSpPr>
            <a:spLocks xmlns:a="http://schemas.openxmlformats.org/drawingml/2006/main" noGrp="1"/>
          </p:cNvSpPr>
          <p:nvPr/>
        </p:nvSpPr>
        <p:spPr>
          <a:xfrm xmlns:a="http://schemas.openxmlformats.org/drawingml/2006/main">
            <a:off x="12382500" y="7104698"/>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xmlns:a="http://schemas.openxmlformats.org/drawingml/2006/main">
            <a:pPr algn="r">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04</a:t>
            </a:r>
          </a:p>
        </p:txBody>
      </p:sp>
      <p:sp>
        <p:nvSpPr>
          <p:cNvPr id="6" name="own-text-45">
            <a:extLst xmlns:a="http://schemas.openxmlformats.org/drawingml/2006/main">
              <a:ext uri="{FF2B5EF4-FFF2-40B4-BE49-F238E27FC236}">
                <a16:creationId xmlns:a16="http://schemas.microsoft.com/office/drawing/2014/main" id="{946715BA-8B58-49F5-B548-9313409BF8EB}"/>
              </a:ext>
            </a:extLst>
          </p:cNvPr>
          <p:cNvSpPr>
            <a:spLocks xmlns:a="http://schemas.openxmlformats.org/drawingml/2006/main" noGrp="1"/>
          </p:cNvSpPr>
          <p:nvPr/>
        </p:nvSpPr>
        <p:spPr>
          <a:xfrm xmlns:a="http://schemas.openxmlformats.org/drawingml/2006/main">
            <a:off x="628650" y="6610350"/>
            <a:ext cx="12458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xmlns:a="http://schemas.openxmlformats.org/drawingml/2006/main">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전체 정답 수는 늘지 않았고, 무관 FAQ 유형은 94/100에서 82/100으로 하락. 기본·개선 프롬프트의 같은 900문항 비교.</a:t>
            </a:r>
          </a:p>
        </p:txBody>
      </p:sp>
      <p:sp>
        <p:nvSpPr>
          <p:cNvPr id="7" name="own-text-46">
            <a:extLst xmlns:a="http://schemas.openxmlformats.org/drawingml/2006/main">
              <a:ext uri="{FF2B5EF4-FFF2-40B4-BE49-F238E27FC236}">
                <a16:creationId xmlns:a16="http://schemas.microsoft.com/office/drawing/2014/main" id="{BED5841F-7F8F-4730-B29B-462F4AE0D78D}"/>
              </a:ext>
            </a:extLst>
          </p:cNvPr>
          <p:cNvSpPr>
            <a:spLocks xmlns:a="http://schemas.openxmlformats.org/drawingml/2006/main" noGrp="1"/>
          </p:cNvSpPr>
          <p:nvPr/>
        </p:nvSpPr>
        <p:spPr>
          <a:xfrm xmlns:a="http://schemas.openxmlformats.org/drawingml/2006/main">
            <a:off x="628650" y="2076450"/>
            <a:ext cx="571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48" b="1">
                <a:solidFill>
                  <a:srgbClr val="686B72"/>
                </a:solidFill>
                <a:latin typeface="맑은 고딕"/>
                <a:ea typeface="맑은 고딕"/>
                <a:cs typeface="맑은 고딕"/>
              </a:defRPr>
            </a:defPPr>
            <a:lvl1pPr algn="l">
              <a:defRPr sz="1748" b="1">
                <a:solidFill>
                  <a:srgbClr val="686B72"/>
                </a:solidFill>
                <a:latin typeface="맑은 고딕"/>
                <a:ea typeface="맑은 고딕"/>
                <a:cs typeface="맑은 고딕"/>
              </a:defRPr>
            </a:lvl1pPr>
            <a:lvl2pPr algn="l">
              <a:defRPr sz="1748" b="1">
                <a:solidFill>
                  <a:srgbClr val="686B72"/>
                </a:solidFill>
                <a:latin typeface="맑은 고딕"/>
                <a:ea typeface="맑은 고딕"/>
                <a:cs typeface="맑은 고딕"/>
              </a:defRPr>
            </a:lvl2pPr>
            <a:lvl3pPr algn="l">
              <a:defRPr sz="1748" b="1">
                <a:solidFill>
                  <a:srgbClr val="686B72"/>
                </a:solidFill>
                <a:latin typeface="맑은 고딕"/>
                <a:ea typeface="맑은 고딕"/>
                <a:cs typeface="맑은 고딕"/>
              </a:defRPr>
            </a:lvl3pPr>
            <a:lvl4pPr algn="l">
              <a:defRPr sz="1748" b="1">
                <a:solidFill>
                  <a:srgbClr val="686B72"/>
                </a:solidFill>
                <a:latin typeface="맑은 고딕"/>
                <a:ea typeface="맑은 고딕"/>
                <a:cs typeface="맑은 고딕"/>
              </a:defRPr>
            </a:lvl4pPr>
            <a:lvl5pPr algn="l">
              <a:defRPr sz="1748" b="1">
                <a:solidFill>
                  <a:srgbClr val="686B72"/>
                </a:solidFill>
                <a:latin typeface="맑은 고딕"/>
                <a:ea typeface="맑은 고딕"/>
                <a:cs typeface="맑은 고딕"/>
              </a:defRPr>
            </a:lvl5pPr>
            <a:lvl6pPr algn="l">
              <a:defRPr sz="1748" b="1">
                <a:solidFill>
                  <a:srgbClr val="686B72"/>
                </a:solidFill>
                <a:latin typeface="맑은 고딕"/>
                <a:ea typeface="맑은 고딕"/>
                <a:cs typeface="맑은 고딕"/>
              </a:defRPr>
            </a:lvl6pPr>
            <a:lvl7pPr algn="l">
              <a:defRPr sz="1748" b="1">
                <a:solidFill>
                  <a:srgbClr val="686B72"/>
                </a:solidFill>
                <a:latin typeface="맑은 고딕"/>
                <a:ea typeface="맑은 고딕"/>
                <a:cs typeface="맑은 고딕"/>
              </a:defRPr>
            </a:lvl7pPr>
            <a:lvl8pPr algn="l">
              <a:defRPr sz="1748" b="1">
                <a:solidFill>
                  <a:srgbClr val="686B72"/>
                </a:solidFill>
                <a:latin typeface="맑은 고딕"/>
                <a:ea typeface="맑은 고딕"/>
                <a:cs typeface="맑은 고딕"/>
              </a:defRPr>
            </a:lvl8pPr>
            <a:lvl9pPr algn="l">
              <a:defRPr sz="1748" b="1">
                <a:solidFill>
                  <a:srgbClr val="686B72"/>
                </a:solidFill>
                <a:latin typeface="맑은 고딕"/>
                <a:ea typeface="맑은 고딕"/>
                <a:cs typeface="맑은 고딕"/>
              </a:defRPr>
            </a:lvl9pPr>
          </a:lstStyle>
          <a:p xmlns:a="http://schemas.openxmlformats.org/drawingml/2006/main">
            <a:pPr algn="l">
              <a:defRPr sz="1748" b="1">
                <a:solidFill>
                  <a:srgbClr val="686B72"/>
                </a:solidFill>
                <a:latin typeface="맑은 고딕"/>
                <a:ea typeface="맑은 고딕"/>
                <a:cs typeface="맑은 고딕"/>
              </a:defRPr>
            </a:pPr>
            <a:r>
              <a:rPr sz="1748" b="1">
                <a:solidFill>
                  <a:srgbClr val="686B72"/>
                </a:solidFill>
                <a:latin typeface="맑은 고딕"/>
                <a:ea typeface="맑은 고딕"/>
                <a:cs typeface="맑은 고딕"/>
              </a:rPr>
              <a:t>환각·되묻기 발생률 (%)</a:t>
            </a:r>
          </a:p>
        </p:txBody>
      </p:sp>
      <p:graphicFrame>
        <p:nvGraphicFramePr>
          <p:cNvPr id="8" name="Chart">
            <a:extLst xmlns:a="http://schemas.openxmlformats.org/drawingml/2006/main">
              <a:ext uri="{FF2B5EF4-FFF2-40B4-BE49-F238E27FC236}">
                <a16:creationId xmlns:a16="http://schemas.microsoft.com/office/drawing/2014/main" id="{449E3631-BE5D-4CF6-80B3-FC6A959B5445}"/>
              </a:ext>
            </a:extLst>
          </p:cNvPr>
          <p:cNvGraphicFramePr/>
          <p:nvPr/>
        </p:nvGraphicFramePr>
        <p:xfrm>
          <a:off xmlns:a="http://schemas.openxmlformats.org/drawingml/2006/main" x="628650" y="2543175"/>
          <a:ext xmlns:a="http://schemas.openxmlformats.org/drawingml/2006/main" cx="5753100" cy="2952750"/>
        </p:xfrm>
        <a:graphic xmlns:a="http://schemas.openxmlformats.org/drawingml/2006/main">
          <a:graphicData uri="http://schemas.openxmlformats.org/drawingml/2006/chart">
            <c:chart xmlns:r="http://schemas.openxmlformats.org/officeDocument/2006/relationships" xmlns:c="http://schemas.openxmlformats.org/drawingml/2006/chart" r:id="Rd89d4c2e614c4057"/>
          </a:graphicData>
        </a:graphic>
      </p:graphicFrame>
      <p:graphicFrame>
        <p:nvGraphicFramePr>
          <p:cNvPr id="9" name="">
            <a:extLst xmlns:a="http://schemas.openxmlformats.org/drawingml/2006/main">
              <a:ext uri="{FF2B5EF4-FFF2-40B4-BE49-F238E27FC236}">
                <a16:creationId xmlns:a16="http://schemas.microsoft.com/office/drawing/2014/main" id="{46330785-99AD-48B7-8C7F-19E29D8AF0EF}"/>
              </a:ext>
            </a:extLst>
          </p:cNvPr>
          <p:cNvGraphicFramePr/>
          <p:nvPr/>
        </p:nvGraphicFramePr>
        <p:xfrm>
          <a:off xmlns:a="http://schemas.openxmlformats.org/drawingml/2006/main" x="6953250" y="2076450"/>
          <a:ext xmlns:a="http://schemas.openxmlformats.org/drawingml/2006/main" cx="6134100" cy="3429000"/>
        </p:xfrm>
        <a:graphic xmlns:a="http://schemas.openxmlformats.org/drawingml/2006/main">
          <a:graphicData uri="http://schemas.openxmlformats.org/drawingml/2006/table">
            <a:tbl>
              <a:tblPr/>
              <a:tblGrid>
                <a:gridCol w="2705100"/>
                <a:gridCol w="1714500"/>
                <a:gridCol w="1714500"/>
              </a:tblGrid>
              <a:tr h="571500">
                <a:tc>
                  <a:txBody>
                    <a:bodyPr>
                      <a:noAutofit/>
                    </a:bodyPr>
                    <a:lstStyle/>
                    <a:p>
                      <a:r>
                        <a:rPr sz="1800" b="1">
                          <a:solidFill>
                            <a:srgbClr val="FFFFFF"/>
                          </a:solidFill>
                          <a:latin typeface="맑은 고딕"/>
                          <a:ea typeface="맑은 고딕"/>
                          <a:cs typeface="맑은 고딕"/>
                        </a:rPr>
                        <a:t>동일 900문항</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800" b="1">
                          <a:solidFill>
                            <a:srgbClr val="FFFFFF"/>
                          </a:solidFill>
                          <a:latin typeface="맑은 고딕"/>
                          <a:ea typeface="맑은 고딕"/>
                          <a:cs typeface="맑은 고딕"/>
                        </a:rPr>
                        <a:t>기본</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800" b="1">
                          <a:solidFill>
                            <a:srgbClr val="FFFFFF"/>
                          </a:solidFill>
                          <a:latin typeface="맑은 고딕"/>
                          <a:ea typeface="맑은 고딕"/>
                          <a:cs typeface="맑은 고딕"/>
                        </a:rPr>
                        <a:t>개선</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571500">
                <a:tc>
                  <a:txBody>
                    <a:bodyPr>
                      <a:noAutofit/>
                    </a:bodyPr>
                    <a:lstStyle/>
                    <a:p>
                      <a:r>
                        <a:rPr sz="1800" b="0">
                          <a:solidFill>
                            <a:srgbClr val="17171A"/>
                          </a:solidFill>
                          <a:latin typeface="맑은 고딕"/>
                          <a:ea typeface="맑은 고딕"/>
                          <a:cs typeface="맑은 고딕"/>
                        </a:rPr>
                        <a:t>정답</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703</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698</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571500">
                <a:tc>
                  <a:txBody>
                    <a:bodyPr>
                      <a:noAutofit/>
                    </a:bodyPr>
                    <a:lstStyle/>
                    <a:p>
                      <a:r>
                        <a:rPr sz="1800" b="1">
                          <a:solidFill>
                            <a:srgbClr val="F72585"/>
                          </a:solidFill>
                          <a:latin typeface="맑은 고딕"/>
                          <a:ea typeface="맑은 고딕"/>
                          <a:cs typeface="맑은 고딕"/>
                        </a:rPr>
                        <a:t>환각</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800" b="1">
                          <a:solidFill>
                            <a:srgbClr val="F72585"/>
                          </a:solidFill>
                          <a:latin typeface="맑은 고딕"/>
                          <a:ea typeface="맑은 고딕"/>
                          <a:cs typeface="맑은 고딕"/>
                        </a:rPr>
                        <a:t>184</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800" b="1">
                          <a:solidFill>
                            <a:srgbClr val="F72585"/>
                          </a:solidFill>
                          <a:latin typeface="맑은 고딕"/>
                          <a:ea typeface="맑은 고딕"/>
                          <a:cs typeface="맑은 고딕"/>
                        </a:rPr>
                        <a:t>122</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571500">
                <a:tc>
                  <a:txBody>
                    <a:bodyPr>
                      <a:noAutofit/>
                    </a:bodyPr>
                    <a:lstStyle/>
                    <a:p>
                      <a:r>
                        <a:rPr sz="1800" b="1">
                          <a:solidFill>
                            <a:srgbClr val="F72585"/>
                          </a:solidFill>
                          <a:latin typeface="맑은 고딕"/>
                          <a:ea typeface="맑은 고딕"/>
                          <a:cs typeface="맑은 고딕"/>
                        </a:rPr>
                        <a:t>되묻기</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800" b="1">
                          <a:solidFill>
                            <a:srgbClr val="F72585"/>
                          </a:solidFill>
                          <a:latin typeface="맑은 고딕"/>
                          <a:ea typeface="맑은 고딕"/>
                          <a:cs typeface="맑은 고딕"/>
                        </a:rPr>
                        <a:t>126</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800" b="1">
                          <a:solidFill>
                            <a:srgbClr val="F72585"/>
                          </a:solidFill>
                          <a:latin typeface="맑은 고딕"/>
                          <a:ea typeface="맑은 고딕"/>
                          <a:cs typeface="맑은 고딕"/>
                        </a:rPr>
                        <a:t>1</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571500">
                <a:tc>
                  <a:txBody>
                    <a:bodyPr>
                      <a:noAutofit/>
                    </a:bodyPr>
                    <a:lstStyle/>
                    <a:p>
                      <a:r>
                        <a:rPr sz="1800" b="0">
                          <a:solidFill>
                            <a:srgbClr val="17171A"/>
                          </a:solidFill>
                          <a:latin typeface="맑은 고딕"/>
                          <a:ea typeface="맑은 고딕"/>
                          <a:cs typeface="맑은 고딕"/>
                        </a:rPr>
                        <a:t>FAQ ID 노출</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147</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77</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571500">
                <a:tc>
                  <a:txBody>
                    <a:bodyPr>
                      <a:noAutofit/>
                    </a:bodyPr>
                    <a:lstStyle/>
                    <a:p>
                      <a:r>
                        <a:rPr sz="1800" b="0">
                          <a:solidFill>
                            <a:srgbClr val="17171A"/>
                          </a:solidFill>
                          <a:latin typeface="맑은 고딕"/>
                          <a:ea typeface="맑은 고딕"/>
                          <a:cs typeface="맑은 고딕"/>
                        </a:rPr>
                        <a:t>반복 표현</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303</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234</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bl>
          </a:graphicData>
        </a:graphic>
      </p:graphicFrame>
      <p:sp>
        <p:nvSpPr>
          <p:cNvPr id="10" name="own-text-47">
            <a:extLst xmlns:a="http://schemas.openxmlformats.org/drawingml/2006/main">
              <a:ext uri="{FF2B5EF4-FFF2-40B4-BE49-F238E27FC236}">
                <a16:creationId xmlns:a16="http://schemas.microsoft.com/office/drawing/2014/main" id="{6377E4A5-799A-47B1-9894-A6326D5050D7}"/>
              </a:ext>
            </a:extLst>
          </p:cNvPr>
          <p:cNvSpPr>
            <a:spLocks xmlns:a="http://schemas.openxmlformats.org/drawingml/2006/main" noGrp="1"/>
          </p:cNvSpPr>
          <p:nvPr/>
        </p:nvSpPr>
        <p:spPr>
          <a:xfrm xmlns:a="http://schemas.openxmlformats.org/drawingml/2006/main">
            <a:off x="628650" y="5772150"/>
            <a:ext cx="5810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03" b="1">
                <a:solidFill>
                  <a:srgbClr val="F72585"/>
                </a:solidFill>
                <a:latin typeface="맑은 고딕"/>
                <a:ea typeface="맑은 고딕"/>
                <a:cs typeface="맑은 고딕"/>
              </a:defRPr>
            </a:defPPr>
            <a:lvl1pPr algn="l">
              <a:defRPr sz="2603" b="1">
                <a:solidFill>
                  <a:srgbClr val="F72585"/>
                </a:solidFill>
                <a:latin typeface="맑은 고딕"/>
                <a:ea typeface="맑은 고딕"/>
                <a:cs typeface="맑은 고딕"/>
              </a:defRPr>
            </a:lvl1pPr>
            <a:lvl2pPr algn="l">
              <a:defRPr sz="2603" b="1">
                <a:solidFill>
                  <a:srgbClr val="F72585"/>
                </a:solidFill>
                <a:latin typeface="맑은 고딕"/>
                <a:ea typeface="맑은 고딕"/>
                <a:cs typeface="맑은 고딕"/>
              </a:defRPr>
            </a:lvl2pPr>
            <a:lvl3pPr algn="l">
              <a:defRPr sz="2603" b="1">
                <a:solidFill>
                  <a:srgbClr val="F72585"/>
                </a:solidFill>
                <a:latin typeface="맑은 고딕"/>
                <a:ea typeface="맑은 고딕"/>
                <a:cs typeface="맑은 고딕"/>
              </a:defRPr>
            </a:lvl3pPr>
            <a:lvl4pPr algn="l">
              <a:defRPr sz="2603" b="1">
                <a:solidFill>
                  <a:srgbClr val="F72585"/>
                </a:solidFill>
                <a:latin typeface="맑은 고딕"/>
                <a:ea typeface="맑은 고딕"/>
                <a:cs typeface="맑은 고딕"/>
              </a:defRPr>
            </a:lvl4pPr>
            <a:lvl5pPr algn="l">
              <a:defRPr sz="2603" b="1">
                <a:solidFill>
                  <a:srgbClr val="F72585"/>
                </a:solidFill>
                <a:latin typeface="맑은 고딕"/>
                <a:ea typeface="맑은 고딕"/>
                <a:cs typeface="맑은 고딕"/>
              </a:defRPr>
            </a:lvl5pPr>
            <a:lvl6pPr algn="l">
              <a:defRPr sz="2603" b="1">
                <a:solidFill>
                  <a:srgbClr val="F72585"/>
                </a:solidFill>
                <a:latin typeface="맑은 고딕"/>
                <a:ea typeface="맑은 고딕"/>
                <a:cs typeface="맑은 고딕"/>
              </a:defRPr>
            </a:lvl6pPr>
            <a:lvl7pPr algn="l">
              <a:defRPr sz="2603" b="1">
                <a:solidFill>
                  <a:srgbClr val="F72585"/>
                </a:solidFill>
                <a:latin typeface="맑은 고딕"/>
                <a:ea typeface="맑은 고딕"/>
                <a:cs typeface="맑은 고딕"/>
              </a:defRPr>
            </a:lvl7pPr>
            <a:lvl8pPr algn="l">
              <a:defRPr sz="2603" b="1">
                <a:solidFill>
                  <a:srgbClr val="F72585"/>
                </a:solidFill>
                <a:latin typeface="맑은 고딕"/>
                <a:ea typeface="맑은 고딕"/>
                <a:cs typeface="맑은 고딕"/>
              </a:defRPr>
            </a:lvl8pPr>
            <a:lvl9pPr algn="l">
              <a:defRPr sz="2603" b="1">
                <a:solidFill>
                  <a:srgbClr val="F72585"/>
                </a:solidFill>
                <a:latin typeface="맑은 고딕"/>
                <a:ea typeface="맑은 고딕"/>
                <a:cs typeface="맑은 고딕"/>
              </a:defRPr>
            </a:lvl9pPr>
          </a:lstStyle>
          <a:p xmlns:a="http://schemas.openxmlformats.org/drawingml/2006/main">
            <a:pPr algn="l">
              <a:defRPr sz="2603" b="1">
                <a:solidFill>
                  <a:srgbClr val="F72585"/>
                </a:solidFill>
                <a:latin typeface="맑은 고딕"/>
                <a:ea typeface="맑은 고딕"/>
                <a:cs typeface="맑은 고딕"/>
              </a:defRPr>
            </a:pPr>
            <a:r>
              <a:rPr sz="2603" b="1">
                <a:solidFill>
                  <a:srgbClr val="F72585"/>
                </a:solidFill>
                <a:latin typeface="맑은 고딕"/>
                <a:ea typeface="맑은 고딕"/>
                <a:cs typeface="맑은 고딕"/>
              </a:rPr>
              <a:t>환각 6.89%p 감소</a:t>
            </a:r>
          </a:p>
        </p:txBody>
      </p:sp>
      <p:sp>
        <p:nvSpPr>
          <p:cNvPr id="11" name="own-text-48">
            <a:extLst xmlns:a="http://schemas.openxmlformats.org/drawingml/2006/main">
              <a:ext uri="{FF2B5EF4-FFF2-40B4-BE49-F238E27FC236}">
                <a16:creationId xmlns:a16="http://schemas.microsoft.com/office/drawing/2014/main" id="{7697A4D0-4FAF-439E-8000-911201F84AA9}"/>
              </a:ext>
            </a:extLst>
          </p:cNvPr>
          <p:cNvSpPr>
            <a:spLocks xmlns:a="http://schemas.openxmlformats.org/drawingml/2006/main" noGrp="1"/>
          </p:cNvSpPr>
          <p:nvPr/>
        </p:nvSpPr>
        <p:spPr>
          <a:xfrm xmlns:a="http://schemas.openxmlformats.org/drawingml/2006/main">
            <a:off x="6953250" y="5800725"/>
            <a:ext cx="61341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98" b="1">
                <a:solidFill>
                  <a:srgbClr val="17171A"/>
                </a:solidFill>
                <a:latin typeface="맑은 고딕"/>
                <a:ea typeface="맑은 고딕"/>
                <a:cs typeface="맑은 고딕"/>
              </a:defRPr>
            </a:defPPr>
            <a:lvl1pPr algn="l">
              <a:defRPr sz="1898" b="1">
                <a:solidFill>
                  <a:srgbClr val="17171A"/>
                </a:solidFill>
                <a:latin typeface="맑은 고딕"/>
                <a:ea typeface="맑은 고딕"/>
                <a:cs typeface="맑은 고딕"/>
              </a:defRPr>
            </a:lvl1pPr>
            <a:lvl2pPr algn="l">
              <a:defRPr sz="1898" b="1">
                <a:solidFill>
                  <a:srgbClr val="17171A"/>
                </a:solidFill>
                <a:latin typeface="맑은 고딕"/>
                <a:ea typeface="맑은 고딕"/>
                <a:cs typeface="맑은 고딕"/>
              </a:defRPr>
            </a:lvl2pPr>
            <a:lvl3pPr algn="l">
              <a:defRPr sz="1898" b="1">
                <a:solidFill>
                  <a:srgbClr val="17171A"/>
                </a:solidFill>
                <a:latin typeface="맑은 고딕"/>
                <a:ea typeface="맑은 고딕"/>
                <a:cs typeface="맑은 고딕"/>
              </a:defRPr>
            </a:lvl3pPr>
            <a:lvl4pPr algn="l">
              <a:defRPr sz="1898" b="1">
                <a:solidFill>
                  <a:srgbClr val="17171A"/>
                </a:solidFill>
                <a:latin typeface="맑은 고딕"/>
                <a:ea typeface="맑은 고딕"/>
                <a:cs typeface="맑은 고딕"/>
              </a:defRPr>
            </a:lvl4pPr>
            <a:lvl5pPr algn="l">
              <a:defRPr sz="1898" b="1">
                <a:solidFill>
                  <a:srgbClr val="17171A"/>
                </a:solidFill>
                <a:latin typeface="맑은 고딕"/>
                <a:ea typeface="맑은 고딕"/>
                <a:cs typeface="맑은 고딕"/>
              </a:defRPr>
            </a:lvl5pPr>
            <a:lvl6pPr algn="l">
              <a:defRPr sz="1898" b="1">
                <a:solidFill>
                  <a:srgbClr val="17171A"/>
                </a:solidFill>
                <a:latin typeface="맑은 고딕"/>
                <a:ea typeface="맑은 고딕"/>
                <a:cs typeface="맑은 고딕"/>
              </a:defRPr>
            </a:lvl6pPr>
            <a:lvl7pPr algn="l">
              <a:defRPr sz="1898" b="1">
                <a:solidFill>
                  <a:srgbClr val="17171A"/>
                </a:solidFill>
                <a:latin typeface="맑은 고딕"/>
                <a:ea typeface="맑은 고딕"/>
                <a:cs typeface="맑은 고딕"/>
              </a:defRPr>
            </a:lvl7pPr>
            <a:lvl8pPr algn="l">
              <a:defRPr sz="1898" b="1">
                <a:solidFill>
                  <a:srgbClr val="17171A"/>
                </a:solidFill>
                <a:latin typeface="맑은 고딕"/>
                <a:ea typeface="맑은 고딕"/>
                <a:cs typeface="맑은 고딕"/>
              </a:defRPr>
            </a:lvl8pPr>
            <a:lvl9pPr algn="l">
              <a:defRPr sz="1898" b="1">
                <a:solidFill>
                  <a:srgbClr val="17171A"/>
                </a:solidFill>
                <a:latin typeface="맑은 고딕"/>
                <a:ea typeface="맑은 고딕"/>
                <a:cs typeface="맑은 고딕"/>
              </a:defRPr>
            </a:lvl9pPr>
          </a:lstStyle>
          <a:p xmlns:a="http://schemas.openxmlformats.org/drawingml/2006/main">
            <a:pPr algn="l">
              <a:defRPr sz="1898" b="1">
                <a:solidFill>
                  <a:srgbClr val="17171A"/>
                </a:solidFill>
                <a:latin typeface="맑은 고딕"/>
                <a:ea typeface="맑은 고딕"/>
                <a:cs typeface="맑은 고딕"/>
              </a:defRPr>
            </a:pPr>
            <a:r>
              <a:rPr sz="1898" b="1">
                <a:solidFill>
                  <a:srgbClr val="17171A"/>
                </a:solidFill>
                <a:latin typeface="맑은 고딕"/>
                <a:ea typeface="맑은 고딕"/>
                <a:cs typeface="맑은 고딕"/>
              </a:rPr>
              <a:t>필수 조건·최종 값 유지</a:t>
            </a:r>
          </a:p>
          <a:p xmlns:a="http://schemas.openxmlformats.org/drawingml/2006/main">
            <a:pPr algn="l">
              <a:defRPr sz="1898" b="1">
                <a:solidFill>
                  <a:srgbClr val="17171A"/>
                </a:solidFill>
                <a:latin typeface="맑은 고딕"/>
                <a:ea typeface="맑은 고딕"/>
                <a:cs typeface="맑은 고딕"/>
              </a:defRPr>
            </a:pPr>
            <a:r>
              <a:rPr sz="1898" b="1">
                <a:solidFill>
                  <a:srgbClr val="17171A"/>
                </a:solidFill>
                <a:latin typeface="맑은 고딕"/>
                <a:ea typeface="맑은 고딕"/>
                <a:cs typeface="맑은 고딕"/>
              </a:rPr>
              <a:t>한계 고지는 한곳에서 한 문장으로</a:t>
            </a:r>
          </a:p>
        </p:txBody>
      </p:sp>
    </p:spTree>
    <p:extLst>
      <p:ext uri="{BB962C8B-B14F-4D97-AF65-F5344CB8AC3E}">
        <p14:creationId xmlns:p14="http://schemas.microsoft.com/office/powerpoint/2010/main" val="708980480"/>
      </p:ext>
    </p:extLst>
  </p:cSld>
</p:sld>
</file>

<file path=ppt/slides/slide5.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cxnSp>
        <p:nvCxnSpPr>
          <p:cNvPr id="23" name="">
            <a:extLst xmlns:a="http://schemas.openxmlformats.org/drawingml/2006/main">
              <a:ext uri="{FF2B5EF4-FFF2-40B4-BE49-F238E27FC236}">
                <a16:creationId xmlns:a16="http://schemas.microsoft.com/office/drawing/2014/main" id="{A2AD6C91-CB7E-4676-9904-A3ED4431A910}"/>
              </a:ext>
            </a:extLst>
          </p:cNvPr>
          <p:cNvCxnSpPr>
            <a:stCxn xmlns:a="http://schemas.openxmlformats.org/drawingml/2006/main" id="18" idx="0"/>
            <a:endCxn xmlns:a="http://schemas.openxmlformats.org/drawingml/2006/main" id="10" idx="2"/>
          </p:cNvCxnSpPr>
          <p:nvPr/>
        </p:nvCxnSpPr>
        <p:spPr>
          <a:xfrm xmlns:a="http://schemas.openxmlformats.org/drawingml/2006/main" flipV="1">
            <a:off x="9024938" y="2895600"/>
            <a:ext cx="0" cy="70485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cxnSp>
        <p:nvCxnSpPr>
          <p:cNvPr id="22" name="">
            <a:extLst xmlns:a="http://schemas.openxmlformats.org/drawingml/2006/main">
              <a:ext uri="{FF2B5EF4-FFF2-40B4-BE49-F238E27FC236}">
                <a16:creationId xmlns:a16="http://schemas.microsoft.com/office/drawing/2014/main" id="{92BD1F10-9968-4F02-91D9-D0848E6C1C37}"/>
              </a:ext>
            </a:extLst>
          </p:cNvPr>
          <p:cNvCxnSpPr>
            <a:stCxn xmlns:a="http://schemas.openxmlformats.org/drawingml/2006/main" id="17" idx="3"/>
            <a:endCxn xmlns:a="http://schemas.openxmlformats.org/drawingml/2006/main" id="18" idx="1"/>
          </p:cNvCxnSpPr>
          <p:nvPr/>
        </p:nvCxnSpPr>
        <p:spPr>
          <a:xfrm xmlns:a="http://schemas.openxmlformats.org/drawingml/2006/main">
            <a:off x="7439025" y="3948113"/>
            <a:ext cx="438150"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cxnSp>
        <p:nvCxnSpPr>
          <p:cNvPr id="21" name="">
            <a:extLst xmlns:a="http://schemas.openxmlformats.org/drawingml/2006/main">
              <a:ext uri="{FF2B5EF4-FFF2-40B4-BE49-F238E27FC236}">
                <a16:creationId xmlns:a16="http://schemas.microsoft.com/office/drawing/2014/main" id="{DCC4149A-83F8-4705-B2CB-A6867CD8B104}"/>
              </a:ext>
            </a:extLst>
          </p:cNvPr>
          <p:cNvCxnSpPr>
            <a:stCxn xmlns:a="http://schemas.openxmlformats.org/drawingml/2006/main" id="16" idx="3"/>
            <a:endCxn xmlns:a="http://schemas.openxmlformats.org/drawingml/2006/main" id="17" idx="1"/>
          </p:cNvCxnSpPr>
          <p:nvPr/>
        </p:nvCxnSpPr>
        <p:spPr>
          <a:xfrm xmlns:a="http://schemas.openxmlformats.org/drawingml/2006/main">
            <a:off x="4705350" y="3948113"/>
            <a:ext cx="438150"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cxnSp>
        <p:nvCxnSpPr>
          <p:cNvPr id="20" name="">
            <a:extLst xmlns:a="http://schemas.openxmlformats.org/drawingml/2006/main">
              <a:ext uri="{FF2B5EF4-FFF2-40B4-BE49-F238E27FC236}">
                <a16:creationId xmlns:a16="http://schemas.microsoft.com/office/drawing/2014/main" id="{52A152E7-F2CE-4869-8661-F09AFA407F30}"/>
              </a:ext>
            </a:extLst>
          </p:cNvPr>
          <p:cNvCxnSpPr>
            <a:stCxn xmlns:a="http://schemas.openxmlformats.org/drawingml/2006/main" id="9" idx="2"/>
            <a:endCxn xmlns:a="http://schemas.openxmlformats.org/drawingml/2006/main" id="16" idx="0"/>
          </p:cNvCxnSpPr>
          <p:nvPr/>
        </p:nvCxnSpPr>
        <p:spPr>
          <a:xfrm xmlns:a="http://schemas.openxmlformats.org/drawingml/2006/main" flipH="1">
            <a:off x="3795713" y="2895600"/>
            <a:ext cx="2495550" cy="704850"/>
          </a:xfrm>
          <a:prstGeom xmlns:a="http://schemas.openxmlformats.org/drawingml/2006/main" prst="bentConnector4">
            <a:avLst>
              <a:gd name="adj1" fmla="val 0"/>
              <a:gd name="adj2" fmla="val 50000"/>
            </a:avLst>
          </a:prstGeom>
          <a:ln xmlns:a="http://schemas.openxmlformats.org/drawingml/2006/main" w="19050">
            <a:solidFill>
              <a:srgbClr val="F72585"/>
            </a:solidFill>
            <a:prstDash val="solid"/>
            <a:tailEnd type="triangle" w="sm" len="sm"/>
          </a:ln>
        </p:spPr>
      </p:cxnSp>
      <p:cxnSp>
        <p:nvCxnSpPr>
          <p:cNvPr id="19" name="">
            <a:extLst xmlns:a="http://schemas.openxmlformats.org/drawingml/2006/main">
              <a:ext uri="{FF2B5EF4-FFF2-40B4-BE49-F238E27FC236}">
                <a16:creationId xmlns:a16="http://schemas.microsoft.com/office/drawing/2014/main" id="{45324D56-0D70-47F4-952E-30ADA259905C}"/>
              </a:ext>
            </a:extLst>
          </p:cNvPr>
          <p:cNvCxnSpPr>
            <a:stCxn xmlns:a="http://schemas.openxmlformats.org/drawingml/2006/main" id="8" idx="2"/>
            <a:endCxn xmlns:a="http://schemas.openxmlformats.org/drawingml/2006/main" id="16" idx="0"/>
          </p:cNvCxnSpPr>
          <p:nvPr/>
        </p:nvCxnSpPr>
        <p:spPr>
          <a:xfrm xmlns:a="http://schemas.openxmlformats.org/drawingml/2006/main">
            <a:off x="3795713" y="2895600"/>
            <a:ext cx="0" cy="70485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cxnSp>
        <p:nvCxnSpPr>
          <p:cNvPr id="15" name="">
            <a:extLst xmlns:a="http://schemas.openxmlformats.org/drawingml/2006/main">
              <a:ext uri="{FF2B5EF4-FFF2-40B4-BE49-F238E27FC236}">
                <a16:creationId xmlns:a16="http://schemas.microsoft.com/office/drawing/2014/main" id="{618E8A91-D773-4DD5-9481-4B9369AF867A}"/>
              </a:ext>
            </a:extLst>
          </p:cNvPr>
          <p:cNvCxnSpPr>
            <a:stCxn xmlns:a="http://schemas.openxmlformats.org/drawingml/2006/main" id="10" idx="3"/>
            <a:endCxn xmlns:a="http://schemas.openxmlformats.org/drawingml/2006/main" id="11" idx="1"/>
          </p:cNvCxnSpPr>
          <p:nvPr/>
        </p:nvCxnSpPr>
        <p:spPr>
          <a:xfrm xmlns:a="http://schemas.openxmlformats.org/drawingml/2006/main">
            <a:off x="10172700" y="2547938"/>
            <a:ext cx="438150"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cxnSp>
        <p:nvCxnSpPr>
          <p:cNvPr id="14" name="">
            <a:extLst xmlns:a="http://schemas.openxmlformats.org/drawingml/2006/main">
              <a:ext uri="{FF2B5EF4-FFF2-40B4-BE49-F238E27FC236}">
                <a16:creationId xmlns:a16="http://schemas.microsoft.com/office/drawing/2014/main" id="{F3816C1F-F99D-4C4A-AD19-AA29CC20808C}"/>
              </a:ext>
            </a:extLst>
          </p:cNvPr>
          <p:cNvCxnSpPr>
            <a:stCxn xmlns:a="http://schemas.openxmlformats.org/drawingml/2006/main" id="9" idx="3"/>
            <a:endCxn xmlns:a="http://schemas.openxmlformats.org/drawingml/2006/main" id="10" idx="1"/>
          </p:cNvCxnSpPr>
          <p:nvPr/>
        </p:nvCxnSpPr>
        <p:spPr>
          <a:xfrm xmlns:a="http://schemas.openxmlformats.org/drawingml/2006/main">
            <a:off x="7439025" y="2547938"/>
            <a:ext cx="438150"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cxnSp>
        <p:nvCxnSpPr>
          <p:cNvPr id="13" name="">
            <a:extLst xmlns:a="http://schemas.openxmlformats.org/drawingml/2006/main">
              <a:ext uri="{FF2B5EF4-FFF2-40B4-BE49-F238E27FC236}">
                <a16:creationId xmlns:a16="http://schemas.microsoft.com/office/drawing/2014/main" id="{BE984D3B-49F1-4B80-B6C1-B428FEF77071}"/>
              </a:ext>
            </a:extLst>
          </p:cNvPr>
          <p:cNvCxnSpPr>
            <a:stCxn xmlns:a="http://schemas.openxmlformats.org/drawingml/2006/main" id="8" idx="3"/>
            <a:endCxn xmlns:a="http://schemas.openxmlformats.org/drawingml/2006/main" id="9" idx="1"/>
          </p:cNvCxnSpPr>
          <p:nvPr/>
        </p:nvCxnSpPr>
        <p:spPr>
          <a:xfrm xmlns:a="http://schemas.openxmlformats.org/drawingml/2006/main">
            <a:off x="4705350" y="2547938"/>
            <a:ext cx="438150"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cxnSp>
        <p:nvCxnSpPr>
          <p:cNvPr id="12" name="">
            <a:extLst xmlns:a="http://schemas.openxmlformats.org/drawingml/2006/main">
              <a:ext uri="{FF2B5EF4-FFF2-40B4-BE49-F238E27FC236}">
                <a16:creationId xmlns:a16="http://schemas.microsoft.com/office/drawing/2014/main" id="{BA9556EB-2E9E-42E1-AFB6-5DD79B5B85B6}"/>
              </a:ext>
            </a:extLst>
          </p:cNvPr>
          <p:cNvCxnSpPr>
            <a:stCxn xmlns:a="http://schemas.openxmlformats.org/drawingml/2006/main" id="7" idx="3"/>
            <a:endCxn xmlns:a="http://schemas.openxmlformats.org/drawingml/2006/main" id="8" idx="1"/>
          </p:cNvCxnSpPr>
          <p:nvPr/>
        </p:nvCxnSpPr>
        <p:spPr>
          <a:xfrm xmlns:a="http://schemas.openxmlformats.org/drawingml/2006/main">
            <a:off x="2447925" y="2547938"/>
            <a:ext cx="438150"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sp>
        <p:nvSpPr>
          <p:cNvPr id="27" name="own-text-49">
            <a:extLst xmlns:a="http://schemas.openxmlformats.org/drawingml/2006/main">
              <a:ext uri="{FF2B5EF4-FFF2-40B4-BE49-F238E27FC236}">
                <a16:creationId xmlns:a16="http://schemas.microsoft.com/office/drawing/2014/main" id="{0F6A4D8E-41EC-4C11-A930-3E4DA9A231AC}"/>
              </a:ext>
            </a:extLst>
          </p:cNvPr>
          <p:cNvSpPr>
            <a:spLocks xmlns:a="http://schemas.openxmlformats.org/drawingml/2006/main" noGrp="1"/>
          </p:cNvSpPr>
          <p:nvPr/>
        </p:nvSpPr>
        <p:spPr>
          <a:xfrm xmlns:a="http://schemas.openxmlformats.org/drawingml/2006/main">
            <a:off x="628650" y="420053"/>
            <a:ext cx="11430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xmlns:a="http://schemas.openxmlformats.org/drawingml/2006/main">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판정 LLM</a:t>
            </a:r>
          </a:p>
        </p:txBody>
      </p:sp>
      <p:sp>
        <p:nvSpPr>
          <p:cNvPr id="2" name="own-text-50">
            <a:extLst xmlns:a="http://schemas.openxmlformats.org/drawingml/2006/main">
              <a:ext uri="{FF2B5EF4-FFF2-40B4-BE49-F238E27FC236}">
                <a16:creationId xmlns:a16="http://schemas.microsoft.com/office/drawing/2014/main" id="{8ED30959-545A-46AD-88AD-A00CC7F51021}"/>
              </a:ext>
            </a:extLst>
          </p:cNvPr>
          <p:cNvSpPr>
            <a:spLocks xmlns:a="http://schemas.openxmlformats.org/drawingml/2006/main" noGrp="1"/>
          </p:cNvSpPr>
          <p:nvPr/>
        </p:nvSpPr>
        <p:spPr>
          <a:xfrm xmlns:a="http://schemas.openxmlformats.org/drawingml/2006/main">
            <a:off x="628650" y="760095"/>
            <a:ext cx="12001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xmlns:a="http://schemas.openxmlformats.org/drawingml/2006/main">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판정 LLM 파이프라인과 검색 효과</a:t>
            </a:r>
          </a:p>
        </p:txBody>
      </p:sp>
      <p:sp>
        <p:nvSpPr>
          <p:cNvPr id="3" name="own-text-51">
            <a:extLst xmlns:a="http://schemas.openxmlformats.org/drawingml/2006/main">
              <a:ext uri="{FF2B5EF4-FFF2-40B4-BE49-F238E27FC236}">
                <a16:creationId xmlns:a16="http://schemas.microsoft.com/office/drawing/2014/main" id="{9E070083-267E-4118-A847-46A0A781265C}"/>
              </a:ext>
            </a:extLst>
          </p:cNvPr>
          <p:cNvSpPr>
            <a:spLocks xmlns:a="http://schemas.openxmlformats.org/drawingml/2006/main" noGrp="1"/>
          </p:cNvSpPr>
          <p:nvPr/>
        </p:nvSpPr>
        <p:spPr>
          <a:xfrm xmlns:a="http://schemas.openxmlformats.org/drawingml/2006/main">
            <a:off x="628650" y="1500188"/>
            <a:ext cx="12001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분류기로 필요한 질문을 고르고, 판정 검색어는 코드 검사 후 FAQ 검색에 사용</a:t>
            </a:r>
          </a:p>
        </p:txBody>
      </p:sp>
      <p:sp>
        <p:nvSpPr>
          <p:cNvPr id="4" name="own-text-52">
            <a:extLst xmlns:a="http://schemas.openxmlformats.org/drawingml/2006/main">
              <a:ext uri="{FF2B5EF4-FFF2-40B4-BE49-F238E27FC236}">
                <a16:creationId xmlns:a16="http://schemas.microsoft.com/office/drawing/2014/main" id="{D83284FF-74F3-4D21-86DF-C44088214959}"/>
              </a:ext>
            </a:extLst>
          </p:cNvPr>
          <p:cNvSpPr>
            <a:spLocks xmlns:a="http://schemas.openxmlformats.org/drawingml/2006/main" noGrp="1"/>
          </p:cNvSpPr>
          <p:nvPr/>
        </p:nvSpPr>
        <p:spPr>
          <a:xfrm xmlns:a="http://schemas.openxmlformats.org/drawingml/2006/main">
            <a:off x="628650" y="7104698"/>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xmlns:a="http://schemas.openxmlformats.org/drawingml/2006/main">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53">
            <a:extLst xmlns:a="http://schemas.openxmlformats.org/drawingml/2006/main">
              <a:ext uri="{FF2B5EF4-FFF2-40B4-BE49-F238E27FC236}">
                <a16:creationId xmlns:a16="http://schemas.microsoft.com/office/drawing/2014/main" id="{B1DCDD0B-248B-4725-8059-A8198CFBE980}"/>
              </a:ext>
            </a:extLst>
          </p:cNvPr>
          <p:cNvSpPr>
            <a:spLocks xmlns:a="http://schemas.openxmlformats.org/drawingml/2006/main" noGrp="1"/>
          </p:cNvSpPr>
          <p:nvPr/>
        </p:nvSpPr>
        <p:spPr>
          <a:xfrm xmlns:a="http://schemas.openxmlformats.org/drawingml/2006/main">
            <a:off x="12382500" y="7104698"/>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xmlns:a="http://schemas.openxmlformats.org/drawingml/2006/main">
            <a:pPr algn="r">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05</a:t>
            </a:r>
          </a:p>
        </p:txBody>
      </p:sp>
      <p:sp>
        <p:nvSpPr>
          <p:cNvPr id="6" name="own-text-54">
            <a:extLst xmlns:a="http://schemas.openxmlformats.org/drawingml/2006/main">
              <a:ext uri="{FF2B5EF4-FFF2-40B4-BE49-F238E27FC236}">
                <a16:creationId xmlns:a16="http://schemas.microsoft.com/office/drawing/2014/main" id="{2174210C-A275-459B-A1A8-ACA080040502}"/>
              </a:ext>
            </a:extLst>
          </p:cNvPr>
          <p:cNvSpPr>
            <a:spLocks xmlns:a="http://schemas.openxmlformats.org/drawingml/2006/main" noGrp="1"/>
          </p:cNvSpPr>
          <p:nvPr/>
        </p:nvSpPr>
        <p:spPr>
          <a:xfrm xmlns:a="http://schemas.openxmlformats.org/drawingml/2006/main">
            <a:off x="628650" y="6610350"/>
            <a:ext cx="12458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xmlns:a="http://schemas.openxmlformats.org/drawingml/2006/main">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전체 기능 평가 200건과 별도 질문 분리 100건을 시험. 아래는 질문 분리 100건 전체의 같은 질문·정답 FAQ 비교.</a:t>
            </a:r>
          </a:p>
        </p:txBody>
      </p:sp>
      <p:sp>
        <p:nvSpPr>
          <p:cNvPr id="7" name="pipeline-55">
            <a:extLst xmlns:a="http://schemas.openxmlformats.org/drawingml/2006/main">
              <a:ext uri="{FF2B5EF4-FFF2-40B4-BE49-F238E27FC236}">
                <a16:creationId xmlns:a16="http://schemas.microsoft.com/office/drawing/2014/main" id="{3BDE3A0A-3913-4D49-A0FA-88C9A3B764DC}"/>
              </a:ext>
            </a:extLst>
          </p:cNvPr>
          <p:cNvSpPr>
            <a:spLocks xmlns:a="http://schemas.openxmlformats.org/drawingml/2006/main" noGrp="1"/>
          </p:cNvSpPr>
          <p:nvPr/>
        </p:nvSpPr>
        <p:spPr>
          <a:xfrm xmlns:a="http://schemas.openxmlformats.org/drawingml/2006/main">
            <a:off x="628650" y="2200275"/>
            <a:ext cx="1819275" cy="695325"/>
          </a:xfrm>
          <a:prstGeom xmlns:a="http://schemas.openxmlformats.org/drawingml/2006/main" prst="rect">
            <a:avLst/>
          </a:prstGeom>
          <a:solidFill xmlns:a="http://schemas.openxmlformats.org/drawingml/2006/main">
            <a:srgbClr val="FFFFFF"/>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사용자 원문</a:t>
            </a:r>
          </a:p>
        </p:txBody>
      </p:sp>
      <p:sp>
        <p:nvSpPr>
          <p:cNvPr id="8" name="pipeline-56">
            <a:extLst xmlns:a="http://schemas.openxmlformats.org/drawingml/2006/main">
              <a:ext uri="{FF2B5EF4-FFF2-40B4-BE49-F238E27FC236}">
                <a16:creationId xmlns:a16="http://schemas.microsoft.com/office/drawing/2014/main" id="{A5A512B2-7A4B-43B3-8707-C9178DF6BED6}"/>
              </a:ext>
            </a:extLst>
          </p:cNvPr>
          <p:cNvSpPr>
            <a:spLocks xmlns:a="http://schemas.openxmlformats.org/drawingml/2006/main" noGrp="1"/>
          </p:cNvSpPr>
          <p:nvPr/>
        </p:nvSpPr>
        <p:spPr>
          <a:xfrm xmlns:a="http://schemas.openxmlformats.org/drawingml/2006/main">
            <a:off x="2886075" y="2200275"/>
            <a:ext cx="1819275" cy="695325"/>
          </a:xfrm>
          <a:prstGeom xmlns:a="http://schemas.openxmlformats.org/drawingml/2006/main" prst="rect">
            <a:avLst/>
          </a:prstGeom>
          <a:solidFill xmlns:a="http://schemas.openxmlformats.org/drawingml/2006/main">
            <a:srgbClr val="FFF1F7"/>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분류기</a:t>
            </a:r>
          </a:p>
        </p:txBody>
      </p:sp>
      <p:sp>
        <p:nvSpPr>
          <p:cNvPr id="9" name="pipeline-57">
            <a:extLst xmlns:a="http://schemas.openxmlformats.org/drawingml/2006/main">
              <a:ext uri="{FF2B5EF4-FFF2-40B4-BE49-F238E27FC236}">
                <a16:creationId xmlns:a16="http://schemas.microsoft.com/office/drawing/2014/main" id="{D9E8E498-CBFB-46E2-A3F5-77FF7B08981C}"/>
              </a:ext>
            </a:extLst>
          </p:cNvPr>
          <p:cNvSpPr>
            <a:spLocks xmlns:a="http://schemas.openxmlformats.org/drawingml/2006/main" noGrp="1"/>
          </p:cNvSpPr>
          <p:nvPr/>
        </p:nvSpPr>
        <p:spPr>
          <a:xfrm xmlns:a="http://schemas.openxmlformats.org/drawingml/2006/main">
            <a:off x="5143500" y="2200275"/>
            <a:ext cx="2295525" cy="695325"/>
          </a:xfrm>
          <a:prstGeom xmlns:a="http://schemas.openxmlformats.org/drawingml/2006/main" prst="rect">
            <a:avLst/>
          </a:prstGeom>
          <a:solidFill xmlns:a="http://schemas.openxmlformats.org/drawingml/2006/main">
            <a:srgbClr val="FFFFFF"/>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원문 우선 검색</a:t>
            </a:r>
          </a:p>
        </p:txBody>
      </p:sp>
      <p:sp>
        <p:nvSpPr>
          <p:cNvPr id="10" name="pipeline-58">
            <a:extLst xmlns:a="http://schemas.openxmlformats.org/drawingml/2006/main">
              <a:ext uri="{FF2B5EF4-FFF2-40B4-BE49-F238E27FC236}">
                <a16:creationId xmlns:a16="http://schemas.microsoft.com/office/drawing/2014/main" id="{3877CC67-5E58-4F20-A2DA-0FE732C96E30}"/>
              </a:ext>
            </a:extLst>
          </p:cNvPr>
          <p:cNvSpPr>
            <a:spLocks xmlns:a="http://schemas.openxmlformats.org/drawingml/2006/main" noGrp="1"/>
          </p:cNvSpPr>
          <p:nvPr/>
        </p:nvSpPr>
        <p:spPr>
          <a:xfrm xmlns:a="http://schemas.openxmlformats.org/drawingml/2006/main">
            <a:off x="7877175" y="2200275"/>
            <a:ext cx="2295525" cy="695325"/>
          </a:xfrm>
          <a:prstGeom xmlns:a="http://schemas.openxmlformats.org/drawingml/2006/main" prst="rect">
            <a:avLst/>
          </a:prstGeom>
          <a:solidFill xmlns:a="http://schemas.openxmlformats.org/drawingml/2006/main">
            <a:srgbClr val="FFFFFF"/>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FAQ·문장 검사</a:t>
            </a:r>
          </a:p>
        </p:txBody>
      </p:sp>
      <p:sp>
        <p:nvSpPr>
          <p:cNvPr id="11" name="pipeline-59">
            <a:extLst xmlns:a="http://schemas.openxmlformats.org/drawingml/2006/main">
              <a:ext uri="{FF2B5EF4-FFF2-40B4-BE49-F238E27FC236}">
                <a16:creationId xmlns:a16="http://schemas.microsoft.com/office/drawing/2014/main" id="{122CFF9F-CFE6-412C-8331-6F6B5F420310}"/>
              </a:ext>
            </a:extLst>
          </p:cNvPr>
          <p:cNvSpPr>
            <a:spLocks xmlns:a="http://schemas.openxmlformats.org/drawingml/2006/main" noGrp="1"/>
          </p:cNvSpPr>
          <p:nvPr/>
        </p:nvSpPr>
        <p:spPr>
          <a:xfrm xmlns:a="http://schemas.openxmlformats.org/drawingml/2006/main">
            <a:off x="10610850" y="2200275"/>
            <a:ext cx="2476500" cy="695325"/>
          </a:xfrm>
          <a:prstGeom xmlns:a="http://schemas.openxmlformats.org/drawingml/2006/main" prst="rect">
            <a:avLst/>
          </a:prstGeom>
          <a:solidFill xmlns:a="http://schemas.openxmlformats.org/drawingml/2006/main">
            <a:srgbClr val="17171A"/>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FFFFFF"/>
                </a:solidFill>
                <a:latin typeface="맑은 고딕"/>
                <a:ea typeface="맑은 고딕"/>
                <a:cs typeface="맑은 고딕"/>
              </a:defRPr>
            </a:defPPr>
            <a:lvl1pPr algn="ctr">
              <a:defRPr sz="1725" b="1">
                <a:solidFill>
                  <a:srgbClr val="FFFFFF"/>
                </a:solidFill>
                <a:latin typeface="맑은 고딕"/>
                <a:ea typeface="맑은 고딕"/>
                <a:cs typeface="맑은 고딕"/>
              </a:defRPr>
            </a:lvl1pPr>
            <a:lvl2pPr algn="ctr">
              <a:defRPr sz="1725" b="1">
                <a:solidFill>
                  <a:srgbClr val="FFFFFF"/>
                </a:solidFill>
                <a:latin typeface="맑은 고딕"/>
                <a:ea typeface="맑은 고딕"/>
                <a:cs typeface="맑은 고딕"/>
              </a:defRPr>
            </a:lvl2pPr>
            <a:lvl3pPr algn="ctr">
              <a:defRPr sz="1725" b="1">
                <a:solidFill>
                  <a:srgbClr val="FFFFFF"/>
                </a:solidFill>
                <a:latin typeface="맑은 고딕"/>
                <a:ea typeface="맑은 고딕"/>
                <a:cs typeface="맑은 고딕"/>
              </a:defRPr>
            </a:lvl3pPr>
            <a:lvl4pPr algn="ctr">
              <a:defRPr sz="1725" b="1">
                <a:solidFill>
                  <a:srgbClr val="FFFFFF"/>
                </a:solidFill>
                <a:latin typeface="맑은 고딕"/>
                <a:ea typeface="맑은 고딕"/>
                <a:cs typeface="맑은 고딕"/>
              </a:defRPr>
            </a:lvl4pPr>
            <a:lvl5pPr algn="ctr">
              <a:defRPr sz="1725" b="1">
                <a:solidFill>
                  <a:srgbClr val="FFFFFF"/>
                </a:solidFill>
                <a:latin typeface="맑은 고딕"/>
                <a:ea typeface="맑은 고딕"/>
                <a:cs typeface="맑은 고딕"/>
              </a:defRPr>
            </a:lvl5pPr>
            <a:lvl6pPr algn="ctr">
              <a:defRPr sz="1725" b="1">
                <a:solidFill>
                  <a:srgbClr val="FFFFFF"/>
                </a:solidFill>
                <a:latin typeface="맑은 고딕"/>
                <a:ea typeface="맑은 고딕"/>
                <a:cs typeface="맑은 고딕"/>
              </a:defRPr>
            </a:lvl6pPr>
            <a:lvl7pPr algn="ctr">
              <a:defRPr sz="1725" b="1">
                <a:solidFill>
                  <a:srgbClr val="FFFFFF"/>
                </a:solidFill>
                <a:latin typeface="맑은 고딕"/>
                <a:ea typeface="맑은 고딕"/>
                <a:cs typeface="맑은 고딕"/>
              </a:defRPr>
            </a:lvl7pPr>
            <a:lvl8pPr algn="ctr">
              <a:defRPr sz="1725" b="1">
                <a:solidFill>
                  <a:srgbClr val="FFFFFF"/>
                </a:solidFill>
                <a:latin typeface="맑은 고딕"/>
                <a:ea typeface="맑은 고딕"/>
                <a:cs typeface="맑은 고딕"/>
              </a:defRPr>
            </a:lvl8pPr>
            <a:lvl9pPr algn="ctr">
              <a:defRPr sz="1725" b="1">
                <a:solidFill>
                  <a:srgbClr val="FFFFFF"/>
                </a:solidFill>
                <a:latin typeface="맑은 고딕"/>
                <a:ea typeface="맑은 고딕"/>
                <a:cs typeface="맑은 고딕"/>
              </a:defRPr>
            </a:lvl9pPr>
          </a:lstStyle>
          <a:p xmlns:a="http://schemas.openxmlformats.org/drawingml/2006/main">
            <a:pPr algn="ctr">
              <a:defRPr sz="1725" b="1">
                <a:solidFill>
                  <a:srgbClr val="FFFFFF"/>
                </a:solidFill>
                <a:latin typeface="맑은 고딕"/>
                <a:ea typeface="맑은 고딕"/>
                <a:cs typeface="맑은 고딕"/>
              </a:defRPr>
            </a:pPr>
            <a:r>
              <a:rPr sz="1725" b="1">
                <a:solidFill>
                  <a:srgbClr val="FFFFFF"/>
                </a:solidFill>
                <a:latin typeface="맑은 고딕"/>
                <a:ea typeface="맑은 고딕"/>
                <a:cs typeface="맑은 고딕"/>
              </a:rPr>
              <a:t>답변 LLM</a:t>
            </a:r>
          </a:p>
        </p:txBody>
      </p:sp>
      <p:sp>
        <p:nvSpPr>
          <p:cNvPr id="16" name="pipeline-60">
            <a:extLst xmlns:a="http://schemas.openxmlformats.org/drawingml/2006/main">
              <a:ext uri="{FF2B5EF4-FFF2-40B4-BE49-F238E27FC236}">
                <a16:creationId xmlns:a16="http://schemas.microsoft.com/office/drawing/2014/main" id="{74FFE386-EBD6-4FDC-9F2F-74D0213BA64E}"/>
              </a:ext>
            </a:extLst>
          </p:cNvPr>
          <p:cNvSpPr>
            <a:spLocks xmlns:a="http://schemas.openxmlformats.org/drawingml/2006/main" noGrp="1"/>
          </p:cNvSpPr>
          <p:nvPr/>
        </p:nvSpPr>
        <p:spPr>
          <a:xfrm xmlns:a="http://schemas.openxmlformats.org/drawingml/2006/main">
            <a:off x="2886075" y="3600450"/>
            <a:ext cx="1819275" cy="695325"/>
          </a:xfrm>
          <a:prstGeom xmlns:a="http://schemas.openxmlformats.org/drawingml/2006/main" prst="rect">
            <a:avLst/>
          </a:prstGeom>
          <a:solidFill xmlns:a="http://schemas.openxmlformats.org/drawingml/2006/main">
            <a:srgbClr val="FFF1F7"/>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판정 LLM</a:t>
            </a:r>
          </a:p>
        </p:txBody>
      </p:sp>
      <p:sp>
        <p:nvSpPr>
          <p:cNvPr id="17" name="pipeline-61">
            <a:extLst xmlns:a="http://schemas.openxmlformats.org/drawingml/2006/main">
              <a:ext uri="{FF2B5EF4-FFF2-40B4-BE49-F238E27FC236}">
                <a16:creationId xmlns:a16="http://schemas.microsoft.com/office/drawing/2014/main" id="{04D9DF65-277E-47AB-B793-BA38831D845F}"/>
              </a:ext>
            </a:extLst>
          </p:cNvPr>
          <p:cNvSpPr>
            <a:spLocks xmlns:a="http://schemas.openxmlformats.org/drawingml/2006/main" noGrp="1"/>
          </p:cNvSpPr>
          <p:nvPr/>
        </p:nvSpPr>
        <p:spPr>
          <a:xfrm xmlns:a="http://schemas.openxmlformats.org/drawingml/2006/main">
            <a:off x="5143500" y="3600450"/>
            <a:ext cx="2295525" cy="695325"/>
          </a:xfrm>
          <a:prstGeom xmlns:a="http://schemas.openxmlformats.org/drawingml/2006/main" prst="rect">
            <a:avLst/>
          </a:prstGeom>
          <a:solidFill xmlns:a="http://schemas.openxmlformats.org/drawingml/2006/main">
            <a:srgbClr val="FFFFFF"/>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검색어 변형 검사</a:t>
            </a:r>
          </a:p>
        </p:txBody>
      </p:sp>
      <p:sp>
        <p:nvSpPr>
          <p:cNvPr id="18" name="pipeline-62">
            <a:extLst xmlns:a="http://schemas.openxmlformats.org/drawingml/2006/main">
              <a:ext uri="{FF2B5EF4-FFF2-40B4-BE49-F238E27FC236}">
                <a16:creationId xmlns:a16="http://schemas.microsoft.com/office/drawing/2014/main" id="{C785E426-9524-42F1-9C66-739DD7F6309D}"/>
              </a:ext>
            </a:extLst>
          </p:cNvPr>
          <p:cNvSpPr>
            <a:spLocks xmlns:a="http://schemas.openxmlformats.org/drawingml/2006/main" noGrp="1"/>
          </p:cNvSpPr>
          <p:nvPr/>
        </p:nvSpPr>
        <p:spPr>
          <a:xfrm xmlns:a="http://schemas.openxmlformats.org/drawingml/2006/main">
            <a:off x="7877175" y="3600450"/>
            <a:ext cx="2295525" cy="695325"/>
          </a:xfrm>
          <a:prstGeom xmlns:a="http://schemas.openxmlformats.org/drawingml/2006/main" prst="rect">
            <a:avLst/>
          </a:prstGeom>
          <a:solidFill xmlns:a="http://schemas.openxmlformats.org/drawingml/2006/main">
            <a:srgbClr val="FFFFFF"/>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하위 질문별 검색</a:t>
            </a:r>
          </a:p>
        </p:txBody>
      </p:sp>
      <p:sp>
        <p:nvSpPr>
          <p:cNvPr id="24" name="own-text-63">
            <a:extLst xmlns:a="http://schemas.openxmlformats.org/drawingml/2006/main">
              <a:ext uri="{FF2B5EF4-FFF2-40B4-BE49-F238E27FC236}">
                <a16:creationId xmlns:a16="http://schemas.microsoft.com/office/drawing/2014/main" id="{8ACF3A45-BEBA-4F2C-94EB-AF9A0EDF6855}"/>
              </a:ext>
            </a:extLst>
          </p:cNvPr>
          <p:cNvSpPr>
            <a:spLocks xmlns:a="http://schemas.openxmlformats.org/drawingml/2006/main" noGrp="1"/>
          </p:cNvSpPr>
          <p:nvPr/>
        </p:nvSpPr>
        <p:spPr>
          <a:xfrm xmlns:a="http://schemas.openxmlformats.org/drawingml/2006/main">
            <a:off x="628650" y="3571875"/>
            <a:ext cx="20478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98" b="0">
                <a:solidFill>
                  <a:srgbClr val="686B72"/>
                </a:solidFill>
                <a:latin typeface="맑은 고딕"/>
                <a:ea typeface="맑은 고딕"/>
                <a:cs typeface="맑은 고딕"/>
              </a:defRPr>
            </a:defPPr>
            <a:lvl1pPr algn="l">
              <a:defRPr sz="1598" b="0">
                <a:solidFill>
                  <a:srgbClr val="686B72"/>
                </a:solidFill>
                <a:latin typeface="맑은 고딕"/>
                <a:ea typeface="맑은 고딕"/>
                <a:cs typeface="맑은 고딕"/>
              </a:defRPr>
            </a:lvl1pPr>
            <a:lvl2pPr algn="l">
              <a:defRPr sz="1598" b="0">
                <a:solidFill>
                  <a:srgbClr val="686B72"/>
                </a:solidFill>
                <a:latin typeface="맑은 고딕"/>
                <a:ea typeface="맑은 고딕"/>
                <a:cs typeface="맑은 고딕"/>
              </a:defRPr>
            </a:lvl2pPr>
            <a:lvl3pPr algn="l">
              <a:defRPr sz="1598" b="0">
                <a:solidFill>
                  <a:srgbClr val="686B72"/>
                </a:solidFill>
                <a:latin typeface="맑은 고딕"/>
                <a:ea typeface="맑은 고딕"/>
                <a:cs typeface="맑은 고딕"/>
              </a:defRPr>
            </a:lvl3pPr>
            <a:lvl4pPr algn="l">
              <a:defRPr sz="1598" b="0">
                <a:solidFill>
                  <a:srgbClr val="686B72"/>
                </a:solidFill>
                <a:latin typeface="맑은 고딕"/>
                <a:ea typeface="맑은 고딕"/>
                <a:cs typeface="맑은 고딕"/>
              </a:defRPr>
            </a:lvl4pPr>
            <a:lvl5pPr algn="l">
              <a:defRPr sz="1598" b="0">
                <a:solidFill>
                  <a:srgbClr val="686B72"/>
                </a:solidFill>
                <a:latin typeface="맑은 고딕"/>
                <a:ea typeface="맑은 고딕"/>
                <a:cs typeface="맑은 고딕"/>
              </a:defRPr>
            </a:lvl5pPr>
            <a:lvl6pPr algn="l">
              <a:defRPr sz="1598" b="0">
                <a:solidFill>
                  <a:srgbClr val="686B72"/>
                </a:solidFill>
                <a:latin typeface="맑은 고딕"/>
                <a:ea typeface="맑은 고딕"/>
                <a:cs typeface="맑은 고딕"/>
              </a:defRPr>
            </a:lvl6pPr>
            <a:lvl7pPr algn="l">
              <a:defRPr sz="1598" b="0">
                <a:solidFill>
                  <a:srgbClr val="686B72"/>
                </a:solidFill>
                <a:latin typeface="맑은 고딕"/>
                <a:ea typeface="맑은 고딕"/>
                <a:cs typeface="맑은 고딕"/>
              </a:defRPr>
            </a:lvl7pPr>
            <a:lvl8pPr algn="l">
              <a:defRPr sz="1598" b="0">
                <a:solidFill>
                  <a:srgbClr val="686B72"/>
                </a:solidFill>
                <a:latin typeface="맑은 고딕"/>
                <a:ea typeface="맑은 고딕"/>
                <a:cs typeface="맑은 고딕"/>
              </a:defRPr>
            </a:lvl8pPr>
            <a:lvl9pPr algn="l">
              <a:defRPr sz="1598" b="0">
                <a:solidFill>
                  <a:srgbClr val="686B72"/>
                </a:solidFill>
                <a:latin typeface="맑은 고딕"/>
                <a:ea typeface="맑은 고딕"/>
                <a:cs typeface="맑은 고딕"/>
              </a:defRPr>
            </a:lvl9pPr>
          </a:lstStyle>
          <a:p xmlns:a="http://schemas.openxmlformats.org/drawingml/2006/main">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분리·멀티턴 표지</a:t>
            </a:r>
          </a:p>
          <a:p xmlns:a="http://schemas.openxmlformats.org/drawingml/2006/main">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또는 첫 검색 실패</a:t>
            </a:r>
          </a:p>
        </p:txBody>
      </p:sp>
      <p:sp>
        <p:nvSpPr>
          <p:cNvPr id="25" name="own-text-64">
            <a:extLst xmlns:a="http://schemas.openxmlformats.org/drawingml/2006/main">
              <a:ext uri="{FF2B5EF4-FFF2-40B4-BE49-F238E27FC236}">
                <a16:creationId xmlns:a16="http://schemas.microsoft.com/office/drawing/2014/main" id="{393736F6-7E13-4923-B4F7-0EFCB42AC9C7}"/>
              </a:ext>
            </a:extLst>
          </p:cNvPr>
          <p:cNvSpPr>
            <a:spLocks xmlns:a="http://schemas.openxmlformats.org/drawingml/2006/main" noGrp="1"/>
          </p:cNvSpPr>
          <p:nvPr/>
        </p:nvSpPr>
        <p:spPr>
          <a:xfrm xmlns:a="http://schemas.openxmlformats.org/drawingml/2006/main">
            <a:off x="10610850" y="3571875"/>
            <a:ext cx="2476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98" b="0">
                <a:solidFill>
                  <a:srgbClr val="686B72"/>
                </a:solidFill>
                <a:latin typeface="맑은 고딕"/>
                <a:ea typeface="맑은 고딕"/>
                <a:cs typeface="맑은 고딕"/>
              </a:defRPr>
            </a:defPPr>
            <a:lvl1pPr algn="l">
              <a:defRPr sz="1598" b="0">
                <a:solidFill>
                  <a:srgbClr val="686B72"/>
                </a:solidFill>
                <a:latin typeface="맑은 고딕"/>
                <a:ea typeface="맑은 고딕"/>
                <a:cs typeface="맑은 고딕"/>
              </a:defRPr>
            </a:lvl1pPr>
            <a:lvl2pPr algn="l">
              <a:defRPr sz="1598" b="0">
                <a:solidFill>
                  <a:srgbClr val="686B72"/>
                </a:solidFill>
                <a:latin typeface="맑은 고딕"/>
                <a:ea typeface="맑은 고딕"/>
                <a:cs typeface="맑은 고딕"/>
              </a:defRPr>
            </a:lvl2pPr>
            <a:lvl3pPr algn="l">
              <a:defRPr sz="1598" b="0">
                <a:solidFill>
                  <a:srgbClr val="686B72"/>
                </a:solidFill>
                <a:latin typeface="맑은 고딕"/>
                <a:ea typeface="맑은 고딕"/>
                <a:cs typeface="맑은 고딕"/>
              </a:defRPr>
            </a:lvl3pPr>
            <a:lvl4pPr algn="l">
              <a:defRPr sz="1598" b="0">
                <a:solidFill>
                  <a:srgbClr val="686B72"/>
                </a:solidFill>
                <a:latin typeface="맑은 고딕"/>
                <a:ea typeface="맑은 고딕"/>
                <a:cs typeface="맑은 고딕"/>
              </a:defRPr>
            </a:lvl4pPr>
            <a:lvl5pPr algn="l">
              <a:defRPr sz="1598" b="0">
                <a:solidFill>
                  <a:srgbClr val="686B72"/>
                </a:solidFill>
                <a:latin typeface="맑은 고딕"/>
                <a:ea typeface="맑은 고딕"/>
                <a:cs typeface="맑은 고딕"/>
              </a:defRPr>
            </a:lvl5pPr>
            <a:lvl6pPr algn="l">
              <a:defRPr sz="1598" b="0">
                <a:solidFill>
                  <a:srgbClr val="686B72"/>
                </a:solidFill>
                <a:latin typeface="맑은 고딕"/>
                <a:ea typeface="맑은 고딕"/>
                <a:cs typeface="맑은 고딕"/>
              </a:defRPr>
            </a:lvl6pPr>
            <a:lvl7pPr algn="l">
              <a:defRPr sz="1598" b="0">
                <a:solidFill>
                  <a:srgbClr val="686B72"/>
                </a:solidFill>
                <a:latin typeface="맑은 고딕"/>
                <a:ea typeface="맑은 고딕"/>
                <a:cs typeface="맑은 고딕"/>
              </a:defRPr>
            </a:lvl7pPr>
            <a:lvl8pPr algn="l">
              <a:defRPr sz="1598" b="0">
                <a:solidFill>
                  <a:srgbClr val="686B72"/>
                </a:solidFill>
                <a:latin typeface="맑은 고딕"/>
                <a:ea typeface="맑은 고딕"/>
                <a:cs typeface="맑은 고딕"/>
              </a:defRPr>
            </a:lvl8pPr>
            <a:lvl9pPr algn="l">
              <a:defRPr sz="1598" b="0">
                <a:solidFill>
                  <a:srgbClr val="686B72"/>
                </a:solidFill>
                <a:latin typeface="맑은 고딕"/>
                <a:ea typeface="맑은 고딕"/>
                <a:cs typeface="맑은 고딕"/>
              </a:defRPr>
            </a:lvl9pPr>
          </a:lstStyle>
          <a:p xmlns:a="http://schemas.openxmlformats.org/drawingml/2006/main">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질문 원문·원문 조각과</a:t>
            </a:r>
          </a:p>
          <a:p xmlns:a="http://schemas.openxmlformats.org/drawingml/2006/main">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통과한 자료를 전달</a:t>
            </a:r>
          </a:p>
        </p:txBody>
      </p:sp>
      <p:graphicFrame>
        <p:nvGraphicFramePr>
          <p:cNvPr id="26" name="">
            <a:extLst xmlns:a="http://schemas.openxmlformats.org/drawingml/2006/main">
              <a:ext uri="{FF2B5EF4-FFF2-40B4-BE49-F238E27FC236}">
                <a16:creationId xmlns:a16="http://schemas.microsoft.com/office/drawing/2014/main" id="{E0F363E2-FC79-4791-8419-FE05AEC6B755}"/>
              </a:ext>
            </a:extLst>
          </p:cNvPr>
          <p:cNvGraphicFramePr/>
          <p:nvPr/>
        </p:nvGraphicFramePr>
        <p:xfrm>
          <a:off xmlns:a="http://schemas.openxmlformats.org/drawingml/2006/main" x="628650" y="4886325"/>
          <a:ext xmlns:a="http://schemas.openxmlformats.org/drawingml/2006/main" cx="12458700" cy="1571625"/>
        </p:xfrm>
        <a:graphic xmlns:a="http://schemas.openxmlformats.org/drawingml/2006/main">
          <a:graphicData uri="http://schemas.openxmlformats.org/drawingml/2006/table">
            <a:tbl>
              <a:tblPr/>
              <a:tblGrid>
                <a:gridCol w="3914775"/>
                <a:gridCol w="2847975"/>
                <a:gridCol w="2847975"/>
                <a:gridCol w="2847975"/>
              </a:tblGrid>
              <a:tr h="392906">
                <a:tc>
                  <a:txBody>
                    <a:bodyPr>
                      <a:noAutofit/>
                    </a:bodyPr>
                    <a:lstStyle/>
                    <a:p>
                      <a:r>
                        <a:rPr sz="1598" b="1">
                          <a:solidFill>
                            <a:srgbClr val="FFFFFF"/>
                          </a:solidFill>
                          <a:latin typeface="맑은 고딕"/>
                          <a:ea typeface="맑은 고딕"/>
                          <a:cs typeface="맑은 고딕"/>
                        </a:rPr>
                        <a:t>질문 분리 전체 100건</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98" b="1">
                          <a:solidFill>
                            <a:srgbClr val="FFFFFF"/>
                          </a:solidFill>
                          <a:latin typeface="맑은 고딕"/>
                          <a:ea typeface="맑은 고딕"/>
                          <a:cs typeface="맑은 고딕"/>
                        </a:rPr>
                        <a:t>판정 없이 검색</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98" b="1">
                          <a:solidFill>
                            <a:srgbClr val="FFFFFF"/>
                          </a:solidFill>
                          <a:latin typeface="맑은 고딕"/>
                          <a:ea typeface="맑은 고딕"/>
                          <a:cs typeface="맑은 고딕"/>
                        </a:rPr>
                        <a:t>초기 판정</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98" b="1">
                          <a:solidFill>
                            <a:srgbClr val="FFFFFF"/>
                          </a:solidFill>
                          <a:latin typeface="맑은 고딕"/>
                          <a:ea typeface="맑은 고딕"/>
                          <a:cs typeface="맑은 고딕"/>
                        </a:rPr>
                        <a:t>개선 판정</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392906">
                <a:tc>
                  <a:txBody>
                    <a:bodyPr>
                      <a:noAutofit/>
                    </a:bodyPr>
                    <a:lstStyle/>
                    <a:p>
                      <a:r>
                        <a:rPr sz="1598" b="1">
                          <a:solidFill>
                            <a:srgbClr val="F72585"/>
                          </a:solidFill>
                          <a:latin typeface="맑은 고딕"/>
                          <a:ea typeface="맑은 고딕"/>
                          <a:cs typeface="맑은 고딕"/>
                        </a:rPr>
                        <a:t>모든 정답 FAQ 검색</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69 / 100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81 / 100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84 / 100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392906">
                <a:tc>
                  <a:txBody>
                    <a:bodyPr>
                      <a:noAutofit/>
                    </a:bodyPr>
                    <a:lstStyle/>
                    <a:p>
                      <a:r>
                        <a:rPr sz="1598" b="0">
                          <a:solidFill>
                            <a:srgbClr val="17171A"/>
                          </a:solidFill>
                          <a:latin typeface="맑은 고딕"/>
                          <a:ea typeface="맑은 고딕"/>
                          <a:cs typeface="맑은 고딕"/>
                        </a:rPr>
                        <a:t>의도별 정답 FAQ 검색</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161 / 201</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181 / 201</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182 / 201</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392906">
                <a:tc>
                  <a:txBody>
                    <a:bodyPr>
                      <a:noAutofit/>
                    </a:bodyPr>
                    <a:lstStyle/>
                    <a:p>
                      <a:r>
                        <a:rPr sz="1598" b="1">
                          <a:solidFill>
                            <a:srgbClr val="F72585"/>
                          </a:solidFill>
                          <a:latin typeface="맑은 고딕"/>
                          <a:ea typeface="맑은 고딕"/>
                          <a:cs typeface="맑은 고딕"/>
                        </a:rPr>
                        <a:t>질문 개수 맞게 나눔</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81 / 100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90 / 100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bl>
          </a:graphicData>
        </a:graphic>
      </p:graphicFrame>
    </p:spTree>
    <p:extLst>
      <p:ext uri="{BB962C8B-B14F-4D97-AF65-F5344CB8AC3E}">
        <p14:creationId xmlns:p14="http://schemas.microsoft.com/office/powerpoint/2010/main" val="586196876"/>
      </p:ext>
    </p:extLst>
  </p:cSld>
</p:sld>
</file>

<file path=ppt/slides/slide6.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1DBBDF2D-D267-4018-8C3A-5AF874377EC7}"/>
              </a:ext>
            </a:extLst>
          </p:cNvPr>
          <p:cNvCxnSpPr>
            <a:stCxn xmlns:a="http://schemas.openxmlformats.org/drawingml/2006/main" id="8" idx="3"/>
            <a:endCxn xmlns:a="http://schemas.openxmlformats.org/drawingml/2006/main" id="9" idx="1"/>
          </p:cNvCxnSpPr>
          <p:nvPr/>
        </p:nvCxnSpPr>
        <p:spPr>
          <a:xfrm xmlns:a="http://schemas.openxmlformats.org/drawingml/2006/main">
            <a:off x="2914650" y="3043238"/>
            <a:ext cx="1143000"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sp>
        <p:nvSpPr>
          <p:cNvPr id="19" name="own-text-65">
            <a:extLst xmlns:a="http://schemas.openxmlformats.org/drawingml/2006/main">
              <a:ext uri="{FF2B5EF4-FFF2-40B4-BE49-F238E27FC236}">
                <a16:creationId xmlns:a16="http://schemas.microsoft.com/office/drawing/2014/main" id="{1E632639-FA8F-4BB1-9326-4C7522C14E7C}"/>
              </a:ext>
            </a:extLst>
          </p:cNvPr>
          <p:cNvSpPr>
            <a:spLocks xmlns:a="http://schemas.openxmlformats.org/drawingml/2006/main" noGrp="1"/>
          </p:cNvSpPr>
          <p:nvPr/>
        </p:nvSpPr>
        <p:spPr>
          <a:xfrm xmlns:a="http://schemas.openxmlformats.org/drawingml/2006/main">
            <a:off x="628650" y="420053"/>
            <a:ext cx="11430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xmlns:a="http://schemas.openxmlformats.org/drawingml/2006/main">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판정 LLM</a:t>
            </a:r>
          </a:p>
        </p:txBody>
      </p:sp>
      <p:sp>
        <p:nvSpPr>
          <p:cNvPr id="2" name="own-text-66">
            <a:extLst xmlns:a="http://schemas.openxmlformats.org/drawingml/2006/main">
              <a:ext uri="{FF2B5EF4-FFF2-40B4-BE49-F238E27FC236}">
                <a16:creationId xmlns:a16="http://schemas.microsoft.com/office/drawing/2014/main" id="{C09A05DF-667A-4B8F-939F-41B4CA6FC47F}"/>
              </a:ext>
            </a:extLst>
          </p:cNvPr>
          <p:cNvSpPr>
            <a:spLocks xmlns:a="http://schemas.openxmlformats.org/drawingml/2006/main" noGrp="1"/>
          </p:cNvSpPr>
          <p:nvPr/>
        </p:nvSpPr>
        <p:spPr>
          <a:xfrm xmlns:a="http://schemas.openxmlformats.org/drawingml/2006/main">
            <a:off x="628650" y="760095"/>
            <a:ext cx="12001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xmlns:a="http://schemas.openxmlformats.org/drawingml/2006/main">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원문 보존과 분류기로 줄인 호출</a:t>
            </a:r>
          </a:p>
        </p:txBody>
      </p:sp>
      <p:sp>
        <p:nvSpPr>
          <p:cNvPr id="3" name="own-text-67">
            <a:extLst xmlns:a="http://schemas.openxmlformats.org/drawingml/2006/main">
              <a:ext uri="{FF2B5EF4-FFF2-40B4-BE49-F238E27FC236}">
                <a16:creationId xmlns:a16="http://schemas.microsoft.com/office/drawing/2014/main" id="{5BCDC380-B916-4EF2-A1FD-FCA894050174}"/>
              </a:ext>
            </a:extLst>
          </p:cNvPr>
          <p:cNvSpPr>
            <a:spLocks xmlns:a="http://schemas.openxmlformats.org/drawingml/2006/main" noGrp="1"/>
          </p:cNvSpPr>
          <p:nvPr/>
        </p:nvSpPr>
        <p:spPr>
          <a:xfrm xmlns:a="http://schemas.openxmlformats.org/drawingml/2006/main">
            <a:off x="628650" y="1500188"/>
            <a:ext cx="12001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재작성 오류의 답변 전파를 줄이고, 명확한 단건 질문은 판정 LLM을 생략</a:t>
            </a:r>
          </a:p>
        </p:txBody>
      </p:sp>
      <p:sp>
        <p:nvSpPr>
          <p:cNvPr id="4" name="own-text-68">
            <a:extLst xmlns:a="http://schemas.openxmlformats.org/drawingml/2006/main">
              <a:ext uri="{FF2B5EF4-FFF2-40B4-BE49-F238E27FC236}">
                <a16:creationId xmlns:a16="http://schemas.microsoft.com/office/drawing/2014/main" id="{8AF29F68-5C57-47B7-A773-BE5114318691}"/>
              </a:ext>
            </a:extLst>
          </p:cNvPr>
          <p:cNvSpPr>
            <a:spLocks xmlns:a="http://schemas.openxmlformats.org/drawingml/2006/main" noGrp="1"/>
          </p:cNvSpPr>
          <p:nvPr/>
        </p:nvSpPr>
        <p:spPr>
          <a:xfrm xmlns:a="http://schemas.openxmlformats.org/drawingml/2006/main">
            <a:off x="628650" y="7104698"/>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xmlns:a="http://schemas.openxmlformats.org/drawingml/2006/main">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69">
            <a:extLst xmlns:a="http://schemas.openxmlformats.org/drawingml/2006/main">
              <a:ext uri="{FF2B5EF4-FFF2-40B4-BE49-F238E27FC236}">
                <a16:creationId xmlns:a16="http://schemas.microsoft.com/office/drawing/2014/main" id="{06059DDA-079D-48C2-86E8-53F51A7F8408}"/>
              </a:ext>
            </a:extLst>
          </p:cNvPr>
          <p:cNvSpPr>
            <a:spLocks xmlns:a="http://schemas.openxmlformats.org/drawingml/2006/main" noGrp="1"/>
          </p:cNvSpPr>
          <p:nvPr/>
        </p:nvSpPr>
        <p:spPr>
          <a:xfrm xmlns:a="http://schemas.openxmlformats.org/drawingml/2006/main">
            <a:off x="12382500" y="7104698"/>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xmlns:a="http://schemas.openxmlformats.org/drawingml/2006/main">
            <a:pPr algn="r">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06</a:t>
            </a:r>
          </a:p>
        </p:txBody>
      </p:sp>
      <p:sp>
        <p:nvSpPr>
          <p:cNvPr id="6" name="own-text-70">
            <a:extLst xmlns:a="http://schemas.openxmlformats.org/drawingml/2006/main">
              <a:ext uri="{FF2B5EF4-FFF2-40B4-BE49-F238E27FC236}">
                <a16:creationId xmlns:a16="http://schemas.microsoft.com/office/drawing/2014/main" id="{47049482-6DB6-4C0D-9E8C-CBD51B8012AA}"/>
              </a:ext>
            </a:extLst>
          </p:cNvPr>
          <p:cNvSpPr>
            <a:spLocks xmlns:a="http://schemas.openxmlformats.org/drawingml/2006/main" noGrp="1"/>
          </p:cNvSpPr>
          <p:nvPr/>
        </p:nvSpPr>
        <p:spPr>
          <a:xfrm xmlns:a="http://schemas.openxmlformats.org/drawingml/2006/main">
            <a:off x="628650" y="6610350"/>
            <a:ext cx="12458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xmlns:a="http://schemas.openxmlformats.org/drawingml/2006/main">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변형 전파 8건·3건은 선정 사례의 수동 검토. 가드 9건은 300개 출력의 탐지 사례이며 전수 환각 감소율이 아님.</a:t>
            </a:r>
          </a:p>
        </p:txBody>
      </p:sp>
      <p:sp>
        <p:nvSpPr>
          <p:cNvPr id="7" name="own-text-71">
            <a:extLst xmlns:a="http://schemas.openxmlformats.org/drawingml/2006/main">
              <a:ext uri="{FF2B5EF4-FFF2-40B4-BE49-F238E27FC236}">
                <a16:creationId xmlns:a16="http://schemas.microsoft.com/office/drawing/2014/main" id="{F218CFB4-C3DD-4036-A544-CCF3CEC09AE3}"/>
              </a:ext>
            </a:extLst>
          </p:cNvPr>
          <p:cNvSpPr>
            <a:spLocks xmlns:a="http://schemas.openxmlformats.org/drawingml/2006/main" noGrp="1"/>
          </p:cNvSpPr>
          <p:nvPr/>
        </p:nvSpPr>
        <p:spPr>
          <a:xfrm xmlns:a="http://schemas.openxmlformats.org/drawingml/2006/main">
            <a:off x="628650" y="2105025"/>
            <a:ext cx="600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98" b="1">
                <a:solidFill>
                  <a:srgbClr val="17171A"/>
                </a:solidFill>
                <a:latin typeface="맑은 고딕"/>
                <a:ea typeface="맑은 고딕"/>
                <a:cs typeface="맑은 고딕"/>
              </a:defRPr>
            </a:defPPr>
            <a:lvl1pPr algn="l">
              <a:defRPr sz="2198" b="1">
                <a:solidFill>
                  <a:srgbClr val="17171A"/>
                </a:solidFill>
                <a:latin typeface="맑은 고딕"/>
                <a:ea typeface="맑은 고딕"/>
                <a:cs typeface="맑은 고딕"/>
              </a:defRPr>
            </a:lvl1pPr>
            <a:lvl2pPr algn="l">
              <a:defRPr sz="2198" b="1">
                <a:solidFill>
                  <a:srgbClr val="17171A"/>
                </a:solidFill>
                <a:latin typeface="맑은 고딕"/>
                <a:ea typeface="맑은 고딕"/>
                <a:cs typeface="맑은 고딕"/>
              </a:defRPr>
            </a:lvl2pPr>
            <a:lvl3pPr algn="l">
              <a:defRPr sz="2198" b="1">
                <a:solidFill>
                  <a:srgbClr val="17171A"/>
                </a:solidFill>
                <a:latin typeface="맑은 고딕"/>
                <a:ea typeface="맑은 고딕"/>
                <a:cs typeface="맑은 고딕"/>
              </a:defRPr>
            </a:lvl3pPr>
            <a:lvl4pPr algn="l">
              <a:defRPr sz="2198" b="1">
                <a:solidFill>
                  <a:srgbClr val="17171A"/>
                </a:solidFill>
                <a:latin typeface="맑은 고딕"/>
                <a:ea typeface="맑은 고딕"/>
                <a:cs typeface="맑은 고딕"/>
              </a:defRPr>
            </a:lvl4pPr>
            <a:lvl5pPr algn="l">
              <a:defRPr sz="2198" b="1">
                <a:solidFill>
                  <a:srgbClr val="17171A"/>
                </a:solidFill>
                <a:latin typeface="맑은 고딕"/>
                <a:ea typeface="맑은 고딕"/>
                <a:cs typeface="맑은 고딕"/>
              </a:defRPr>
            </a:lvl5pPr>
            <a:lvl6pPr algn="l">
              <a:defRPr sz="2198" b="1">
                <a:solidFill>
                  <a:srgbClr val="17171A"/>
                </a:solidFill>
                <a:latin typeface="맑은 고딕"/>
                <a:ea typeface="맑은 고딕"/>
                <a:cs typeface="맑은 고딕"/>
              </a:defRPr>
            </a:lvl6pPr>
            <a:lvl7pPr algn="l">
              <a:defRPr sz="2198" b="1">
                <a:solidFill>
                  <a:srgbClr val="17171A"/>
                </a:solidFill>
                <a:latin typeface="맑은 고딕"/>
                <a:ea typeface="맑은 고딕"/>
                <a:cs typeface="맑은 고딕"/>
              </a:defRPr>
            </a:lvl7pPr>
            <a:lvl8pPr algn="l">
              <a:defRPr sz="2198" b="1">
                <a:solidFill>
                  <a:srgbClr val="17171A"/>
                </a:solidFill>
                <a:latin typeface="맑은 고딕"/>
                <a:ea typeface="맑은 고딕"/>
                <a:cs typeface="맑은 고딕"/>
              </a:defRPr>
            </a:lvl8pPr>
            <a:lvl9pPr algn="l">
              <a:defRPr sz="2198" b="1">
                <a:solidFill>
                  <a:srgbClr val="17171A"/>
                </a:solidFill>
                <a:latin typeface="맑은 고딕"/>
                <a:ea typeface="맑은 고딕"/>
                <a:cs typeface="맑은 고딕"/>
              </a:defRPr>
            </a:lvl9pPr>
          </a:lstStyle>
          <a:p xmlns:a="http://schemas.openxmlformats.org/drawingml/2006/main">
            <a:pPr algn="l">
              <a:defRPr sz="2198" b="1">
                <a:solidFill>
                  <a:srgbClr val="17171A"/>
                </a:solidFill>
                <a:latin typeface="맑은 고딕"/>
                <a:ea typeface="맑은 고딕"/>
                <a:cs typeface="맑은 고딕"/>
              </a:defRPr>
            </a:pPr>
            <a:r>
              <a:rPr sz="2198" b="1">
                <a:solidFill>
                  <a:srgbClr val="17171A"/>
                </a:solidFill>
                <a:latin typeface="맑은 고딕"/>
                <a:ea typeface="맑은 고딕"/>
                <a:cs typeface="맑은 고딕"/>
              </a:rPr>
              <a:t>답변에는 사용자 원문·원문 조각</a:t>
            </a:r>
          </a:p>
        </p:txBody>
      </p:sp>
      <p:sp>
        <p:nvSpPr>
          <p:cNvPr id="8" name="pipeline-72">
            <a:extLst xmlns:a="http://schemas.openxmlformats.org/drawingml/2006/main">
              <a:ext uri="{FF2B5EF4-FFF2-40B4-BE49-F238E27FC236}">
                <a16:creationId xmlns:a16="http://schemas.microsoft.com/office/drawing/2014/main" id="{6833A135-CD58-4545-A78F-16A7B439E775}"/>
              </a:ext>
            </a:extLst>
          </p:cNvPr>
          <p:cNvSpPr>
            <a:spLocks xmlns:a="http://schemas.openxmlformats.org/drawingml/2006/main" noGrp="1"/>
          </p:cNvSpPr>
          <p:nvPr/>
        </p:nvSpPr>
        <p:spPr>
          <a:xfrm xmlns:a="http://schemas.openxmlformats.org/drawingml/2006/main">
            <a:off x="628650" y="2686050"/>
            <a:ext cx="228600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사용자 원문</a:t>
            </a:r>
          </a:p>
        </p:txBody>
      </p:sp>
      <p:sp>
        <p:nvSpPr>
          <p:cNvPr id="9" name="pipeline-73">
            <a:extLst xmlns:a="http://schemas.openxmlformats.org/drawingml/2006/main">
              <a:ext uri="{FF2B5EF4-FFF2-40B4-BE49-F238E27FC236}">
                <a16:creationId xmlns:a16="http://schemas.microsoft.com/office/drawing/2014/main" id="{AF1AB3C5-5A8E-4841-A5DB-DCC9823A2D7E}"/>
              </a:ext>
            </a:extLst>
          </p:cNvPr>
          <p:cNvSpPr>
            <a:spLocks xmlns:a="http://schemas.openxmlformats.org/drawingml/2006/main" noGrp="1"/>
          </p:cNvSpPr>
          <p:nvPr/>
        </p:nvSpPr>
        <p:spPr>
          <a:xfrm xmlns:a="http://schemas.openxmlformats.org/drawingml/2006/main">
            <a:off x="4057650" y="2686050"/>
            <a:ext cx="2381250" cy="714375"/>
          </a:xfrm>
          <a:prstGeom xmlns:a="http://schemas.openxmlformats.org/drawingml/2006/main" prst="rect">
            <a:avLst/>
          </a:prstGeom>
          <a:solidFill xmlns:a="http://schemas.openxmlformats.org/drawingml/2006/main">
            <a:srgbClr val="17171A"/>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FFFFFF"/>
                </a:solidFill>
                <a:latin typeface="맑은 고딕"/>
                <a:ea typeface="맑은 고딕"/>
                <a:cs typeface="맑은 고딕"/>
              </a:defRPr>
            </a:defPPr>
            <a:lvl1pPr algn="ctr">
              <a:defRPr sz="1725" b="1">
                <a:solidFill>
                  <a:srgbClr val="FFFFFF"/>
                </a:solidFill>
                <a:latin typeface="맑은 고딕"/>
                <a:ea typeface="맑은 고딕"/>
                <a:cs typeface="맑은 고딕"/>
              </a:defRPr>
            </a:lvl1pPr>
            <a:lvl2pPr algn="ctr">
              <a:defRPr sz="1725" b="1">
                <a:solidFill>
                  <a:srgbClr val="FFFFFF"/>
                </a:solidFill>
                <a:latin typeface="맑은 고딕"/>
                <a:ea typeface="맑은 고딕"/>
                <a:cs typeface="맑은 고딕"/>
              </a:defRPr>
            </a:lvl2pPr>
            <a:lvl3pPr algn="ctr">
              <a:defRPr sz="1725" b="1">
                <a:solidFill>
                  <a:srgbClr val="FFFFFF"/>
                </a:solidFill>
                <a:latin typeface="맑은 고딕"/>
                <a:ea typeface="맑은 고딕"/>
                <a:cs typeface="맑은 고딕"/>
              </a:defRPr>
            </a:lvl3pPr>
            <a:lvl4pPr algn="ctr">
              <a:defRPr sz="1725" b="1">
                <a:solidFill>
                  <a:srgbClr val="FFFFFF"/>
                </a:solidFill>
                <a:latin typeface="맑은 고딕"/>
                <a:ea typeface="맑은 고딕"/>
                <a:cs typeface="맑은 고딕"/>
              </a:defRPr>
            </a:lvl4pPr>
            <a:lvl5pPr algn="ctr">
              <a:defRPr sz="1725" b="1">
                <a:solidFill>
                  <a:srgbClr val="FFFFFF"/>
                </a:solidFill>
                <a:latin typeface="맑은 고딕"/>
                <a:ea typeface="맑은 고딕"/>
                <a:cs typeface="맑은 고딕"/>
              </a:defRPr>
            </a:lvl5pPr>
            <a:lvl6pPr algn="ctr">
              <a:defRPr sz="1725" b="1">
                <a:solidFill>
                  <a:srgbClr val="FFFFFF"/>
                </a:solidFill>
                <a:latin typeface="맑은 고딕"/>
                <a:ea typeface="맑은 고딕"/>
                <a:cs typeface="맑은 고딕"/>
              </a:defRPr>
            </a:lvl6pPr>
            <a:lvl7pPr algn="ctr">
              <a:defRPr sz="1725" b="1">
                <a:solidFill>
                  <a:srgbClr val="FFFFFF"/>
                </a:solidFill>
                <a:latin typeface="맑은 고딕"/>
                <a:ea typeface="맑은 고딕"/>
                <a:cs typeface="맑은 고딕"/>
              </a:defRPr>
            </a:lvl7pPr>
            <a:lvl8pPr algn="ctr">
              <a:defRPr sz="1725" b="1">
                <a:solidFill>
                  <a:srgbClr val="FFFFFF"/>
                </a:solidFill>
                <a:latin typeface="맑은 고딕"/>
                <a:ea typeface="맑은 고딕"/>
                <a:cs typeface="맑은 고딕"/>
              </a:defRPr>
            </a:lvl8pPr>
            <a:lvl9pPr algn="ctr">
              <a:defRPr sz="1725" b="1">
                <a:solidFill>
                  <a:srgbClr val="FFFFFF"/>
                </a:solidFill>
                <a:latin typeface="맑은 고딕"/>
                <a:ea typeface="맑은 고딕"/>
                <a:cs typeface="맑은 고딕"/>
              </a:defRPr>
            </a:lvl9pPr>
          </a:lstStyle>
          <a:p xmlns:a="http://schemas.openxmlformats.org/drawingml/2006/main">
            <a:pPr algn="ctr">
              <a:defRPr sz="1725" b="1">
                <a:solidFill>
                  <a:srgbClr val="FFFFFF"/>
                </a:solidFill>
                <a:latin typeface="맑은 고딕"/>
                <a:ea typeface="맑은 고딕"/>
                <a:cs typeface="맑은 고딕"/>
              </a:defRPr>
            </a:pPr>
            <a:r>
              <a:rPr sz="1725" b="1">
                <a:solidFill>
                  <a:srgbClr val="FFFFFF"/>
                </a:solidFill>
                <a:latin typeface="맑은 고딕"/>
                <a:ea typeface="맑은 고딕"/>
                <a:cs typeface="맑은 고딕"/>
              </a:rPr>
              <a:t>답변 LLM</a:t>
            </a:r>
          </a:p>
        </p:txBody>
      </p:sp>
      <p:sp>
        <p:nvSpPr>
          <p:cNvPr id="11" name="own-text-74">
            <a:extLst xmlns:a="http://schemas.openxmlformats.org/drawingml/2006/main">
              <a:ext uri="{FF2B5EF4-FFF2-40B4-BE49-F238E27FC236}">
                <a16:creationId xmlns:a16="http://schemas.microsoft.com/office/drawing/2014/main" id="{CB1585BB-819E-42E2-80AF-4D8D1CD1D109}"/>
              </a:ext>
            </a:extLst>
          </p:cNvPr>
          <p:cNvSpPr>
            <a:spLocks xmlns:a="http://schemas.openxmlformats.org/drawingml/2006/main" noGrp="1"/>
          </p:cNvSpPr>
          <p:nvPr/>
        </p:nvSpPr>
        <p:spPr>
          <a:xfrm xmlns:a="http://schemas.openxmlformats.org/drawingml/2006/main">
            <a:off x="628650" y="3648075"/>
            <a:ext cx="5810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48" b="1">
                <a:solidFill>
                  <a:srgbClr val="F72585"/>
                </a:solidFill>
                <a:latin typeface="맑은 고딕"/>
                <a:ea typeface="맑은 고딕"/>
                <a:cs typeface="맑은 고딕"/>
              </a:defRPr>
            </a:defPPr>
            <a:lvl1pPr algn="l">
              <a:defRPr sz="1748" b="1">
                <a:solidFill>
                  <a:srgbClr val="F72585"/>
                </a:solidFill>
                <a:latin typeface="맑은 고딕"/>
                <a:ea typeface="맑은 고딕"/>
                <a:cs typeface="맑은 고딕"/>
              </a:defRPr>
            </a:lvl1pPr>
            <a:lvl2pPr algn="l">
              <a:defRPr sz="1748" b="1">
                <a:solidFill>
                  <a:srgbClr val="F72585"/>
                </a:solidFill>
                <a:latin typeface="맑은 고딕"/>
                <a:ea typeface="맑은 고딕"/>
                <a:cs typeface="맑은 고딕"/>
              </a:defRPr>
            </a:lvl2pPr>
            <a:lvl3pPr algn="l">
              <a:defRPr sz="1748" b="1">
                <a:solidFill>
                  <a:srgbClr val="F72585"/>
                </a:solidFill>
                <a:latin typeface="맑은 고딕"/>
                <a:ea typeface="맑은 고딕"/>
                <a:cs typeface="맑은 고딕"/>
              </a:defRPr>
            </a:lvl3pPr>
            <a:lvl4pPr algn="l">
              <a:defRPr sz="1748" b="1">
                <a:solidFill>
                  <a:srgbClr val="F72585"/>
                </a:solidFill>
                <a:latin typeface="맑은 고딕"/>
                <a:ea typeface="맑은 고딕"/>
                <a:cs typeface="맑은 고딕"/>
              </a:defRPr>
            </a:lvl4pPr>
            <a:lvl5pPr algn="l">
              <a:defRPr sz="1748" b="1">
                <a:solidFill>
                  <a:srgbClr val="F72585"/>
                </a:solidFill>
                <a:latin typeface="맑은 고딕"/>
                <a:ea typeface="맑은 고딕"/>
                <a:cs typeface="맑은 고딕"/>
              </a:defRPr>
            </a:lvl5pPr>
            <a:lvl6pPr algn="l">
              <a:defRPr sz="1748" b="1">
                <a:solidFill>
                  <a:srgbClr val="F72585"/>
                </a:solidFill>
                <a:latin typeface="맑은 고딕"/>
                <a:ea typeface="맑은 고딕"/>
                <a:cs typeface="맑은 고딕"/>
              </a:defRPr>
            </a:lvl6pPr>
            <a:lvl7pPr algn="l">
              <a:defRPr sz="1748" b="1">
                <a:solidFill>
                  <a:srgbClr val="F72585"/>
                </a:solidFill>
                <a:latin typeface="맑은 고딕"/>
                <a:ea typeface="맑은 고딕"/>
                <a:cs typeface="맑은 고딕"/>
              </a:defRPr>
            </a:lvl7pPr>
            <a:lvl8pPr algn="l">
              <a:defRPr sz="1748" b="1">
                <a:solidFill>
                  <a:srgbClr val="F72585"/>
                </a:solidFill>
                <a:latin typeface="맑은 고딕"/>
                <a:ea typeface="맑은 고딕"/>
                <a:cs typeface="맑은 고딕"/>
              </a:defRPr>
            </a:lvl8pPr>
            <a:lvl9pPr algn="l">
              <a:defRPr sz="1748" b="1">
                <a:solidFill>
                  <a:srgbClr val="F72585"/>
                </a:solidFill>
                <a:latin typeface="맑은 고딕"/>
                <a:ea typeface="맑은 고딕"/>
                <a:cs typeface="맑은 고딕"/>
              </a:defRPr>
            </a:lvl9pPr>
          </a:lstStyle>
          <a:p xmlns:a="http://schemas.openxmlformats.org/drawingml/2006/main">
            <a:pPr algn="l">
              <a:defRPr sz="1748" b="1">
                <a:solidFill>
                  <a:srgbClr val="F72585"/>
                </a:solidFill>
                <a:latin typeface="맑은 고딕"/>
                <a:ea typeface="맑은 고딕"/>
                <a:cs typeface="맑은 고딕"/>
              </a:defRPr>
            </a:pPr>
            <a:r>
              <a:rPr sz="1748" b="1">
                <a:solidFill>
                  <a:srgbClr val="F72585"/>
                </a:solidFill>
                <a:latin typeface="맑은 고딕"/>
                <a:ea typeface="맑은 고딕"/>
                <a:cs typeface="맑은 고딕"/>
              </a:rPr>
              <a:t>가공한 검색어는 FAQ 검색에만 사용</a:t>
            </a:r>
          </a:p>
        </p:txBody>
      </p:sp>
      <p:sp>
        <p:nvSpPr>
          <p:cNvPr id="12" name="own-text-75">
            <a:extLst xmlns:a="http://schemas.openxmlformats.org/drawingml/2006/main">
              <a:ext uri="{FF2B5EF4-FFF2-40B4-BE49-F238E27FC236}">
                <a16:creationId xmlns:a16="http://schemas.microsoft.com/office/drawing/2014/main" id="{800F0211-A891-4A62-B16A-DE59E70D871F}"/>
              </a:ext>
            </a:extLst>
          </p:cNvPr>
          <p:cNvSpPr>
            <a:spLocks xmlns:a="http://schemas.openxmlformats.org/drawingml/2006/main" noGrp="1"/>
          </p:cNvSpPr>
          <p:nvPr/>
        </p:nvSpPr>
        <p:spPr>
          <a:xfrm xmlns:a="http://schemas.openxmlformats.org/drawingml/2006/main">
            <a:off x="628650" y="4229100"/>
            <a:ext cx="5810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98" b="0">
                <a:solidFill>
                  <a:srgbClr val="686B72"/>
                </a:solidFill>
                <a:latin typeface="맑은 고딕"/>
                <a:ea typeface="맑은 고딕"/>
                <a:cs typeface="맑은 고딕"/>
              </a:defRPr>
            </a:defPPr>
            <a:lvl1pPr algn="l">
              <a:defRPr sz="1598" b="0">
                <a:solidFill>
                  <a:srgbClr val="686B72"/>
                </a:solidFill>
                <a:latin typeface="맑은 고딕"/>
                <a:ea typeface="맑은 고딕"/>
                <a:cs typeface="맑은 고딕"/>
              </a:defRPr>
            </a:lvl1pPr>
            <a:lvl2pPr algn="l">
              <a:defRPr sz="1598" b="0">
                <a:solidFill>
                  <a:srgbClr val="686B72"/>
                </a:solidFill>
                <a:latin typeface="맑은 고딕"/>
                <a:ea typeface="맑은 고딕"/>
                <a:cs typeface="맑은 고딕"/>
              </a:defRPr>
            </a:lvl2pPr>
            <a:lvl3pPr algn="l">
              <a:defRPr sz="1598" b="0">
                <a:solidFill>
                  <a:srgbClr val="686B72"/>
                </a:solidFill>
                <a:latin typeface="맑은 고딕"/>
                <a:ea typeface="맑은 고딕"/>
                <a:cs typeface="맑은 고딕"/>
              </a:defRPr>
            </a:lvl3pPr>
            <a:lvl4pPr algn="l">
              <a:defRPr sz="1598" b="0">
                <a:solidFill>
                  <a:srgbClr val="686B72"/>
                </a:solidFill>
                <a:latin typeface="맑은 고딕"/>
                <a:ea typeface="맑은 고딕"/>
                <a:cs typeface="맑은 고딕"/>
              </a:defRPr>
            </a:lvl4pPr>
            <a:lvl5pPr algn="l">
              <a:defRPr sz="1598" b="0">
                <a:solidFill>
                  <a:srgbClr val="686B72"/>
                </a:solidFill>
                <a:latin typeface="맑은 고딕"/>
                <a:ea typeface="맑은 고딕"/>
                <a:cs typeface="맑은 고딕"/>
              </a:defRPr>
            </a:lvl5pPr>
            <a:lvl6pPr algn="l">
              <a:defRPr sz="1598" b="0">
                <a:solidFill>
                  <a:srgbClr val="686B72"/>
                </a:solidFill>
                <a:latin typeface="맑은 고딕"/>
                <a:ea typeface="맑은 고딕"/>
                <a:cs typeface="맑은 고딕"/>
              </a:defRPr>
            </a:lvl6pPr>
            <a:lvl7pPr algn="l">
              <a:defRPr sz="1598" b="0">
                <a:solidFill>
                  <a:srgbClr val="686B72"/>
                </a:solidFill>
                <a:latin typeface="맑은 고딕"/>
                <a:ea typeface="맑은 고딕"/>
                <a:cs typeface="맑은 고딕"/>
              </a:defRPr>
            </a:lvl7pPr>
            <a:lvl8pPr algn="l">
              <a:defRPr sz="1598" b="0">
                <a:solidFill>
                  <a:srgbClr val="686B72"/>
                </a:solidFill>
                <a:latin typeface="맑은 고딕"/>
                <a:ea typeface="맑은 고딕"/>
                <a:cs typeface="맑은 고딕"/>
              </a:defRPr>
            </a:lvl8pPr>
            <a:lvl9pPr algn="l">
              <a:defRPr sz="1598" b="0">
                <a:solidFill>
                  <a:srgbClr val="686B72"/>
                </a:solidFill>
                <a:latin typeface="맑은 고딕"/>
                <a:ea typeface="맑은 고딕"/>
                <a:cs typeface="맑은 고딕"/>
              </a:defRPr>
            </a:lvl9pPr>
          </a:lstStyle>
          <a:p xmlns:a="http://schemas.openxmlformats.org/drawingml/2006/main">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변형이 답변에 전파된 선정 사례</a:t>
            </a:r>
          </a:p>
        </p:txBody>
      </p:sp>
      <p:sp>
        <p:nvSpPr>
          <p:cNvPr id="13" name="own-text-76">
            <a:extLst xmlns:a="http://schemas.openxmlformats.org/drawingml/2006/main">
              <a:ext uri="{FF2B5EF4-FFF2-40B4-BE49-F238E27FC236}">
                <a16:creationId xmlns:a16="http://schemas.microsoft.com/office/drawing/2014/main" id="{5635518B-A915-401B-BDD3-959AE19BD18E}"/>
              </a:ext>
            </a:extLst>
          </p:cNvPr>
          <p:cNvSpPr>
            <a:spLocks xmlns:a="http://schemas.openxmlformats.org/drawingml/2006/main" noGrp="1"/>
          </p:cNvSpPr>
          <p:nvPr/>
        </p:nvSpPr>
        <p:spPr>
          <a:xfrm xmlns:a="http://schemas.openxmlformats.org/drawingml/2006/main">
            <a:off x="628650" y="4629150"/>
            <a:ext cx="581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F72585"/>
                </a:solidFill>
                <a:latin typeface="맑은 고딕"/>
                <a:ea typeface="맑은 고딕"/>
                <a:cs typeface="맑은 고딕"/>
              </a:defRPr>
            </a:defPPr>
            <a:lvl1pPr algn="l">
              <a:defRPr sz="3000" b="1">
                <a:solidFill>
                  <a:srgbClr val="F72585"/>
                </a:solidFill>
                <a:latin typeface="맑은 고딕"/>
                <a:ea typeface="맑은 고딕"/>
                <a:cs typeface="맑은 고딕"/>
              </a:defRPr>
            </a:lvl1pPr>
            <a:lvl2pPr algn="l">
              <a:defRPr sz="3000" b="1">
                <a:solidFill>
                  <a:srgbClr val="F72585"/>
                </a:solidFill>
                <a:latin typeface="맑은 고딕"/>
                <a:ea typeface="맑은 고딕"/>
                <a:cs typeface="맑은 고딕"/>
              </a:defRPr>
            </a:lvl2pPr>
            <a:lvl3pPr algn="l">
              <a:defRPr sz="3000" b="1">
                <a:solidFill>
                  <a:srgbClr val="F72585"/>
                </a:solidFill>
                <a:latin typeface="맑은 고딕"/>
                <a:ea typeface="맑은 고딕"/>
                <a:cs typeface="맑은 고딕"/>
              </a:defRPr>
            </a:lvl3pPr>
            <a:lvl4pPr algn="l">
              <a:defRPr sz="3000" b="1">
                <a:solidFill>
                  <a:srgbClr val="F72585"/>
                </a:solidFill>
                <a:latin typeface="맑은 고딕"/>
                <a:ea typeface="맑은 고딕"/>
                <a:cs typeface="맑은 고딕"/>
              </a:defRPr>
            </a:lvl4pPr>
            <a:lvl5pPr algn="l">
              <a:defRPr sz="3000" b="1">
                <a:solidFill>
                  <a:srgbClr val="F72585"/>
                </a:solidFill>
                <a:latin typeface="맑은 고딕"/>
                <a:ea typeface="맑은 고딕"/>
                <a:cs typeface="맑은 고딕"/>
              </a:defRPr>
            </a:lvl5pPr>
            <a:lvl6pPr algn="l">
              <a:defRPr sz="3000" b="1">
                <a:solidFill>
                  <a:srgbClr val="F72585"/>
                </a:solidFill>
                <a:latin typeface="맑은 고딕"/>
                <a:ea typeface="맑은 고딕"/>
                <a:cs typeface="맑은 고딕"/>
              </a:defRPr>
            </a:lvl6pPr>
            <a:lvl7pPr algn="l">
              <a:defRPr sz="3000" b="1">
                <a:solidFill>
                  <a:srgbClr val="F72585"/>
                </a:solidFill>
                <a:latin typeface="맑은 고딕"/>
                <a:ea typeface="맑은 고딕"/>
                <a:cs typeface="맑은 고딕"/>
              </a:defRPr>
            </a:lvl7pPr>
            <a:lvl8pPr algn="l">
              <a:defRPr sz="3000" b="1">
                <a:solidFill>
                  <a:srgbClr val="F72585"/>
                </a:solidFill>
                <a:latin typeface="맑은 고딕"/>
                <a:ea typeface="맑은 고딕"/>
                <a:cs typeface="맑은 고딕"/>
              </a:defRPr>
            </a:lvl8pPr>
            <a:lvl9pPr algn="l">
              <a:defRPr sz="3000" b="1">
                <a:solidFill>
                  <a:srgbClr val="F72585"/>
                </a:solidFill>
                <a:latin typeface="맑은 고딕"/>
                <a:ea typeface="맑은 고딕"/>
                <a:cs typeface="맑은 고딕"/>
              </a:defRPr>
            </a:lvl9pPr>
          </a:lstStyle>
          <a:p xmlns:a="http://schemas.openxmlformats.org/drawingml/2006/main">
            <a:pPr algn="l">
              <a:defRPr sz="3000" b="1">
                <a:solidFill>
                  <a:srgbClr val="F72585"/>
                </a:solidFill>
                <a:latin typeface="맑은 고딕"/>
                <a:ea typeface="맑은 고딕"/>
                <a:cs typeface="맑은 고딕"/>
              </a:defRPr>
            </a:pPr>
            <a:r>
              <a:rPr sz="3000" b="1">
                <a:solidFill>
                  <a:srgbClr val="F72585"/>
                </a:solidFill>
                <a:latin typeface="맑은 고딕"/>
                <a:ea typeface="맑은 고딕"/>
                <a:cs typeface="맑은 고딕"/>
              </a:rPr>
              <a:t>8건에서 3건</a:t>
            </a:r>
          </a:p>
        </p:txBody>
      </p:sp>
      <p:sp>
        <p:nvSpPr>
          <p:cNvPr id="14" name="own-text-77">
            <a:extLst xmlns:a="http://schemas.openxmlformats.org/drawingml/2006/main">
              <a:ext uri="{FF2B5EF4-FFF2-40B4-BE49-F238E27FC236}">
                <a16:creationId xmlns:a16="http://schemas.microsoft.com/office/drawing/2014/main" id="{6E587FC7-EBCD-4D75-B22E-565059201FF8}"/>
              </a:ext>
            </a:extLst>
          </p:cNvPr>
          <p:cNvSpPr>
            <a:spLocks xmlns:a="http://schemas.openxmlformats.org/drawingml/2006/main" noGrp="1"/>
          </p:cNvSpPr>
          <p:nvPr/>
        </p:nvSpPr>
        <p:spPr>
          <a:xfrm xmlns:a="http://schemas.openxmlformats.org/drawingml/2006/main">
            <a:off x="628650" y="5372100"/>
            <a:ext cx="5810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98" b="0">
                <a:solidFill>
                  <a:srgbClr val="17171A"/>
                </a:solidFill>
                <a:latin typeface="맑은 고딕"/>
                <a:ea typeface="맑은 고딕"/>
                <a:cs typeface="맑은 고딕"/>
              </a:defRPr>
            </a:defPPr>
            <a:lvl1pPr algn="l">
              <a:defRPr sz="1598" b="0">
                <a:solidFill>
                  <a:srgbClr val="17171A"/>
                </a:solidFill>
                <a:latin typeface="맑은 고딕"/>
                <a:ea typeface="맑은 고딕"/>
                <a:cs typeface="맑은 고딕"/>
              </a:defRPr>
            </a:lvl1pPr>
            <a:lvl2pPr algn="l">
              <a:defRPr sz="1598" b="0">
                <a:solidFill>
                  <a:srgbClr val="17171A"/>
                </a:solidFill>
                <a:latin typeface="맑은 고딕"/>
                <a:ea typeface="맑은 고딕"/>
                <a:cs typeface="맑은 고딕"/>
              </a:defRPr>
            </a:lvl2pPr>
            <a:lvl3pPr algn="l">
              <a:defRPr sz="1598" b="0">
                <a:solidFill>
                  <a:srgbClr val="17171A"/>
                </a:solidFill>
                <a:latin typeface="맑은 고딕"/>
                <a:ea typeface="맑은 고딕"/>
                <a:cs typeface="맑은 고딕"/>
              </a:defRPr>
            </a:lvl3pPr>
            <a:lvl4pPr algn="l">
              <a:defRPr sz="1598" b="0">
                <a:solidFill>
                  <a:srgbClr val="17171A"/>
                </a:solidFill>
                <a:latin typeface="맑은 고딕"/>
                <a:ea typeface="맑은 고딕"/>
                <a:cs typeface="맑은 고딕"/>
              </a:defRPr>
            </a:lvl4pPr>
            <a:lvl5pPr algn="l">
              <a:defRPr sz="1598" b="0">
                <a:solidFill>
                  <a:srgbClr val="17171A"/>
                </a:solidFill>
                <a:latin typeface="맑은 고딕"/>
                <a:ea typeface="맑은 고딕"/>
                <a:cs typeface="맑은 고딕"/>
              </a:defRPr>
            </a:lvl5pPr>
            <a:lvl6pPr algn="l">
              <a:defRPr sz="1598" b="0">
                <a:solidFill>
                  <a:srgbClr val="17171A"/>
                </a:solidFill>
                <a:latin typeface="맑은 고딕"/>
                <a:ea typeface="맑은 고딕"/>
                <a:cs typeface="맑은 고딕"/>
              </a:defRPr>
            </a:lvl6pPr>
            <a:lvl7pPr algn="l">
              <a:defRPr sz="1598" b="0">
                <a:solidFill>
                  <a:srgbClr val="17171A"/>
                </a:solidFill>
                <a:latin typeface="맑은 고딕"/>
                <a:ea typeface="맑은 고딕"/>
                <a:cs typeface="맑은 고딕"/>
              </a:defRPr>
            </a:lvl7pPr>
            <a:lvl8pPr algn="l">
              <a:defRPr sz="1598" b="0">
                <a:solidFill>
                  <a:srgbClr val="17171A"/>
                </a:solidFill>
                <a:latin typeface="맑은 고딕"/>
                <a:ea typeface="맑은 고딕"/>
                <a:cs typeface="맑은 고딕"/>
              </a:defRPr>
            </a:lvl8pPr>
            <a:lvl9pPr algn="l">
              <a:defRPr sz="1598" b="0">
                <a:solidFill>
                  <a:srgbClr val="17171A"/>
                </a:solidFill>
                <a:latin typeface="맑은 고딕"/>
                <a:ea typeface="맑은 고딕"/>
                <a:cs typeface="맑은 고딕"/>
              </a:defRPr>
            </a:lvl9pPr>
          </a:lstStyle>
          <a:p xmlns:a="http://schemas.openxmlformats.org/drawingml/2006/main">
            <a:pPr algn="l">
              <a:defRPr sz="1598" b="0">
                <a:solidFill>
                  <a:srgbClr val="17171A"/>
                </a:solidFill>
                <a:latin typeface="맑은 고딕"/>
                <a:ea typeface="맑은 고딕"/>
                <a:cs typeface="맑은 고딕"/>
              </a:defRPr>
            </a:pPr>
            <a:r>
              <a:rPr sz="1598" b="0">
                <a:solidFill>
                  <a:srgbClr val="17171A"/>
                </a:solidFill>
                <a:latin typeface="맑은 고딕"/>
                <a:ea typeface="맑은 고딕"/>
                <a:cs typeface="맑은 고딕"/>
              </a:rPr>
              <a:t>원문·원문을 보존한 질문 조각 모두 76/100</a:t>
            </a:r>
          </a:p>
          <a:p xmlns:a="http://schemas.openxmlformats.org/drawingml/2006/main">
            <a:pPr algn="l">
              <a:defRPr sz="1598" b="0">
                <a:solidFill>
                  <a:srgbClr val="17171A"/>
                </a:solidFill>
                <a:latin typeface="맑은 고딕"/>
                <a:ea typeface="맑은 고딕"/>
                <a:cs typeface="맑은 고딕"/>
              </a:defRPr>
            </a:pPr>
            <a:r>
              <a:rPr sz="1598" b="0">
                <a:solidFill>
                  <a:srgbClr val="17171A"/>
                </a:solidFill>
                <a:latin typeface="맑은 고딕"/>
                <a:ea typeface="맑은 고딕"/>
                <a:cs typeface="맑은 고딕"/>
              </a:rPr>
              <a:t>검색어 검사로 실제 변형 9/300건 탐지</a:t>
            </a:r>
          </a:p>
        </p:txBody>
      </p:sp>
      <p:sp>
        <p:nvSpPr>
          <p:cNvPr id="15" name="own-text-78">
            <a:extLst xmlns:a="http://schemas.openxmlformats.org/drawingml/2006/main">
              <a:ext uri="{FF2B5EF4-FFF2-40B4-BE49-F238E27FC236}">
                <a16:creationId xmlns:a16="http://schemas.microsoft.com/office/drawing/2014/main" id="{20AF46B3-F19A-47EB-B5EF-F8D45C3091A2}"/>
              </a:ext>
            </a:extLst>
          </p:cNvPr>
          <p:cNvSpPr>
            <a:spLocks xmlns:a="http://schemas.openxmlformats.org/drawingml/2006/main" noGrp="1"/>
          </p:cNvSpPr>
          <p:nvPr/>
        </p:nvSpPr>
        <p:spPr>
          <a:xfrm xmlns:a="http://schemas.openxmlformats.org/drawingml/2006/main">
            <a:off x="7086600" y="2105025"/>
            <a:ext cx="600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98" b="1">
                <a:solidFill>
                  <a:srgbClr val="17171A"/>
                </a:solidFill>
                <a:latin typeface="맑은 고딕"/>
                <a:ea typeface="맑은 고딕"/>
                <a:cs typeface="맑은 고딕"/>
              </a:defRPr>
            </a:defPPr>
            <a:lvl1pPr algn="l">
              <a:defRPr sz="2198" b="1">
                <a:solidFill>
                  <a:srgbClr val="17171A"/>
                </a:solidFill>
                <a:latin typeface="맑은 고딕"/>
                <a:ea typeface="맑은 고딕"/>
                <a:cs typeface="맑은 고딕"/>
              </a:defRPr>
            </a:lvl1pPr>
            <a:lvl2pPr algn="l">
              <a:defRPr sz="2198" b="1">
                <a:solidFill>
                  <a:srgbClr val="17171A"/>
                </a:solidFill>
                <a:latin typeface="맑은 고딕"/>
                <a:ea typeface="맑은 고딕"/>
                <a:cs typeface="맑은 고딕"/>
              </a:defRPr>
            </a:lvl2pPr>
            <a:lvl3pPr algn="l">
              <a:defRPr sz="2198" b="1">
                <a:solidFill>
                  <a:srgbClr val="17171A"/>
                </a:solidFill>
                <a:latin typeface="맑은 고딕"/>
                <a:ea typeface="맑은 고딕"/>
                <a:cs typeface="맑은 고딕"/>
              </a:defRPr>
            </a:lvl3pPr>
            <a:lvl4pPr algn="l">
              <a:defRPr sz="2198" b="1">
                <a:solidFill>
                  <a:srgbClr val="17171A"/>
                </a:solidFill>
                <a:latin typeface="맑은 고딕"/>
                <a:ea typeface="맑은 고딕"/>
                <a:cs typeface="맑은 고딕"/>
              </a:defRPr>
            </a:lvl4pPr>
            <a:lvl5pPr algn="l">
              <a:defRPr sz="2198" b="1">
                <a:solidFill>
                  <a:srgbClr val="17171A"/>
                </a:solidFill>
                <a:latin typeface="맑은 고딕"/>
                <a:ea typeface="맑은 고딕"/>
                <a:cs typeface="맑은 고딕"/>
              </a:defRPr>
            </a:lvl5pPr>
            <a:lvl6pPr algn="l">
              <a:defRPr sz="2198" b="1">
                <a:solidFill>
                  <a:srgbClr val="17171A"/>
                </a:solidFill>
                <a:latin typeface="맑은 고딕"/>
                <a:ea typeface="맑은 고딕"/>
                <a:cs typeface="맑은 고딕"/>
              </a:defRPr>
            </a:lvl6pPr>
            <a:lvl7pPr algn="l">
              <a:defRPr sz="2198" b="1">
                <a:solidFill>
                  <a:srgbClr val="17171A"/>
                </a:solidFill>
                <a:latin typeface="맑은 고딕"/>
                <a:ea typeface="맑은 고딕"/>
                <a:cs typeface="맑은 고딕"/>
              </a:defRPr>
            </a:lvl7pPr>
            <a:lvl8pPr algn="l">
              <a:defRPr sz="2198" b="1">
                <a:solidFill>
                  <a:srgbClr val="17171A"/>
                </a:solidFill>
                <a:latin typeface="맑은 고딕"/>
                <a:ea typeface="맑은 고딕"/>
                <a:cs typeface="맑은 고딕"/>
              </a:defRPr>
            </a:lvl8pPr>
            <a:lvl9pPr algn="l">
              <a:defRPr sz="2198" b="1">
                <a:solidFill>
                  <a:srgbClr val="17171A"/>
                </a:solidFill>
                <a:latin typeface="맑은 고딕"/>
                <a:ea typeface="맑은 고딕"/>
                <a:cs typeface="맑은 고딕"/>
              </a:defRPr>
            </a:lvl9pPr>
          </a:lstStyle>
          <a:p xmlns:a="http://schemas.openxmlformats.org/drawingml/2006/main">
            <a:pPr algn="l">
              <a:defRPr sz="2198" b="1">
                <a:solidFill>
                  <a:srgbClr val="17171A"/>
                </a:solidFill>
                <a:latin typeface="맑은 고딕"/>
                <a:ea typeface="맑은 고딕"/>
                <a:cs typeface="맑은 고딕"/>
              </a:defRPr>
            </a:pPr>
            <a:r>
              <a:rPr sz="2198" b="1">
                <a:solidFill>
                  <a:srgbClr val="17171A"/>
                </a:solidFill>
                <a:latin typeface="맑은 고딕"/>
                <a:ea typeface="맑은 고딕"/>
                <a:cs typeface="맑은 고딕"/>
              </a:rPr>
              <a:t>판정 LLM 호출 생략</a:t>
            </a:r>
          </a:p>
        </p:txBody>
      </p:sp>
      <p:graphicFrame>
        <p:nvGraphicFramePr>
          <p:cNvPr id="16" name="">
            <a:extLst xmlns:a="http://schemas.openxmlformats.org/drawingml/2006/main">
              <a:ext uri="{FF2B5EF4-FFF2-40B4-BE49-F238E27FC236}">
                <a16:creationId xmlns:a16="http://schemas.microsoft.com/office/drawing/2014/main" id="{A1B20640-347D-4B2B-A404-AB391C7F796A}"/>
              </a:ext>
            </a:extLst>
          </p:cNvPr>
          <p:cNvGraphicFramePr/>
          <p:nvPr/>
        </p:nvGraphicFramePr>
        <p:xfrm>
          <a:off xmlns:a="http://schemas.openxmlformats.org/drawingml/2006/main" x="7086600" y="2686050"/>
          <a:ext xmlns:a="http://schemas.openxmlformats.org/drawingml/2006/main" cx="6000750" cy="2400300"/>
        </p:xfrm>
        <a:graphic xmlns:a="http://schemas.openxmlformats.org/drawingml/2006/main">
          <a:graphicData uri="http://schemas.openxmlformats.org/drawingml/2006/table">
            <a:tbl>
              <a:tblPr/>
              <a:tblGrid>
                <a:gridCol w="2876550"/>
                <a:gridCol w="1657350"/>
                <a:gridCol w="1466850"/>
              </a:tblGrid>
              <a:tr h="600075">
                <a:tc>
                  <a:txBody>
                    <a:bodyPr>
                      <a:noAutofit/>
                    </a:bodyPr>
                    <a:lstStyle/>
                    <a:p>
                      <a:r>
                        <a:rPr sz="1748" b="1">
                          <a:solidFill>
                            <a:srgbClr val="FFFFFF"/>
                          </a:solidFill>
                          <a:latin typeface="맑은 고딕"/>
                          <a:ea typeface="맑은 고딕"/>
                          <a:cs typeface="맑은 고딕"/>
                        </a:rPr>
                        <a:t>평가 집합</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748" b="1">
                          <a:solidFill>
                            <a:srgbClr val="FFFFFF"/>
                          </a:solidFill>
                          <a:latin typeface="맑은 고딕"/>
                          <a:ea typeface="맑은 고딕"/>
                          <a:cs typeface="맑은 고딕"/>
                        </a:rPr>
                        <a:t>생략</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748" b="1">
                          <a:solidFill>
                            <a:srgbClr val="FFFFFF"/>
                          </a:solidFill>
                          <a:latin typeface="맑은 고딕"/>
                          <a:ea typeface="맑은 고딕"/>
                          <a:cs typeface="맑은 고딕"/>
                        </a:rPr>
                        <a:t>비율</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600075">
                <a:tc>
                  <a:txBody>
                    <a:bodyPr>
                      <a:noAutofit/>
                    </a:bodyPr>
                    <a:lstStyle/>
                    <a:p>
                      <a:r>
                        <a:rPr sz="1748" b="0">
                          <a:solidFill>
                            <a:srgbClr val="17171A"/>
                          </a:solidFill>
                          <a:latin typeface="맑은 고딕"/>
                          <a:ea typeface="맑은 고딕"/>
                          <a:cs typeface="맑은 고딕"/>
                        </a:rPr>
                        <a:t>이력 없는 질문</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748" b="0">
                          <a:solidFill>
                            <a:srgbClr val="17171A"/>
                          </a:solidFill>
                          <a:latin typeface="맑은 고딕"/>
                          <a:ea typeface="맑은 고딕"/>
                          <a:cs typeface="맑은 고딕"/>
                        </a:rPr>
                        <a:t>66 / 141</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748" b="0">
                          <a:solidFill>
                            <a:srgbClr val="17171A"/>
                          </a:solidFill>
                          <a:latin typeface="맑은 고딕"/>
                          <a:ea typeface="맑은 고딕"/>
                          <a:cs typeface="맑은 고딕"/>
                        </a:rPr>
                        <a:t>46.8%</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600075">
                <a:tc>
                  <a:txBody>
                    <a:bodyPr>
                      <a:noAutofit/>
                    </a:bodyPr>
                    <a:lstStyle/>
                    <a:p>
                      <a:r>
                        <a:rPr sz="1748" b="1">
                          <a:solidFill>
                            <a:srgbClr val="F72585"/>
                          </a:solidFill>
                          <a:latin typeface="맑은 고딕"/>
                          <a:ea typeface="맑은 고딕"/>
                          <a:cs typeface="맑은 고딕"/>
                        </a:rPr>
                        <a:t>파이프라인 최종 질문</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748" b="1">
                          <a:solidFill>
                            <a:srgbClr val="F72585"/>
                          </a:solidFill>
                          <a:latin typeface="맑은 고딕"/>
                          <a:ea typeface="맑은 고딕"/>
                          <a:cs typeface="맑은 고딕"/>
                        </a:rPr>
                        <a:t>174 / 390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748" b="1">
                          <a:solidFill>
                            <a:srgbClr val="F72585"/>
                          </a:solidFill>
                          <a:latin typeface="맑은 고딕"/>
                          <a:ea typeface="맑은 고딕"/>
                          <a:cs typeface="맑은 고딕"/>
                        </a:rPr>
                        <a:t>44.6%</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600075">
                <a:tc>
                  <a:txBody>
                    <a:bodyPr>
                      <a:noAutofit/>
                    </a:bodyPr>
                    <a:lstStyle/>
                    <a:p>
                      <a:r>
                        <a:rPr sz="1748" b="1">
                          <a:solidFill>
                            <a:srgbClr val="F72585"/>
                          </a:solidFill>
                          <a:latin typeface="맑은 고딕"/>
                          <a:ea typeface="맑은 고딕"/>
                          <a:cs typeface="맑은 고딕"/>
                        </a:rPr>
                        <a:t>기본 단건 질문</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748" b="1">
                          <a:solidFill>
                            <a:srgbClr val="F72585"/>
                          </a:solidFill>
                          <a:latin typeface="맑은 고딕"/>
                          <a:ea typeface="맑은 고딕"/>
                          <a:cs typeface="맑은 고딕"/>
                        </a:rPr>
                        <a:t>49 / 50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748" b="1">
                          <a:solidFill>
                            <a:srgbClr val="F72585"/>
                          </a:solidFill>
                          <a:latin typeface="맑은 고딕"/>
                          <a:ea typeface="맑은 고딕"/>
                          <a:cs typeface="맑은 고딕"/>
                        </a:rPr>
                        <a:t>98.0%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bl>
          </a:graphicData>
        </a:graphic>
      </p:graphicFrame>
      <p:sp>
        <p:nvSpPr>
          <p:cNvPr id="17" name="own-text-79">
            <a:extLst xmlns:a="http://schemas.openxmlformats.org/drawingml/2006/main">
              <a:ext uri="{FF2B5EF4-FFF2-40B4-BE49-F238E27FC236}">
                <a16:creationId xmlns:a16="http://schemas.microsoft.com/office/drawing/2014/main" id="{7C4BB4BB-AE33-40DA-A137-A742623E0FBA}"/>
              </a:ext>
            </a:extLst>
          </p:cNvPr>
          <p:cNvSpPr>
            <a:spLocks xmlns:a="http://schemas.openxmlformats.org/drawingml/2006/main" noGrp="1"/>
          </p:cNvSpPr>
          <p:nvPr/>
        </p:nvSpPr>
        <p:spPr>
          <a:xfrm xmlns:a="http://schemas.openxmlformats.org/drawingml/2006/main">
            <a:off x="7086600" y="5457825"/>
            <a:ext cx="600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72585"/>
                </a:solidFill>
                <a:latin typeface="맑은 고딕"/>
                <a:ea typeface="맑은 고딕"/>
                <a:cs typeface="맑은 고딕"/>
              </a:defRPr>
            </a:defPPr>
            <a:lvl1pPr algn="l">
              <a:defRPr sz="2100" b="1">
                <a:solidFill>
                  <a:srgbClr val="F72585"/>
                </a:solidFill>
                <a:latin typeface="맑은 고딕"/>
                <a:ea typeface="맑은 고딕"/>
                <a:cs typeface="맑은 고딕"/>
              </a:defRPr>
            </a:lvl1pPr>
            <a:lvl2pPr algn="l">
              <a:defRPr sz="2100" b="1">
                <a:solidFill>
                  <a:srgbClr val="F72585"/>
                </a:solidFill>
                <a:latin typeface="맑은 고딕"/>
                <a:ea typeface="맑은 고딕"/>
                <a:cs typeface="맑은 고딕"/>
              </a:defRPr>
            </a:lvl2pPr>
            <a:lvl3pPr algn="l">
              <a:defRPr sz="2100" b="1">
                <a:solidFill>
                  <a:srgbClr val="F72585"/>
                </a:solidFill>
                <a:latin typeface="맑은 고딕"/>
                <a:ea typeface="맑은 고딕"/>
                <a:cs typeface="맑은 고딕"/>
              </a:defRPr>
            </a:lvl3pPr>
            <a:lvl4pPr algn="l">
              <a:defRPr sz="2100" b="1">
                <a:solidFill>
                  <a:srgbClr val="F72585"/>
                </a:solidFill>
                <a:latin typeface="맑은 고딕"/>
                <a:ea typeface="맑은 고딕"/>
                <a:cs typeface="맑은 고딕"/>
              </a:defRPr>
            </a:lvl4pPr>
            <a:lvl5pPr algn="l">
              <a:defRPr sz="2100" b="1">
                <a:solidFill>
                  <a:srgbClr val="F72585"/>
                </a:solidFill>
                <a:latin typeface="맑은 고딕"/>
                <a:ea typeface="맑은 고딕"/>
                <a:cs typeface="맑은 고딕"/>
              </a:defRPr>
            </a:lvl5pPr>
            <a:lvl6pPr algn="l">
              <a:defRPr sz="2100" b="1">
                <a:solidFill>
                  <a:srgbClr val="F72585"/>
                </a:solidFill>
                <a:latin typeface="맑은 고딕"/>
                <a:ea typeface="맑은 고딕"/>
                <a:cs typeface="맑은 고딕"/>
              </a:defRPr>
            </a:lvl6pPr>
            <a:lvl7pPr algn="l">
              <a:defRPr sz="2100" b="1">
                <a:solidFill>
                  <a:srgbClr val="F72585"/>
                </a:solidFill>
                <a:latin typeface="맑은 고딕"/>
                <a:ea typeface="맑은 고딕"/>
                <a:cs typeface="맑은 고딕"/>
              </a:defRPr>
            </a:lvl7pPr>
            <a:lvl8pPr algn="l">
              <a:defRPr sz="2100" b="1">
                <a:solidFill>
                  <a:srgbClr val="F72585"/>
                </a:solidFill>
                <a:latin typeface="맑은 고딕"/>
                <a:ea typeface="맑은 고딕"/>
                <a:cs typeface="맑은 고딕"/>
              </a:defRPr>
            </a:lvl8pPr>
            <a:lvl9pPr algn="l">
              <a:defRPr sz="2100" b="1">
                <a:solidFill>
                  <a:srgbClr val="F72585"/>
                </a:solidFill>
                <a:latin typeface="맑은 고딕"/>
                <a:ea typeface="맑은 고딕"/>
                <a:cs typeface="맑은 고딕"/>
              </a:defRPr>
            </a:lvl9pPr>
          </a:lstStyle>
          <a:p xmlns:a="http://schemas.openxmlformats.org/drawingml/2006/main">
            <a:pPr algn="l">
              <a:defRPr sz="2100" b="1">
                <a:solidFill>
                  <a:srgbClr val="F72585"/>
                </a:solidFill>
                <a:latin typeface="맑은 고딕"/>
                <a:ea typeface="맑은 고딕"/>
                <a:cs typeface="맑은 고딕"/>
              </a:defRPr>
            </a:pPr>
            <a:r>
              <a:rPr sz="2100" b="1">
                <a:solidFill>
                  <a:srgbClr val="F72585"/>
                </a:solidFill>
                <a:latin typeface="맑은 고딕"/>
                <a:ea typeface="맑은 고딕"/>
                <a:cs typeface="맑은 고딕"/>
              </a:rPr>
              <a:t>390건에서 216건만 판정 호출</a:t>
            </a:r>
          </a:p>
        </p:txBody>
      </p:sp>
      <p:sp>
        <p:nvSpPr>
          <p:cNvPr id="18" name="own-text-80">
            <a:extLst xmlns:a="http://schemas.openxmlformats.org/drawingml/2006/main">
              <a:ext uri="{FF2B5EF4-FFF2-40B4-BE49-F238E27FC236}">
                <a16:creationId xmlns:a16="http://schemas.microsoft.com/office/drawing/2014/main" id="{D90B6E42-59B6-4CDA-8016-D70263804B6F}"/>
              </a:ext>
            </a:extLst>
          </p:cNvPr>
          <p:cNvSpPr>
            <a:spLocks xmlns:a="http://schemas.openxmlformats.org/drawingml/2006/main" noGrp="1"/>
          </p:cNvSpPr>
          <p:nvPr/>
        </p:nvSpPr>
        <p:spPr>
          <a:xfrm xmlns:a="http://schemas.openxmlformats.org/drawingml/2006/main">
            <a:off x="7086600" y="5972175"/>
            <a:ext cx="600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생략률은 판정 호출 기준</a:t>
            </a:r>
          </a:p>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답변·도구·재호출을 합친 전체 호출 절감률과 구분</a:t>
            </a:r>
          </a:p>
        </p:txBody>
      </p:sp>
    </p:spTree>
    <p:extLst>
      <p:ext uri="{BB962C8B-B14F-4D97-AF65-F5344CB8AC3E}">
        <p14:creationId xmlns:p14="http://schemas.microsoft.com/office/powerpoint/2010/main" val="1563746730"/>
      </p:ext>
    </p:extLst>
  </p:cSld>
</p:sld>
</file>

<file path=ppt/slides/slide7.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C8C3FB44-B9B4-45EC-87BA-C3AED7F9CBC2}"/>
              </a:ext>
            </a:extLst>
          </p:cNvPr>
          <p:cNvCxnSpPr>
            <a:stCxn xmlns:a="http://schemas.openxmlformats.org/drawingml/2006/main" id="8" idx="3"/>
            <a:endCxn xmlns:a="http://schemas.openxmlformats.org/drawingml/2006/main" id="9" idx="1"/>
          </p:cNvCxnSpPr>
          <p:nvPr/>
        </p:nvCxnSpPr>
        <p:spPr>
          <a:xfrm xmlns:a="http://schemas.openxmlformats.org/drawingml/2006/main">
            <a:off x="9410700" y="2447925"/>
            <a:ext cx="752475"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cxnSp>
        <p:nvCxnSpPr>
          <p:cNvPr id="10" name="">
            <a:extLst xmlns:a="http://schemas.openxmlformats.org/drawingml/2006/main">
              <a:ext uri="{FF2B5EF4-FFF2-40B4-BE49-F238E27FC236}">
                <a16:creationId xmlns:a16="http://schemas.microsoft.com/office/drawing/2014/main" id="{59255915-3E1F-4EBF-B4EF-2DDEABBB7552}"/>
              </a:ext>
            </a:extLst>
          </p:cNvPr>
          <p:cNvCxnSpPr>
            <a:stCxn xmlns:a="http://schemas.openxmlformats.org/drawingml/2006/main" id="7" idx="3"/>
            <a:endCxn xmlns:a="http://schemas.openxmlformats.org/drawingml/2006/main" id="8" idx="1"/>
          </p:cNvCxnSpPr>
          <p:nvPr/>
        </p:nvCxnSpPr>
        <p:spPr>
          <a:xfrm xmlns:a="http://schemas.openxmlformats.org/drawingml/2006/main">
            <a:off x="5676900" y="2447925"/>
            <a:ext cx="809625"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sp>
        <p:nvSpPr>
          <p:cNvPr id="15" name="own-text-81">
            <a:extLst xmlns:a="http://schemas.openxmlformats.org/drawingml/2006/main">
              <a:ext uri="{FF2B5EF4-FFF2-40B4-BE49-F238E27FC236}">
                <a16:creationId xmlns:a16="http://schemas.microsoft.com/office/drawing/2014/main" id="{08DDABBB-764D-4CB8-B7A0-BF63C4DC0A6B}"/>
              </a:ext>
            </a:extLst>
          </p:cNvPr>
          <p:cNvSpPr>
            <a:spLocks xmlns:a="http://schemas.openxmlformats.org/drawingml/2006/main" noGrp="1"/>
          </p:cNvSpPr>
          <p:nvPr/>
        </p:nvSpPr>
        <p:spPr>
          <a:xfrm xmlns:a="http://schemas.openxmlformats.org/drawingml/2006/main">
            <a:off x="628650" y="420053"/>
            <a:ext cx="11430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xmlns:a="http://schemas.openxmlformats.org/drawingml/2006/main">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판정 LLM</a:t>
            </a:r>
          </a:p>
        </p:txBody>
      </p:sp>
      <p:sp>
        <p:nvSpPr>
          <p:cNvPr id="2" name="own-text-82">
            <a:extLst xmlns:a="http://schemas.openxmlformats.org/drawingml/2006/main">
              <a:ext uri="{FF2B5EF4-FFF2-40B4-BE49-F238E27FC236}">
                <a16:creationId xmlns:a16="http://schemas.microsoft.com/office/drawing/2014/main" id="{D8A55F34-A545-4991-9AED-49397DEB96C2}"/>
              </a:ext>
            </a:extLst>
          </p:cNvPr>
          <p:cNvSpPr>
            <a:spLocks xmlns:a="http://schemas.openxmlformats.org/drawingml/2006/main" noGrp="1"/>
          </p:cNvSpPr>
          <p:nvPr/>
        </p:nvSpPr>
        <p:spPr>
          <a:xfrm xmlns:a="http://schemas.openxmlformats.org/drawingml/2006/main">
            <a:off x="628650" y="760095"/>
            <a:ext cx="12001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xmlns:a="http://schemas.openxmlformats.org/drawingml/2006/main">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질문별로 답변 칸을 나눠 출력 제어</a:t>
            </a:r>
          </a:p>
        </p:txBody>
      </p:sp>
      <p:sp>
        <p:nvSpPr>
          <p:cNvPr id="3" name="own-text-83">
            <a:extLst xmlns:a="http://schemas.openxmlformats.org/drawingml/2006/main">
              <a:ext uri="{FF2B5EF4-FFF2-40B4-BE49-F238E27FC236}">
                <a16:creationId xmlns:a16="http://schemas.microsoft.com/office/drawing/2014/main" id="{78E09490-39F4-451B-8798-CD82A87345A6}"/>
              </a:ext>
            </a:extLst>
          </p:cNvPr>
          <p:cNvSpPr>
            <a:spLocks xmlns:a="http://schemas.openxmlformats.org/drawingml/2006/main" noGrp="1"/>
          </p:cNvSpPr>
          <p:nvPr/>
        </p:nvSpPr>
        <p:spPr>
          <a:xfrm xmlns:a="http://schemas.openxmlformats.org/drawingml/2006/main">
            <a:off x="628650" y="1500188"/>
            <a:ext cx="12001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질문마다 답변과 답변 가능 여부를 따로 받고, 답할 수 있는 본문만 합친 뒤 안내를 부착</a:t>
            </a:r>
          </a:p>
        </p:txBody>
      </p:sp>
      <p:sp>
        <p:nvSpPr>
          <p:cNvPr id="4" name="own-text-84">
            <a:extLst xmlns:a="http://schemas.openxmlformats.org/drawingml/2006/main">
              <a:ext uri="{FF2B5EF4-FFF2-40B4-BE49-F238E27FC236}">
                <a16:creationId xmlns:a16="http://schemas.microsoft.com/office/drawing/2014/main" id="{F074DE43-8A94-4719-B8E6-532DEC8CDB5C}"/>
              </a:ext>
            </a:extLst>
          </p:cNvPr>
          <p:cNvSpPr>
            <a:spLocks xmlns:a="http://schemas.openxmlformats.org/drawingml/2006/main" noGrp="1"/>
          </p:cNvSpPr>
          <p:nvPr/>
        </p:nvSpPr>
        <p:spPr>
          <a:xfrm xmlns:a="http://schemas.openxmlformats.org/drawingml/2006/main">
            <a:off x="628650" y="7104698"/>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xmlns:a="http://schemas.openxmlformats.org/drawingml/2006/main">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85">
            <a:extLst xmlns:a="http://schemas.openxmlformats.org/drawingml/2006/main">
              <a:ext uri="{FF2B5EF4-FFF2-40B4-BE49-F238E27FC236}">
                <a16:creationId xmlns:a16="http://schemas.microsoft.com/office/drawing/2014/main" id="{B0E38333-D6E1-4616-9713-DFED019C5BF6}"/>
              </a:ext>
            </a:extLst>
          </p:cNvPr>
          <p:cNvSpPr>
            <a:spLocks xmlns:a="http://schemas.openxmlformats.org/drawingml/2006/main" noGrp="1"/>
          </p:cNvSpPr>
          <p:nvPr/>
        </p:nvSpPr>
        <p:spPr>
          <a:xfrm xmlns:a="http://schemas.openxmlformats.org/drawingml/2006/main">
            <a:off x="12382500" y="7104698"/>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xmlns:a="http://schemas.openxmlformats.org/drawingml/2006/main">
            <a:pPr algn="r">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07</a:t>
            </a:r>
          </a:p>
        </p:txBody>
      </p:sp>
      <p:sp>
        <p:nvSpPr>
          <p:cNvPr id="6" name="own-text-86">
            <a:extLst xmlns:a="http://schemas.openxmlformats.org/drawingml/2006/main">
              <a:ext uri="{FF2B5EF4-FFF2-40B4-BE49-F238E27FC236}">
                <a16:creationId xmlns:a16="http://schemas.microsoft.com/office/drawing/2014/main" id="{D578A62E-2B79-454C-887C-864528000059}"/>
              </a:ext>
            </a:extLst>
          </p:cNvPr>
          <p:cNvSpPr>
            <a:spLocks xmlns:a="http://schemas.openxmlformats.org/drawingml/2006/main" noGrp="1"/>
          </p:cNvSpPr>
          <p:nvPr/>
        </p:nvSpPr>
        <p:spPr>
          <a:xfrm xmlns:a="http://schemas.openxmlformats.org/drawingml/2006/main">
            <a:off x="628650" y="6610350"/>
            <a:ext cx="12458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xmlns:a="http://schemas.openxmlformats.org/drawingml/2006/main">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표는 공통 채점 337문항. 세 방식 모두 분류기 적용. 반복 고지는 모델 본문에서 불가 안내가 두 문장 이상인 경우.</a:t>
            </a:r>
          </a:p>
        </p:txBody>
      </p:sp>
      <p:sp>
        <p:nvSpPr>
          <p:cNvPr id="7" name="pipeline-87">
            <a:extLst xmlns:a="http://schemas.openxmlformats.org/drawingml/2006/main">
              <a:ext uri="{FF2B5EF4-FFF2-40B4-BE49-F238E27FC236}">
                <a16:creationId xmlns:a16="http://schemas.microsoft.com/office/drawing/2014/main" id="{546E4C74-7494-4664-B3E1-74F078317EC4}"/>
              </a:ext>
            </a:extLst>
          </p:cNvPr>
          <p:cNvSpPr>
            <a:spLocks xmlns:a="http://schemas.openxmlformats.org/drawingml/2006/main" noGrp="1"/>
          </p:cNvSpPr>
          <p:nvPr/>
        </p:nvSpPr>
        <p:spPr>
          <a:xfrm xmlns:a="http://schemas.openxmlformats.org/drawingml/2006/main">
            <a:off x="628650" y="2047875"/>
            <a:ext cx="504825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질문 1: 답할 수 있음</a:t>
            </a:r>
          </a:p>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질문 2: 근거가 없어 답변 보류</a:t>
            </a:r>
          </a:p>
        </p:txBody>
      </p:sp>
      <p:sp>
        <p:nvSpPr>
          <p:cNvPr id="8" name="pipeline-88">
            <a:extLst xmlns:a="http://schemas.openxmlformats.org/drawingml/2006/main">
              <a:ext uri="{FF2B5EF4-FFF2-40B4-BE49-F238E27FC236}">
                <a16:creationId xmlns:a16="http://schemas.microsoft.com/office/drawing/2014/main" id="{4489A3E1-4D99-4375-A540-D9ED32C630D6}"/>
              </a:ext>
            </a:extLst>
          </p:cNvPr>
          <p:cNvSpPr>
            <a:spLocks xmlns:a="http://schemas.openxmlformats.org/drawingml/2006/main" noGrp="1"/>
          </p:cNvSpPr>
          <p:nvPr/>
        </p:nvSpPr>
        <p:spPr>
          <a:xfrm xmlns:a="http://schemas.openxmlformats.org/drawingml/2006/main">
            <a:off x="6486525" y="2047875"/>
            <a:ext cx="2924175" cy="800100"/>
          </a:xfrm>
          <a:prstGeom xmlns:a="http://schemas.openxmlformats.org/drawingml/2006/main" prst="rect">
            <a:avLst/>
          </a:prstGeom>
          <a:solidFill xmlns:a="http://schemas.openxmlformats.org/drawingml/2006/main">
            <a:srgbClr val="FFF1F7"/>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598" b="1">
                <a:solidFill>
                  <a:srgbClr val="17171A"/>
                </a:solidFill>
                <a:latin typeface="맑은 고딕"/>
                <a:ea typeface="맑은 고딕"/>
                <a:cs typeface="맑은 고딕"/>
              </a:defRPr>
            </a:defPPr>
            <a:lvl1pPr algn="ctr">
              <a:defRPr sz="1598" b="1">
                <a:solidFill>
                  <a:srgbClr val="17171A"/>
                </a:solidFill>
                <a:latin typeface="맑은 고딕"/>
                <a:ea typeface="맑은 고딕"/>
                <a:cs typeface="맑은 고딕"/>
              </a:defRPr>
            </a:lvl1pPr>
            <a:lvl2pPr algn="ctr">
              <a:defRPr sz="1598" b="1">
                <a:solidFill>
                  <a:srgbClr val="17171A"/>
                </a:solidFill>
                <a:latin typeface="맑은 고딕"/>
                <a:ea typeface="맑은 고딕"/>
                <a:cs typeface="맑은 고딕"/>
              </a:defRPr>
            </a:lvl2pPr>
            <a:lvl3pPr algn="ctr">
              <a:defRPr sz="1598" b="1">
                <a:solidFill>
                  <a:srgbClr val="17171A"/>
                </a:solidFill>
                <a:latin typeface="맑은 고딕"/>
                <a:ea typeface="맑은 고딕"/>
                <a:cs typeface="맑은 고딕"/>
              </a:defRPr>
            </a:lvl3pPr>
            <a:lvl4pPr algn="ctr">
              <a:defRPr sz="1598" b="1">
                <a:solidFill>
                  <a:srgbClr val="17171A"/>
                </a:solidFill>
                <a:latin typeface="맑은 고딕"/>
                <a:ea typeface="맑은 고딕"/>
                <a:cs typeface="맑은 고딕"/>
              </a:defRPr>
            </a:lvl4pPr>
            <a:lvl5pPr algn="ctr">
              <a:defRPr sz="1598" b="1">
                <a:solidFill>
                  <a:srgbClr val="17171A"/>
                </a:solidFill>
                <a:latin typeface="맑은 고딕"/>
                <a:ea typeface="맑은 고딕"/>
                <a:cs typeface="맑은 고딕"/>
              </a:defRPr>
            </a:lvl5pPr>
            <a:lvl6pPr algn="ctr">
              <a:defRPr sz="1598" b="1">
                <a:solidFill>
                  <a:srgbClr val="17171A"/>
                </a:solidFill>
                <a:latin typeface="맑은 고딕"/>
                <a:ea typeface="맑은 고딕"/>
                <a:cs typeface="맑은 고딕"/>
              </a:defRPr>
            </a:lvl6pPr>
            <a:lvl7pPr algn="ctr">
              <a:defRPr sz="1598" b="1">
                <a:solidFill>
                  <a:srgbClr val="17171A"/>
                </a:solidFill>
                <a:latin typeface="맑은 고딕"/>
                <a:ea typeface="맑은 고딕"/>
                <a:cs typeface="맑은 고딕"/>
              </a:defRPr>
            </a:lvl7pPr>
            <a:lvl8pPr algn="ctr">
              <a:defRPr sz="1598" b="1">
                <a:solidFill>
                  <a:srgbClr val="17171A"/>
                </a:solidFill>
                <a:latin typeface="맑은 고딕"/>
                <a:ea typeface="맑은 고딕"/>
                <a:cs typeface="맑은 고딕"/>
              </a:defRPr>
            </a:lvl8pPr>
            <a:lvl9pPr algn="ctr">
              <a:defRPr sz="1598" b="1">
                <a:solidFill>
                  <a:srgbClr val="17171A"/>
                </a:solidFill>
                <a:latin typeface="맑은 고딕"/>
                <a:ea typeface="맑은 고딕"/>
                <a:cs typeface="맑은 고딕"/>
              </a:defRPr>
            </a:lvl9pPr>
          </a:lstStyle>
          <a:p xmlns:a="http://schemas.openxmlformats.org/drawingml/2006/main">
            <a:pPr algn="ctr">
              <a:defRPr sz="1598" b="1">
                <a:solidFill>
                  <a:srgbClr val="17171A"/>
                </a:solidFill>
                <a:latin typeface="맑은 고딕"/>
                <a:ea typeface="맑은 고딕"/>
                <a:cs typeface="맑은 고딕"/>
              </a:defRPr>
            </a:pPr>
            <a:r>
              <a:rPr sz="1598" b="1">
                <a:solidFill>
                  <a:srgbClr val="17171A"/>
                </a:solidFill>
                <a:latin typeface="맑은 고딕"/>
                <a:ea typeface="맑은 고딕"/>
                <a:cs typeface="맑은 고딕"/>
              </a:rPr>
              <a:t>답할 수 있는 본문만 합침</a:t>
            </a:r>
          </a:p>
        </p:txBody>
      </p:sp>
      <p:sp>
        <p:nvSpPr>
          <p:cNvPr id="9" name="pipeline-89">
            <a:extLst xmlns:a="http://schemas.openxmlformats.org/drawingml/2006/main">
              <a:ext uri="{FF2B5EF4-FFF2-40B4-BE49-F238E27FC236}">
                <a16:creationId xmlns:a16="http://schemas.microsoft.com/office/drawing/2014/main" id="{7D3FFF34-E485-417F-B036-05AE3BB247F0}"/>
              </a:ext>
            </a:extLst>
          </p:cNvPr>
          <p:cNvSpPr>
            <a:spLocks xmlns:a="http://schemas.openxmlformats.org/drawingml/2006/main" noGrp="1"/>
          </p:cNvSpPr>
          <p:nvPr/>
        </p:nvSpPr>
        <p:spPr>
          <a:xfrm xmlns:a="http://schemas.openxmlformats.org/drawingml/2006/main">
            <a:off x="10163175" y="2047875"/>
            <a:ext cx="2924175" cy="800100"/>
          </a:xfrm>
          <a:prstGeom xmlns:a="http://schemas.openxmlformats.org/drawingml/2006/main" prst="rect">
            <a:avLst/>
          </a:prstGeom>
          <a:solidFill xmlns:a="http://schemas.openxmlformats.org/drawingml/2006/main">
            <a:srgbClr val="17171A"/>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598" b="1">
                <a:solidFill>
                  <a:srgbClr val="FFFFFF"/>
                </a:solidFill>
                <a:latin typeface="맑은 고딕"/>
                <a:ea typeface="맑은 고딕"/>
                <a:cs typeface="맑은 고딕"/>
              </a:defRPr>
            </a:defPPr>
            <a:lvl1pPr algn="ctr">
              <a:defRPr sz="1598" b="1">
                <a:solidFill>
                  <a:srgbClr val="FFFFFF"/>
                </a:solidFill>
                <a:latin typeface="맑은 고딕"/>
                <a:ea typeface="맑은 고딕"/>
                <a:cs typeface="맑은 고딕"/>
              </a:defRPr>
            </a:lvl1pPr>
            <a:lvl2pPr algn="ctr">
              <a:defRPr sz="1598" b="1">
                <a:solidFill>
                  <a:srgbClr val="FFFFFF"/>
                </a:solidFill>
                <a:latin typeface="맑은 고딕"/>
                <a:ea typeface="맑은 고딕"/>
                <a:cs typeface="맑은 고딕"/>
              </a:defRPr>
            </a:lvl2pPr>
            <a:lvl3pPr algn="ctr">
              <a:defRPr sz="1598" b="1">
                <a:solidFill>
                  <a:srgbClr val="FFFFFF"/>
                </a:solidFill>
                <a:latin typeface="맑은 고딕"/>
                <a:ea typeface="맑은 고딕"/>
                <a:cs typeface="맑은 고딕"/>
              </a:defRPr>
            </a:lvl3pPr>
            <a:lvl4pPr algn="ctr">
              <a:defRPr sz="1598" b="1">
                <a:solidFill>
                  <a:srgbClr val="FFFFFF"/>
                </a:solidFill>
                <a:latin typeface="맑은 고딕"/>
                <a:ea typeface="맑은 고딕"/>
                <a:cs typeface="맑은 고딕"/>
              </a:defRPr>
            </a:lvl4pPr>
            <a:lvl5pPr algn="ctr">
              <a:defRPr sz="1598" b="1">
                <a:solidFill>
                  <a:srgbClr val="FFFFFF"/>
                </a:solidFill>
                <a:latin typeface="맑은 고딕"/>
                <a:ea typeface="맑은 고딕"/>
                <a:cs typeface="맑은 고딕"/>
              </a:defRPr>
            </a:lvl5pPr>
            <a:lvl6pPr algn="ctr">
              <a:defRPr sz="1598" b="1">
                <a:solidFill>
                  <a:srgbClr val="FFFFFF"/>
                </a:solidFill>
                <a:latin typeface="맑은 고딕"/>
                <a:ea typeface="맑은 고딕"/>
                <a:cs typeface="맑은 고딕"/>
              </a:defRPr>
            </a:lvl6pPr>
            <a:lvl7pPr algn="ctr">
              <a:defRPr sz="1598" b="1">
                <a:solidFill>
                  <a:srgbClr val="FFFFFF"/>
                </a:solidFill>
                <a:latin typeface="맑은 고딕"/>
                <a:ea typeface="맑은 고딕"/>
                <a:cs typeface="맑은 고딕"/>
              </a:defRPr>
            </a:lvl7pPr>
            <a:lvl8pPr algn="ctr">
              <a:defRPr sz="1598" b="1">
                <a:solidFill>
                  <a:srgbClr val="FFFFFF"/>
                </a:solidFill>
                <a:latin typeface="맑은 고딕"/>
                <a:ea typeface="맑은 고딕"/>
                <a:cs typeface="맑은 고딕"/>
              </a:defRPr>
            </a:lvl8pPr>
            <a:lvl9pPr algn="ctr">
              <a:defRPr sz="1598" b="1">
                <a:solidFill>
                  <a:srgbClr val="FFFFFF"/>
                </a:solidFill>
                <a:latin typeface="맑은 고딕"/>
                <a:ea typeface="맑은 고딕"/>
                <a:cs typeface="맑은 고딕"/>
              </a:defRPr>
            </a:lvl9pPr>
          </a:lstStyle>
          <a:p xmlns:a="http://schemas.openxmlformats.org/drawingml/2006/main">
            <a:pPr algn="ctr">
              <a:defRPr sz="1598" b="1">
                <a:solidFill>
                  <a:srgbClr val="FFFFFF"/>
                </a:solidFill>
                <a:latin typeface="맑은 고딕"/>
                <a:ea typeface="맑은 고딕"/>
                <a:cs typeface="맑은 고딕"/>
              </a:defRPr>
            </a:pPr>
            <a:r>
              <a:rPr sz="1598" b="1">
                <a:solidFill>
                  <a:srgbClr val="FFFFFF"/>
                </a:solidFill>
                <a:latin typeface="맑은 고딕"/>
                <a:ea typeface="맑은 고딕"/>
                <a:cs typeface="맑은 고딕"/>
              </a:rPr>
              <a:t>서버가 안내 문구 추가</a:t>
            </a:r>
          </a:p>
        </p:txBody>
      </p:sp>
      <p:graphicFrame>
        <p:nvGraphicFramePr>
          <p:cNvPr id="12" name="">
            <a:extLst xmlns:a="http://schemas.openxmlformats.org/drawingml/2006/main">
              <a:ext uri="{FF2B5EF4-FFF2-40B4-BE49-F238E27FC236}">
                <a16:creationId xmlns:a16="http://schemas.microsoft.com/office/drawing/2014/main" id="{2A1F26A5-55A0-4928-94A5-9700B38EAC37}"/>
              </a:ext>
            </a:extLst>
          </p:cNvPr>
          <p:cNvGraphicFramePr/>
          <p:nvPr/>
        </p:nvGraphicFramePr>
        <p:xfrm>
          <a:off xmlns:a="http://schemas.openxmlformats.org/drawingml/2006/main" x="628650" y="3276600"/>
          <a:ext xmlns:a="http://schemas.openxmlformats.org/drawingml/2006/main" cx="12458700" cy="2543175"/>
        </p:xfrm>
        <a:graphic xmlns:a="http://schemas.openxmlformats.org/drawingml/2006/main">
          <a:graphicData uri="http://schemas.openxmlformats.org/drawingml/2006/table">
            <a:tbl>
              <a:tblPr/>
              <a:tblGrid>
                <a:gridCol w="4286250"/>
                <a:gridCol w="2724150"/>
                <a:gridCol w="2724150"/>
                <a:gridCol w="2724150"/>
              </a:tblGrid>
              <a:tr h="423863">
                <a:tc>
                  <a:txBody>
                    <a:bodyPr>
                      <a:noAutofit/>
                    </a:bodyPr>
                    <a:lstStyle/>
                    <a:p>
                      <a:r>
                        <a:rPr sz="1598" b="1">
                          <a:solidFill>
                            <a:srgbClr val="FFFFFF"/>
                          </a:solidFill>
                          <a:latin typeface="맑은 고딕"/>
                          <a:ea typeface="맑은 고딕"/>
                          <a:cs typeface="맑은 고딕"/>
                        </a:rPr>
                        <a:t>동일 337문항</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98" b="1">
                          <a:solidFill>
                            <a:srgbClr val="FFFFFF"/>
                          </a:solidFill>
                          <a:latin typeface="맑은 고딕"/>
                          <a:ea typeface="맑은 고딕"/>
                          <a:cs typeface="맑은 고딕"/>
                        </a:rPr>
                        <a:t>답변·판정 모두 통합</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98" b="1">
                          <a:solidFill>
                            <a:srgbClr val="FFFFFF"/>
                          </a:solidFill>
                          <a:latin typeface="맑은 고딕"/>
                          <a:ea typeface="맑은 고딕"/>
                          <a:cs typeface="맑은 고딕"/>
                        </a:rPr>
                        <a:t>판정만 질문별 분리</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98" b="1">
                          <a:solidFill>
                            <a:srgbClr val="FFFFFF"/>
                          </a:solidFill>
                          <a:latin typeface="맑은 고딕"/>
                          <a:ea typeface="맑은 고딕"/>
                          <a:cs typeface="맑은 고딕"/>
                        </a:rPr>
                        <a:t>답변·판정 모두 분리</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423863">
                <a:tc>
                  <a:txBody>
                    <a:bodyPr>
                      <a:noAutofit/>
                    </a:bodyPr>
                    <a:lstStyle/>
                    <a:p>
                      <a:r>
                        <a:rPr sz="1598" b="0">
                          <a:solidFill>
                            <a:srgbClr val="17171A"/>
                          </a:solidFill>
                          <a:latin typeface="맑은 고딕"/>
                          <a:ea typeface="맑은 고딕"/>
                          <a:cs typeface="맑은 고딕"/>
                        </a:rPr>
                        <a:t>정답</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276 / 337</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257 / 337</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270 / 337</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23863">
                <a:tc>
                  <a:txBody>
                    <a:bodyPr>
                      <a:noAutofit/>
                    </a:bodyPr>
                    <a:lstStyle/>
                    <a:p>
                      <a:r>
                        <a:rPr sz="1598" b="0">
                          <a:solidFill>
                            <a:srgbClr val="17171A"/>
                          </a:solidFill>
                          <a:latin typeface="맑은 고딕"/>
                          <a:ea typeface="맑은 고딕"/>
                          <a:cs typeface="맑은 고딕"/>
                        </a:rPr>
                        <a:t>환각</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44</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30</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33</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23863">
                <a:tc>
                  <a:txBody>
                    <a:bodyPr>
                      <a:noAutofit/>
                    </a:bodyPr>
                    <a:lstStyle/>
                    <a:p>
                      <a:r>
                        <a:rPr sz="1598" b="1">
                          <a:solidFill>
                            <a:srgbClr val="F72585"/>
                          </a:solidFill>
                          <a:latin typeface="맑은 고딕"/>
                          <a:ea typeface="맑은 고딕"/>
                          <a:cs typeface="맑은 고딕"/>
                        </a:rPr>
                        <a:t>FAQ ID 노출</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17</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3</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423863">
                <a:tc>
                  <a:txBody>
                    <a:bodyPr>
                      <a:noAutofit/>
                    </a:bodyPr>
                    <a:lstStyle/>
                    <a:p>
                      <a:r>
                        <a:rPr sz="1598" b="1">
                          <a:solidFill>
                            <a:srgbClr val="F72585"/>
                          </a:solidFill>
                          <a:latin typeface="맑은 고딕"/>
                          <a:ea typeface="맑은 고딕"/>
                          <a:cs typeface="맑은 고딕"/>
                        </a:rPr>
                        <a:t>반복 고지</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81</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12</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423863">
                <a:tc>
                  <a:txBody>
                    <a:bodyPr>
                      <a:noAutofit/>
                    </a:bodyPr>
                    <a:lstStyle/>
                    <a:p>
                      <a:r>
                        <a:rPr sz="1598" b="0">
                          <a:solidFill>
                            <a:srgbClr val="17171A"/>
                          </a:solidFill>
                          <a:latin typeface="맑은 고딕"/>
                          <a:ea typeface="맑은 고딕"/>
                          <a:cs typeface="맑은 고딕"/>
                        </a:rPr>
                        <a:t>일반 문장 재진술</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22</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19</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22</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bl>
          </a:graphicData>
        </a:graphic>
      </p:graphicFrame>
      <p:sp>
        <p:nvSpPr>
          <p:cNvPr id="13" name="own-text-90">
            <a:extLst xmlns:a="http://schemas.openxmlformats.org/drawingml/2006/main">
              <a:ext uri="{FF2B5EF4-FFF2-40B4-BE49-F238E27FC236}">
                <a16:creationId xmlns:a16="http://schemas.microsoft.com/office/drawing/2014/main" id="{08CC0092-AE96-41EF-B1D5-40C1AFA1E9AB}"/>
              </a:ext>
            </a:extLst>
          </p:cNvPr>
          <p:cNvSpPr>
            <a:spLocks xmlns:a="http://schemas.openxmlformats.org/drawingml/2006/main" noGrp="1"/>
          </p:cNvSpPr>
          <p:nvPr/>
        </p:nvSpPr>
        <p:spPr>
          <a:xfrm xmlns:a="http://schemas.openxmlformats.org/drawingml/2006/main">
            <a:off x="628650" y="6086475"/>
            <a:ext cx="7715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72585"/>
                </a:solidFill>
                <a:latin typeface="맑은 고딕"/>
                <a:ea typeface="맑은 고딕"/>
                <a:cs typeface="맑은 고딕"/>
              </a:defRPr>
            </a:defPPr>
            <a:lvl1pPr algn="l">
              <a:defRPr sz="2100" b="1">
                <a:solidFill>
                  <a:srgbClr val="F72585"/>
                </a:solidFill>
                <a:latin typeface="맑은 고딕"/>
                <a:ea typeface="맑은 고딕"/>
                <a:cs typeface="맑은 고딕"/>
              </a:defRPr>
            </a:lvl1pPr>
            <a:lvl2pPr algn="l">
              <a:defRPr sz="2100" b="1">
                <a:solidFill>
                  <a:srgbClr val="F72585"/>
                </a:solidFill>
                <a:latin typeface="맑은 고딕"/>
                <a:ea typeface="맑은 고딕"/>
                <a:cs typeface="맑은 고딕"/>
              </a:defRPr>
            </a:lvl2pPr>
            <a:lvl3pPr algn="l">
              <a:defRPr sz="2100" b="1">
                <a:solidFill>
                  <a:srgbClr val="F72585"/>
                </a:solidFill>
                <a:latin typeface="맑은 고딕"/>
                <a:ea typeface="맑은 고딕"/>
                <a:cs typeface="맑은 고딕"/>
              </a:defRPr>
            </a:lvl3pPr>
            <a:lvl4pPr algn="l">
              <a:defRPr sz="2100" b="1">
                <a:solidFill>
                  <a:srgbClr val="F72585"/>
                </a:solidFill>
                <a:latin typeface="맑은 고딕"/>
                <a:ea typeface="맑은 고딕"/>
                <a:cs typeface="맑은 고딕"/>
              </a:defRPr>
            </a:lvl4pPr>
            <a:lvl5pPr algn="l">
              <a:defRPr sz="2100" b="1">
                <a:solidFill>
                  <a:srgbClr val="F72585"/>
                </a:solidFill>
                <a:latin typeface="맑은 고딕"/>
                <a:ea typeface="맑은 고딕"/>
                <a:cs typeface="맑은 고딕"/>
              </a:defRPr>
            </a:lvl5pPr>
            <a:lvl6pPr algn="l">
              <a:defRPr sz="2100" b="1">
                <a:solidFill>
                  <a:srgbClr val="F72585"/>
                </a:solidFill>
                <a:latin typeface="맑은 고딕"/>
                <a:ea typeface="맑은 고딕"/>
                <a:cs typeface="맑은 고딕"/>
              </a:defRPr>
            </a:lvl6pPr>
            <a:lvl7pPr algn="l">
              <a:defRPr sz="2100" b="1">
                <a:solidFill>
                  <a:srgbClr val="F72585"/>
                </a:solidFill>
                <a:latin typeface="맑은 고딕"/>
                <a:ea typeface="맑은 고딕"/>
                <a:cs typeface="맑은 고딕"/>
              </a:defRPr>
            </a:lvl7pPr>
            <a:lvl8pPr algn="l">
              <a:defRPr sz="2100" b="1">
                <a:solidFill>
                  <a:srgbClr val="F72585"/>
                </a:solidFill>
                <a:latin typeface="맑은 고딕"/>
                <a:ea typeface="맑은 고딕"/>
                <a:cs typeface="맑은 고딕"/>
              </a:defRPr>
            </a:lvl8pPr>
            <a:lvl9pPr algn="l">
              <a:defRPr sz="2100" b="1">
                <a:solidFill>
                  <a:srgbClr val="F72585"/>
                </a:solidFill>
                <a:latin typeface="맑은 고딕"/>
                <a:ea typeface="맑은 고딕"/>
                <a:cs typeface="맑은 고딕"/>
              </a:defRPr>
            </a:lvl9pPr>
          </a:lstStyle>
          <a:p xmlns:a="http://schemas.openxmlformats.org/drawingml/2006/main">
            <a:pPr algn="l">
              <a:defRPr sz="2100" b="1">
                <a:solidFill>
                  <a:srgbClr val="F72585"/>
                </a:solidFill>
                <a:latin typeface="맑은 고딕"/>
                <a:ea typeface="맑은 고딕"/>
                <a:cs typeface="맑은 고딕"/>
              </a:defRPr>
            </a:pPr>
            <a:r>
              <a:rPr sz="2100" b="1">
                <a:solidFill>
                  <a:srgbClr val="F72585"/>
                </a:solidFill>
                <a:latin typeface="맑은 고딕"/>
                <a:ea typeface="맑은 고딕"/>
                <a:cs typeface="맑은 고딕"/>
              </a:rPr>
              <a:t>모델·코드 이중 고지 67건에서 1건</a:t>
            </a:r>
          </a:p>
        </p:txBody>
      </p:sp>
      <p:sp>
        <p:nvSpPr>
          <p:cNvPr id="14" name="own-text-91">
            <a:extLst xmlns:a="http://schemas.openxmlformats.org/drawingml/2006/main">
              <a:ext uri="{FF2B5EF4-FFF2-40B4-BE49-F238E27FC236}">
                <a16:creationId xmlns:a16="http://schemas.microsoft.com/office/drawing/2014/main" id="{E6608F14-CA86-4F3A-B5A6-1D8D162E5731}"/>
              </a:ext>
            </a:extLst>
          </p:cNvPr>
          <p:cNvSpPr>
            <a:spLocks xmlns:a="http://schemas.openxmlformats.org/drawingml/2006/main" noGrp="1"/>
          </p:cNvSpPr>
          <p:nvPr/>
        </p:nvSpPr>
        <p:spPr>
          <a:xfrm xmlns:a="http://schemas.openxmlformats.org/drawingml/2006/main">
            <a:off x="8524875" y="6096000"/>
            <a:ext cx="45624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17171A"/>
                </a:solidFill>
                <a:latin typeface="맑은 고딕"/>
                <a:ea typeface="맑은 고딕"/>
                <a:cs typeface="맑은 고딕"/>
              </a:defRPr>
            </a:defPPr>
            <a:lvl1pPr algn="l">
              <a:defRPr sz="1500" b="1">
                <a:solidFill>
                  <a:srgbClr val="17171A"/>
                </a:solidFill>
                <a:latin typeface="맑은 고딕"/>
                <a:ea typeface="맑은 고딕"/>
                <a:cs typeface="맑은 고딕"/>
              </a:defRPr>
            </a:lvl1pPr>
            <a:lvl2pPr algn="l">
              <a:defRPr sz="1500" b="1">
                <a:solidFill>
                  <a:srgbClr val="17171A"/>
                </a:solidFill>
                <a:latin typeface="맑은 고딕"/>
                <a:ea typeface="맑은 고딕"/>
                <a:cs typeface="맑은 고딕"/>
              </a:defRPr>
            </a:lvl2pPr>
            <a:lvl3pPr algn="l">
              <a:defRPr sz="1500" b="1">
                <a:solidFill>
                  <a:srgbClr val="17171A"/>
                </a:solidFill>
                <a:latin typeface="맑은 고딕"/>
                <a:ea typeface="맑은 고딕"/>
                <a:cs typeface="맑은 고딕"/>
              </a:defRPr>
            </a:lvl3pPr>
            <a:lvl4pPr algn="l">
              <a:defRPr sz="1500" b="1">
                <a:solidFill>
                  <a:srgbClr val="17171A"/>
                </a:solidFill>
                <a:latin typeface="맑은 고딕"/>
                <a:ea typeface="맑은 고딕"/>
                <a:cs typeface="맑은 고딕"/>
              </a:defRPr>
            </a:lvl4pPr>
            <a:lvl5pPr algn="l">
              <a:defRPr sz="1500" b="1">
                <a:solidFill>
                  <a:srgbClr val="17171A"/>
                </a:solidFill>
                <a:latin typeface="맑은 고딕"/>
                <a:ea typeface="맑은 고딕"/>
                <a:cs typeface="맑은 고딕"/>
              </a:defRPr>
            </a:lvl5pPr>
            <a:lvl6pPr algn="l">
              <a:defRPr sz="1500" b="1">
                <a:solidFill>
                  <a:srgbClr val="17171A"/>
                </a:solidFill>
                <a:latin typeface="맑은 고딕"/>
                <a:ea typeface="맑은 고딕"/>
                <a:cs typeface="맑은 고딕"/>
              </a:defRPr>
            </a:lvl6pPr>
            <a:lvl7pPr algn="l">
              <a:defRPr sz="1500" b="1">
                <a:solidFill>
                  <a:srgbClr val="17171A"/>
                </a:solidFill>
                <a:latin typeface="맑은 고딕"/>
                <a:ea typeface="맑은 고딕"/>
                <a:cs typeface="맑은 고딕"/>
              </a:defRPr>
            </a:lvl7pPr>
            <a:lvl8pPr algn="l">
              <a:defRPr sz="1500" b="1">
                <a:solidFill>
                  <a:srgbClr val="17171A"/>
                </a:solidFill>
                <a:latin typeface="맑은 고딕"/>
                <a:ea typeface="맑은 고딕"/>
                <a:cs typeface="맑은 고딕"/>
              </a:defRPr>
            </a:lvl8pPr>
            <a:lvl9pPr algn="l">
              <a:defRPr sz="1500" b="1">
                <a:solidFill>
                  <a:srgbClr val="17171A"/>
                </a:solidFill>
                <a:latin typeface="맑은 고딕"/>
                <a:ea typeface="맑은 고딕"/>
                <a:cs typeface="맑은 고딕"/>
              </a:defRPr>
            </a:lvl9pPr>
          </a:lstStyle>
          <a:p xmlns:a="http://schemas.openxmlformats.org/drawingml/2006/main">
            <a:pPr algn="l">
              <a:defRPr sz="1500" b="1">
                <a:solidFill>
                  <a:srgbClr val="17171A"/>
                </a:solidFill>
                <a:latin typeface="맑은 고딕"/>
                <a:ea typeface="맑은 고딕"/>
                <a:cs typeface="맑은 고딕"/>
              </a:defRPr>
            </a:pPr>
            <a:r>
              <a:rPr sz="1500" b="1">
                <a:solidFill>
                  <a:srgbClr val="17171A"/>
                </a:solidFill>
                <a:latin typeface="맑은 고딕"/>
                <a:ea typeface="맑은 고딕"/>
                <a:cs typeface="맑은 고딕"/>
              </a:rPr>
              <a:t>판정만 나눴을 때 대비 오류 12건에서 1건</a:t>
            </a:r>
          </a:p>
        </p:txBody>
      </p:sp>
    </p:spTree>
    <p:extLst>
      <p:ext uri="{BB962C8B-B14F-4D97-AF65-F5344CB8AC3E}">
        <p14:creationId xmlns:p14="http://schemas.microsoft.com/office/powerpoint/2010/main" val="1751635502"/>
      </p:ext>
    </p:extLst>
  </p:cSld>
</p:sld>
</file>

<file path=ppt/slides/slide8.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sp>
        <p:nvSpPr>
          <p:cNvPr id="7" name="own-text-92">
            <a:extLst xmlns:a="http://schemas.openxmlformats.org/drawingml/2006/main">
              <a:ext uri="{FF2B5EF4-FFF2-40B4-BE49-F238E27FC236}">
                <a16:creationId xmlns:a16="http://schemas.microsoft.com/office/drawing/2014/main" id="{93402ECF-6FB9-440A-84BE-3B1129661ECC}"/>
              </a:ext>
            </a:extLst>
          </p:cNvPr>
          <p:cNvSpPr>
            <a:spLocks xmlns:a="http://schemas.openxmlformats.org/drawingml/2006/main" noGrp="1"/>
          </p:cNvSpPr>
          <p:nvPr/>
        </p:nvSpPr>
        <p:spPr>
          <a:xfrm xmlns:a="http://schemas.openxmlformats.org/drawingml/2006/main">
            <a:off x="628650" y="420053"/>
            <a:ext cx="11430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xmlns:a="http://schemas.openxmlformats.org/drawingml/2006/main">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주요 기능 소개  |  그 외</a:t>
            </a:r>
          </a:p>
        </p:txBody>
      </p:sp>
      <p:sp>
        <p:nvSpPr>
          <p:cNvPr id="2" name="own-text-93">
            <a:extLst xmlns:a="http://schemas.openxmlformats.org/drawingml/2006/main">
              <a:ext uri="{FF2B5EF4-FFF2-40B4-BE49-F238E27FC236}">
                <a16:creationId xmlns:a16="http://schemas.microsoft.com/office/drawing/2014/main" id="{2AD863E8-1E15-43AD-8024-E95A7BD11074}"/>
              </a:ext>
            </a:extLst>
          </p:cNvPr>
          <p:cNvSpPr>
            <a:spLocks xmlns:a="http://schemas.openxmlformats.org/drawingml/2006/main" noGrp="1"/>
          </p:cNvSpPr>
          <p:nvPr/>
        </p:nvSpPr>
        <p:spPr>
          <a:xfrm xmlns:a="http://schemas.openxmlformats.org/drawingml/2006/main">
            <a:off x="628650" y="760095"/>
            <a:ext cx="12001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xmlns:a="http://schemas.openxmlformats.org/drawingml/2006/main">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스케줄러의 주기와 역할</a:t>
            </a:r>
          </a:p>
        </p:txBody>
      </p:sp>
      <p:sp>
        <p:nvSpPr>
          <p:cNvPr id="3" name="own-text-94">
            <a:extLst xmlns:a="http://schemas.openxmlformats.org/drawingml/2006/main">
              <a:ext uri="{FF2B5EF4-FFF2-40B4-BE49-F238E27FC236}">
                <a16:creationId xmlns:a16="http://schemas.microsoft.com/office/drawing/2014/main" id="{21EF77B9-F996-46E2-B3F3-4CC845537B4C}"/>
              </a:ext>
            </a:extLst>
          </p:cNvPr>
          <p:cNvSpPr>
            <a:spLocks xmlns:a="http://schemas.openxmlformats.org/drawingml/2006/main" noGrp="1"/>
          </p:cNvSpPr>
          <p:nvPr/>
        </p:nvSpPr>
        <p:spPr>
          <a:xfrm xmlns:a="http://schemas.openxmlformats.org/drawingml/2006/main">
            <a:off x="628650" y="1500188"/>
            <a:ext cx="12001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알림, 데이터 정리, FAQ 운영과 장애 복구를 주기 작업으로 분리</a:t>
            </a:r>
          </a:p>
        </p:txBody>
      </p:sp>
      <p:sp>
        <p:nvSpPr>
          <p:cNvPr id="4" name="own-text-95">
            <a:extLst xmlns:a="http://schemas.openxmlformats.org/drawingml/2006/main">
              <a:ext uri="{FF2B5EF4-FFF2-40B4-BE49-F238E27FC236}">
                <a16:creationId xmlns:a16="http://schemas.microsoft.com/office/drawing/2014/main" id="{20080D78-8899-48AF-B36A-ECC6B76BD725}"/>
              </a:ext>
            </a:extLst>
          </p:cNvPr>
          <p:cNvSpPr>
            <a:spLocks xmlns:a="http://schemas.openxmlformats.org/drawingml/2006/main" noGrp="1"/>
          </p:cNvSpPr>
          <p:nvPr/>
        </p:nvSpPr>
        <p:spPr>
          <a:xfrm xmlns:a="http://schemas.openxmlformats.org/drawingml/2006/main">
            <a:off x="628650" y="7104698"/>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xmlns:a="http://schemas.openxmlformats.org/drawingml/2006/main">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96">
            <a:extLst xmlns:a="http://schemas.openxmlformats.org/drawingml/2006/main">
              <a:ext uri="{FF2B5EF4-FFF2-40B4-BE49-F238E27FC236}">
                <a16:creationId xmlns:a16="http://schemas.microsoft.com/office/drawing/2014/main" id="{1E086749-4EA8-4B66-B2A2-71E85544C578}"/>
              </a:ext>
            </a:extLst>
          </p:cNvPr>
          <p:cNvSpPr>
            <a:spLocks xmlns:a="http://schemas.openxmlformats.org/drawingml/2006/main" noGrp="1"/>
          </p:cNvSpPr>
          <p:nvPr/>
        </p:nvSpPr>
        <p:spPr>
          <a:xfrm xmlns:a="http://schemas.openxmlformats.org/drawingml/2006/main">
            <a:off x="12382500" y="7104698"/>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xmlns:a="http://schemas.openxmlformats.org/drawingml/2006/main">
            <a:pPr algn="r">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08</a:t>
            </a:r>
          </a:p>
        </p:txBody>
      </p:sp>
      <p:graphicFrame>
        <p:nvGraphicFramePr>
          <p:cNvPr id="6" name="">
            <a:extLst xmlns:a="http://schemas.openxmlformats.org/drawingml/2006/main">
              <a:ext uri="{FF2B5EF4-FFF2-40B4-BE49-F238E27FC236}">
                <a16:creationId xmlns:a16="http://schemas.microsoft.com/office/drawing/2014/main" id="{A8354190-356F-4104-9352-C5F7C96E9991}"/>
              </a:ext>
            </a:extLst>
          </p:cNvPr>
          <p:cNvGraphicFramePr/>
          <p:nvPr/>
        </p:nvGraphicFramePr>
        <p:xfrm>
          <a:off xmlns:a="http://schemas.openxmlformats.org/drawingml/2006/main" x="628650" y="2076450"/>
          <a:ext xmlns:a="http://schemas.openxmlformats.org/drawingml/2006/main" cx="12458700" cy="4010025"/>
        </p:xfrm>
        <a:graphic xmlns:a="http://schemas.openxmlformats.org/drawingml/2006/main">
          <a:graphicData uri="http://schemas.openxmlformats.org/drawingml/2006/table">
            <a:tbl>
              <a:tblPr/>
              <a:tblGrid>
                <a:gridCol w="2724150"/>
                <a:gridCol w="2657475"/>
                <a:gridCol w="7077075"/>
              </a:tblGrid>
              <a:tr h="445558">
                <a:tc>
                  <a:txBody>
                    <a:bodyPr>
                      <a:noAutofit/>
                    </a:bodyPr>
                    <a:lstStyle/>
                    <a:p>
                      <a:r>
                        <a:rPr sz="1598" b="1">
                          <a:solidFill>
                            <a:srgbClr val="FFFFFF"/>
                          </a:solidFill>
                          <a:latin typeface="맑은 고딕"/>
                          <a:ea typeface="맑은 고딕"/>
                          <a:cs typeface="맑은 고딕"/>
                        </a:rPr>
                        <a:t>기능</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98" b="1">
                          <a:solidFill>
                            <a:srgbClr val="FFFFFF"/>
                          </a:solidFill>
                          <a:latin typeface="맑은 고딕"/>
                          <a:ea typeface="맑은 고딕"/>
                          <a:cs typeface="맑은 고딕"/>
                        </a:rPr>
                        <a:t>기본 주기</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98" b="1">
                          <a:solidFill>
                            <a:srgbClr val="FFFFFF"/>
                          </a:solidFill>
                          <a:latin typeface="맑은 고딕"/>
                          <a:ea typeface="맑은 고딕"/>
                          <a:cs typeface="맑은 고딕"/>
                        </a:rPr>
                        <a:t>실행 기준·역할</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445558">
                <a:tc>
                  <a:txBody>
                    <a:bodyPr>
                      <a:noAutofit/>
                    </a:bodyPr>
                    <a:lstStyle/>
                    <a:p>
                      <a:r>
                        <a:rPr sz="1598" b="0">
                          <a:solidFill>
                            <a:srgbClr val="17171A"/>
                          </a:solidFill>
                          <a:latin typeface="맑은 고딕"/>
                          <a:ea typeface="맑은 고딕"/>
                          <a:cs typeface="맑은 고딕"/>
                        </a:rPr>
                        <a:t>예약 알림</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매시 정각</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방문 24시간·6시간·1시간 전 단계별 안내</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45558">
                <a:tc>
                  <a:txBody>
                    <a:bodyPr>
                      <a:noAutofit/>
                    </a:bodyPr>
                    <a:lstStyle/>
                    <a:p>
                      <a:r>
                        <a:rPr sz="1598" b="0">
                          <a:solidFill>
                            <a:srgbClr val="17171A"/>
                          </a:solidFill>
                          <a:latin typeface="맑은 고딕"/>
                          <a:ea typeface="맑은 고딕"/>
                          <a:cs typeface="맑은 고딕"/>
                        </a:rPr>
                        <a:t>요금·로밍·약정 알림</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매일 09:00</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납부 임박·연체, 로밍 시작·종료, 약정·할부 만료 안내</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45558">
                <a:tc>
                  <a:txBody>
                    <a:bodyPr>
                      <a:noAutofit/>
                    </a:bodyPr>
                    <a:lstStyle/>
                    <a:p>
                      <a:r>
                        <a:rPr sz="1598" b="0">
                          <a:solidFill>
                            <a:srgbClr val="17171A"/>
                          </a:solidFill>
                          <a:latin typeface="맑은 고딕"/>
                          <a:ea typeface="맑은 고딕"/>
                          <a:cs typeface="맑은 고딕"/>
                        </a:rPr>
                        <a:t>데이터 사용량</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매시 정각</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월 한도 80%·100% 도달 안내</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45558">
                <a:tc>
                  <a:txBody>
                    <a:bodyPr>
                      <a:noAutofit/>
                    </a:bodyPr>
                    <a:lstStyle/>
                    <a:p>
                      <a:r>
                        <a:rPr sz="1598" b="0">
                          <a:solidFill>
                            <a:srgbClr val="17171A"/>
                          </a:solidFill>
                          <a:latin typeface="맑은 고딕"/>
                          <a:ea typeface="맑은 고딕"/>
                          <a:cs typeface="맑은 고딕"/>
                        </a:rPr>
                        <a:t>데이터 보관 정리</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매일 04:00</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기간·상태 조건에 따른 익명화·삭제와 로밍 상태 갱신</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45558">
                <a:tc>
                  <a:txBody>
                    <a:bodyPr>
                      <a:noAutofit/>
                    </a:bodyPr>
                    <a:lstStyle/>
                    <a:p>
                      <a:r>
                        <a:rPr sz="1598" b="0">
                          <a:solidFill>
                            <a:srgbClr val="17171A"/>
                          </a:solidFill>
                          <a:latin typeface="맑은 고딕"/>
                          <a:ea typeface="맑은 고딕"/>
                          <a:cs typeface="맑은 고딕"/>
                        </a:rPr>
                        <a:t>FAQ 랭킹·미응답 이름</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1분 / 5분</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최근 20분 top5 갱신 / 최근 질문으로 그룹 이름 생성</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45558">
                <a:tc>
                  <a:txBody>
                    <a:bodyPr>
                      <a:noAutofit/>
                    </a:bodyPr>
                    <a:lstStyle/>
                    <a:p>
                      <a:r>
                        <a:rPr sz="1598" b="0">
                          <a:solidFill>
                            <a:srgbClr val="17171A"/>
                          </a:solidFill>
                          <a:latin typeface="맑은 고딕"/>
                          <a:ea typeface="맑은 고딕"/>
                          <a:cs typeface="맑은 고딕"/>
                        </a:rPr>
                        <a:t>가드 검토</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예약 확인 1분</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관리자 설정 주기에 분석, worker 2초·알림 5초, 04:15 정리</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45558">
                <a:tc>
                  <a:txBody>
                    <a:bodyPr>
                      <a:noAutofit/>
                    </a:bodyPr>
                    <a:lstStyle/>
                    <a:p>
                      <a:r>
                        <a:rPr sz="1598" b="0">
                          <a:solidFill>
                            <a:srgbClr val="17171A"/>
                          </a:solidFill>
                          <a:latin typeface="맑은 고딕"/>
                          <a:ea typeface="맑은 고딕"/>
                          <a:cs typeface="맑은 고딕"/>
                        </a:rPr>
                        <a:t>비동기·상담 복구</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2~15초</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Outbox 2초 / 상담 유지·복구 5초 / 취소 구독 복구 15초</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45558">
                <a:tc>
                  <a:txBody>
                    <a:bodyPr>
                      <a:noAutofit/>
                    </a:bodyPr>
                    <a:lstStyle/>
                    <a:p>
                      <a:r>
                        <a:rPr sz="1598" b="0">
                          <a:solidFill>
                            <a:srgbClr val="17171A"/>
                          </a:solidFill>
                          <a:latin typeface="맑은 고딕"/>
                          <a:ea typeface="맑은 고딕"/>
                          <a:cs typeface="맑은 고딕"/>
                        </a:rPr>
                        <a:t>캐시·적체 관측</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5초 / 5분</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금칙어 캐시 버전 확인 / 임베딩 backlog 지표 갱신</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bl>
          </a:graphicData>
        </a:graphic>
      </p:graphicFrame>
    </p:spTree>
    <p:extLst>
      <p:ext uri="{BB962C8B-B14F-4D97-AF65-F5344CB8AC3E}">
        <p14:creationId xmlns:p14="http://schemas.microsoft.com/office/powerpoint/2010/main" val="1907480712"/>
      </p:ext>
    </p:extLst>
  </p:cSld>
</p:sld>
</file>

<file path=ppt/theme/theme1.xml><?xml version="1.0" encoding="utf-8"?>
<a:theme xmlns:a="http://schemas.openxmlformats.org/drawingml/2006/main" name="UBot">
  <a:themeElements>
    <a:clrScheme name="UBot">
      <a:dk1>
        <a:srgbClr val="17171A"/>
      </a:dk1>
      <a:lt1>
        <a:srgbClr val="FFFFFF"/>
      </a:lt1>
      <a:dk2>
        <a:srgbClr val="17171A"/>
      </a:dk2>
      <a:lt2>
        <a:srgbClr val="F6F7F8"/>
      </a:lt2>
      <a:accent1>
        <a:srgbClr val="F72585"/>
      </a:accent1>
      <a:accent2>
        <a:srgbClr val="E5E6E9"/>
      </a:accent2>
      <a:accent3>
        <a:srgbClr val="686B72"/>
      </a:accent3>
      <a:accent4>
        <a:srgbClr val="D91370"/>
      </a:accent4>
      <a:accent5>
        <a:srgbClr val="6F55DD"/>
      </a:accent5>
      <a:accent6>
        <a:srgbClr val="4B3BB5"/>
      </a:accent6>
      <a:hlink>
        <a:srgbClr val="F72585"/>
      </a:hlink>
      <a:folHlink>
        <a:srgbClr val="686B72"/>
      </a:folHlink>
    </a:clrScheme>
    <a:fontScheme name="UBot">
      <a:majorFont>
        <a:latin typeface="맑은 고딕"/>
        <a:ea typeface="맑은 고딕"/>
        <a:cs typeface=""/>
        <a:font script="Jpan" typeface="Yu Gothic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맑은 고딕"/>
        <a:cs typeface=""/>
        <a:font script="Jpan" typeface="Yu Gothic"/>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UBot">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2026-10-26T00:54:22.6740000Z</dcterms:created>
  <dcterms:modified xsi:type="dcterms:W3CDTF">2026-10-26T00:54:22.6740000Z</dcterms:modified>
</coreProperties>
</file>