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7"/>
  </p:notesMasterIdLst>
  <p:sldIdLst>
    <p:sldId id="277" r:id="rId2"/>
    <p:sldId id="256" r:id="rId3"/>
    <p:sldId id="278" r:id="rId4"/>
    <p:sldId id="257" r:id="rId5"/>
    <p:sldId id="280" r:id="rId6"/>
    <p:sldId id="281" r:id="rId7"/>
    <p:sldId id="282" r:id="rId8"/>
    <p:sldId id="279" r:id="rId9"/>
    <p:sldId id="284" r:id="rId10"/>
    <p:sldId id="285" r:id="rId11"/>
    <p:sldId id="286" r:id="rId12"/>
    <p:sldId id="287" r:id="rId13"/>
    <p:sldId id="288" r:id="rId14"/>
    <p:sldId id="289" r:id="rId15"/>
    <p:sldId id="290" r:id="rId16"/>
    <p:sldId id="258" r:id="rId17"/>
    <p:sldId id="259" r:id="rId18"/>
    <p:sldId id="260" r:id="rId19"/>
    <p:sldId id="283"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91" r:id="rId35"/>
    <p:sldId id="276" r:id="rId36"/>
  </p:sldIdLst>
  <p:sldSz cx="13716000" cy="7715250"/>
  <p:notesSz cx="771525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프로젝트 팀 구성 및 역할" id="{6C8A44CC-470C-A065-729A-F60DBA9BDE47}">
          <p14:sldIdLst>
            <p14:sldId id="277"/>
            <p14:sldId id="256"/>
            <p14:sldId id="278"/>
            <p14:sldId id="257"/>
            <p14:sldId id="280"/>
            <p14:sldId id="281"/>
            <p14:sldId id="282"/>
            <p14:sldId id="279"/>
            <p14:sldId id="284"/>
            <p14:sldId id="285"/>
            <p14:sldId id="286"/>
            <p14:sldId id="287"/>
            <p14:sldId id="288"/>
            <p14:sldId id="289"/>
            <p14:sldId id="290"/>
            <p14:sldId id="258"/>
            <p14:sldId id="259"/>
            <p14:sldId id="260"/>
            <p14:sldId id="283"/>
            <p14:sldId id="261"/>
            <p14:sldId id="262"/>
            <p14:sldId id="263"/>
            <p14:sldId id="264"/>
            <p14:sldId id="265"/>
            <p14:sldId id="266"/>
            <p14:sldId id="267"/>
            <p14:sldId id="268"/>
            <p14:sldId id="269"/>
            <p14:sldId id="270"/>
            <p14:sldId id="271"/>
            <p14:sldId id="272"/>
            <p14:sldId id="273"/>
            <p14:sldId id="274"/>
            <p14:sldId id="291"/>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0" d="100"/>
          <a:sy n="100" d="100"/>
        </p:scale>
        <p:origin x="216" y="31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HTTP 완료 RPS</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4B</c:v>
                </c:pt>
                <c:pt idx="1">
                  <c:v>8B</c:v>
                </c:pt>
                <c:pt idx="2">
                  <c:v>14B</c:v>
                </c:pt>
              </c:strCache>
            </c:strRef>
          </c:cat>
          <c:val>
            <c:numRef>
              <c:f>'Chart Data'!$B$2:$B$4</c:f>
              <c:numCache>
                <c:formatCode>General</c:formatCode>
                <c:ptCount val="3"/>
                <c:pt idx="0">
                  <c:v>9.13</c:v>
                </c:pt>
                <c:pt idx="1">
                  <c:v>6.1</c:v>
                </c:pt>
                <c:pt idx="2">
                  <c:v>3.33</c:v>
                </c:pt>
              </c:numCache>
            </c:numRef>
          </c:val>
          <c:extLst>
            <c:ext xmlns:c16="http://schemas.microsoft.com/office/drawing/2014/chart" uri="{C3380CC4-5D6E-409C-BE32-E72D297353CC}">
              <c16:uniqueId val="{00000000-8B3C-4A45-BE0D-F1D382CF82D0}"/>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12"/>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3"/>
      </c:valAx>
      <c:spPr>
        <a:noFill/>
        <a:ln w="0">
          <a:noFill/>
        </a:ln>
      </c:spPr>
    </c:plotArea>
    <c:plotVisOnly val="1"/>
    <c:dispBlanksAs val="zero"/>
    <c:showDLblsOverMax val="1"/>
  </c:chart>
  <c:spPr>
    <a:no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기본 프롬프트</c:v>
          </c:tx>
          <c:spPr>
            <a:solidFill>
              <a:srgbClr val="B9BAC1"/>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환각</c:v>
                </c:pt>
                <c:pt idx="1">
                  <c:v>되묻기</c:v>
                </c:pt>
              </c:strCache>
            </c:strRef>
          </c:cat>
          <c:val>
            <c:numRef>
              <c:f>'Chart Data'!$B$2:$B$3</c:f>
              <c:numCache>
                <c:formatCode>General</c:formatCode>
                <c:ptCount val="2"/>
                <c:pt idx="0">
                  <c:v>20.44</c:v>
                </c:pt>
                <c:pt idx="1">
                  <c:v>14</c:v>
                </c:pt>
              </c:numCache>
            </c:numRef>
          </c:val>
          <c:extLst>
            <c:ext xmlns:c16="http://schemas.microsoft.com/office/drawing/2014/chart" uri="{C3380CC4-5D6E-409C-BE32-E72D297353CC}">
              <c16:uniqueId val="{00000000-EC1C-48BF-A39C-941783AE24F9}"/>
            </c:ext>
          </c:extLst>
        </c:ser>
        <c:ser>
          <c:idx val="1"/>
          <c:order val="1"/>
          <c:tx>
            <c:v>개선 프롬프트</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환각</c:v>
                </c:pt>
                <c:pt idx="1">
                  <c:v>되묻기</c:v>
                </c:pt>
              </c:strCache>
            </c:strRef>
          </c:cat>
          <c:val>
            <c:numRef>
              <c:f>'Chart Data'!$D$2:$D$3</c:f>
              <c:numCache>
                <c:formatCode>General</c:formatCode>
                <c:ptCount val="2"/>
                <c:pt idx="0">
                  <c:v>13.56</c:v>
                </c:pt>
                <c:pt idx="1">
                  <c:v>0.11</c:v>
                </c:pt>
              </c:numCache>
            </c:numRef>
          </c:val>
          <c:extLst>
            <c:ext xmlns:c16="http://schemas.microsoft.com/office/drawing/2014/chart" uri="{C3380CC4-5D6E-409C-BE32-E72D297353CC}">
              <c16:uniqueId val="{00000001-EC1C-48BF-A39C-941783AE24F9}"/>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25"/>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5"/>
      </c:valAx>
      <c:spPr>
        <a:noFill/>
        <a:ln w="0">
          <a:noFill/>
        </a:ln>
      </c:spPr>
    </c:plotArea>
    <c:legend>
      <c:legendPos val="b"/>
      <c:overlay val="0"/>
      <c:txPr>
        <a:bodyPr anchorCtr="1"/>
        <a:lstStyle/>
        <a:p>
          <a:pPr>
            <a:defRPr sz="1350">
              <a:solidFill>
                <a:srgbClr val="686B72"/>
              </a:solidFill>
              <a:latin typeface="맑은 고딕"/>
              <a:ea typeface="맑은 고딕"/>
              <a:cs typeface="맑은 고딕"/>
            </a:defRPr>
          </a:pPr>
          <a:endParaRPr lang="ko-KR"/>
        </a:p>
      </c:txPr>
    </c:legend>
    <c:plotVisOnly val="1"/>
    <c:dispBlanksAs val="zero"/>
    <c:showDLblsOverMax val="1"/>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pPr lvl="0">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pPr lvl="0">
              <a:defRPr/>
            </a:pPr>
            <a:fld id="{5282F153-3F37-0F45-9E97-73ACFA13230C}" type="datetime1">
              <a:rPr lang="en-US"/>
              <a:pPr lvl="0">
                <a:defRPr/>
              </a:pPr>
              <a:t>10/26/2026</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a:pPr lvl="0">
              <a:defRPr/>
            </a:pPr>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pPr lvl="0">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pPr lvl="0">
              <a:defRPr/>
            </a:pPr>
            <a:fld id="{CE5E9CC1-C706-0F49-92D6-E571CC5EEA8F}" type="slidenum">
              <a:rPr lang="en-US"/>
              <a:pPr lvl="0">
                <a:defRPr/>
              </a:pPr>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p:nvPr>
        </p:nvSpPr>
        <p:spPr/>
      </p:sp>
      <p:sp>
        <p:nvSpPr>
          <p:cNvPr id="3" name="Notes Placeholder 2"/>
          <p:cNvSpPr>
            <a:spLocks noGrp="1"/>
          </p:cNvSpPr>
          <p:nvPr>
            <p:ph type="body" idx="1"/>
          </p:nvPr>
        </p:nvSpPr>
        <p:spPr/>
        <p:txBody>
          <a:bodyPr/>
          <a:lstStyle/>
          <a:p>
            <a:pPr lvl="0">
              <a:defRPr/>
            </a:pP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여러 모델에 같은 FAQ 문제를 주고 정답과 환각을 전수 평가했습니다. 조건과 예외, 자료가 없을 때의 대응, 멀티턴과 공격도 봤습니다. 큰 모델은 정확도가 높아도 동시 서빙 부담이 있어 4B 후보를 다시 평가했습니다. 두4B의 오류 차이와 최종 튜닝 대상 선정 근거는 다음 장에서 보겠습니다.</a:t>
            </a:r>
          </a:p>
          <a:p>
            <a:endParaRPr/>
          </a:p>
          <a:p>
            <a:r>
              <a:t>비교 조건과 해석</a:t>
            </a:r>
          </a:p>
          <a:p>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a:endParaRPr/>
          </a:p>
          <a:p>
            <a:r>
              <a:t>근거</a:t>
            </a:r>
          </a:p>
          <a:p>
            <a:r>
              <a:t>C:/Ureka/ureca_project2/LLM_Test/model_test_v2/try1/results/all_summary.md</a:t>
            </a:r>
          </a:p>
          <a:p>
            <a:r>
              <a:t>C:/Ureka/ureca_project2/LLM_Test/model_test_v2/try2/results/all_summary.md</a:t>
            </a:r>
          </a:p>
          <a:p>
            <a:r>
              <a:t>C:/Ureka/ureca_project2/LLM_Test/model_test_v3/try1/results/all_summary.md</a:t>
            </a:r>
          </a:p>
          <a:p>
            <a:r>
              <a:t>C:/Ureka/ureca_project2/LLM_Test/model_test_v3/try1/results/summary/model_selection.md</a:t>
            </a:r>
          </a:p>
          <a:p>
            <a:r>
              <a:t>C:/Ureka/ureca_project2/LLM_Test/model_test_v4/try1/results/summary/brief_report.md</a:t>
            </a:r>
          </a:p>
          <a:p>
            <a:r>
              <a:t>C:/Ureka/ureca_project2/LLM_Test/model_test_v4/try1/results/summary/tuning_target_decision.md</a:t>
            </a:r>
          </a:p>
          <a:p>
            <a:r>
              <a:t>C:/Ureka/ureca_project2/LLM_Test/servingtest/l4/reports/L4_MULTIMODEL_RESULTS_20261006.md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71618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(38초)</a:t>
            </a:r>
          </a:p>
          <a:p>
            <a:r>
              <a:t>전체 정답률은Gemma가2.1%포인트높았지만,오답의종류를다시봤습니다. Qwen오답의36.6%는답할수있는내용을보류한경우였고,352건중255건은환각도없었습니다. 실제로답한문항에서는정답률과계산형정답률이더높았습니다. 반대로답이없는670문항에서Gemma는오답18.4%,환각31.9%로Qwen보다높았고,답변가능으로출력한경우에도환각률이18.3%였습니다. 그래서보류안정성과프롬프트교정가능성을보고Qwen을튜닝대상으로정했습니다.</a:t>
            </a:r>
          </a:p>
          <a:p>
            <a:endParaRPr/>
          </a:p>
          <a:p>
            <a:r>
              <a:t>비교 조건과 해석</a:t>
            </a:r>
          </a:p>
          <a:p>
            <a:r>
              <a:t>주요근거=tuning_target_decision.md1-1·1-2. RT제외Gemma2598/Qwen2600,전체정답률65.05%/63.0%. 과잉보류32/908=3.5%,352/962=36.6%;그중환각없음15/255. 기대ANSWER이며본문도ANSWER인선택표본정답922/1319=69.9%,839/1090=77.0%;계산CE/UI/AR정답188/392=48.0%,156/281=55.5%. 답한표본은모델별로다르므로전체정답률또는보류를답변으로바꿨을때의예상정답률이아님. 기대보류계열830건(ABSTAIN670/CONFLICT90/OUT_OF_SCOPE70)정답660/724=79.5%/87.2%. 기대ABSTAIN670건오답123/71=18.4%/10.6%,환각214/143=31.9%/21.3%. 출력라벨ANSWER환각240/1313=18.3%,48/577=8.3%;본문ANSWER기준환각과구분. 정답과환각은독립이므로두비율을더하지않는다. 계산오적용은환각과별개일수있다. Qwen계산형답변환각62/281=22.1%로Gemma66/392=16.8%보다높은위험도남음. 따라서Gemma의보류를전혀통제할수없다거나Qwen이모든영역에서더안전하다는결론은아님. 우측사례CE-0031/UI-0055는결정문1-5. 1-3의근거→보류→본문연결,1-4의불필요한되묻기는관측된교정가설근거. 이후개선효과는다음프롬프트슬라이드의같은표본으로검증해야함. v3/v4의환각률차이를튜닝효과로연결하지않는다.</a:t>
            </a:r>
          </a:p>
          <a:p>
            <a:endParaRPr/>
          </a:p>
          <a:p>
            <a:r>
              <a:t>근거</a:t>
            </a:r>
          </a:p>
          <a:p>
            <a:r>
              <a:t>C:/Ureka/ureca_project2/LLM_Test/model_test_v4/try1/results/summary/tuning_target_decision.md</a:t>
            </a:r>
          </a:p>
          <a:p>
            <a:r>
              <a:t>C:/Ureka/ureca_project2/LLM_Test/presentation_work/revision_20261026_4b_selection/selection_metrics.json</a:t>
            </a:r>
          </a:p>
          <a:p>
            <a:r>
              <a:t>C:/Ureka/ureca_project2/LLM_Test/presentation_work/revision_20261026_4b_selection/derive_selection_metrics.py</a:t>
            </a:r>
          </a:p>
          <a:p>
            <a:r>
              <a:t>C:/Ureka/ureca_project2/LLM_Test/presentation_work/evidence_20261026/gemma_v3_v4_and_status.json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983631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(27초)</a:t>
            </a:r>
          </a:p>
          <a:p>
            <a:r>
              <a:t>OFF를 튜닝한 뒤에도 Instruct의 정답 이점이 남았습니다. 기본 프롬프트만 적용한 Instruct Q4가 마지막 OFF 튜닝보다 공통 표본에서 더 정확했습니다. Q8은 전체 평가에서 정확도와 환각 차이가 유의하지 않았지만 응답 시간과 가중치 용량이 늘었습니다. 그래서 Q4를 택하고, 남은 추측성 덧붙임을 프롬프트로 교정했습니다.</a:t>
            </a:r>
          </a:p>
          <a:p>
            <a:endParaRPr/>
          </a:p>
          <a:p>
            <a:r>
              <a:t>비교 조건과 해석</a:t>
            </a:r>
          </a:p>
          <a:p>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a:endParaRPr/>
          </a:p>
          <a:p>
            <a:r>
              <a:t>근거</a:t>
            </a:r>
          </a:p>
          <a:p>
            <a:r>
              <a:t>C:/Ureka/ureca_project2/LLM_Test/presentation_work/revision_20261026_4b_selection/slide_metrics.json</a:t>
            </a:r>
          </a:p>
          <a:p>
            <a:r>
              <a:t>C:/Ureka/ureca_project2/LLM_Test/presentation_work/evidence_20261026/off_tuned_vs_instruct.json</a:t>
            </a:r>
          </a:p>
          <a:p>
            <a:r>
              <a:t>C:/Ureka/ureca_project2/LLM_Test/model_test_v5/try1/results/summary/quantization_decision.md</a:t>
            </a:r>
          </a:p>
          <a:p>
            <a:r>
              <a:t>C:/Ureka/ureca_project2/LLM_Test/model_test_v5/try1/results/summary/cause_breakdown.md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45605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a:endParaRPr/>
          </a:p>
          <a:p>
            <a:r>
              <a:t>비교 조건과 해석</a:t>
            </a:r>
          </a:p>
          <a:p>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a:endParaRPr/>
          </a:p>
          <a:p>
            <a:r>
              <a:t>근거</a:t>
            </a:r>
          </a:p>
          <a:p>
            <a:r>
              <a:t>C:/Ureka/ureca_project2/LLM_Test/prompts_test_v7/try1/results/llm_judge/pv7-try1_variant_compare_vs_v4_base.md</a:t>
            </a:r>
          </a:p>
          <a:p>
            <a:r>
              <a:t>C:/Ureka/ureca_project2/LLM_Test/prompts_test_v7/try1/results/summary/failure_analysis.md</a:t>
            </a:r>
          </a:p>
          <a:p>
            <a:r>
              <a:t>C:/Ureka/ureca_project2/LLM_Test/prompts_test_v7/SETUP.md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605115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여러 질문을 나누고 생략된 대상을 복원하기 위해 판정 모델을 도입했습니다. 분리나 멀티턴 표지가 없는 질문은 먼저 원문으로 검색하고, 기준을 통과하면 판정을 건너뜁니다. 질문 분리100건 전체에서 필요한FAQ를 모두 찾은 문항은 판정 없이69건, 초기 판정81건, 개선 판정84건입니다. 질문 개수를 맞게 나눈 문항도81건에서90건이 됐습니다. 이는 답변 정확도가 아니라 검색과 분리 성능입니다.</a:t>
            </a:r>
          </a:p>
          <a:p>
            <a:endParaRPr/>
          </a:p>
          <a:p>
            <a:r>
              <a:t>비교 조건과 해석</a:t>
            </a:r>
          </a:p>
          <a:p>
            <a:r>
              <a:t>별도 질문분리100건·정답의도201개. final/split/split-analysis.json의 원문·old·search 저장검색 결과에서 재집계. 모든 의도 정답 FAQ 검색=69/81/84, 의도별 FAQ 적중=161/181/182; 기준 top3·score&gt;=.75. 질문 개수 일치=초기81/개선90. 문서의 2차 재설계 현재 운영 프롬프트와 같은 결과다. 질문·gold는 AI 생성, 사람 검수 전이고 단회 실행. 전체 기능평가200건(이력 없음141/있음59)과 별도 제작100건이므로 같은300건 전후 비교로 합산하지 않는다. 기존41건은200건에서 이력59건 중 정답FAQ가 지정된41건만 추린 초기진단이었다. 그 수치를 전체 테스트로 해석하면 안 되므로 본문에서 별도100건 전체 결과로 교체했다. 원문 검색은 저장 벡터검색 기준선이며 구버전 전체API 실측이 아니다. 초기/분류기/slot의 종단 정답·환각 완전공통4단계 자료는 없고 분류기는 실제 호출 생략 수를 다음 장에서 제시한다.</a:t>
            </a:r>
          </a:p>
          <a:p>
            <a:endParaRPr/>
          </a:p>
          <a:p>
            <a:r>
              <a:t>근거</a:t>
            </a:r>
          </a:p>
          <a:p>
            <a:r>
              <a:t>C:/Ureka/ureca_project2/BackEnd/docs/질문분리_멀티턴_테스트_보고서.md</a:t>
            </a:r>
          </a:p>
          <a:p>
            <a:r>
              <a:t>C:/Ureka/ureca_project2/eval_205_multiturn/docs-evaluation/2026-10-16-split/final/split/split-analysis.json</a:t>
            </a:r>
          </a:p>
          <a:p>
            <a:r>
              <a:t>C:/Ureka/ureca_project2/LLM_Test/presentation_work/revision_20261026_4b_selection/feedback_metrics.json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496672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a:endParaRPr/>
          </a:p>
          <a:p>
            <a:r>
              <a:t>비교 조건과 해석</a:t>
            </a:r>
          </a:p>
          <a:p>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a:endParaRPr/>
          </a:p>
          <a:p>
            <a:r>
              <a:t>근거</a:t>
            </a:r>
          </a:p>
          <a:p>
            <a:r>
              <a:t>C:/Ureka/ureca_project2/BackEnd/docs/질문분리_멀티턴_테스트_보고서.md</a:t>
            </a:r>
          </a:p>
          <a:p>
            <a:r>
              <a:t>C:/Ureka/ureca_project2/eval_205_multiturn/docs-evaluation/2026-10-15-keep-search/HANDOFF.md</a:t>
            </a:r>
          </a:p>
          <a:p>
            <a:r>
              <a:t>C:/Ureka/ureca_project2/LLM_Test/presentation_work/evidence_20261026/recomputed_metrics.json</a:t>
            </a:r>
          </a:p>
          <a:p>
            <a:r>
              <a:t>C:/Ureka/ureca_project2/LLM_Test/presentation_work/revision_20261026_4b_selection/slide_metrics.json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441459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(31초)</a:t>
            </a:r>
          </a:p>
          <a:p>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a:endParaRPr/>
          </a:p>
          <a:p>
            <a:r>
              <a:t>비교 조건과 해석</a:t>
            </a:r>
          </a:p>
          <a:p>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a:endParaRPr/>
          </a:p>
          <a:p>
            <a:r>
              <a:t>근거</a:t>
            </a:r>
          </a:p>
          <a:p>
            <a:r>
              <a:t>C:/Ureka/ureca_project2/LLM_Test/presentation_work/revision_20261026_4b_selection/derive_slide_metrics.py</a:t>
            </a:r>
          </a:p>
          <a:p>
            <a:r>
              <a:t>C:/Ureka/ureca_project2/LLM_Test/presentation_work/revision_20261026_4b_selection/slide_metrics.json</a:t>
            </a:r>
          </a:p>
          <a:p>
            <a:r>
              <a:t>C:/Ureka/ureca_project2/LLM_Test/pipeline_test_v4/try2/results/all_summary.md</a:t>
            </a:r>
          </a:p>
          <a:p>
            <a:r>
              <a:t>C:/Ureka/ureca_project2/LLM_Test/pipeline_test_v1/try1/results/interim_summary.md</a:t>
            </a:r>
          </a:p>
          <a:p>
            <a:r>
              <a:t>C:/Ureka/ureca_project2/LLM_Test/pipeline_test_v5/try1/results/all_summary.md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284202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스케줄러는팀전체기능을주기와역할로묶었습니다. 예약이나요금일정에맞춰알림을보내고,사용량이한도에도달하면안내합니다. FAQ랭킹과미응답그룹이름도정기적으로갱신합니다. 이외에기간이지난데이터정리,관리자검토작업,비동기처리와상담복구를주기적으로실행합니다.</a:t>
            </a:r>
          </a:p>
          <a:p>
            <a:endParaRPr/>
          </a:p>
          <a:p>
            <a:r>
              <a:t>비교 조건과 해석</a:t>
            </a:r>
          </a:p>
          <a:p>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a:endParaRPr/>
          </a:p>
          <a:p>
            <a:r>
              <a:t>근거</a:t>
            </a:r>
          </a:p>
          <a:p>
            <a:r>
              <a:t>C:/Ureka/ureca_project2/BackEnd/src/main/resources/application.yml</a:t>
            </a:r>
          </a:p>
          <a:p>
            <a:r>
              <a:t>C:/Ureka/ureca_project2/BackEnd/src/main/java/com/ubot/retention/scheduler/DataRetentionScheduler.java</a:t>
            </a:r>
          </a:p>
          <a:p>
            <a:r>
              <a:t>C:/Ureka/ureca_project2/BackEnd/src/main/resources/db/migration/R__purge_expired_data.sql</a:t>
            </a:r>
          </a:p>
          <a:p>
            <a:r>
              <a:t>C:/Ureka/ureca_project2/LLM_Test/presentation_work/evidence_20261026/evidence_review.json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74849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00000"/>
            <a:ext cx="9000000" cy="400000"/>
          </a:xfrm>
          <a:prstGeom prst="rect">
            <a:avLst/>
          </a:prstGeom>
          <a:noFill/>
        </p:spPr>
        <p:txBody>
          <a:bodyPr wrap="square" lIns="0" tIns="0" rIns="0" bIns="0" anchor="ctr">
            <a:spAutoFit/>
          </a:bodyPr>
          <a:lstStyle/>
          <a:p>
            <a:pPr lvl="0" algn="l">
              <a:defRPr/>
            </a:pPr>
            <a:r>
              <a:rPr sz="1600" b="1">
                <a:solidFill>
                  <a:schemeClr val="accent1"/>
                </a:solidFill>
              </a:rPr>
              <a:t>PART 02</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팀 구성 및 역할</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01</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36"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팀 구성 및 역할</a:t>
            </a:r>
          </a:p>
        </p:txBody>
      </p:sp>
      <p:sp>
        <p:nvSpPr>
          <p:cNvPr id="39"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팀 구성과 역할</a:t>
            </a:r>
          </a:p>
        </p:txBody>
      </p:sp>
      <p:sp>
        <p:nvSpPr>
          <p:cNvPr id="40"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파트별로 나눠 협업한 팀 구성과 담당 역할</a:t>
            </a:r>
          </a:p>
        </p:txBody>
      </p:sp>
      <p:sp>
        <p:nvSpPr>
          <p:cNvPr id="41"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42"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02</a:t>
            </a:r>
            <a:endParaRPr sz="1300" b="0">
              <a:solidFill>
                <a:schemeClr val="accent3"/>
              </a:solidFill>
            </a:endParaRPr>
          </a:p>
        </p:txBody>
      </p:sp>
      <p:sp>
        <p:nvSpPr>
          <p:cNvPr id="7" name="Embedding 팀 헤더"/>
          <p:cNvSpPr txBox="1"/>
          <p:nvPr/>
        </p:nvSpPr>
        <p:spPr>
          <a:xfrm>
            <a:off x="628650" y="2098800"/>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Embedding 팀</a:t>
            </a:r>
            <a:endParaRPr lang="en-US" sz="1800"/>
          </a:p>
        </p:txBody>
      </p:sp>
      <p:sp>
        <p:nvSpPr>
          <p:cNvPr id="8" name="임진우 카드"/>
          <p:cNvSpPr/>
          <p:nvPr/>
        </p:nvSpPr>
        <p:spPr>
          <a:xfrm>
            <a:off x="62865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9" name="임진우 이름"/>
          <p:cNvSpPr txBox="1"/>
          <p:nvPr/>
        </p:nvSpPr>
        <p:spPr>
          <a:xfrm>
            <a:off x="81153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임진우</a:t>
            </a:r>
            <a:endParaRPr lang="en-US" sz="2000"/>
          </a:p>
        </p:txBody>
      </p:sp>
      <p:sp>
        <p:nvSpPr>
          <p:cNvPr id="10" name="임진우 역할"/>
          <p:cNvSpPr txBox="1"/>
          <p:nvPr/>
        </p:nvSpPr>
        <p:spPr>
          <a:xfrm>
            <a:off x="811530" y="3122928"/>
            <a:ext cx="2577465" cy="1216152"/>
          </a:xfrm>
          <a:prstGeom prst="rect">
            <a:avLst/>
          </a:prstGeom>
          <a:noFill/>
          <a:ln/>
        </p:spPr>
        <p:txBody>
          <a:bodyPr wrap="square" lIns="0" tIns="0" rIns="0" bIns="0" anchor="t"/>
          <a:lstStyle/>
          <a:p>
            <a:pPr marL="342900" lvl="0" indent="-342900">
              <a:spcAft>
                <a:spcPts val="400"/>
              </a:spcAft>
              <a:buSzPct val="100000"/>
              <a:buChar char="•"/>
              <a:defRPr/>
            </a:pPr>
            <a:r>
              <a:rPr lang="en-US" sz="1100">
                <a:solidFill>
                  <a:schemeClr val="tx1"/>
                </a:solidFill>
              </a:rPr>
              <a:t>FAQ 유사표현, 문장 유사도 검사 파이프라인 구현</a:t>
            </a:r>
          </a:p>
          <a:p>
            <a:pPr marL="342900" lvl="0" indent="-342900">
              <a:spcAft>
                <a:spcPts val="400"/>
              </a:spcAft>
              <a:buSzPct val="100000"/>
              <a:buChar char="•"/>
              <a:defRPr/>
            </a:pPr>
            <a:r>
              <a:rPr lang="en-US" sz="1100">
                <a:solidFill>
                  <a:schemeClr val="tx1"/>
                </a:solidFill>
              </a:rPr>
              <a:t>관리자 FAQ 모니터링 구현</a:t>
            </a:r>
          </a:p>
          <a:p>
            <a:pPr marL="342900" lvl="0" indent="-342900">
              <a:spcAft>
                <a:spcPts val="400"/>
              </a:spcAft>
              <a:buSzPct val="100000"/>
              <a:buChar char="•"/>
              <a:defRPr/>
            </a:pPr>
            <a:r>
              <a:rPr lang="en-US" sz="1100">
                <a:solidFill>
                  <a:schemeClr val="tx1"/>
                </a:solidFill>
              </a:rPr>
              <a:t>실시간 랭킹 시스템 구현</a:t>
            </a:r>
            <a:endParaRPr lang="en-US" sz="1100"/>
          </a:p>
        </p:txBody>
      </p:sp>
      <p:sp>
        <p:nvSpPr>
          <p:cNvPr id="11" name="유민하 카드"/>
          <p:cNvSpPr/>
          <p:nvPr/>
        </p:nvSpPr>
        <p:spPr>
          <a:xfrm>
            <a:off x="380047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2" name="유민하 이름"/>
          <p:cNvSpPr txBox="1"/>
          <p:nvPr/>
        </p:nvSpPr>
        <p:spPr>
          <a:xfrm>
            <a:off x="398335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유민하</a:t>
            </a:r>
            <a:endParaRPr lang="en-US" sz="2000"/>
          </a:p>
        </p:txBody>
      </p:sp>
      <p:sp>
        <p:nvSpPr>
          <p:cNvPr id="13" name="유민하 역할"/>
          <p:cNvSpPr txBox="1"/>
          <p:nvPr/>
        </p:nvSpPr>
        <p:spPr>
          <a:xfrm>
            <a:off x="3983355" y="3122928"/>
            <a:ext cx="2577465" cy="1216152"/>
          </a:xfrm>
          <a:prstGeom prst="rect">
            <a:avLst/>
          </a:prstGeom>
          <a:noFill/>
          <a:ln/>
        </p:spPr>
        <p:txBody>
          <a:bodyPr wrap="square" lIns="0" tIns="0" rIns="0" bIns="0" anchor="t"/>
          <a:lstStyle/>
          <a:p>
            <a:pPr marL="0" lvl="0" indent="0">
              <a:buNone/>
              <a:defRPr/>
            </a:pPr>
            <a:endParaRPr lang="en-US" sz="1400"/>
          </a:p>
        </p:txBody>
      </p:sp>
      <p:sp>
        <p:nvSpPr>
          <p:cNvPr id="14" name="전송흔 카드"/>
          <p:cNvSpPr/>
          <p:nvPr/>
        </p:nvSpPr>
        <p:spPr>
          <a:xfrm>
            <a:off x="697230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5" name="전송흔 이름"/>
          <p:cNvSpPr txBox="1"/>
          <p:nvPr/>
        </p:nvSpPr>
        <p:spPr>
          <a:xfrm>
            <a:off x="715518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전송흔</a:t>
            </a:r>
            <a:endParaRPr lang="en-US" sz="2000"/>
          </a:p>
        </p:txBody>
      </p:sp>
      <p:sp>
        <p:nvSpPr>
          <p:cNvPr id="16" name="전송흔 역할"/>
          <p:cNvSpPr txBox="1"/>
          <p:nvPr/>
        </p:nvSpPr>
        <p:spPr>
          <a:xfrm>
            <a:off x="7155180" y="3122928"/>
            <a:ext cx="2577465" cy="1216152"/>
          </a:xfrm>
          <a:prstGeom prst="rect">
            <a:avLst/>
          </a:prstGeom>
          <a:noFill/>
          <a:ln/>
        </p:spPr>
        <p:txBody>
          <a:bodyPr wrap="square" lIns="0" tIns="0" rIns="0" bIns="0" anchor="t"/>
          <a:lstStyle/>
          <a:p>
            <a:pPr marL="0" lvl="0" indent="0">
              <a:buNone/>
              <a:defRPr/>
            </a:pPr>
            <a:endParaRPr lang="en-US" sz="1400"/>
          </a:p>
        </p:txBody>
      </p:sp>
      <p:sp>
        <p:nvSpPr>
          <p:cNvPr id="17" name="이재훈 카드"/>
          <p:cNvSpPr/>
          <p:nvPr/>
        </p:nvSpPr>
        <p:spPr>
          <a:xfrm>
            <a:off x="1014412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8" name="이재훈 이름"/>
          <p:cNvSpPr txBox="1"/>
          <p:nvPr/>
        </p:nvSpPr>
        <p:spPr>
          <a:xfrm>
            <a:off x="1032700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이재훈</a:t>
            </a:r>
            <a:endParaRPr lang="en-US" sz="2000"/>
          </a:p>
        </p:txBody>
      </p:sp>
      <p:sp>
        <p:nvSpPr>
          <p:cNvPr id="19" name="이재훈 역할"/>
          <p:cNvSpPr txBox="1"/>
          <p:nvPr/>
        </p:nvSpPr>
        <p:spPr>
          <a:xfrm>
            <a:off x="10327005" y="3122928"/>
            <a:ext cx="2577465" cy="1216152"/>
          </a:xfrm>
          <a:prstGeom prst="rect">
            <a:avLst/>
          </a:prstGeom>
          <a:noFill/>
          <a:ln/>
        </p:spPr>
        <p:txBody>
          <a:bodyPr wrap="square" lIns="0" tIns="0" rIns="0" bIns="0" anchor="t"/>
          <a:lstStyle/>
          <a:p>
            <a:pPr marL="0" lvl="0" indent="0">
              <a:buNone/>
              <a:defRPr/>
            </a:pPr>
            <a:endParaRPr lang="en-US" sz="1400"/>
          </a:p>
        </p:txBody>
      </p:sp>
      <p:sp>
        <p:nvSpPr>
          <p:cNvPr id="20" name="LLM 팀 헤더"/>
          <p:cNvSpPr txBox="1"/>
          <p:nvPr/>
        </p:nvSpPr>
        <p:spPr>
          <a:xfrm>
            <a:off x="628650" y="4558536"/>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LLM 팀</a:t>
            </a:r>
            <a:endParaRPr lang="en-US" sz="1800"/>
          </a:p>
        </p:txBody>
      </p:sp>
      <p:sp>
        <p:nvSpPr>
          <p:cNvPr id="21" name="임재민 카드"/>
          <p:cNvSpPr/>
          <p:nvPr/>
        </p:nvSpPr>
        <p:spPr>
          <a:xfrm>
            <a:off x="62865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2" name="임재민 이름"/>
          <p:cNvSpPr txBox="1"/>
          <p:nvPr/>
        </p:nvSpPr>
        <p:spPr>
          <a:xfrm>
            <a:off x="81153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임재민</a:t>
            </a:r>
            <a:endParaRPr lang="en-US" sz="2000"/>
          </a:p>
        </p:txBody>
      </p:sp>
      <p:sp>
        <p:nvSpPr>
          <p:cNvPr id="23" name="임재민 역할"/>
          <p:cNvSpPr txBox="1"/>
          <p:nvPr/>
        </p:nvSpPr>
        <p:spPr>
          <a:xfrm>
            <a:off x="811530" y="5582664"/>
            <a:ext cx="2577465" cy="1216152"/>
          </a:xfrm>
          <a:prstGeom prst="rect">
            <a:avLst/>
          </a:prstGeom>
          <a:noFill/>
          <a:ln/>
        </p:spPr>
        <p:txBody>
          <a:bodyPr wrap="square" lIns="0" tIns="0" rIns="0" bIns="0" anchor="t"/>
          <a:lstStyle/>
          <a:p>
            <a:pPr marL="0" lvl="0" indent="0">
              <a:buNone/>
              <a:defRPr/>
            </a:pPr>
            <a:endParaRPr lang="en-US" sz="1400"/>
          </a:p>
        </p:txBody>
      </p:sp>
      <p:sp>
        <p:nvSpPr>
          <p:cNvPr id="24" name="이승지 카드"/>
          <p:cNvSpPr/>
          <p:nvPr/>
        </p:nvSpPr>
        <p:spPr>
          <a:xfrm>
            <a:off x="380047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5" name="이승지 이름"/>
          <p:cNvSpPr txBox="1"/>
          <p:nvPr/>
        </p:nvSpPr>
        <p:spPr>
          <a:xfrm>
            <a:off x="398335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이승지</a:t>
            </a:r>
            <a:endParaRPr lang="en-US" sz="2000"/>
          </a:p>
        </p:txBody>
      </p:sp>
      <p:sp>
        <p:nvSpPr>
          <p:cNvPr id="26" name="이승지 역할"/>
          <p:cNvSpPr txBox="1"/>
          <p:nvPr/>
        </p:nvSpPr>
        <p:spPr>
          <a:xfrm>
            <a:off x="3983355" y="5582664"/>
            <a:ext cx="2577465" cy="1216152"/>
          </a:xfrm>
          <a:prstGeom prst="rect">
            <a:avLst/>
          </a:prstGeom>
          <a:noFill/>
          <a:ln/>
        </p:spPr>
        <p:txBody>
          <a:bodyPr wrap="square" lIns="0" tIns="0" rIns="0" bIns="0" anchor="t"/>
          <a:lstStyle/>
          <a:p>
            <a:pPr marL="0" lvl="0" indent="0">
              <a:buNone/>
              <a:defRPr/>
            </a:pPr>
            <a:endParaRPr lang="en-US" sz="1400"/>
          </a:p>
        </p:txBody>
      </p:sp>
      <p:sp>
        <p:nvSpPr>
          <p:cNvPr id="27" name="조현빈 카드"/>
          <p:cNvSpPr/>
          <p:nvPr/>
        </p:nvSpPr>
        <p:spPr>
          <a:xfrm>
            <a:off x="697230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8" name="조현빈 이름"/>
          <p:cNvSpPr txBox="1"/>
          <p:nvPr/>
        </p:nvSpPr>
        <p:spPr>
          <a:xfrm>
            <a:off x="715518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조현빈</a:t>
            </a:r>
            <a:endParaRPr lang="en-US" sz="2000"/>
          </a:p>
        </p:txBody>
      </p:sp>
      <p:sp>
        <p:nvSpPr>
          <p:cNvPr id="29" name="조현빈 역할"/>
          <p:cNvSpPr txBox="1"/>
          <p:nvPr/>
        </p:nvSpPr>
        <p:spPr>
          <a:xfrm>
            <a:off x="7155180" y="5582664"/>
            <a:ext cx="2577465" cy="1216152"/>
          </a:xfrm>
          <a:prstGeom prst="rect">
            <a:avLst/>
          </a:prstGeom>
          <a:noFill/>
          <a:ln/>
        </p:spPr>
        <p:txBody>
          <a:bodyPr wrap="square" lIns="0" tIns="0" rIns="0" bIns="0" anchor="t"/>
          <a:lstStyle/>
          <a:p>
            <a:pPr marL="0" lvl="0" indent="0">
              <a:buNone/>
              <a:defRPr/>
            </a:pPr>
            <a:endParaRPr lang="en-US" sz="1400"/>
          </a:p>
        </p:txBody>
      </p:sp>
      <p:sp>
        <p:nvSpPr>
          <p:cNvPr id="30" name="지창민 카드"/>
          <p:cNvSpPr/>
          <p:nvPr/>
        </p:nvSpPr>
        <p:spPr>
          <a:xfrm>
            <a:off x="1014412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31" name="지창민 이름"/>
          <p:cNvSpPr txBox="1"/>
          <p:nvPr/>
        </p:nvSpPr>
        <p:spPr>
          <a:xfrm>
            <a:off x="1032700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지창민</a:t>
            </a:r>
            <a:endParaRPr lang="en-US" sz="2000"/>
          </a:p>
        </p:txBody>
      </p:sp>
      <p:sp>
        <p:nvSpPr>
          <p:cNvPr id="32" name="지창민 역할"/>
          <p:cNvSpPr txBox="1"/>
          <p:nvPr/>
        </p:nvSpPr>
        <p:spPr>
          <a:xfrm>
            <a:off x="10327005" y="5582664"/>
            <a:ext cx="2577465" cy="1216152"/>
          </a:xfrm>
          <a:prstGeom prst="rect">
            <a:avLst/>
          </a:prstGeom>
          <a:noFill/>
          <a:ln/>
        </p:spPr>
        <p:txBody>
          <a:bodyPr wrap="square" lIns="0" tIns="0" rIns="0" bIns="0" anchor="t"/>
          <a:lstStyle/>
          <a:p>
            <a:pPr marL="0" lvl="0" indent="0">
              <a:buNone/>
              <a:defRPr/>
            </a:pPr>
            <a:endParaRPr lang="en-US" sz="1400"/>
          </a:p>
        </p:txBody>
      </p:sp>
      <p:sp>
        <p:nvSpPr>
          <p:cNvPr id="33" name="임진우 역할"/>
          <p:cNvSpPr txBox="1"/>
          <p:nvPr/>
        </p:nvSpPr>
        <p:spPr>
          <a:xfrm>
            <a:off x="3983355"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DB 총괄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미응답 질문 묶기·FAQ 등록 후 자동 재검증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Outbox 기반 미응답 비동기 저장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백엔드·프론트 보안 고도화</a:t>
            </a:r>
          </a:p>
        </p:txBody>
      </p:sp>
      <p:sp>
        <p:nvSpPr>
          <p:cNvPr id="34" name="임진우 역할"/>
          <p:cNvSpPr txBox="1"/>
          <p:nvPr/>
        </p:nvSpPr>
        <p:spPr>
          <a:xfrm>
            <a:off x="7155180"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비동기 AI 채팅 및 장애 복구 시스템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LLM·Embedding 모델 서빙 환경 구축 및 성능 최적화</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서비스 운영 모니터링 및 AWS CI/CD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자동화 구축</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상담사 연결, 메시지 유사도 검사 및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상담 이력 관리 시스템 구현</a:t>
            </a:r>
          </a:p>
        </p:txBody>
      </p:sp>
      <p:sp>
        <p:nvSpPr>
          <p:cNvPr id="35" name="임진우 역할"/>
          <p:cNvSpPr txBox="1"/>
          <p:nvPr/>
        </p:nvSpPr>
        <p:spPr>
          <a:xfrm>
            <a:off x="10327006"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임베딩 모델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챗봇 임계값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의도 별 재답변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공지/오류 배너 및 목록 조회, 관리</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사용자 알림 구현</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3</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절차 및 방법</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03</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1"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프로젝트 일정</a:t>
            </a:r>
          </a:p>
        </p:txBody>
      </p:sp>
      <p:sp>
        <p:nvSpPr>
          <p:cNvPr id="52"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2026.09.09 ~ 2026.10.25  ·  3개 차수로 진행</a:t>
            </a:r>
          </a:p>
        </p:txBody>
      </p:sp>
      <p:sp>
        <p:nvSpPr>
          <p:cNvPr id="53"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54"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04</a:t>
            </a:r>
            <a:endParaRPr sz="1300" b="0">
              <a:solidFill>
                <a:schemeClr val="accent3"/>
              </a:solidFill>
            </a:endParaRPr>
          </a:p>
        </p:txBody>
      </p:sp>
      <p:cxnSp>
        <p:nvCxnSpPr>
          <p:cNvPr id="7" name="09/09 가이드"/>
          <p:cNvCxnSpPr/>
          <p:nvPr/>
        </p:nvCxnSpPr>
        <p:spPr>
          <a:xfrm>
            <a:off x="270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8" name="09/28 가이드"/>
          <p:cNvCxnSpPr/>
          <p:nvPr/>
        </p:nvCxnSpPr>
        <p:spPr>
          <a:xfrm>
            <a:off x="6933695"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9" name="10/14 가이드"/>
          <p:cNvCxnSpPr/>
          <p:nvPr/>
        </p:nvCxnSpPr>
        <p:spPr>
          <a:xfrm>
            <a:off x="10498913"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0" name="10/25 가이드"/>
          <p:cNvCxnSpPr/>
          <p:nvPr/>
        </p:nvCxnSpPr>
        <p:spPr>
          <a:xfrm>
            <a:off x="1295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1" name="타임라인"/>
          <p:cNvCxnSpPr/>
          <p:nvPr/>
        </p:nvCxnSpPr>
        <p:spPr>
          <a:xfrm>
            <a:off x="2700000" y="2650000"/>
            <a:ext cx="10400000" cy="0"/>
          </a:xfrm>
          <a:prstGeom prst="line">
            <a:avLst/>
          </a:prstGeom>
          <a:ln w="31750">
            <a:solidFill>
              <a:schemeClr val="accent2"/>
            </a:solidFill>
            <a:prstDash val="dash"/>
          </a:ln>
        </p:spPr>
        <p:style>
          <a:lnRef idx="2">
            <a:schemeClr val="accent1"/>
          </a:lnRef>
          <a:fillRef idx="0">
            <a:schemeClr val="accent1"/>
          </a:fillRef>
          <a:effectRef idx="1">
            <a:schemeClr val="accent1"/>
          </a:effectRef>
          <a:fontRef idx="minor">
            <a:schemeClr val="tx1"/>
          </a:fontRef>
        </p:style>
      </p:cxnSp>
      <p:sp>
        <p:nvSpPr>
          <p:cNvPr id="12" name="09/09 점"/>
          <p:cNvSpPr/>
          <p:nvPr/>
        </p:nvSpPr>
        <p:spPr>
          <a:xfrm>
            <a:off x="260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09/09 날짜"/>
          <p:cNvSpPr txBox="1"/>
          <p:nvPr/>
        </p:nvSpPr>
        <p:spPr>
          <a:xfrm>
            <a:off x="210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09/09</a:t>
            </a:r>
          </a:p>
        </p:txBody>
      </p:sp>
      <p:sp>
        <p:nvSpPr>
          <p:cNvPr id="14" name="09/28 점"/>
          <p:cNvSpPr/>
          <p:nvPr/>
        </p:nvSpPr>
        <p:spPr>
          <a:xfrm>
            <a:off x="6833695"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09/28 날짜"/>
          <p:cNvSpPr txBox="1"/>
          <p:nvPr/>
        </p:nvSpPr>
        <p:spPr>
          <a:xfrm>
            <a:off x="6333695"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09/28</a:t>
            </a:r>
          </a:p>
        </p:txBody>
      </p:sp>
      <p:sp>
        <p:nvSpPr>
          <p:cNvPr id="16" name="10/14 점"/>
          <p:cNvSpPr/>
          <p:nvPr/>
        </p:nvSpPr>
        <p:spPr>
          <a:xfrm>
            <a:off x="10398913"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10/14 날짜"/>
          <p:cNvSpPr txBox="1"/>
          <p:nvPr/>
        </p:nvSpPr>
        <p:spPr>
          <a:xfrm>
            <a:off x="9898913"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10/14</a:t>
            </a:r>
          </a:p>
        </p:txBody>
      </p:sp>
      <p:sp>
        <p:nvSpPr>
          <p:cNvPr id="18" name="10/25 점"/>
          <p:cNvSpPr/>
          <p:nvPr/>
        </p:nvSpPr>
        <p:spPr>
          <a:xfrm>
            <a:off x="1285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9" name="10/25 날짜"/>
          <p:cNvSpPr txBox="1"/>
          <p:nvPr/>
        </p:nvSpPr>
        <p:spPr>
          <a:xfrm>
            <a:off x="1235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10/25</a:t>
            </a:r>
          </a:p>
        </p:txBody>
      </p:sp>
      <p:sp>
        <p:nvSpPr>
          <p:cNvPr id="20" name="1차 구간"/>
          <p:cNvSpPr txBox="1"/>
          <p:nvPr/>
        </p:nvSpPr>
        <p:spPr>
          <a:xfrm>
            <a:off x="2760000" y="2800000"/>
            <a:ext cx="4113695" cy="450000"/>
          </a:xfrm>
          <a:prstGeom prst="rect">
            <a:avLst/>
          </a:prstGeom>
          <a:noFill/>
        </p:spPr>
        <p:txBody>
          <a:bodyPr wrap="square" lIns="0" tIns="0" rIns="0" bIns="0" anchor="ctr">
            <a:spAutoFit/>
          </a:bodyPr>
          <a:lstStyle/>
          <a:p>
            <a:pPr lvl="0" algn="ctr">
              <a:defRPr/>
            </a:pPr>
            <a:r>
              <a:rPr sz="1200" b="1">
                <a:solidFill>
                  <a:schemeClr val="accent1"/>
                </a:solidFill>
              </a:rPr>
              <a:t>1차 · 기반 구축 및 기본 CRUD</a:t>
            </a:r>
          </a:p>
        </p:txBody>
      </p:sp>
      <p:sp>
        <p:nvSpPr>
          <p:cNvPr id="21" name="2차 구간"/>
          <p:cNvSpPr txBox="1"/>
          <p:nvPr/>
        </p:nvSpPr>
        <p:spPr>
          <a:xfrm>
            <a:off x="6993695" y="2800000"/>
            <a:ext cx="3445218" cy="450000"/>
          </a:xfrm>
          <a:prstGeom prst="rect">
            <a:avLst/>
          </a:prstGeom>
          <a:noFill/>
        </p:spPr>
        <p:txBody>
          <a:bodyPr wrap="square" lIns="0" tIns="0" rIns="0" bIns="0" anchor="ctr">
            <a:spAutoFit/>
          </a:bodyPr>
          <a:lstStyle/>
          <a:p>
            <a:pPr lvl="0" algn="ctr">
              <a:defRPr/>
            </a:pPr>
            <a:r>
              <a:rPr sz="1200" b="1">
                <a:solidFill>
                  <a:schemeClr val="accent1"/>
                </a:solidFill>
              </a:rPr>
              <a:t>2차 · 핵심 서비스 기능</a:t>
            </a:r>
          </a:p>
        </p:txBody>
      </p:sp>
      <p:sp>
        <p:nvSpPr>
          <p:cNvPr id="22" name="3차 구간"/>
          <p:cNvSpPr txBox="1"/>
          <p:nvPr/>
        </p:nvSpPr>
        <p:spPr>
          <a:xfrm>
            <a:off x="10558913" y="2800000"/>
            <a:ext cx="2331087" cy="450000"/>
          </a:xfrm>
          <a:prstGeom prst="rect">
            <a:avLst/>
          </a:prstGeom>
          <a:noFill/>
        </p:spPr>
        <p:txBody>
          <a:bodyPr wrap="square" lIns="0" tIns="0" rIns="0" bIns="0" anchor="ctr">
            <a:spAutoFit/>
          </a:bodyPr>
          <a:lstStyle/>
          <a:p>
            <a:pPr lvl="0" algn="ctr">
              <a:defRPr/>
            </a:pPr>
            <a:r>
              <a:rPr sz="1200" b="1">
                <a:solidFill>
                  <a:schemeClr val="accent1"/>
                </a:solidFill>
              </a:rPr>
              <a:t>3차 · 고도화, AI 품질, 운영 안정화</a:t>
            </a:r>
          </a:p>
        </p:txBody>
      </p:sp>
      <p:sp>
        <p:nvSpPr>
          <p:cNvPr id="23" name="기획·설계 행 이름"/>
          <p:cNvSpPr txBox="1"/>
          <p:nvPr/>
        </p:nvSpPr>
        <p:spPr>
          <a:xfrm>
            <a:off x="628650" y="3300000"/>
            <a:ext cx="1900000" cy="620000"/>
          </a:xfrm>
          <a:prstGeom prst="rect">
            <a:avLst/>
          </a:prstGeom>
          <a:noFill/>
        </p:spPr>
        <p:txBody>
          <a:bodyPr wrap="square" lIns="0" tIns="0" rIns="0" bIns="0" anchor="ctr">
            <a:spAutoFit/>
          </a:bodyPr>
          <a:lstStyle/>
          <a:p>
            <a:pPr lvl="0" algn="l">
              <a:defRPr/>
            </a:pPr>
            <a:r>
              <a:rPr sz="1600" b="1">
                <a:solidFill>
                  <a:schemeClr val="accent1"/>
                </a:solidFill>
              </a:rPr>
              <a:t>기획·설계</a:t>
            </a:r>
          </a:p>
        </p:txBody>
      </p:sp>
      <p:sp>
        <p:nvSpPr>
          <p:cNvPr id="24" name="기획·MVP 정의 박스"/>
          <p:cNvSpPr/>
          <p:nvPr/>
        </p:nvSpPr>
        <p:spPr>
          <a:xfrm>
            <a:off x="2700000" y="3300000"/>
            <a:ext cx="1114130"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기획·MVP 정의</a:t>
            </a:r>
          </a:p>
        </p:txBody>
      </p:sp>
      <p:sp>
        <p:nvSpPr>
          <p:cNvPr id="25" name="아키텍처·ERD 설계 박스"/>
          <p:cNvSpPr/>
          <p:nvPr/>
        </p:nvSpPr>
        <p:spPr>
          <a:xfrm>
            <a:off x="3814130" y="3300000"/>
            <a:ext cx="89130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아키텍처·ERD 설계</a:t>
            </a:r>
          </a:p>
        </p:txBody>
      </p:sp>
      <p:sp>
        <p:nvSpPr>
          <p:cNvPr id="26" name="AI (LLM·임베딩) 행 이름"/>
          <p:cNvSpPr txBox="1"/>
          <p:nvPr/>
        </p:nvSpPr>
        <p:spPr>
          <a:xfrm>
            <a:off x="628650" y="4030000"/>
            <a:ext cx="1900000" cy="620000"/>
          </a:xfrm>
          <a:prstGeom prst="rect">
            <a:avLst/>
          </a:prstGeom>
          <a:noFill/>
        </p:spPr>
        <p:txBody>
          <a:bodyPr wrap="square" lIns="0" tIns="0" rIns="0" bIns="0" anchor="ctr">
            <a:spAutoFit/>
          </a:bodyPr>
          <a:lstStyle/>
          <a:p>
            <a:pPr lvl="0" algn="l">
              <a:defRPr/>
            </a:pPr>
            <a:r>
              <a:rPr sz="1600" b="1">
                <a:solidFill>
                  <a:schemeClr val="accent1"/>
                </a:solidFill>
              </a:rPr>
              <a:t>AI (LLM·임베딩)</a:t>
            </a:r>
          </a:p>
        </p:txBody>
      </p:sp>
      <p:cxnSp>
        <p:nvCxnSpPr>
          <p:cNvPr id="27" name="AI (LLM·임베딩) 구분선"/>
          <p:cNvCxnSpPr/>
          <p:nvPr/>
        </p:nvCxnSpPr>
        <p:spPr>
          <a:xfrm>
            <a:off x="628650" y="397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28" name="모델 조사·비교 검증 박스"/>
          <p:cNvSpPr/>
          <p:nvPr/>
        </p:nvSpPr>
        <p:spPr>
          <a:xfrm>
            <a:off x="2922826" y="403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 조사·비교 검증</a:t>
            </a:r>
          </a:p>
        </p:txBody>
      </p:sp>
      <p:sp>
        <p:nvSpPr>
          <p:cNvPr id="29" name="모델·프롬프트 선정, 챗봇 연동 박스"/>
          <p:cNvSpPr/>
          <p:nvPr/>
        </p:nvSpPr>
        <p:spPr>
          <a:xfrm>
            <a:off x="5373913" y="4030000"/>
            <a:ext cx="1559782"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모델·프롬프트 선정, 챗봇 연동</a:t>
            </a:r>
          </a:p>
        </p:txBody>
      </p:sp>
      <p:sp>
        <p:nvSpPr>
          <p:cNvPr id="30" name="의도 분기·RAG 파이프라인 박스"/>
          <p:cNvSpPr/>
          <p:nvPr/>
        </p:nvSpPr>
        <p:spPr>
          <a:xfrm>
            <a:off x="6933695" y="4030000"/>
            <a:ext cx="356521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의도 분기·RAG 파이프라인</a:t>
            </a:r>
          </a:p>
        </p:txBody>
      </p:sp>
      <p:sp>
        <p:nvSpPr>
          <p:cNvPr id="31" name="응답 품질 고도화 박스"/>
          <p:cNvSpPr/>
          <p:nvPr/>
        </p:nvSpPr>
        <p:spPr>
          <a:xfrm>
            <a:off x="10498913" y="4030000"/>
            <a:ext cx="200543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응답 품질 고도화</a:t>
            </a:r>
          </a:p>
        </p:txBody>
      </p:sp>
      <p:sp>
        <p:nvSpPr>
          <p:cNvPr id="32" name="백엔드·서비스 행 이름"/>
          <p:cNvSpPr txBox="1"/>
          <p:nvPr/>
        </p:nvSpPr>
        <p:spPr>
          <a:xfrm>
            <a:off x="628650" y="4760000"/>
            <a:ext cx="1900000" cy="620000"/>
          </a:xfrm>
          <a:prstGeom prst="rect">
            <a:avLst/>
          </a:prstGeom>
          <a:noFill/>
        </p:spPr>
        <p:txBody>
          <a:bodyPr wrap="square" lIns="0" tIns="0" rIns="0" bIns="0" anchor="ctr">
            <a:spAutoFit/>
          </a:bodyPr>
          <a:lstStyle/>
          <a:p>
            <a:pPr lvl="0" algn="l">
              <a:defRPr/>
            </a:pPr>
            <a:r>
              <a:rPr sz="1600" b="1">
                <a:solidFill>
                  <a:schemeClr val="accent1"/>
                </a:solidFill>
              </a:rPr>
              <a:t>백엔드·서비스</a:t>
            </a:r>
          </a:p>
        </p:txBody>
      </p:sp>
      <p:cxnSp>
        <p:nvCxnSpPr>
          <p:cNvPr id="33" name="백엔드·서비스 구분선"/>
          <p:cNvCxnSpPr/>
          <p:nvPr/>
        </p:nvCxnSpPr>
        <p:spPr>
          <a:xfrm>
            <a:off x="628650" y="470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34" name="기본 API·채팅 시스템 박스"/>
          <p:cNvSpPr/>
          <p:nvPr/>
        </p:nvSpPr>
        <p:spPr>
          <a:xfrm>
            <a:off x="4036956"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기본 API·채팅 시스템</a:t>
            </a:r>
          </a:p>
        </p:txBody>
      </p:sp>
      <p:sp>
        <p:nvSpPr>
          <p:cNvPr id="35" name="미응답·검색어·금칙어 박스"/>
          <p:cNvSpPr/>
          <p:nvPr/>
        </p:nvSpPr>
        <p:spPr>
          <a:xfrm>
            <a:off x="6933695" y="476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미응답·검색어·금칙어</a:t>
            </a:r>
          </a:p>
        </p:txBody>
      </p:sp>
      <p:sp>
        <p:nvSpPr>
          <p:cNvPr id="36" name="예약·공지·알림 박스"/>
          <p:cNvSpPr/>
          <p:nvPr/>
        </p:nvSpPr>
        <p:spPr>
          <a:xfrm>
            <a:off x="8716304"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예약·공지·알림</a:t>
            </a:r>
          </a:p>
        </p:txBody>
      </p:sp>
      <p:sp>
        <p:nvSpPr>
          <p:cNvPr id="37" name="사용자 정보·상품·지도 박스"/>
          <p:cNvSpPr/>
          <p:nvPr/>
        </p:nvSpPr>
        <p:spPr>
          <a:xfrm>
            <a:off x="11613043" y="4760000"/>
            <a:ext cx="133695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사용자 정보·상품·지도</a:t>
            </a:r>
          </a:p>
        </p:txBody>
      </p:sp>
      <p:sp>
        <p:nvSpPr>
          <p:cNvPr id="38" name="인프라·배포 행 이름"/>
          <p:cNvSpPr txBox="1"/>
          <p:nvPr/>
        </p:nvSpPr>
        <p:spPr>
          <a:xfrm>
            <a:off x="628650" y="5490000"/>
            <a:ext cx="1900000" cy="620000"/>
          </a:xfrm>
          <a:prstGeom prst="rect">
            <a:avLst/>
          </a:prstGeom>
          <a:noFill/>
        </p:spPr>
        <p:txBody>
          <a:bodyPr wrap="square" lIns="0" tIns="0" rIns="0" bIns="0" anchor="ctr">
            <a:spAutoFit/>
          </a:bodyPr>
          <a:lstStyle/>
          <a:p>
            <a:pPr lvl="0" algn="l">
              <a:defRPr/>
            </a:pPr>
            <a:r>
              <a:rPr sz="1600" b="1">
                <a:solidFill>
                  <a:schemeClr val="accent1"/>
                </a:solidFill>
              </a:rPr>
              <a:t>인프라·배포</a:t>
            </a:r>
          </a:p>
        </p:txBody>
      </p:sp>
      <p:cxnSp>
        <p:nvCxnSpPr>
          <p:cNvPr id="39" name="인프라·배포 구분선"/>
          <p:cNvCxnSpPr/>
          <p:nvPr/>
        </p:nvCxnSpPr>
        <p:spPr>
          <a:xfrm>
            <a:off x="628650" y="543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0" name="개발 환경·배포 서버 구축 박스"/>
          <p:cNvSpPr/>
          <p:nvPr/>
        </p:nvSpPr>
        <p:spPr>
          <a:xfrm>
            <a:off x="3814130" y="5490000"/>
            <a:ext cx="3119565"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개발 환경·배포 서버 구축</a:t>
            </a:r>
          </a:p>
        </p:txBody>
      </p:sp>
      <p:sp>
        <p:nvSpPr>
          <p:cNvPr id="41" name="GPU 모델 서빙·성능 측정 박스"/>
          <p:cNvSpPr/>
          <p:nvPr/>
        </p:nvSpPr>
        <p:spPr>
          <a:xfrm>
            <a:off x="8716304" y="549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GPU 모델 서빙·성능 측정</a:t>
            </a:r>
          </a:p>
        </p:txBody>
      </p:sp>
      <p:sp>
        <p:nvSpPr>
          <p:cNvPr id="42" name="서버 분리·운영 배포 박스"/>
          <p:cNvSpPr/>
          <p:nvPr/>
        </p:nvSpPr>
        <p:spPr>
          <a:xfrm>
            <a:off x="10498913" y="549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서버 분리·운영 배포</a:t>
            </a:r>
          </a:p>
        </p:txBody>
      </p:sp>
      <p:sp>
        <p:nvSpPr>
          <p:cNvPr id="43" name="품질·운영 행 이름"/>
          <p:cNvSpPr txBox="1"/>
          <p:nvPr/>
        </p:nvSpPr>
        <p:spPr>
          <a:xfrm>
            <a:off x="628650" y="6220000"/>
            <a:ext cx="1900000" cy="620000"/>
          </a:xfrm>
          <a:prstGeom prst="rect">
            <a:avLst/>
          </a:prstGeom>
          <a:noFill/>
        </p:spPr>
        <p:txBody>
          <a:bodyPr wrap="square" lIns="0" tIns="0" rIns="0" bIns="0" anchor="ctr">
            <a:spAutoFit/>
          </a:bodyPr>
          <a:lstStyle/>
          <a:p>
            <a:pPr lvl="0" algn="l">
              <a:defRPr/>
            </a:pPr>
            <a:r>
              <a:rPr sz="1600" b="1">
                <a:solidFill>
                  <a:schemeClr val="accent1"/>
                </a:solidFill>
              </a:rPr>
              <a:t>품질·운영</a:t>
            </a:r>
          </a:p>
        </p:txBody>
      </p:sp>
      <p:cxnSp>
        <p:nvCxnSpPr>
          <p:cNvPr id="44" name="품질·운영 구분선"/>
          <p:cNvCxnSpPr/>
          <p:nvPr/>
        </p:nvCxnSpPr>
        <p:spPr>
          <a:xfrm>
            <a:off x="628650" y="616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5" name="보안·운영 모니터링 박스"/>
          <p:cNvSpPr/>
          <p:nvPr/>
        </p:nvSpPr>
        <p:spPr>
          <a:xfrm>
            <a:off x="8716304" y="622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보안·운영 모니터링</a:t>
            </a:r>
          </a:p>
        </p:txBody>
      </p:sp>
      <p:sp>
        <p:nvSpPr>
          <p:cNvPr id="46" name="입력·출력 가드 박스"/>
          <p:cNvSpPr/>
          <p:nvPr/>
        </p:nvSpPr>
        <p:spPr>
          <a:xfrm>
            <a:off x="10498913" y="6220000"/>
            <a:ext cx="178260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입력·출력 가드</a:t>
            </a:r>
          </a:p>
        </p:txBody>
      </p:sp>
      <p:sp>
        <p:nvSpPr>
          <p:cNvPr id="47" name="발표·시연 준비 박스"/>
          <p:cNvSpPr/>
          <p:nvPr/>
        </p:nvSpPr>
        <p:spPr>
          <a:xfrm>
            <a:off x="12281521" y="6220000"/>
            <a:ext cx="66847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발표·시연 준비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시스템 아키텍처</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질문 접수와 답변 생성을 나누고, AI 모델은 GPU 서버에 따로 둡니다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05</a:t>
            </a:r>
            <a:endParaRPr sz="1300" b="0">
              <a:solidFill>
                <a:schemeClr val="accent3"/>
              </a:solidFill>
            </a:endParaRPr>
          </a:p>
        </p:txBody>
      </p:sp>
      <p:sp>
        <p:nvSpPr>
          <p:cNvPr id="9" name="Rounded Rectangle 8"/>
          <p:cNvSpPr/>
          <p:nvPr/>
        </p:nvSpPr>
        <p:spPr>
          <a:xfrm>
            <a:off x="630936" y="2057400"/>
            <a:ext cx="141732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291840"/>
            <a:ext cx="1417320" cy="731520"/>
          </a:xfrm>
          <a:prstGeom prst="rect">
            <a:avLst/>
          </a:prstGeom>
          <a:noFill/>
        </p:spPr>
        <p:txBody>
          <a:bodyPr wrap="square" lIns="0" tIns="0" rIns="0" bIns="0" anchor="t">
            <a:spAutoFit/>
          </a:bodyPr>
          <a:lstStyle/>
          <a:p>
            <a:pPr algn="ctr"/>
            <a:r>
              <a:rPr sz="1500" b="1">
                <a:solidFill>
                  <a:srgbClr val="17171A"/>
                </a:solidFill>
              </a:rPr>
              <a:t>사용자</a:t>
            </a:r>
          </a:p>
          <a:p>
            <a:pPr algn="ctr"/>
            <a:r>
              <a:rPr sz="1200" b="0">
                <a:solidFill>
                  <a:srgbClr val="686B72"/>
                </a:solidFill>
              </a:rPr>
              <a:t>브라우저</a:t>
            </a:r>
          </a:p>
        </p:txBody>
      </p:sp>
      <p:sp>
        <p:nvSpPr>
          <p:cNvPr id="11" name="Right Arrow 10"/>
          <p:cNvSpPr/>
          <p:nvPr/>
        </p:nvSpPr>
        <p:spPr>
          <a:xfrm>
            <a:off x="2157984"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560320" y="2057400"/>
            <a:ext cx="214884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2724912"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FE 서버</a:t>
            </a:r>
          </a:p>
        </p:txBody>
      </p:sp>
      <p:sp>
        <p:nvSpPr>
          <p:cNvPr id="14" name="TextBox 13"/>
          <p:cNvSpPr txBox="1"/>
          <p:nvPr/>
        </p:nvSpPr>
        <p:spPr>
          <a:xfrm>
            <a:off x="2724912" y="2697480"/>
            <a:ext cx="1828800" cy="2377440"/>
          </a:xfrm>
          <a:prstGeom prst="rect">
            <a:avLst/>
          </a:prstGeom>
          <a:noFill/>
        </p:spPr>
        <p:txBody>
          <a:bodyPr wrap="square" lIns="0" tIns="0" rIns="0" bIns="0" anchor="t">
            <a:spAutoFit/>
          </a:bodyPr>
          <a:lstStyle/>
          <a:p>
            <a:pPr algn="l"/>
            <a:r>
              <a:rPr sz="1400" b="1">
                <a:solidFill>
                  <a:srgbClr val="17171A"/>
                </a:solidFill>
              </a:rPr>
              <a:t>Nginx</a:t>
            </a:r>
          </a:p>
          <a:p>
            <a:pPr algn="l"/>
            <a:r>
              <a:rPr sz="1200" b="0">
                <a:solidFill>
                  <a:srgbClr val="686B72"/>
                </a:solidFill>
              </a:rPr>
              <a:t>React 정적 파일</a:t>
            </a:r>
          </a:p>
          <a:p>
            <a:pPr algn="l"/>
            <a:endParaRPr sz="1200" b="0">
              <a:solidFill>
                <a:srgbClr val="686B72"/>
              </a:solidFill>
            </a:endParaRPr>
          </a:p>
          <a:p>
            <a:pPr algn="l"/>
            <a:r>
              <a:rPr sz="1400" b="1">
                <a:solidFill>
                  <a:srgbClr val="17171A"/>
                </a:solidFill>
              </a:rPr>
              <a:t>CSP 적용</a:t>
            </a:r>
          </a:p>
          <a:p>
            <a:pPr algn="l"/>
            <a:r>
              <a:rPr sz="1200" b="0">
                <a:solidFill>
                  <a:srgbClr val="686B72"/>
                </a:solidFill>
              </a:rPr>
              <a:t>외부 스크립트 차단</a:t>
            </a:r>
          </a:p>
          <a:p>
            <a:pPr algn="l"/>
            <a:endParaRPr sz="1200" b="0">
              <a:solidFill>
                <a:srgbClr val="686B72"/>
              </a:solidFill>
            </a:endParaRPr>
          </a:p>
          <a:p>
            <a:pPr algn="l"/>
            <a:r>
              <a:rPr sz="1400" b="1">
                <a:solidFill>
                  <a:srgbClr val="17171A"/>
                </a:solidFill>
              </a:rPr>
              <a:t>/api 프록시</a:t>
            </a:r>
          </a:p>
          <a:p>
            <a:pPr algn="l"/>
            <a:r>
              <a:rPr sz="1200" b="0">
                <a:solidFill>
                  <a:srgbClr val="686B72"/>
                </a:solidFill>
              </a:rPr>
              <a:t>BE 서버로 전달</a:t>
            </a:r>
          </a:p>
        </p:txBody>
      </p:sp>
      <p:sp>
        <p:nvSpPr>
          <p:cNvPr id="15" name="Right Arrow 14"/>
          <p:cNvSpPr/>
          <p:nvPr/>
        </p:nvSpPr>
        <p:spPr>
          <a:xfrm>
            <a:off x="4818888"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221224" y="2057400"/>
            <a:ext cx="411480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5385816"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BE 서버</a:t>
            </a:r>
          </a:p>
        </p:txBody>
      </p:sp>
      <p:sp>
        <p:nvSpPr>
          <p:cNvPr id="18" name="TextBox 17"/>
          <p:cNvSpPr txBox="1"/>
          <p:nvPr/>
        </p:nvSpPr>
        <p:spPr>
          <a:xfrm>
            <a:off x="6519672" y="2240280"/>
            <a:ext cx="2651760" cy="274320"/>
          </a:xfrm>
          <a:prstGeom prst="rect">
            <a:avLst/>
          </a:prstGeom>
          <a:noFill/>
        </p:spPr>
        <p:txBody>
          <a:bodyPr wrap="square" lIns="0" tIns="0" rIns="0" bIns="0" anchor="ctr">
            <a:spAutoFit/>
          </a:bodyPr>
          <a:lstStyle/>
          <a:p>
            <a:pPr algn="l"/>
            <a:r>
              <a:rPr sz="1100" b="0">
                <a:solidFill>
                  <a:srgbClr val="686B72"/>
                </a:solidFill>
              </a:rPr>
              <a:t>Nginx · 속도 제한 · 보안 헤더</a:t>
            </a:r>
          </a:p>
        </p:txBody>
      </p:sp>
      <p:sp>
        <p:nvSpPr>
          <p:cNvPr id="19" name="Rounded Rectangle 18"/>
          <p:cNvSpPr/>
          <p:nvPr/>
        </p:nvSpPr>
        <p:spPr>
          <a:xfrm>
            <a:off x="5385816" y="2743200"/>
            <a:ext cx="1691640" cy="132588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495544" y="2862072"/>
            <a:ext cx="1508760" cy="1143000"/>
          </a:xfrm>
          <a:prstGeom prst="rect">
            <a:avLst/>
          </a:prstGeom>
          <a:noFill/>
        </p:spPr>
        <p:txBody>
          <a:bodyPr wrap="square" lIns="0" tIns="0" rIns="0" bIns="0" anchor="t">
            <a:spAutoFit/>
          </a:bodyPr>
          <a:lstStyle/>
          <a:p>
            <a:pPr algn="l"/>
            <a:r>
              <a:rPr sz="1400" b="1">
                <a:solidFill>
                  <a:srgbClr val="17171A"/>
                </a:solidFill>
              </a:rPr>
              <a:t>API 서버</a:t>
            </a:r>
          </a:p>
          <a:p>
            <a:pPr algn="l"/>
            <a:r>
              <a:rPr sz="1200" b="0">
                <a:solidFill>
                  <a:srgbClr val="686B72"/>
                </a:solidFill>
              </a:rPr>
              <a:t>질문 접수</a:t>
            </a:r>
          </a:p>
          <a:p>
            <a:pPr algn="l"/>
            <a:r>
              <a:rPr sz="1200" b="0">
                <a:solidFill>
                  <a:srgbClr val="686B72"/>
                </a:solidFill>
              </a:rPr>
              <a:t>→ 202 + jobId</a:t>
            </a:r>
          </a:p>
        </p:txBody>
      </p:sp>
      <p:sp>
        <p:nvSpPr>
          <p:cNvPr id="21" name="Rounded Rectangle 20"/>
          <p:cNvSpPr/>
          <p:nvPr/>
        </p:nvSpPr>
        <p:spPr>
          <a:xfrm>
            <a:off x="7479792" y="2743200"/>
            <a:ext cx="1691640" cy="1325880"/>
          </a:xfrm>
          <a:prstGeom prst="roundRect">
            <a:avLst>
              <a:gd name="adj" fmla="val 8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89520" y="2862072"/>
            <a:ext cx="1508760" cy="1143000"/>
          </a:xfrm>
          <a:prstGeom prst="rect">
            <a:avLst/>
          </a:prstGeom>
          <a:noFill/>
        </p:spPr>
        <p:txBody>
          <a:bodyPr wrap="square" lIns="0" tIns="0" rIns="0" bIns="0" anchor="t">
            <a:spAutoFit/>
          </a:bodyPr>
          <a:lstStyle/>
          <a:p>
            <a:pPr algn="l"/>
            <a:r>
              <a:rPr sz="1400" b="1">
                <a:solidFill>
                  <a:srgbClr val="17171A"/>
                </a:solidFill>
              </a:rPr>
              <a:t>AI Worker</a:t>
            </a:r>
          </a:p>
          <a:p>
            <a:pPr algn="l"/>
            <a:r>
              <a:rPr sz="1200" b="0">
                <a:solidFill>
                  <a:srgbClr val="686B72"/>
                </a:solidFill>
              </a:rPr>
              <a:t>답변 생성</a:t>
            </a:r>
          </a:p>
          <a:p>
            <a:pPr algn="l"/>
            <a:r>
              <a:rPr sz="1200" b="0">
                <a:solidFill>
                  <a:srgbClr val="686B72"/>
                </a:solidFill>
              </a:rPr>
              <a:t>검색 · 검증 · LLM</a:t>
            </a:r>
          </a:p>
        </p:txBody>
      </p:sp>
      <p:sp>
        <p:nvSpPr>
          <p:cNvPr id="23" name="Right Arrow 22"/>
          <p:cNvSpPr/>
          <p:nvPr/>
        </p:nvSpPr>
        <p:spPr>
          <a:xfrm>
            <a:off x="7123176" y="3273552"/>
            <a:ext cx="310896" cy="256032"/>
          </a:xfrm>
          <a:prstGeom prst="right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385816" y="4251960"/>
            <a:ext cx="3785615" cy="868680"/>
          </a:xfrm>
          <a:prstGeom prst="roundRect">
            <a:avLst>
              <a:gd name="adj" fmla="val 8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495544" y="4325112"/>
            <a:ext cx="3566160" cy="731520"/>
          </a:xfrm>
          <a:prstGeom prst="rect">
            <a:avLst/>
          </a:prstGeom>
          <a:noFill/>
        </p:spPr>
        <p:txBody>
          <a:bodyPr wrap="square" lIns="0" tIns="0" rIns="0" bIns="0" anchor="ctr">
            <a:spAutoFit/>
          </a:bodyPr>
          <a:lstStyle/>
          <a:p>
            <a:pPr algn="l"/>
            <a:r>
              <a:rPr sz="1300" b="1">
                <a:solidFill>
                  <a:srgbClr val="17171A"/>
                </a:solidFill>
              </a:rPr>
              <a:t>Redis Streams 대기열</a:t>
            </a:r>
          </a:p>
          <a:p>
            <a:pPr algn="l"/>
            <a:r>
              <a:rPr sz="1100" b="0">
                <a:solidFill>
                  <a:srgbClr val="686B72"/>
                </a:solidFill>
              </a:rPr>
              <a:t>API가 작업을 넣고 Worker가 꺼내 처리, 상태 원본은 PostgreSQL</a:t>
            </a:r>
          </a:p>
        </p:txBody>
      </p:sp>
      <p:sp>
        <p:nvSpPr>
          <p:cNvPr id="26" name="Right Arrow 25"/>
          <p:cNvSpPr/>
          <p:nvPr/>
        </p:nvSpPr>
        <p:spPr>
          <a:xfrm>
            <a:off x="9445752"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848088" y="205740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10012680" y="2240280"/>
            <a:ext cx="118872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State 서버</a:t>
            </a:r>
          </a:p>
        </p:txBody>
      </p:sp>
      <p:sp>
        <p:nvSpPr>
          <p:cNvPr id="29" name="TextBox 28"/>
          <p:cNvSpPr txBox="1"/>
          <p:nvPr/>
        </p:nvSpPr>
        <p:spPr>
          <a:xfrm>
            <a:off x="10012680" y="2651760"/>
            <a:ext cx="2926080" cy="822960"/>
          </a:xfrm>
          <a:prstGeom prst="rect">
            <a:avLst/>
          </a:prstGeom>
          <a:noFill/>
        </p:spPr>
        <p:txBody>
          <a:bodyPr wrap="square" lIns="0" tIns="0" rIns="0" bIns="0" anchor="t">
            <a:spAutoFit/>
          </a:bodyPr>
          <a:lstStyle/>
          <a:p>
            <a:pPr algn="l"/>
            <a:r>
              <a:rPr sz="1400" b="1">
                <a:solidFill>
                  <a:srgbClr val="17171A"/>
                </a:solidFill>
              </a:rPr>
              <a:t>PostgreSQL</a:t>
            </a:r>
          </a:p>
          <a:p>
            <a:pPr algn="l"/>
            <a:r>
              <a:rPr sz="1200" b="0">
                <a:solidFill>
                  <a:srgbClr val="686B72"/>
                </a:solidFill>
              </a:rPr>
              <a:t>pgvector · PostGIS · Redis</a:t>
            </a:r>
          </a:p>
        </p:txBody>
      </p:sp>
      <p:sp>
        <p:nvSpPr>
          <p:cNvPr id="30" name="Rounded Rectangle 29"/>
          <p:cNvSpPr/>
          <p:nvPr/>
        </p:nvSpPr>
        <p:spPr>
          <a:xfrm>
            <a:off x="9848088" y="379476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10012680" y="3977639"/>
            <a:ext cx="1188720" cy="274320"/>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GPU 서버</a:t>
            </a:r>
          </a:p>
        </p:txBody>
      </p:sp>
      <p:sp>
        <p:nvSpPr>
          <p:cNvPr id="32" name="TextBox 31"/>
          <p:cNvSpPr txBox="1"/>
          <p:nvPr/>
        </p:nvSpPr>
        <p:spPr>
          <a:xfrm>
            <a:off x="11311128" y="3977639"/>
            <a:ext cx="1645920" cy="274320"/>
          </a:xfrm>
          <a:prstGeom prst="rect">
            <a:avLst/>
          </a:prstGeom>
          <a:noFill/>
        </p:spPr>
        <p:txBody>
          <a:bodyPr wrap="square" lIns="0" tIns="0" rIns="0" bIns="0" anchor="ctr">
            <a:spAutoFit/>
          </a:bodyPr>
          <a:lstStyle/>
          <a:p>
            <a:pPr algn="l"/>
            <a:r>
              <a:rPr sz="1100" b="0">
                <a:solidFill>
                  <a:srgbClr val="686B72"/>
                </a:solidFill>
              </a:rPr>
              <a:t>NLB로 분산</a:t>
            </a:r>
          </a:p>
        </p:txBody>
      </p:sp>
      <p:sp>
        <p:nvSpPr>
          <p:cNvPr id="33" name="TextBox 32"/>
          <p:cNvSpPr txBox="1"/>
          <p:nvPr/>
        </p:nvSpPr>
        <p:spPr>
          <a:xfrm>
            <a:off x="10012680" y="4389120"/>
            <a:ext cx="2971800" cy="868680"/>
          </a:xfrm>
          <a:prstGeom prst="rect">
            <a:avLst/>
          </a:prstGeom>
          <a:noFill/>
        </p:spPr>
        <p:txBody>
          <a:bodyPr wrap="square" lIns="0" tIns="0" rIns="0" bIns="0" anchor="t">
            <a:spAutoFit/>
          </a:bodyPr>
          <a:lstStyle/>
          <a:p>
            <a:pPr algn="l"/>
            <a:r>
              <a:rPr sz="1400" b="1">
                <a:solidFill>
                  <a:srgbClr val="17171A"/>
                </a:solidFill>
              </a:rPr>
              <a:t>vLLM 채팅 · 임베딩</a:t>
            </a:r>
          </a:p>
          <a:p>
            <a:pPr algn="l"/>
            <a:r>
              <a:rPr sz="1200" b="0">
                <a:solidFill>
                  <a:srgbClr val="686B72"/>
                </a:solidFill>
              </a:rPr>
              <a:t>Qwen3-4B (4bit) · bge-m3</a:t>
            </a:r>
          </a:p>
          <a:p>
            <a:pPr algn="l"/>
            <a:r>
              <a:rPr sz="1200" b="0">
                <a:solidFill>
                  <a:srgbClr val="686B72"/>
                </a:solidFill>
              </a:rPr>
              <a:t>온디맨드 1대 + 스폿 최대 2대</a:t>
            </a:r>
          </a:p>
        </p:txBody>
      </p:sp>
      <p:sp>
        <p:nvSpPr>
          <p:cNvPr id="34" name="Rounded Rectangle 33"/>
          <p:cNvSpPr/>
          <p:nvPr/>
        </p:nvSpPr>
        <p:spPr>
          <a:xfrm>
            <a:off x="630936"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813815" y="5733288"/>
            <a:ext cx="3602736" cy="685800"/>
          </a:xfrm>
          <a:prstGeom prst="rect">
            <a:avLst/>
          </a:prstGeom>
          <a:noFill/>
        </p:spPr>
        <p:txBody>
          <a:bodyPr wrap="square" lIns="0" tIns="0" rIns="0" bIns="0" anchor="ctr">
            <a:spAutoFit/>
          </a:bodyPr>
          <a:lstStyle/>
          <a:p>
            <a:pPr algn="l"/>
            <a:r>
              <a:rPr sz="1300" b="1">
                <a:solidFill>
                  <a:srgbClr val="D91370"/>
                </a:solidFill>
              </a:rPr>
              <a:t>CI/CD</a:t>
            </a:r>
          </a:p>
          <a:p>
            <a:pPr algn="l"/>
            <a:r>
              <a:rPr sz="1200" b="0">
                <a:solidFill>
                  <a:srgbClr val="17171A"/>
                </a:solidFill>
              </a:rPr>
              <a:t>GitHub Actions → ECR → SSM 배포</a:t>
            </a:r>
          </a:p>
        </p:txBody>
      </p:sp>
      <p:sp>
        <p:nvSpPr>
          <p:cNvPr id="36" name="Rounded Rectangle 35"/>
          <p:cNvSpPr/>
          <p:nvPr/>
        </p:nvSpPr>
        <p:spPr>
          <a:xfrm>
            <a:off x="4873752"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5056632" y="5733288"/>
            <a:ext cx="3602736" cy="685800"/>
          </a:xfrm>
          <a:prstGeom prst="rect">
            <a:avLst/>
          </a:prstGeom>
          <a:noFill/>
        </p:spPr>
        <p:txBody>
          <a:bodyPr wrap="square" lIns="0" tIns="0" rIns="0" bIns="0" anchor="ctr">
            <a:spAutoFit/>
          </a:bodyPr>
          <a:lstStyle/>
          <a:p>
            <a:pPr algn="l"/>
            <a:r>
              <a:rPr sz="1300" b="1">
                <a:solidFill>
                  <a:srgbClr val="D91370"/>
                </a:solidFill>
              </a:rPr>
              <a:t>인프라 코드</a:t>
            </a:r>
          </a:p>
          <a:p>
            <a:pPr algn="l"/>
            <a:r>
              <a:rPr sz="1200" b="0">
                <a:solidFill>
                  <a:srgbClr val="17171A"/>
                </a:solidFill>
              </a:rPr>
              <a:t>Terraform으로 네트워크(VPC) · GPU 서버 생성</a:t>
            </a:r>
          </a:p>
        </p:txBody>
      </p:sp>
      <p:sp>
        <p:nvSpPr>
          <p:cNvPr id="38" name="Rounded Rectangle 37"/>
          <p:cNvSpPr/>
          <p:nvPr/>
        </p:nvSpPr>
        <p:spPr>
          <a:xfrm>
            <a:off x="9116567"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9299447" y="5733288"/>
            <a:ext cx="3602736" cy="685800"/>
          </a:xfrm>
          <a:prstGeom prst="rect">
            <a:avLst/>
          </a:prstGeom>
          <a:noFill/>
        </p:spPr>
        <p:txBody>
          <a:bodyPr wrap="square" lIns="0" tIns="0" rIns="0" bIns="0" anchor="ctr">
            <a:spAutoFit/>
          </a:bodyPr>
          <a:lstStyle/>
          <a:p>
            <a:pPr algn="l"/>
            <a:r>
              <a:rPr sz="1300" b="1">
                <a:solidFill>
                  <a:srgbClr val="D91370"/>
                </a:solidFill>
              </a:rPr>
              <a:t>모니터링</a:t>
            </a:r>
          </a:p>
          <a:p>
            <a:pPr algn="l"/>
            <a:r>
              <a:rPr sz="1200" b="0">
                <a:solidFill>
                  <a:srgbClr val="17171A"/>
                </a:solidFill>
              </a:rPr>
              <a:t>Prometheus 수집 + Alertmanager 알림</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하나가 답변이 되기까지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접수 → 대기열 → 검색 → 검증 → 생성, 근거가 없으면 미응답으로 남깁니다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06</a:t>
            </a:r>
            <a:endParaRPr sz="1300" b="0">
              <a:solidFill>
                <a:schemeClr val="accent3"/>
              </a:solidFill>
            </a:endParaRPr>
          </a:p>
        </p:txBody>
      </p:sp>
      <p:sp>
        <p:nvSpPr>
          <p:cNvPr id="9" name="Rounded Rectangle 8"/>
          <p:cNvSpPr/>
          <p:nvPr/>
        </p:nvSpPr>
        <p:spPr>
          <a:xfrm>
            <a:off x="630936" y="2057400"/>
            <a:ext cx="1828800" cy="274320"/>
          </a:xfrm>
          <a:prstGeom prst="roundRect">
            <a:avLst>
              <a:gd name="adj" fmla="val 50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D91370"/>
                </a:solidFill>
              </a:rPr>
              <a:t>API 서버</a:t>
            </a:r>
          </a:p>
        </p:txBody>
      </p:sp>
      <p:sp>
        <p:nvSpPr>
          <p:cNvPr id="10" name="Rounded Rectangle 9"/>
          <p:cNvSpPr/>
          <p:nvPr/>
        </p:nvSpPr>
        <p:spPr>
          <a:xfrm>
            <a:off x="630936"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3815"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1</a:t>
            </a:r>
          </a:p>
        </p:txBody>
      </p:sp>
      <p:sp>
        <p:nvSpPr>
          <p:cNvPr id="12" name="TextBox 11"/>
          <p:cNvSpPr txBox="1"/>
          <p:nvPr/>
        </p:nvSpPr>
        <p:spPr>
          <a:xfrm>
            <a:off x="1289304" y="2651760"/>
            <a:ext cx="1097280" cy="384048"/>
          </a:xfrm>
          <a:prstGeom prst="rect">
            <a:avLst/>
          </a:prstGeom>
          <a:noFill/>
        </p:spPr>
        <p:txBody>
          <a:bodyPr wrap="square" lIns="0" tIns="0" rIns="0" bIns="0" anchor="ctr">
            <a:spAutoFit/>
          </a:bodyPr>
          <a:lstStyle/>
          <a:p>
            <a:pPr algn="l"/>
            <a:r>
              <a:rPr sz="1600" b="1">
                <a:solidFill>
                  <a:srgbClr val="17171A"/>
                </a:solidFill>
              </a:rPr>
              <a:t>접수</a:t>
            </a:r>
          </a:p>
        </p:txBody>
      </p:sp>
      <p:sp>
        <p:nvSpPr>
          <p:cNvPr id="13" name="TextBox 12"/>
          <p:cNvSpPr txBox="1"/>
          <p:nvPr/>
        </p:nvSpPr>
        <p:spPr>
          <a:xfrm>
            <a:off x="813815"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입력 가드 · 금지어</a:t>
            </a:r>
          </a:p>
          <a:p>
            <a:pPr algn="l">
              <a:spcAft>
                <a:spcPts val="500"/>
              </a:spcAft>
            </a:pPr>
            <a:r>
              <a:rPr sz="1200" b="0">
                <a:solidFill>
                  <a:srgbClr val="17171A"/>
                </a:solidFill>
              </a:rPr>
              <a:t>개인정보 마스킹</a:t>
            </a:r>
          </a:p>
          <a:p>
            <a:pPr algn="l">
              <a:spcAft>
                <a:spcPts val="500"/>
              </a:spcAft>
            </a:pPr>
            <a:r>
              <a:rPr sz="1200" b="0">
                <a:solidFill>
                  <a:srgbClr val="17171A"/>
                </a:solidFill>
              </a:rPr>
              <a:t>작업 저장</a:t>
            </a:r>
          </a:p>
          <a:p>
            <a:pPr algn="l">
              <a:spcAft>
                <a:spcPts val="500"/>
              </a:spcAft>
            </a:pPr>
            <a:r>
              <a:rPr sz="1200" b="0">
                <a:solidFill>
                  <a:srgbClr val="17171A"/>
                </a:solidFill>
              </a:rPr>
              <a:t>→ 202 바로 응답</a:t>
            </a:r>
          </a:p>
        </p:txBody>
      </p:sp>
      <p:sp>
        <p:nvSpPr>
          <p:cNvPr id="14" name="Right Arrow 13"/>
          <p:cNvSpPr/>
          <p:nvPr/>
        </p:nvSpPr>
        <p:spPr>
          <a:xfrm>
            <a:off x="2496312"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756001" y="2057400"/>
            <a:ext cx="1828800" cy="274320"/>
          </a:xfrm>
          <a:prstGeom prst="roundRect">
            <a:avLst>
              <a:gd name="adj" fmla="val 50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86B72"/>
                </a:solidFill>
              </a:rPr>
              <a:t>Redis Streams</a:t>
            </a:r>
          </a:p>
        </p:txBody>
      </p:sp>
      <p:sp>
        <p:nvSpPr>
          <p:cNvPr id="16" name="Rounded Rectangle 15"/>
          <p:cNvSpPr/>
          <p:nvPr/>
        </p:nvSpPr>
        <p:spPr>
          <a:xfrm>
            <a:off x="2756001"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2938881"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2</a:t>
            </a:r>
          </a:p>
        </p:txBody>
      </p:sp>
      <p:sp>
        <p:nvSpPr>
          <p:cNvPr id="18" name="TextBox 17"/>
          <p:cNvSpPr txBox="1"/>
          <p:nvPr/>
        </p:nvSpPr>
        <p:spPr>
          <a:xfrm>
            <a:off x="3414369" y="2651760"/>
            <a:ext cx="1097280" cy="384048"/>
          </a:xfrm>
          <a:prstGeom prst="rect">
            <a:avLst/>
          </a:prstGeom>
          <a:noFill/>
        </p:spPr>
        <p:txBody>
          <a:bodyPr wrap="square" lIns="0" tIns="0" rIns="0" bIns="0" anchor="ctr">
            <a:spAutoFit/>
          </a:bodyPr>
          <a:lstStyle/>
          <a:p>
            <a:pPr algn="l"/>
            <a:r>
              <a:rPr sz="1600" b="1">
                <a:solidFill>
                  <a:srgbClr val="17171A"/>
                </a:solidFill>
              </a:rPr>
              <a:t>대기열</a:t>
            </a:r>
          </a:p>
        </p:txBody>
      </p:sp>
      <p:sp>
        <p:nvSpPr>
          <p:cNvPr id="19" name="TextBox 18"/>
          <p:cNvSpPr txBox="1"/>
          <p:nvPr/>
        </p:nvSpPr>
        <p:spPr>
          <a:xfrm>
            <a:off x="2938881"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Worker에 작업 전달</a:t>
            </a:r>
          </a:p>
          <a:p>
            <a:pPr algn="l">
              <a:spcAft>
                <a:spcPts val="500"/>
              </a:spcAft>
            </a:pPr>
            <a:r>
              <a:rPr sz="1200" b="0">
                <a:solidFill>
                  <a:srgbClr val="17171A"/>
                </a:solidFill>
              </a:rPr>
              <a:t>상태 원본은 DB</a:t>
            </a:r>
          </a:p>
        </p:txBody>
      </p:sp>
      <p:sp>
        <p:nvSpPr>
          <p:cNvPr id="20" name="Right Arrow 19"/>
          <p:cNvSpPr/>
          <p:nvPr/>
        </p:nvSpPr>
        <p:spPr>
          <a:xfrm>
            <a:off x="4621377"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881067"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2" name="Rounded Rectangle 21"/>
          <p:cNvSpPr/>
          <p:nvPr/>
        </p:nvSpPr>
        <p:spPr>
          <a:xfrm>
            <a:off x="4881067"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5063947"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3</a:t>
            </a:r>
          </a:p>
        </p:txBody>
      </p:sp>
      <p:sp>
        <p:nvSpPr>
          <p:cNvPr id="24" name="TextBox 23"/>
          <p:cNvSpPr txBox="1"/>
          <p:nvPr/>
        </p:nvSpPr>
        <p:spPr>
          <a:xfrm>
            <a:off x="5539435" y="2651760"/>
            <a:ext cx="1097280" cy="384048"/>
          </a:xfrm>
          <a:prstGeom prst="rect">
            <a:avLst/>
          </a:prstGeom>
          <a:noFill/>
        </p:spPr>
        <p:txBody>
          <a:bodyPr wrap="square" lIns="0" tIns="0" rIns="0" bIns="0" anchor="ctr">
            <a:spAutoFit/>
          </a:bodyPr>
          <a:lstStyle/>
          <a:p>
            <a:pPr algn="l"/>
            <a:r>
              <a:rPr sz="1600" b="1">
                <a:solidFill>
                  <a:srgbClr val="17171A"/>
                </a:solidFill>
              </a:rPr>
              <a:t>검색</a:t>
            </a:r>
          </a:p>
        </p:txBody>
      </p:sp>
      <p:sp>
        <p:nvSpPr>
          <p:cNvPr id="25" name="TextBox 24"/>
          <p:cNvSpPr txBox="1"/>
          <p:nvPr/>
        </p:nvSpPr>
        <p:spPr>
          <a:xfrm>
            <a:off x="5063947"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임베딩</a:t>
            </a:r>
          </a:p>
          <a:p>
            <a:pPr algn="l">
              <a:spcAft>
                <a:spcPts val="500"/>
              </a:spcAft>
            </a:pPr>
            <a:r>
              <a:rPr sz="1200" b="0">
                <a:solidFill>
                  <a:srgbClr val="17171A"/>
                </a:solidFill>
              </a:rPr>
              <a:t>pgvector HNSW</a:t>
            </a:r>
          </a:p>
          <a:p>
            <a:pPr algn="l">
              <a:spcAft>
                <a:spcPts val="500"/>
              </a:spcAft>
            </a:pPr>
            <a:r>
              <a:rPr sz="1200" b="0">
                <a:solidFill>
                  <a:srgbClr val="17171A"/>
                </a:solidFill>
              </a:rPr>
              <a:t>코사인 유사도 검색</a:t>
            </a:r>
          </a:p>
        </p:txBody>
      </p:sp>
      <p:sp>
        <p:nvSpPr>
          <p:cNvPr id="26" name="Right Arrow 25"/>
          <p:cNvSpPr/>
          <p:nvPr/>
        </p:nvSpPr>
        <p:spPr>
          <a:xfrm>
            <a:off x="6746443"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006132"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8" name="Rounded Rectangle 27"/>
          <p:cNvSpPr/>
          <p:nvPr/>
        </p:nvSpPr>
        <p:spPr>
          <a:xfrm>
            <a:off x="7006132"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7189012"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4</a:t>
            </a:r>
          </a:p>
        </p:txBody>
      </p:sp>
      <p:sp>
        <p:nvSpPr>
          <p:cNvPr id="30" name="TextBox 29"/>
          <p:cNvSpPr txBox="1"/>
          <p:nvPr/>
        </p:nvSpPr>
        <p:spPr>
          <a:xfrm>
            <a:off x="7664500" y="2651760"/>
            <a:ext cx="1097280" cy="384048"/>
          </a:xfrm>
          <a:prstGeom prst="rect">
            <a:avLst/>
          </a:prstGeom>
          <a:noFill/>
        </p:spPr>
        <p:txBody>
          <a:bodyPr wrap="square" lIns="0" tIns="0" rIns="0" bIns="0" anchor="ctr">
            <a:spAutoFit/>
          </a:bodyPr>
          <a:lstStyle/>
          <a:p>
            <a:pPr algn="l"/>
            <a:r>
              <a:rPr sz="1600" b="1">
                <a:solidFill>
                  <a:srgbClr val="17171A"/>
                </a:solidFill>
              </a:rPr>
              <a:t>검증</a:t>
            </a:r>
          </a:p>
        </p:txBody>
      </p:sp>
      <p:sp>
        <p:nvSpPr>
          <p:cNvPr id="31" name="TextBox 30"/>
          <p:cNvSpPr txBox="1"/>
          <p:nvPr/>
        </p:nvSpPr>
        <p:spPr>
          <a:xfrm>
            <a:off x="7189012"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유사도 기준</a:t>
            </a:r>
          </a:p>
          <a:p>
            <a:pPr algn="l">
              <a:spcAft>
                <a:spcPts val="500"/>
              </a:spcAft>
            </a:pPr>
            <a:r>
              <a:rPr sz="1200" b="0">
                <a:solidFill>
                  <a:srgbClr val="17171A"/>
                </a:solidFill>
              </a:rPr>
              <a:t>답변 문장 기준</a:t>
            </a:r>
          </a:p>
          <a:p>
            <a:pPr algn="l">
              <a:spcAft>
                <a:spcPts val="500"/>
              </a:spcAft>
            </a:pPr>
            <a:r>
              <a:rPr sz="1200" b="0">
                <a:solidFill>
                  <a:srgbClr val="17171A"/>
                </a:solidFill>
              </a:rPr>
              <a:t>통과한 FAQ만 사용</a:t>
            </a:r>
          </a:p>
        </p:txBody>
      </p:sp>
      <p:sp>
        <p:nvSpPr>
          <p:cNvPr id="32" name="Right Arrow 31"/>
          <p:cNvSpPr/>
          <p:nvPr/>
        </p:nvSpPr>
        <p:spPr>
          <a:xfrm>
            <a:off x="8871508"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131198"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34" name="Rounded Rectangle 33"/>
          <p:cNvSpPr/>
          <p:nvPr/>
        </p:nvSpPr>
        <p:spPr>
          <a:xfrm>
            <a:off x="9131198"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9314078"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5</a:t>
            </a:r>
          </a:p>
        </p:txBody>
      </p:sp>
      <p:sp>
        <p:nvSpPr>
          <p:cNvPr id="36" name="TextBox 35"/>
          <p:cNvSpPr txBox="1"/>
          <p:nvPr/>
        </p:nvSpPr>
        <p:spPr>
          <a:xfrm>
            <a:off x="9789566" y="2651760"/>
            <a:ext cx="1097280" cy="384048"/>
          </a:xfrm>
          <a:prstGeom prst="rect">
            <a:avLst/>
          </a:prstGeom>
          <a:noFill/>
        </p:spPr>
        <p:txBody>
          <a:bodyPr wrap="square" lIns="0" tIns="0" rIns="0" bIns="0" anchor="ctr">
            <a:spAutoFit/>
          </a:bodyPr>
          <a:lstStyle/>
          <a:p>
            <a:pPr algn="l"/>
            <a:r>
              <a:rPr sz="1600" b="1">
                <a:solidFill>
                  <a:srgbClr val="17171A"/>
                </a:solidFill>
              </a:rPr>
              <a:t>생성</a:t>
            </a:r>
          </a:p>
        </p:txBody>
      </p:sp>
      <p:sp>
        <p:nvSpPr>
          <p:cNvPr id="37" name="TextBox 36"/>
          <p:cNvSpPr txBox="1"/>
          <p:nvPr/>
        </p:nvSpPr>
        <p:spPr>
          <a:xfrm>
            <a:off x="9314078"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의도별 자료 수집</a:t>
            </a:r>
          </a:p>
          <a:p>
            <a:pPr algn="l">
              <a:spcAft>
                <a:spcPts val="500"/>
              </a:spcAft>
            </a:pPr>
            <a:r>
              <a:rPr sz="1200" b="0">
                <a:solidFill>
                  <a:srgbClr val="17171A"/>
                </a:solidFill>
              </a:rPr>
              <a:t>FAQ · 매장 · 내 정보</a:t>
            </a:r>
          </a:p>
          <a:p>
            <a:pPr algn="l">
              <a:spcAft>
                <a:spcPts val="500"/>
              </a:spcAft>
            </a:pPr>
            <a:r>
              <a:rPr sz="1200" b="0">
                <a:solidFill>
                  <a:srgbClr val="17171A"/>
                </a:solidFill>
              </a:rPr>
              <a:t>LLM 답변</a:t>
            </a:r>
          </a:p>
          <a:p>
            <a:pPr algn="l">
              <a:spcAft>
                <a:spcPts val="500"/>
              </a:spcAft>
            </a:pPr>
            <a:r>
              <a:rPr sz="1200" b="0">
                <a:solidFill>
                  <a:srgbClr val="17171A"/>
                </a:solidFill>
              </a:rPr>
              <a:t>→ 출력 가드</a:t>
            </a:r>
          </a:p>
        </p:txBody>
      </p:sp>
      <p:sp>
        <p:nvSpPr>
          <p:cNvPr id="38" name="Right Arrow 37"/>
          <p:cNvSpPr/>
          <p:nvPr/>
        </p:nvSpPr>
        <p:spPr>
          <a:xfrm>
            <a:off x="10996574"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11256263"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40" name="Rounded Rectangle 39"/>
          <p:cNvSpPr/>
          <p:nvPr/>
        </p:nvSpPr>
        <p:spPr>
          <a:xfrm>
            <a:off x="11256263"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11439143"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6</a:t>
            </a:r>
          </a:p>
        </p:txBody>
      </p:sp>
      <p:sp>
        <p:nvSpPr>
          <p:cNvPr id="42" name="TextBox 41"/>
          <p:cNvSpPr txBox="1"/>
          <p:nvPr/>
        </p:nvSpPr>
        <p:spPr>
          <a:xfrm>
            <a:off x="11914632" y="2651760"/>
            <a:ext cx="1097280" cy="384048"/>
          </a:xfrm>
          <a:prstGeom prst="rect">
            <a:avLst/>
          </a:prstGeom>
          <a:noFill/>
        </p:spPr>
        <p:txBody>
          <a:bodyPr wrap="square" lIns="0" tIns="0" rIns="0" bIns="0" anchor="ctr">
            <a:spAutoFit/>
          </a:bodyPr>
          <a:lstStyle/>
          <a:p>
            <a:pPr algn="l"/>
            <a:r>
              <a:rPr sz="1600" b="1">
                <a:solidFill>
                  <a:srgbClr val="17171A"/>
                </a:solidFill>
              </a:rPr>
              <a:t>완료</a:t>
            </a:r>
          </a:p>
        </p:txBody>
      </p:sp>
      <p:sp>
        <p:nvSpPr>
          <p:cNvPr id="43" name="TextBox 42"/>
          <p:cNvSpPr txBox="1"/>
          <p:nvPr/>
        </p:nvSpPr>
        <p:spPr>
          <a:xfrm>
            <a:off x="11439143"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작업 · 시도 · 로그</a:t>
            </a:r>
          </a:p>
          <a:p>
            <a:pPr algn="l">
              <a:spcAft>
                <a:spcPts val="500"/>
              </a:spcAft>
            </a:pPr>
            <a:r>
              <a:rPr sz="1200" b="0">
                <a:solidFill>
                  <a:srgbClr val="17171A"/>
                </a:solidFill>
              </a:rPr>
              <a:t>한 번에 기록</a:t>
            </a:r>
          </a:p>
          <a:p>
            <a:pPr algn="l">
              <a:spcAft>
                <a:spcPts val="500"/>
              </a:spcAft>
            </a:pPr>
            <a:r>
              <a:rPr sz="1200" b="0">
                <a:solidFill>
                  <a:srgbClr val="17171A"/>
                </a:solidFill>
              </a:rPr>
              <a:t>화면은 jobId로 조회</a:t>
            </a:r>
          </a:p>
        </p:txBody>
      </p:sp>
      <p:sp>
        <p:nvSpPr>
          <p:cNvPr id="44" name="Down Arrow 43"/>
          <p:cNvSpPr/>
          <p:nvPr/>
        </p:nvSpPr>
        <p:spPr>
          <a:xfrm>
            <a:off x="7801660" y="4800600"/>
            <a:ext cx="237744" cy="274320"/>
          </a:xfrm>
          <a:prstGeom prst="down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731812" y="5148072"/>
            <a:ext cx="2377440" cy="329184"/>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근거 없음 → 미응답 질문 저장</a:t>
            </a:r>
          </a:p>
        </p:txBody>
      </p:sp>
      <p:sp>
        <p:nvSpPr>
          <p:cNvPr id="46" name="Rounded Rectangle 45"/>
          <p:cNvSpPr/>
          <p:nvPr/>
        </p:nvSpPr>
        <p:spPr>
          <a:xfrm>
            <a:off x="630936" y="5852160"/>
            <a:ext cx="6949440" cy="77724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822960" y="5852160"/>
            <a:ext cx="6675120" cy="777240"/>
          </a:xfrm>
          <a:prstGeom prst="rect">
            <a:avLst/>
          </a:prstGeom>
          <a:noFill/>
        </p:spPr>
        <p:txBody>
          <a:bodyPr wrap="square" lIns="0" tIns="0" rIns="0" bIns="0" anchor="ctr">
            <a:spAutoFit/>
          </a:bodyPr>
          <a:lstStyle/>
          <a:p>
            <a:pPr algn="l"/>
            <a:r>
              <a:rPr sz="1300" b="1">
                <a:solidFill>
                  <a:srgbClr val="17171A"/>
                </a:solidFill>
              </a:rPr>
              <a:t>같은 작업 메시지가 두 번 와도 결과는 한 번만 기록</a:t>
            </a:r>
          </a:p>
          <a:p>
            <a:pPr algn="l"/>
            <a:r>
              <a:rPr sz="1200" b="0">
                <a:solidFill>
                  <a:srgbClr val="686B72"/>
                </a:solidFill>
              </a:rPr>
              <a:t>Worker가 죽었다 살아나도 답변이 중복되거나 사라지지 않습니다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데이터베이스 설계 (ERD)</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팀 전체 스키마를 한 곳에서 관리하고, 모든 변경을 마이그레이션으로 남겼습니다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07</a:t>
            </a:r>
            <a:endParaRPr sz="1300" b="0">
              <a:solidFill>
                <a:schemeClr val="accent3"/>
              </a:solidFill>
            </a:endParaRPr>
          </a:p>
        </p:txBody>
      </p:sp>
      <p:sp>
        <p:nvSpPr>
          <p:cNvPr id="9" name="ERD 이미지 자리"/>
          <p:cNvSpPr/>
          <p:nvPr/>
        </p:nvSpPr>
        <p:spPr>
          <a:xfrm>
            <a:off x="630936" y="2057400"/>
            <a:ext cx="6400800" cy="4160520"/>
          </a:xfrm>
          <a:prstGeom prst="roundRect">
            <a:avLst>
              <a:gd name="adj" fmla="val 8000"/>
            </a:avLst>
          </a:prstGeom>
          <a:solidFill>
            <a:srgbClr val="FFFFFF"/>
          </a:solidFill>
          <a:ln w="12700">
            <a:solidFill>
              <a:srgbClr val="C9CBD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794760"/>
            <a:ext cx="6400800" cy="731520"/>
          </a:xfrm>
          <a:prstGeom prst="rect">
            <a:avLst/>
          </a:prstGeom>
          <a:noFill/>
        </p:spPr>
        <p:txBody>
          <a:bodyPr wrap="square" lIns="0" tIns="0" rIns="0" bIns="0" anchor="t">
            <a:spAutoFit/>
          </a:bodyPr>
          <a:lstStyle/>
          <a:p>
            <a:pPr algn="ctr"/>
            <a:r>
              <a:rPr sz="1600" b="1">
                <a:solidFill>
                  <a:srgbClr val="686B72"/>
                </a:solidFill>
              </a:rPr>
              <a:t>ERD 이미지 자리</a:t>
            </a:r>
          </a:p>
          <a:p>
            <a:pPr algn="ctr"/>
            <a:r>
              <a:rPr sz="1200" b="0">
                <a:solidFill>
                  <a:srgbClr val="686B72"/>
                </a:solidFill>
              </a:rPr>
              <a:t>ERD Designer에서 V52 기준으로 내보내 넣기</a:t>
            </a:r>
          </a:p>
        </p:txBody>
      </p:sp>
      <p:sp>
        <p:nvSpPr>
          <p:cNvPr id="11" name="TextBox 10"/>
          <p:cNvSpPr txBox="1"/>
          <p:nvPr/>
        </p:nvSpPr>
        <p:spPr>
          <a:xfrm>
            <a:off x="630936" y="6355080"/>
            <a:ext cx="6400800" cy="548640"/>
          </a:xfrm>
          <a:prstGeom prst="rect">
            <a:avLst/>
          </a:prstGeom>
          <a:noFill/>
        </p:spPr>
        <p:txBody>
          <a:bodyPr wrap="square" lIns="0" tIns="0" rIns="0" bIns="0" anchor="t">
            <a:spAutoFit/>
          </a:bodyPr>
          <a:lstStyle/>
          <a:p>
            <a:pPr algn="l"/>
            <a:r>
              <a:rPr sz="1100" b="0">
                <a:solidFill>
                  <a:srgbClr val="686B72"/>
                </a:solidFill>
              </a:rPr>
              <a:t>영역 13개: 임베딩 · 미응답 · FAQ · 챗봇 대화 · 회원·인증 · 매장·예약 · 운영 정책 · 상품 · 가입·요금 · 문의·이벤트 · 상담사 상담 · 가드 리뷰 · 급상승 질문</a:t>
            </a:r>
          </a:p>
        </p:txBody>
      </p:sp>
      <p:sp>
        <p:nvSpPr>
          <p:cNvPr id="12" name="Rounded Rectangle 11"/>
          <p:cNvSpPr/>
          <p:nvPr/>
        </p:nvSpPr>
        <p:spPr>
          <a:xfrm>
            <a:off x="7306056"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06056" y="2176272"/>
            <a:ext cx="1307592" cy="548640"/>
          </a:xfrm>
          <a:prstGeom prst="rect">
            <a:avLst/>
          </a:prstGeom>
          <a:noFill/>
        </p:spPr>
        <p:txBody>
          <a:bodyPr wrap="square" lIns="0" tIns="0" rIns="0" bIns="0" anchor="ctr">
            <a:spAutoFit/>
          </a:bodyPr>
          <a:lstStyle/>
          <a:p>
            <a:pPr algn="ctr"/>
            <a:r>
              <a:rPr sz="2600" b="1">
                <a:solidFill>
                  <a:srgbClr val="F72585"/>
                </a:solidFill>
              </a:rPr>
              <a:t>69</a:t>
            </a:r>
          </a:p>
        </p:txBody>
      </p:sp>
      <p:sp>
        <p:nvSpPr>
          <p:cNvPr id="14" name="TextBox 13"/>
          <p:cNvSpPr txBox="1"/>
          <p:nvPr/>
        </p:nvSpPr>
        <p:spPr>
          <a:xfrm>
            <a:off x="7306056" y="2743200"/>
            <a:ext cx="1307592" cy="274320"/>
          </a:xfrm>
          <a:prstGeom prst="rect">
            <a:avLst/>
          </a:prstGeom>
          <a:noFill/>
        </p:spPr>
        <p:txBody>
          <a:bodyPr wrap="square" lIns="0" tIns="0" rIns="0" bIns="0" anchor="t">
            <a:spAutoFit/>
          </a:bodyPr>
          <a:lstStyle/>
          <a:p>
            <a:pPr algn="ctr"/>
            <a:r>
              <a:rPr sz="1100" b="0">
                <a:solidFill>
                  <a:srgbClr val="686B72"/>
                </a:solidFill>
              </a:rPr>
              <a:t>테이블</a:t>
            </a:r>
          </a:p>
        </p:txBody>
      </p:sp>
      <p:sp>
        <p:nvSpPr>
          <p:cNvPr id="15" name="Rounded Rectangle 14"/>
          <p:cNvSpPr/>
          <p:nvPr/>
        </p:nvSpPr>
        <p:spPr>
          <a:xfrm>
            <a:off x="8796528"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796528" y="2176272"/>
            <a:ext cx="1307592" cy="548640"/>
          </a:xfrm>
          <a:prstGeom prst="rect">
            <a:avLst/>
          </a:prstGeom>
          <a:noFill/>
        </p:spPr>
        <p:txBody>
          <a:bodyPr wrap="square" lIns="0" tIns="0" rIns="0" bIns="0" anchor="ctr">
            <a:spAutoFit/>
          </a:bodyPr>
          <a:lstStyle/>
          <a:p>
            <a:pPr algn="ctr"/>
            <a:r>
              <a:rPr sz="2600" b="1">
                <a:solidFill>
                  <a:srgbClr val="F72585"/>
                </a:solidFill>
              </a:rPr>
              <a:t>646</a:t>
            </a:r>
          </a:p>
        </p:txBody>
      </p:sp>
      <p:sp>
        <p:nvSpPr>
          <p:cNvPr id="17" name="TextBox 16"/>
          <p:cNvSpPr txBox="1"/>
          <p:nvPr/>
        </p:nvSpPr>
        <p:spPr>
          <a:xfrm>
            <a:off x="8796528" y="2743200"/>
            <a:ext cx="1307592" cy="274320"/>
          </a:xfrm>
          <a:prstGeom prst="rect">
            <a:avLst/>
          </a:prstGeom>
          <a:noFill/>
        </p:spPr>
        <p:txBody>
          <a:bodyPr wrap="square" lIns="0" tIns="0" rIns="0" bIns="0" anchor="t">
            <a:spAutoFit/>
          </a:bodyPr>
          <a:lstStyle/>
          <a:p>
            <a:pPr algn="ctr"/>
            <a:r>
              <a:rPr sz="1100" b="0">
                <a:solidFill>
                  <a:srgbClr val="686B72"/>
                </a:solidFill>
              </a:rPr>
              <a:t>컬럼</a:t>
            </a:r>
          </a:p>
        </p:txBody>
      </p:sp>
      <p:sp>
        <p:nvSpPr>
          <p:cNvPr id="18" name="Rounded Rectangle 17"/>
          <p:cNvSpPr/>
          <p:nvPr/>
        </p:nvSpPr>
        <p:spPr>
          <a:xfrm>
            <a:off x="10287000"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287000" y="2176272"/>
            <a:ext cx="1307592" cy="548640"/>
          </a:xfrm>
          <a:prstGeom prst="rect">
            <a:avLst/>
          </a:prstGeom>
          <a:noFill/>
        </p:spPr>
        <p:txBody>
          <a:bodyPr wrap="square" lIns="0" tIns="0" rIns="0" bIns="0" anchor="ctr">
            <a:spAutoFit/>
          </a:bodyPr>
          <a:lstStyle/>
          <a:p>
            <a:pPr algn="ctr"/>
            <a:r>
              <a:rPr sz="2600" b="1">
                <a:solidFill>
                  <a:srgbClr val="F72585"/>
                </a:solidFill>
              </a:rPr>
              <a:t>110</a:t>
            </a:r>
          </a:p>
        </p:txBody>
      </p:sp>
      <p:sp>
        <p:nvSpPr>
          <p:cNvPr id="20" name="TextBox 19"/>
          <p:cNvSpPr txBox="1"/>
          <p:nvPr/>
        </p:nvSpPr>
        <p:spPr>
          <a:xfrm>
            <a:off x="10287000" y="2743200"/>
            <a:ext cx="1307592" cy="274320"/>
          </a:xfrm>
          <a:prstGeom prst="rect">
            <a:avLst/>
          </a:prstGeom>
          <a:noFill/>
        </p:spPr>
        <p:txBody>
          <a:bodyPr wrap="square" lIns="0" tIns="0" rIns="0" bIns="0" anchor="t">
            <a:spAutoFit/>
          </a:bodyPr>
          <a:lstStyle/>
          <a:p>
            <a:pPr algn="ctr"/>
            <a:r>
              <a:rPr sz="1100" b="0">
                <a:solidFill>
                  <a:srgbClr val="686B72"/>
                </a:solidFill>
              </a:rPr>
              <a:t>관계 (FK)</a:t>
            </a:r>
          </a:p>
        </p:txBody>
      </p:sp>
      <p:sp>
        <p:nvSpPr>
          <p:cNvPr id="21" name="Rounded Rectangle 20"/>
          <p:cNvSpPr/>
          <p:nvPr/>
        </p:nvSpPr>
        <p:spPr>
          <a:xfrm>
            <a:off x="11777472"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1777472" y="2176272"/>
            <a:ext cx="1307592" cy="548640"/>
          </a:xfrm>
          <a:prstGeom prst="rect">
            <a:avLst/>
          </a:prstGeom>
          <a:noFill/>
        </p:spPr>
        <p:txBody>
          <a:bodyPr wrap="square" lIns="0" tIns="0" rIns="0" bIns="0" anchor="ctr">
            <a:spAutoFit/>
          </a:bodyPr>
          <a:lstStyle/>
          <a:p>
            <a:pPr algn="ctr"/>
            <a:r>
              <a:rPr sz="2600" b="1">
                <a:solidFill>
                  <a:srgbClr val="F72585"/>
                </a:solidFill>
              </a:rPr>
              <a:t>V52</a:t>
            </a:r>
          </a:p>
        </p:txBody>
      </p:sp>
      <p:sp>
        <p:nvSpPr>
          <p:cNvPr id="23" name="TextBox 22"/>
          <p:cNvSpPr txBox="1"/>
          <p:nvPr/>
        </p:nvSpPr>
        <p:spPr>
          <a:xfrm>
            <a:off x="11777472" y="2743200"/>
            <a:ext cx="1307592" cy="274320"/>
          </a:xfrm>
          <a:prstGeom prst="rect">
            <a:avLst/>
          </a:prstGeom>
          <a:noFill/>
        </p:spPr>
        <p:txBody>
          <a:bodyPr wrap="square" lIns="0" tIns="0" rIns="0" bIns="0" anchor="t">
            <a:spAutoFit/>
          </a:bodyPr>
          <a:lstStyle/>
          <a:p>
            <a:pPr algn="ctr"/>
            <a:r>
              <a:rPr sz="1100" b="0">
                <a:solidFill>
                  <a:srgbClr val="686B72"/>
                </a:solidFill>
              </a:rPr>
              <a:t>마이그레이션</a:t>
            </a:r>
          </a:p>
        </p:txBody>
      </p:sp>
      <p:graphicFrame>
        <p:nvGraphicFramePr>
          <p:cNvPr id="24" name="Table 23"/>
          <p:cNvGraphicFramePr>
            <a:graphicFrameLocks noGrp="1"/>
          </p:cNvGraphicFramePr>
          <p:nvPr/>
        </p:nvGraphicFramePr>
        <p:xfrm>
          <a:off x="7306056" y="3337560"/>
          <a:ext cx="5779008" cy="2880360"/>
        </p:xfrm>
        <a:graphic>
          <a:graphicData uri="http://schemas.openxmlformats.org/drawingml/2006/table">
            <a:tbl>
              <a:tblPr>
                <a:tableStyleId>{5C22544A-7EE6-4342-B048-85BDC9FD1C3A}</a:tableStyleId>
              </a:tblPr>
              <a:tblGrid>
                <a:gridCol w="1234440">
                  <a:extLst>
                    <a:ext uri="{9D8B030D-6E8A-4147-A177-3AD203B41FA5}">
                      <a16:colId xmlns:a16="http://schemas.microsoft.com/office/drawing/2014/main" val="20000"/>
                    </a:ext>
                  </a:extLst>
                </a:gridCol>
                <a:gridCol w="4544568">
                  <a:extLst>
                    <a:ext uri="{9D8B030D-6E8A-4147-A177-3AD203B41FA5}">
                      <a16:colId xmlns:a16="http://schemas.microsoft.com/office/drawing/2014/main" val="20001"/>
                    </a:ext>
                  </a:extLst>
                </a:gridCol>
              </a:tblGrid>
              <a:tr h="411480">
                <a:tc>
                  <a:txBody>
                    <a:bodyPr/>
                    <a:lstStyle/>
                    <a:p>
                      <a:r>
                        <a:rPr sz="1200" b="1">
                          <a:solidFill>
                            <a:srgbClr val="FFFFFF"/>
                          </a:solidFill>
                        </a:rPr>
                        <a:t>규칙</a:t>
                      </a:r>
                    </a:p>
                  </a:txBody>
                  <a:tcPr marL="109728" marR="109728" anchor="ctr">
                    <a:solidFill>
                      <a:srgbClr val="17171A"/>
                    </a:solidFill>
                  </a:tcPr>
                </a:tc>
                <a:tc>
                  <a:txBody>
                    <a:bodyPr/>
                    <a:lstStyle/>
                    <a:p>
                      <a:r>
                        <a:rPr sz="1200" b="1">
                          <a:solidFill>
                            <a:srgbClr val="FFFFFF"/>
                          </a:solidFill>
                        </a:rPr>
                        <a:t>내용</a:t>
                      </a:r>
                    </a:p>
                  </a:txBody>
                  <a:tcPr marL="109728" marR="109728" anchor="ctr">
                    <a:solidFill>
                      <a:srgbClr val="17171A"/>
                    </a:solidFill>
                  </a:tcPr>
                </a:tc>
                <a:extLst>
                  <a:ext uri="{0D108BD9-81ED-4DB2-BD59-A6C34878D82A}">
                    <a16:rowId xmlns:a16="http://schemas.microsoft.com/office/drawing/2014/main" val="10000"/>
                  </a:ext>
                </a:extLst>
              </a:tr>
              <a:tr h="411480">
                <a:tc>
                  <a:txBody>
                    <a:bodyPr/>
                    <a:lstStyle/>
                    <a:p>
                      <a:r>
                        <a:rPr sz="1200" b="1">
                          <a:solidFill>
                            <a:srgbClr val="D91370"/>
                          </a:solidFill>
                        </a:rPr>
                        <a:t>PK</a:t>
                      </a:r>
                    </a:p>
                  </a:txBody>
                  <a:tcPr marL="109728" marR="109728" anchor="ctr">
                    <a:solidFill>
                      <a:srgbClr val="FFFFFF"/>
                    </a:solidFill>
                  </a:tcPr>
                </a:tc>
                <a:tc>
                  <a:txBody>
                    <a:bodyPr/>
                    <a:lstStyle/>
                    <a:p>
                      <a:r>
                        <a:rPr sz="1200">
                          <a:solidFill>
                            <a:srgbClr val="17171A"/>
                          </a:solidFill>
                        </a:rPr>
                        <a:t>BIGINT 내부 키 + 외부 노출은 UUID</a:t>
                      </a:r>
                    </a:p>
                  </a:txBody>
                  <a:tcPr marL="109728" marR="109728" anchor="ctr">
                    <a:solidFill>
                      <a:srgbClr val="FFFFFF"/>
                    </a:solidFill>
                  </a:tcPr>
                </a:tc>
                <a:extLst>
                  <a:ext uri="{0D108BD9-81ED-4DB2-BD59-A6C34878D82A}">
                    <a16:rowId xmlns:a16="http://schemas.microsoft.com/office/drawing/2014/main" val="10001"/>
                  </a:ext>
                </a:extLst>
              </a:tr>
              <a:tr h="411480">
                <a:tc>
                  <a:txBody>
                    <a:bodyPr/>
                    <a:lstStyle/>
                    <a:p>
                      <a:r>
                        <a:rPr sz="1200" b="1">
                          <a:solidFill>
                            <a:srgbClr val="D91370"/>
                          </a:solidFill>
                        </a:rPr>
                        <a:t>삭제</a:t>
                      </a:r>
                    </a:p>
                  </a:txBody>
                  <a:tcPr marL="109728" marR="109728" anchor="ctr">
                    <a:solidFill>
                      <a:srgbClr val="F6F7F8"/>
                    </a:solidFill>
                  </a:tcPr>
                </a:tc>
                <a:tc>
                  <a:txBody>
                    <a:bodyPr/>
                    <a:lstStyle/>
                    <a:p>
                      <a:r>
                        <a:rPr sz="1200">
                          <a:solidFill>
                            <a:srgbClr val="17171A"/>
                          </a:solidFill>
                        </a:rPr>
                        <a:t>soft delete 후 보관 기간 지나면 물리 삭제</a:t>
                      </a:r>
                    </a:p>
                  </a:txBody>
                  <a:tcPr marL="109728" marR="109728" anchor="ctr">
                    <a:solidFill>
                      <a:srgbClr val="F6F7F8"/>
                    </a:solidFill>
                  </a:tcPr>
                </a:tc>
                <a:extLst>
                  <a:ext uri="{0D108BD9-81ED-4DB2-BD59-A6C34878D82A}">
                    <a16:rowId xmlns:a16="http://schemas.microsoft.com/office/drawing/2014/main" val="10002"/>
                  </a:ext>
                </a:extLst>
              </a:tr>
              <a:tr h="411480">
                <a:tc>
                  <a:txBody>
                    <a:bodyPr/>
                    <a:lstStyle/>
                    <a:p>
                      <a:r>
                        <a:rPr sz="1200" b="1">
                          <a:solidFill>
                            <a:srgbClr val="D91370"/>
                          </a:solidFill>
                        </a:rPr>
                        <a:t>Enum</a:t>
                      </a:r>
                    </a:p>
                  </a:txBody>
                  <a:tcPr marL="109728" marR="109728" anchor="ctr">
                    <a:solidFill>
                      <a:srgbClr val="FFFFFF"/>
                    </a:solidFill>
                  </a:tcPr>
                </a:tc>
                <a:tc>
                  <a:txBody>
                    <a:bodyPr/>
                    <a:lstStyle/>
                    <a:p>
                      <a:r>
                        <a:rPr sz="1200">
                          <a:solidFill>
                            <a:srgbClr val="17171A"/>
                          </a:solidFill>
                        </a:rPr>
                        <a:t>VARCHAR + CHECK로 잘못된 값 차단</a:t>
                      </a:r>
                    </a:p>
                  </a:txBody>
                  <a:tcPr marL="109728" marR="109728" anchor="ctr">
                    <a:solidFill>
                      <a:srgbClr val="FFFFFF"/>
                    </a:solidFill>
                  </a:tcPr>
                </a:tc>
                <a:extLst>
                  <a:ext uri="{0D108BD9-81ED-4DB2-BD59-A6C34878D82A}">
                    <a16:rowId xmlns:a16="http://schemas.microsoft.com/office/drawing/2014/main" val="10003"/>
                  </a:ext>
                </a:extLst>
              </a:tr>
              <a:tr h="411480">
                <a:tc>
                  <a:txBody>
                    <a:bodyPr/>
                    <a:lstStyle/>
                    <a:p>
                      <a:r>
                        <a:rPr sz="1200" b="1">
                          <a:solidFill>
                            <a:srgbClr val="D91370"/>
                          </a:solidFill>
                        </a:rPr>
                        <a:t>벡터</a:t>
                      </a:r>
                    </a:p>
                  </a:txBody>
                  <a:tcPr marL="109728" marR="109728" anchor="ctr">
                    <a:solidFill>
                      <a:srgbClr val="F6F7F8"/>
                    </a:solidFill>
                  </a:tcPr>
                </a:tc>
                <a:tc>
                  <a:txBody>
                    <a:bodyPr/>
                    <a:lstStyle/>
                    <a:p>
                      <a:r>
                        <a:rPr sz="1200">
                          <a:solidFill>
                            <a:srgbClr val="17171A"/>
                          </a:solidFill>
                        </a:rPr>
                        <a:t>vector(1024) · HNSW · 코사인</a:t>
                      </a:r>
                    </a:p>
                  </a:txBody>
                  <a:tcPr marL="109728" marR="109728" anchor="ctr">
                    <a:solidFill>
                      <a:srgbClr val="F6F7F8"/>
                    </a:solidFill>
                  </a:tcPr>
                </a:tc>
                <a:extLst>
                  <a:ext uri="{0D108BD9-81ED-4DB2-BD59-A6C34878D82A}">
                    <a16:rowId xmlns:a16="http://schemas.microsoft.com/office/drawing/2014/main" val="10004"/>
                  </a:ext>
                </a:extLst>
              </a:tr>
              <a:tr h="411480">
                <a:tc>
                  <a:txBody>
                    <a:bodyPr/>
                    <a:lstStyle/>
                    <a:p>
                      <a:r>
                        <a:rPr sz="1200" b="1">
                          <a:solidFill>
                            <a:srgbClr val="D91370"/>
                          </a:solidFill>
                        </a:rPr>
                        <a:t>임베딩</a:t>
                      </a:r>
                    </a:p>
                  </a:txBody>
                  <a:tcPr marL="109728" marR="109728" anchor="ctr">
                    <a:solidFill>
                      <a:srgbClr val="FFFFFF"/>
                    </a:solidFill>
                  </a:tcPr>
                </a:tc>
                <a:tc>
                  <a:txBody>
                    <a:bodyPr/>
                    <a:lstStyle/>
                    <a:p>
                      <a:r>
                        <a:rPr sz="1200">
                          <a:solidFill>
                            <a:srgbClr val="17171A"/>
                          </a:solidFill>
                        </a:rPr>
                        <a:t>모델별 Profile 분리 (교체 대비)</a:t>
                      </a:r>
                    </a:p>
                  </a:txBody>
                  <a:tcPr marL="109728" marR="109728" anchor="ctr">
                    <a:solidFill>
                      <a:srgbClr val="FFFFFF"/>
                    </a:solidFill>
                  </a:tcPr>
                </a:tc>
                <a:extLst>
                  <a:ext uri="{0D108BD9-81ED-4DB2-BD59-A6C34878D82A}">
                    <a16:rowId xmlns:a16="http://schemas.microsoft.com/office/drawing/2014/main" val="10005"/>
                  </a:ext>
                </a:extLst>
              </a:tr>
              <a:tr h="411480">
                <a:tc>
                  <a:txBody>
                    <a:bodyPr/>
                    <a:lstStyle/>
                    <a:p>
                      <a:r>
                        <a:rPr sz="1200" b="1">
                          <a:solidFill>
                            <a:srgbClr val="D91370"/>
                          </a:solidFill>
                        </a:rPr>
                        <a:t>중복 방지</a:t>
                      </a:r>
                    </a:p>
                  </a:txBody>
                  <a:tcPr marL="109728" marR="109728" anchor="ctr">
                    <a:solidFill>
                      <a:srgbClr val="F6F7F8"/>
                    </a:solidFill>
                  </a:tcPr>
                </a:tc>
                <a:tc>
                  <a:txBody>
                    <a:bodyPr/>
                    <a:lstStyle/>
                    <a:p>
                      <a:r>
                        <a:rPr sz="1200">
                          <a:solidFill>
                            <a:srgbClr val="17171A"/>
                          </a:solidFill>
                        </a:rPr>
                        <a:t>조건부 UNIQUE 인덱스 18개</a:t>
                      </a:r>
                    </a:p>
                  </a:txBody>
                  <a:tcPr marL="109728" marR="109728" anchor="ctr">
                    <a:solidFill>
                      <a:srgbClr val="F6F7F8"/>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4</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경과</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08</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wn-text-1">
            <a:extLst>
              <a:ext uri="{FF2B5EF4-FFF2-40B4-BE49-F238E27FC236}">
                <a16:creationId xmlns:a16="http://schemas.microsoft.com/office/drawing/2014/main" id="{608A326C-AAF5-4C26-A24B-F58CF024D8F2}"/>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a:ext uri="{FF2B5EF4-FFF2-40B4-BE49-F238E27FC236}">
                <a16:creationId xmlns:a16="http://schemas.microsoft.com/office/drawing/2014/main" id="{7CE94359-FA73-4A32-90C3-DF3C5B07C359}"/>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1차 모델 선별과 4B 후보 압축</a:t>
            </a:r>
          </a:p>
        </p:txBody>
      </p:sp>
      <p:sp>
        <p:nvSpPr>
          <p:cNvPr id="3" name="own-text-3">
            <a:extLst>
              <a:ext uri="{FF2B5EF4-FFF2-40B4-BE49-F238E27FC236}">
                <a16:creationId xmlns:a16="http://schemas.microsoft.com/office/drawing/2014/main" id="{D179A3C0-B4AE-46C8-BFB6-936B3E224493}"/>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초기 9종에서 후보를 줄인 뒤, 7종·11설정을 전수 평가한 정답률과 환각률</a:t>
            </a:r>
          </a:p>
        </p:txBody>
      </p:sp>
      <p:sp>
        <p:nvSpPr>
          <p:cNvPr id="4" name="own-text-4">
            <a:extLst>
              <a:ext uri="{FF2B5EF4-FFF2-40B4-BE49-F238E27FC236}">
                <a16:creationId xmlns:a16="http://schemas.microsoft.com/office/drawing/2014/main" id="{75611D4C-DA0F-463E-BF74-050B17E1A868}"/>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a:ext uri="{FF2B5EF4-FFF2-40B4-BE49-F238E27FC236}">
                <a16:creationId xmlns:a16="http://schemas.microsoft.com/office/drawing/2014/main" id="{97C1A58F-AA57-4FE7-B012-54BBC0F0AAAB}"/>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09</a:t>
            </a:r>
            <a:endParaRPr sz="1300" b="0">
              <a:solidFill>
                <a:srgbClr val="686B72"/>
              </a:solidFill>
              <a:latin typeface="맑은 고딕"/>
              <a:ea typeface="맑은 고딕"/>
              <a:cs typeface="맑은 고딕"/>
            </a:endParaRPr>
          </a:p>
        </p:txBody>
      </p:sp>
      <p:sp>
        <p:nvSpPr>
          <p:cNvPr id="6" name="own-text-6">
            <a:extLst>
              <a:ext uri="{FF2B5EF4-FFF2-40B4-BE49-F238E27FC236}">
                <a16:creationId xmlns:a16="http://schemas.microsoft.com/office/drawing/2014/main" id="{D84DFC30-238B-4D8B-8E6F-72CBF09680FD}"/>
              </a:ext>
            </a:extLst>
          </p:cNvPr>
          <p:cNvSpPr>
            <a:spLocks noGrp="1"/>
          </p:cNvSpPr>
          <p:nvPr/>
        </p:nvSpPr>
        <p:spPr>
          <a:xfrm>
            <a:off x="628650" y="6515100"/>
            <a:ext cx="12458700" cy="457200"/>
          </a:xfrm>
          <a:prstGeom prst="rect">
            <a:avLst/>
          </a:prstGeom>
          <a:noFill/>
          <a:ln w="0">
            <a:noFill/>
          </a:ln>
        </p:spPr>
        <p:txBody>
          <a:bodyPr wrap="square" lIns="0" tIns="0" rIns="0" bIns="0" anchor="t">
            <a:noAutofit/>
          </a:bodyPr>
          <a:lstStyle>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단일·유사·다중 FAQ, 개인화·조건·예외, 근거 부재·충돌, 멀티턴, 공격·범위 밖, API(13유형)</a:t>
            </a:r>
          </a:p>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평가: 필수 사실·조건·답변 가능 여부를 만족하면 정답, 근거 밖 내용은 환각. 형식·일관성·지연·메모리·동시성도 고려.</a:t>
            </a:r>
          </a:p>
        </p:txBody>
      </p:sp>
      <p:graphicFrame>
        <p:nvGraphicFramePr>
          <p:cNvPr id="7" name="표 6">
            <a:extLst>
              <a:ext uri="{FF2B5EF4-FFF2-40B4-BE49-F238E27FC236}">
                <a16:creationId xmlns:a16="http://schemas.microsoft.com/office/drawing/2014/main" id="{169C683A-8FDA-4C17-940A-C36B3D4A4244}"/>
              </a:ext>
            </a:extLst>
          </p:cNvPr>
          <p:cNvGraphicFramePr/>
          <p:nvPr/>
        </p:nvGraphicFramePr>
        <p:xfrm>
          <a:off x="628650" y="2076450"/>
          <a:ext cx="7239000" cy="3886200"/>
        </p:xfrm>
        <a:graphic>
          <a:graphicData uri="http://schemas.openxmlformats.org/drawingml/2006/table">
            <a:tbl>
              <a:tblPr/>
              <a:tblGrid>
                <a:gridCol w="2143125">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2809875">
                  <a:extLst>
                    <a:ext uri="{9D8B030D-6E8A-4147-A177-3AD203B41FA5}">
                      <a16:colId xmlns:a16="http://schemas.microsoft.com/office/drawing/2014/main" val="20003"/>
                    </a:ext>
                  </a:extLst>
                </a:gridCol>
              </a:tblGrid>
              <a:tr h="323850">
                <a:tc>
                  <a:txBody>
                    <a:bodyPr/>
                    <a:lstStyle/>
                    <a:p>
                      <a:r>
                        <a:rPr sz="1373" b="1">
                          <a:solidFill>
                            <a:srgbClr val="FFFFFF"/>
                          </a:solidFill>
                          <a:latin typeface="맑은 고딕"/>
                          <a:ea typeface="맑은 고딕"/>
                          <a:cs typeface="맑은 고딕"/>
                        </a:rPr>
                        <a:t>300문항 전수 평가</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정답률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환각률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제외·후순위 근거</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23850">
                <a:tc>
                  <a:txBody>
                    <a:bodyPr/>
                    <a:lstStyle/>
                    <a:p>
                      <a:r>
                        <a:rPr sz="1373"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31.3%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50.3%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답 없는 질문에 취약</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323850">
                <a:tc>
                  <a:txBody>
                    <a:bodyPr/>
                    <a:lstStyle/>
                    <a:p>
                      <a:r>
                        <a:rPr sz="1373" b="0">
                          <a:solidFill>
                            <a:srgbClr val="17171A"/>
                          </a:solidFill>
                          <a:latin typeface="맑은 고딕"/>
                          <a:ea typeface="맑은 고딕"/>
                          <a:cs typeface="맑은 고딕"/>
                        </a:rPr>
                        <a:t>Qwen3 1.7B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39.0%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내용 품질 부족</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323850">
                <a:tc>
                  <a:txBody>
                    <a:bodyPr/>
                    <a:lstStyle/>
                    <a:p>
                      <a:r>
                        <a:rPr sz="1373" b="0">
                          <a:solidFill>
                            <a:srgbClr val="17171A"/>
                          </a:solidFill>
                          <a:latin typeface="맑은 고딕"/>
                          <a:ea typeface="맑은 고딕"/>
                          <a:cs typeface="맑은 고딕"/>
                        </a:rPr>
                        <a:t>Qwen3 4B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72.3%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13.7%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95% 응답 47.6초 이내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323850">
                <a:tc>
                  <a:txBody>
                    <a:bodyPr/>
                    <a:lstStyle/>
                    <a:p>
                      <a:r>
                        <a:rPr sz="1373" b="0">
                          <a:solidFill>
                            <a:srgbClr val="17171A"/>
                          </a:solidFill>
                          <a:latin typeface="맑은 고딕"/>
                          <a:ea typeface="맑은 고딕"/>
                          <a:cs typeface="맑은 고딕"/>
                        </a:rPr>
                        <a:t>Qwen3 8B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59.7%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26.8%</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품질·지연 모두 검토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323850">
                <a:tc>
                  <a:txBody>
                    <a:bodyPr/>
                    <a:lstStyle/>
                    <a:p>
                      <a:r>
                        <a:rPr sz="1373" b="0">
                          <a:solidFill>
                            <a:srgbClr val="17171A"/>
                          </a:solidFill>
                          <a:latin typeface="맑은 고딕"/>
                          <a:ea typeface="맑은 고딕"/>
                          <a:cs typeface="맑은 고딕"/>
                        </a:rPr>
                        <a:t>EXAONE 7.8B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37.3%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53.3%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보류 대상 88건 실패</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323850">
                <a:tc>
                  <a:txBody>
                    <a:bodyPr/>
                    <a:lstStyle/>
                    <a:p>
                      <a:r>
                        <a:rPr sz="1373" b="0">
                          <a:solidFill>
                            <a:srgbClr val="17171A"/>
                          </a:solidFill>
                          <a:latin typeface="맑은 고딕"/>
                          <a:ea typeface="맑은 고딕"/>
                          <a:cs typeface="맑은 고딕"/>
                        </a:rPr>
                        <a:t>Gemma3 12B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64.0%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21.3%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모델 크기·조건 판단</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323850">
                <a:tc>
                  <a:txBody>
                    <a:bodyPr/>
                    <a:lstStyle/>
                    <a:p>
                      <a:r>
                        <a:rPr sz="1373" b="0">
                          <a:solidFill>
                            <a:srgbClr val="17171A"/>
                          </a:solidFill>
                          <a:latin typeface="맑은 고딕"/>
                          <a:ea typeface="맑은 고딕"/>
                          <a:cs typeface="맑은 고딕"/>
                        </a:rPr>
                        <a:t>Qwen3 14B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75.6%</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24.7%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95% 응답 28.5초 이내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r h="323850">
                <a:tc>
                  <a:txBody>
                    <a:bodyPr/>
                    <a:lstStyle/>
                    <a:p>
                      <a:r>
                        <a:rPr sz="1373" b="0">
                          <a:solidFill>
                            <a:srgbClr val="17171A"/>
                          </a:solidFill>
                          <a:latin typeface="맑은 고딕"/>
                          <a:ea typeface="맑은 고딕"/>
                          <a:cs typeface="맑은 고딕"/>
                        </a:rPr>
                        <a:t>Qwen3 1.7B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56.7%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내용 품질 부족</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8"/>
                  </a:ext>
                </a:extLst>
              </a:tr>
              <a:tr h="323850">
                <a:tc>
                  <a:txBody>
                    <a:bodyPr/>
                    <a:lstStyle/>
                    <a:p>
                      <a:r>
                        <a:rPr sz="1373"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43.7%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29.0%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이후 4B 튜닝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9"/>
                  </a:ext>
                </a:extLst>
              </a:tr>
              <a:tr h="323850">
                <a:tc>
                  <a:txBody>
                    <a:bodyPr/>
                    <a:lstStyle/>
                    <a:p>
                      <a:r>
                        <a:rPr sz="1373" b="0">
                          <a:solidFill>
                            <a:srgbClr val="17171A"/>
                          </a:solidFill>
                          <a:latin typeface="맑은 고딕"/>
                          <a:ea typeface="맑은 고딕"/>
                          <a:cs typeface="맑은 고딕"/>
                        </a:rPr>
                        <a:t>Qwen3 8B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26.0%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4B 튜닝 후 확장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10"/>
                  </a:ext>
                </a:extLst>
              </a:tr>
              <a:tr h="323850">
                <a:tc>
                  <a:txBody>
                    <a:bodyPr/>
                    <a:lstStyle/>
                    <a:p>
                      <a:r>
                        <a:rPr sz="1373" b="0">
                          <a:solidFill>
                            <a:srgbClr val="17171A"/>
                          </a:solidFill>
                          <a:latin typeface="맑은 고딕"/>
                          <a:ea typeface="맑은 고딕"/>
                          <a:cs typeface="맑은 고딕"/>
                        </a:rPr>
                        <a:t>Qwen3 14B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70.7%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1차 MVP·서빙 부담 검토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11"/>
                  </a:ext>
                </a:extLst>
              </a:tr>
            </a:tbl>
          </a:graphicData>
        </a:graphic>
      </p:graphicFrame>
      <p:sp>
        <p:nvSpPr>
          <p:cNvPr id="8" name="own-text-7">
            <a:extLst>
              <a:ext uri="{FF2B5EF4-FFF2-40B4-BE49-F238E27FC236}">
                <a16:creationId xmlns:a16="http://schemas.microsoft.com/office/drawing/2014/main" id="{9B1304B2-1A23-4B11-860A-17A8C3DA9FD6}"/>
              </a:ext>
            </a:extLst>
          </p:cNvPr>
          <p:cNvSpPr>
            <a:spLocks noGrp="1"/>
          </p:cNvSpPr>
          <p:nvPr/>
        </p:nvSpPr>
        <p:spPr>
          <a:xfrm>
            <a:off x="628650" y="6057900"/>
            <a:ext cx="7239000" cy="428625"/>
          </a:xfrm>
          <a:prstGeom prst="rect">
            <a:avLst/>
          </a:prstGeom>
          <a:noFill/>
          <a:ln w="0">
            <a:noFill/>
          </a:ln>
        </p:spPr>
        <p:txBody>
          <a:bodyPr wrap="square" lIns="0" tIns="0" rIns="0" bIns="0" anchor="t">
            <a:noAutofit/>
          </a:bodyPr>
          <a:lstStyle>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앞서 Qwen 0.6B·Gemma 270M/1B·EXAONE 2.4B는 형식·내용 문제로 제외</a:t>
            </a:r>
          </a:p>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해당 후보는 전수 정답률·환각률 평가가 없어 표에 넣지 않음</a:t>
            </a:r>
          </a:p>
        </p:txBody>
      </p:sp>
      <p:sp>
        <p:nvSpPr>
          <p:cNvPr id="9" name="own-text-8">
            <a:extLst>
              <a:ext uri="{FF2B5EF4-FFF2-40B4-BE49-F238E27FC236}">
                <a16:creationId xmlns:a16="http://schemas.microsoft.com/office/drawing/2014/main" id="{A2C5C143-6CAE-42B4-8A70-5907710F1CF5}"/>
              </a:ext>
            </a:extLst>
          </p:cNvPr>
          <p:cNvSpPr>
            <a:spLocks noGrp="1"/>
          </p:cNvSpPr>
          <p:nvPr/>
        </p:nvSpPr>
        <p:spPr>
          <a:xfrm>
            <a:off x="8248650" y="2076450"/>
            <a:ext cx="4857750" cy="333375"/>
          </a:xfrm>
          <a:prstGeom prst="rect">
            <a:avLst/>
          </a:prstGeom>
          <a:noFill/>
          <a:ln w="0">
            <a:noFill/>
          </a:ln>
        </p:spPr>
        <p:txBody>
          <a:bodyPr wrap="square" lIns="0" tIns="0" rIns="0" bIns="0" anchor="t">
            <a:noAutofit/>
          </a:bodyPr>
          <a:lstStyle>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4B 후보 재평가 (약 2,600건)</a:t>
            </a:r>
          </a:p>
        </p:txBody>
      </p:sp>
      <p:graphicFrame>
        <p:nvGraphicFramePr>
          <p:cNvPr id="10" name="표 9">
            <a:extLst>
              <a:ext uri="{FF2B5EF4-FFF2-40B4-BE49-F238E27FC236}">
                <a16:creationId xmlns:a16="http://schemas.microsoft.com/office/drawing/2014/main" id="{C697B893-236D-4F3C-95F2-6487DE86CE26}"/>
              </a:ext>
            </a:extLst>
          </p:cNvPr>
          <p:cNvGraphicFramePr/>
          <p:nvPr/>
        </p:nvGraphicFramePr>
        <p:xfrm>
          <a:off x="8248650" y="2514600"/>
          <a:ext cx="4857750" cy="1066800"/>
        </p:xfrm>
        <a:graphic>
          <a:graphicData uri="http://schemas.openxmlformats.org/drawingml/2006/table">
            <a:tbl>
              <a:tblPr/>
              <a:tblGrid>
                <a:gridCol w="2381250">
                  <a:extLst>
                    <a:ext uri="{9D8B030D-6E8A-4147-A177-3AD203B41FA5}">
                      <a16:colId xmlns:a16="http://schemas.microsoft.com/office/drawing/2014/main" val="20000"/>
                    </a:ext>
                  </a:extLst>
                </a:gridCol>
                <a:gridCol w="1238250">
                  <a:extLst>
                    <a:ext uri="{9D8B030D-6E8A-4147-A177-3AD203B41FA5}">
                      <a16:colId xmlns:a16="http://schemas.microsoft.com/office/drawing/2014/main" val="20001"/>
                    </a:ext>
                  </a:extLst>
                </a:gridCol>
                <a:gridCol w="1238250">
                  <a:extLst>
                    <a:ext uri="{9D8B030D-6E8A-4147-A177-3AD203B41FA5}">
                      <a16:colId xmlns:a16="http://schemas.microsoft.com/office/drawing/2014/main" val="20002"/>
                    </a:ext>
                  </a:extLst>
                </a:gridCol>
              </a:tblGrid>
              <a:tr h="355600">
                <a:tc>
                  <a:txBody>
                    <a:bodyPr/>
                    <a:lstStyle/>
                    <a:p>
                      <a:r>
                        <a:rPr sz="1448"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448" b="1">
                          <a:solidFill>
                            <a:srgbClr val="FFFFFF"/>
                          </a:solidFill>
                          <a:latin typeface="맑은 고딕"/>
                          <a:ea typeface="맑은 고딕"/>
                          <a:cs typeface="맑은 고딕"/>
                        </a:rPr>
                        <a:t>정답률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448" b="1">
                          <a:solidFill>
                            <a:srgbClr val="FFFFFF"/>
                          </a:solidFill>
                          <a:latin typeface="맑은 고딕"/>
                          <a:ea typeface="맑은 고딕"/>
                          <a:cs typeface="맑은 고딕"/>
                        </a:rPr>
                        <a:t>환각률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55600">
                <a:tc>
                  <a:txBody>
                    <a:bodyPr/>
                    <a:lstStyle/>
                    <a:p>
                      <a:r>
                        <a:rPr sz="1448"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448" b="0">
                          <a:solidFill>
                            <a:srgbClr val="17171A"/>
                          </a:solidFill>
                          <a:latin typeface="맑은 고딕"/>
                          <a:ea typeface="맑은 고딕"/>
                          <a:cs typeface="맑은 고딕"/>
                        </a:rPr>
                        <a:t>65.1%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448" b="0">
                          <a:solidFill>
                            <a:srgbClr val="17171A"/>
                          </a:solidFill>
                          <a:latin typeface="맑은 고딕"/>
                          <a:ea typeface="맑은 고딕"/>
                          <a:cs typeface="맑은 고딕"/>
                        </a:rPr>
                        <a:t>24.1%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355600">
                <a:tc>
                  <a:txBody>
                    <a:bodyPr/>
                    <a:lstStyle/>
                    <a:p>
                      <a:r>
                        <a:rPr sz="1448"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448" b="1">
                          <a:solidFill>
                            <a:srgbClr val="F72585"/>
                          </a:solidFill>
                          <a:latin typeface="맑은 고딕"/>
                          <a:ea typeface="맑은 고딕"/>
                          <a:cs typeface="맑은 고딕"/>
                        </a:rPr>
                        <a:t>63.0%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448" b="1">
                          <a:solidFill>
                            <a:srgbClr val="F72585"/>
                          </a:solidFill>
                          <a:latin typeface="맑은 고딕"/>
                          <a:ea typeface="맑은 고딕"/>
                          <a:cs typeface="맑은 고딕"/>
                        </a:rPr>
                        <a:t>22.0%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bl>
          </a:graphicData>
        </a:graphic>
      </p:graphicFrame>
      <p:sp>
        <p:nvSpPr>
          <p:cNvPr id="11" name="own-text-9">
            <a:extLst>
              <a:ext uri="{FF2B5EF4-FFF2-40B4-BE49-F238E27FC236}">
                <a16:creationId xmlns:a16="http://schemas.microsoft.com/office/drawing/2014/main" id="{9C0757C7-655F-4339-B525-D1D0A071B539}"/>
              </a:ext>
            </a:extLst>
          </p:cNvPr>
          <p:cNvSpPr>
            <a:spLocks noGrp="1"/>
          </p:cNvSpPr>
          <p:nvPr/>
        </p:nvSpPr>
        <p:spPr>
          <a:xfrm>
            <a:off x="8248650" y="3781425"/>
            <a:ext cx="4857750" cy="323850"/>
          </a:xfrm>
          <a:prstGeom prst="rect">
            <a:avLst/>
          </a:prstGeom>
          <a:noFill/>
          <a:ln w="0">
            <a:noFill/>
          </a:ln>
        </p:spPr>
        <p:txBody>
          <a:bodyPr wrap="square" lIns="0" tIns="0" rIns="0" bIns="0" anchor="t">
            <a:noAutofit/>
          </a:bodyPr>
          <a:lstStyle>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Gemma: 계산·조건 오류와 근거 밖 보충</a:t>
            </a:r>
          </a:p>
        </p:txBody>
      </p:sp>
      <p:sp>
        <p:nvSpPr>
          <p:cNvPr id="12" name="own-text-10">
            <a:extLst>
              <a:ext uri="{FF2B5EF4-FFF2-40B4-BE49-F238E27FC236}">
                <a16:creationId xmlns:a16="http://schemas.microsoft.com/office/drawing/2014/main" id="{054B45F1-53C2-4083-9B97-0FD76F550B3D}"/>
              </a:ext>
            </a:extLst>
          </p:cNvPr>
          <p:cNvSpPr>
            <a:spLocks noGrp="1"/>
          </p:cNvSpPr>
          <p:nvPr/>
        </p:nvSpPr>
        <p:spPr>
          <a:xfrm>
            <a:off x="8248650" y="4238625"/>
            <a:ext cx="4857750" cy="581025"/>
          </a:xfrm>
          <a:prstGeom prst="rect">
            <a:avLst/>
          </a:prstGeom>
          <a:noFill/>
          <a:ln w="0">
            <a:noFill/>
          </a:ln>
        </p:spPr>
        <p:txBody>
          <a:bodyPr wrap="square" lIns="0" tIns="0" rIns="0" bIns="0" anchor="t">
            <a:noAutofit/>
          </a:bodyPr>
          <a:lstStyle>
            <a:defPPr algn="l">
              <a:defRPr sz="1598" b="1">
                <a:solidFill>
                  <a:srgbClr val="F72585"/>
                </a:solidFill>
                <a:latin typeface="맑은 고딕"/>
                <a:ea typeface="맑은 고딕"/>
                <a:cs typeface="맑은 고딕"/>
              </a:defRPr>
            </a:defPPr>
            <a:lvl1pPr algn="l">
              <a:defRPr sz="1598" b="1">
                <a:solidFill>
                  <a:srgbClr val="F72585"/>
                </a:solidFill>
                <a:latin typeface="맑은 고딕"/>
                <a:ea typeface="맑은 고딕"/>
                <a:cs typeface="맑은 고딕"/>
              </a:defRPr>
            </a:lvl1pPr>
            <a:lvl2pPr algn="l">
              <a:defRPr sz="1598" b="1">
                <a:solidFill>
                  <a:srgbClr val="F72585"/>
                </a:solidFill>
                <a:latin typeface="맑은 고딕"/>
                <a:ea typeface="맑은 고딕"/>
                <a:cs typeface="맑은 고딕"/>
              </a:defRPr>
            </a:lvl2pPr>
            <a:lvl3pPr algn="l">
              <a:defRPr sz="1598" b="1">
                <a:solidFill>
                  <a:srgbClr val="F72585"/>
                </a:solidFill>
                <a:latin typeface="맑은 고딕"/>
                <a:ea typeface="맑은 고딕"/>
                <a:cs typeface="맑은 고딕"/>
              </a:defRPr>
            </a:lvl3pPr>
            <a:lvl4pPr algn="l">
              <a:defRPr sz="1598" b="1">
                <a:solidFill>
                  <a:srgbClr val="F72585"/>
                </a:solidFill>
                <a:latin typeface="맑은 고딕"/>
                <a:ea typeface="맑은 고딕"/>
                <a:cs typeface="맑은 고딕"/>
              </a:defRPr>
            </a:lvl4pPr>
            <a:lvl5pPr algn="l">
              <a:defRPr sz="1598" b="1">
                <a:solidFill>
                  <a:srgbClr val="F72585"/>
                </a:solidFill>
                <a:latin typeface="맑은 고딕"/>
                <a:ea typeface="맑은 고딕"/>
                <a:cs typeface="맑은 고딕"/>
              </a:defRPr>
            </a:lvl5pPr>
            <a:lvl6pPr algn="l">
              <a:defRPr sz="1598" b="1">
                <a:solidFill>
                  <a:srgbClr val="F72585"/>
                </a:solidFill>
                <a:latin typeface="맑은 고딕"/>
                <a:ea typeface="맑은 고딕"/>
                <a:cs typeface="맑은 고딕"/>
              </a:defRPr>
            </a:lvl6pPr>
            <a:lvl7pPr algn="l">
              <a:defRPr sz="1598" b="1">
                <a:solidFill>
                  <a:srgbClr val="F72585"/>
                </a:solidFill>
                <a:latin typeface="맑은 고딕"/>
                <a:ea typeface="맑은 고딕"/>
                <a:cs typeface="맑은 고딕"/>
              </a:defRPr>
            </a:lvl7pPr>
            <a:lvl8pPr algn="l">
              <a:defRPr sz="1598" b="1">
                <a:solidFill>
                  <a:srgbClr val="F72585"/>
                </a:solidFill>
                <a:latin typeface="맑은 고딕"/>
                <a:ea typeface="맑은 고딕"/>
                <a:cs typeface="맑은 고딕"/>
              </a:defRPr>
            </a:lvl8pPr>
            <a:lvl9pPr algn="l">
              <a:defRPr sz="1598" b="1">
                <a:solidFill>
                  <a:srgbClr val="F72585"/>
                </a:solidFill>
                <a:latin typeface="맑은 고딕"/>
                <a:ea typeface="맑은 고딕"/>
                <a:cs typeface="맑은 고딕"/>
              </a:defRPr>
            </a:lvl9pPr>
          </a:lstStyle>
          <a:p>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Qwen: 오답 중 과잉 보류 36.6%</a:t>
            </a:r>
          </a:p>
          <a:p>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답하도록 프롬프트로 교정할 여지를 고려</a:t>
            </a:r>
          </a:p>
        </p:txBody>
      </p:sp>
      <p:sp>
        <p:nvSpPr>
          <p:cNvPr id="13" name="own-text-11">
            <a:extLst>
              <a:ext uri="{FF2B5EF4-FFF2-40B4-BE49-F238E27FC236}">
                <a16:creationId xmlns:a16="http://schemas.microsoft.com/office/drawing/2014/main" id="{CE30DB31-07C1-458F-9EFF-DDD0D6C9FCAA}"/>
              </a:ext>
            </a:extLst>
          </p:cNvPr>
          <p:cNvSpPr>
            <a:spLocks noGrp="1"/>
          </p:cNvSpPr>
          <p:nvPr/>
        </p:nvSpPr>
        <p:spPr>
          <a:xfrm>
            <a:off x="8248650" y="4914900"/>
            <a:ext cx="4857750" cy="257175"/>
          </a:xfrm>
          <a:prstGeom prst="rect">
            <a:avLst/>
          </a:prstGeom>
          <a:noFill/>
          <a:ln w="0">
            <a:noFill/>
          </a:ln>
        </p:spPr>
        <p:txBody>
          <a:bodyPr wrap="square" lIns="0" tIns="0" rIns="0" bIns="0" anchor="t">
            <a:noAutofit/>
          </a:bodyPr>
          <a:lstStyle>
            <a:defPPr algn="l">
              <a:defRPr sz="1298" b="0">
                <a:solidFill>
                  <a:srgbClr val="686B72"/>
                </a:solidFill>
                <a:latin typeface="맑은 고딕"/>
                <a:ea typeface="맑은 고딕"/>
                <a:cs typeface="맑은 고딕"/>
              </a:defRPr>
            </a:defPPr>
            <a:lvl1pPr algn="l">
              <a:defRPr sz="1298" b="0">
                <a:solidFill>
                  <a:srgbClr val="686B72"/>
                </a:solidFill>
                <a:latin typeface="맑은 고딕"/>
                <a:ea typeface="맑은 고딕"/>
                <a:cs typeface="맑은 고딕"/>
              </a:defRPr>
            </a:lvl1pPr>
            <a:lvl2pPr algn="l">
              <a:defRPr sz="1298" b="0">
                <a:solidFill>
                  <a:srgbClr val="686B72"/>
                </a:solidFill>
                <a:latin typeface="맑은 고딕"/>
                <a:ea typeface="맑은 고딕"/>
                <a:cs typeface="맑은 고딕"/>
              </a:defRPr>
            </a:lvl2pPr>
            <a:lvl3pPr algn="l">
              <a:defRPr sz="1298" b="0">
                <a:solidFill>
                  <a:srgbClr val="686B72"/>
                </a:solidFill>
                <a:latin typeface="맑은 고딕"/>
                <a:ea typeface="맑은 고딕"/>
                <a:cs typeface="맑은 고딕"/>
              </a:defRPr>
            </a:lvl3pPr>
            <a:lvl4pPr algn="l">
              <a:defRPr sz="1298" b="0">
                <a:solidFill>
                  <a:srgbClr val="686B72"/>
                </a:solidFill>
                <a:latin typeface="맑은 고딕"/>
                <a:ea typeface="맑은 고딕"/>
                <a:cs typeface="맑은 고딕"/>
              </a:defRPr>
            </a:lvl4pPr>
            <a:lvl5pPr algn="l">
              <a:defRPr sz="1298" b="0">
                <a:solidFill>
                  <a:srgbClr val="686B72"/>
                </a:solidFill>
                <a:latin typeface="맑은 고딕"/>
                <a:ea typeface="맑은 고딕"/>
                <a:cs typeface="맑은 고딕"/>
              </a:defRPr>
            </a:lvl5pPr>
            <a:lvl6pPr algn="l">
              <a:defRPr sz="1298" b="0">
                <a:solidFill>
                  <a:srgbClr val="686B72"/>
                </a:solidFill>
                <a:latin typeface="맑은 고딕"/>
                <a:ea typeface="맑은 고딕"/>
                <a:cs typeface="맑은 고딕"/>
              </a:defRPr>
            </a:lvl6pPr>
            <a:lvl7pPr algn="l">
              <a:defRPr sz="1298" b="0">
                <a:solidFill>
                  <a:srgbClr val="686B72"/>
                </a:solidFill>
                <a:latin typeface="맑은 고딕"/>
                <a:ea typeface="맑은 고딕"/>
                <a:cs typeface="맑은 고딕"/>
              </a:defRPr>
            </a:lvl7pPr>
            <a:lvl8pPr algn="l">
              <a:defRPr sz="1298" b="0">
                <a:solidFill>
                  <a:srgbClr val="686B72"/>
                </a:solidFill>
                <a:latin typeface="맑은 고딕"/>
                <a:ea typeface="맑은 고딕"/>
                <a:cs typeface="맑은 고딕"/>
              </a:defRPr>
            </a:lvl8pPr>
            <a:lvl9pPr algn="l">
              <a:defRPr sz="1298" b="0">
                <a:solidFill>
                  <a:srgbClr val="686B72"/>
                </a:solidFill>
                <a:latin typeface="맑은 고딕"/>
                <a:ea typeface="맑은 고딕"/>
                <a:cs typeface="맑은 고딕"/>
              </a:defRPr>
            </a:lvl9pPr>
          </a:lstStyle>
          <a:p>
            <a:pPr algn="l">
              <a:defRPr sz="1298" b="0">
                <a:solidFill>
                  <a:srgbClr val="686B72"/>
                </a:solidFill>
                <a:latin typeface="맑은 고딕"/>
                <a:ea typeface="맑은 고딕"/>
                <a:cs typeface="맑은 고딕"/>
              </a:defRPr>
            </a:pPr>
            <a:r>
              <a:rPr sz="1298" b="0">
                <a:solidFill>
                  <a:srgbClr val="686B72"/>
                </a:solidFill>
                <a:latin typeface="맑은 고딕"/>
                <a:ea typeface="맑은 고딕"/>
                <a:cs typeface="맑은 고딕"/>
              </a:rPr>
              <a:t>동시 32명, 초당 완료 요청 수 (L4·30초 시험)</a:t>
            </a:r>
          </a:p>
        </p:txBody>
      </p:sp>
      <p:graphicFrame>
        <p:nvGraphicFramePr>
          <p:cNvPr id="14" name="Chart">
            <a:extLst>
              <a:ext uri="{FF2B5EF4-FFF2-40B4-BE49-F238E27FC236}">
                <a16:creationId xmlns:a16="http://schemas.microsoft.com/office/drawing/2014/main" id="{7AA59CA2-1E4E-4F6D-9EC8-B5E90ADB04DB}"/>
              </a:ext>
            </a:extLst>
          </p:cNvPr>
          <p:cNvGraphicFramePr/>
          <p:nvPr/>
        </p:nvGraphicFramePr>
        <p:xfrm>
          <a:off x="8248650" y="5257800"/>
          <a:ext cx="4857750" cy="11906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122005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wn-text-12">
            <a:extLst>
              <a:ext uri="{FF2B5EF4-FFF2-40B4-BE49-F238E27FC236}">
                <a16:creationId xmlns:a16="http://schemas.microsoft.com/office/drawing/2014/main" id="{E83E74C0-27E2-4C94-9DA6-B914D56DB796}"/>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3">
            <a:extLst>
              <a:ext uri="{FF2B5EF4-FFF2-40B4-BE49-F238E27FC236}">
                <a16:creationId xmlns:a16="http://schemas.microsoft.com/office/drawing/2014/main" id="{3E015952-9074-415B-BD97-9C7B07AB69F1}"/>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Gemma와 Qwen, 4B 튜닝 대상 선정</a:t>
            </a:r>
          </a:p>
        </p:txBody>
      </p:sp>
      <p:sp>
        <p:nvSpPr>
          <p:cNvPr id="3" name="own-text-14">
            <a:extLst>
              <a:ext uri="{FF2B5EF4-FFF2-40B4-BE49-F238E27FC236}">
                <a16:creationId xmlns:a16="http://schemas.microsoft.com/office/drawing/2014/main" id="{35F004AF-E4C7-42A1-A041-236E98F13CB5}"/>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같은 v4 조건에서 보류 안정성·오답 유형·프롬프트 교정 가능성을 비교</a:t>
            </a:r>
          </a:p>
        </p:txBody>
      </p:sp>
      <p:sp>
        <p:nvSpPr>
          <p:cNvPr id="4" name="own-text-15">
            <a:extLst>
              <a:ext uri="{FF2B5EF4-FFF2-40B4-BE49-F238E27FC236}">
                <a16:creationId xmlns:a16="http://schemas.microsoft.com/office/drawing/2014/main" id="{27289552-C2FF-4304-85BE-3C67162283BA}"/>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6">
            <a:extLst>
              <a:ext uri="{FF2B5EF4-FFF2-40B4-BE49-F238E27FC236}">
                <a16:creationId xmlns:a16="http://schemas.microsoft.com/office/drawing/2014/main" id="{4A061B2E-B11A-4EB8-A776-0D632ED7B9D3}"/>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10</a:t>
            </a:r>
            <a:endParaRPr sz="1300" b="0">
              <a:solidFill>
                <a:srgbClr val="686B72"/>
              </a:solidFill>
              <a:latin typeface="맑은 고딕"/>
              <a:ea typeface="맑은 고딕"/>
              <a:cs typeface="맑은 고딕"/>
            </a:endParaRPr>
          </a:p>
        </p:txBody>
      </p:sp>
      <p:sp>
        <p:nvSpPr>
          <p:cNvPr id="6" name="own-text-17">
            <a:extLst>
              <a:ext uri="{FF2B5EF4-FFF2-40B4-BE49-F238E27FC236}">
                <a16:creationId xmlns:a16="http://schemas.microsoft.com/office/drawing/2014/main" id="{81C4EB39-FF17-4C85-9FAA-D4B4B2099F0C}"/>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답변·계산 정답률은 실제 답한 표본으로 선택 편향 포함. 보류 정답 830건은 자료 부족·충돌·범위 밖 문항.</a:t>
            </a:r>
          </a:p>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답이 없는 문항은 두 모델 공통 670건. 답변 가능 출력은 모델 상태값 기준. 정답과 환각은 별도 판정.</a:t>
            </a:r>
          </a:p>
        </p:txBody>
      </p:sp>
      <p:graphicFrame>
        <p:nvGraphicFramePr>
          <p:cNvPr id="7" name="표 6">
            <a:extLst>
              <a:ext uri="{FF2B5EF4-FFF2-40B4-BE49-F238E27FC236}">
                <a16:creationId xmlns:a16="http://schemas.microsoft.com/office/drawing/2014/main" id="{9D54864D-BCEB-49EF-ACB8-EC87E2B088FF}"/>
              </a:ext>
            </a:extLst>
          </p:cNvPr>
          <p:cNvGraphicFramePr/>
          <p:nvPr/>
        </p:nvGraphicFramePr>
        <p:xfrm>
          <a:off x="628650" y="2076450"/>
          <a:ext cx="8001000" cy="3619500"/>
        </p:xfrm>
        <a:graphic>
          <a:graphicData uri="http://schemas.openxmlformats.org/drawingml/2006/table">
            <a:tbl>
              <a:tblPr/>
              <a:tblGrid>
                <a:gridCol w="4724400">
                  <a:extLst>
                    <a:ext uri="{9D8B030D-6E8A-4147-A177-3AD203B41FA5}">
                      <a16:colId xmlns:a16="http://schemas.microsoft.com/office/drawing/2014/main" val="20000"/>
                    </a:ext>
                  </a:extLst>
                </a:gridCol>
                <a:gridCol w="1638300">
                  <a:extLst>
                    <a:ext uri="{9D8B030D-6E8A-4147-A177-3AD203B41FA5}">
                      <a16:colId xmlns:a16="http://schemas.microsoft.com/office/drawing/2014/main" val="20001"/>
                    </a:ext>
                  </a:extLst>
                </a:gridCol>
                <a:gridCol w="1638300">
                  <a:extLst>
                    <a:ext uri="{9D8B030D-6E8A-4147-A177-3AD203B41FA5}">
                      <a16:colId xmlns:a16="http://schemas.microsoft.com/office/drawing/2014/main" val="20002"/>
                    </a:ext>
                  </a:extLst>
                </a:gridCol>
              </a:tblGrid>
              <a:tr h="452438">
                <a:tc>
                  <a:txBody>
                    <a:bodyPr/>
                    <a:lstStyle/>
                    <a:p>
                      <a:r>
                        <a:rPr sz="1598" b="1">
                          <a:solidFill>
                            <a:srgbClr val="FFFFFF"/>
                          </a:solidFill>
                          <a:latin typeface="맑은 고딕"/>
                          <a:ea typeface="맑은 고딕"/>
                          <a:cs typeface="맑은 고딕"/>
                        </a:rPr>
                        <a:t>v4 기준선 비교</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Gemma3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Qwen3 OFF</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52438">
                <a:tc>
                  <a:txBody>
                    <a:bodyPr/>
                    <a:lstStyle/>
                    <a:p>
                      <a:r>
                        <a:rPr sz="1598" b="1">
                          <a:solidFill>
                            <a:srgbClr val="F72585"/>
                          </a:solidFill>
                          <a:latin typeface="맑은 고딕"/>
                          <a:ea typeface="맑은 고딕"/>
                          <a:cs typeface="맑은 고딕"/>
                        </a:rPr>
                        <a:t>오답 중 답할 수 있는데 보류</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36.6%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1"/>
                  </a:ext>
                </a:extLst>
              </a:tr>
              <a:tr h="452438">
                <a:tc>
                  <a:txBody>
                    <a:bodyPr/>
                    <a:lstStyle/>
                    <a:p>
                      <a:r>
                        <a:rPr sz="1598" b="1">
                          <a:solidFill>
                            <a:srgbClr val="F72585"/>
                          </a:solidFill>
                          <a:latin typeface="맑은 고딕"/>
                          <a:ea typeface="맑은 고딕"/>
                          <a:cs typeface="맑은 고딕"/>
                        </a:rPr>
                        <a:t>답변했을 때의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69.9%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77.0%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452438">
                <a:tc>
                  <a:txBody>
                    <a:bodyPr/>
                    <a:lstStyle/>
                    <a:p>
                      <a:r>
                        <a:rPr sz="1598" b="0">
                          <a:solidFill>
                            <a:srgbClr val="17171A"/>
                          </a:solidFill>
                          <a:latin typeface="맑은 고딕"/>
                          <a:ea typeface="맑은 고딕"/>
                          <a:cs typeface="맑은 고딕"/>
                        </a:rPr>
                        <a:t>계산형 답변의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48.0%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55.5%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52438">
                <a:tc>
                  <a:txBody>
                    <a:bodyPr/>
                    <a:lstStyle/>
                    <a:p>
                      <a:r>
                        <a:rPr sz="1598" b="0">
                          <a:solidFill>
                            <a:srgbClr val="17171A"/>
                          </a:solidFill>
                          <a:latin typeface="맑은 고딕"/>
                          <a:ea typeface="맑은 고딕"/>
                          <a:cs typeface="맑은 고딕"/>
                        </a:rPr>
                        <a:t>보류가 정답인 문항의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79.5%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87.2%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52438">
                <a:tc>
                  <a:txBody>
                    <a:bodyPr/>
                    <a:lstStyle/>
                    <a:p>
                      <a:r>
                        <a:rPr sz="1598" b="0">
                          <a:solidFill>
                            <a:srgbClr val="17171A"/>
                          </a:solidFill>
                          <a:latin typeface="맑은 고딕"/>
                          <a:ea typeface="맑은 고딕"/>
                          <a:cs typeface="맑은 고딕"/>
                        </a:rPr>
                        <a:t>답이 없는 문항의 오답률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10.6%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452438">
                <a:tc>
                  <a:txBody>
                    <a:bodyPr/>
                    <a:lstStyle/>
                    <a:p>
                      <a:r>
                        <a:rPr sz="1598" b="0">
                          <a:solidFill>
                            <a:srgbClr val="17171A"/>
                          </a:solidFill>
                          <a:latin typeface="맑은 고딕"/>
                          <a:ea typeface="맑은 고딕"/>
                          <a:cs typeface="맑은 고딕"/>
                        </a:rPr>
                        <a:t>답이 없는 문항의 환각률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31.9%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21.3%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452438">
                <a:tc>
                  <a:txBody>
                    <a:bodyPr/>
                    <a:lstStyle/>
                    <a:p>
                      <a:r>
                        <a:rPr sz="1598" b="0">
                          <a:solidFill>
                            <a:srgbClr val="17171A"/>
                          </a:solidFill>
                          <a:latin typeface="맑은 고딕"/>
                          <a:ea typeface="맑은 고딕"/>
                          <a:cs typeface="맑은 고딕"/>
                        </a:rPr>
                        <a:t>답변 가능 출력의 환각률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8.3%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8" name="own-text-18">
            <a:extLst>
              <a:ext uri="{FF2B5EF4-FFF2-40B4-BE49-F238E27FC236}">
                <a16:creationId xmlns:a16="http://schemas.microsoft.com/office/drawing/2014/main" id="{788840E0-DAEE-407B-A4CD-AF9E7B075E01}"/>
              </a:ext>
            </a:extLst>
          </p:cNvPr>
          <p:cNvSpPr>
            <a:spLocks noGrp="1"/>
          </p:cNvSpPr>
          <p:nvPr/>
        </p:nvSpPr>
        <p:spPr>
          <a:xfrm>
            <a:off x="9086850" y="2095500"/>
            <a:ext cx="4000500" cy="333375"/>
          </a:xfrm>
          <a:prstGeom prst="rect">
            <a:avLst/>
          </a:prstGeom>
          <a:noFill/>
          <a:ln w="0">
            <a:noFill/>
          </a:ln>
        </p:spPr>
        <p:txBody>
          <a:bodyPr wrap="square" lIns="0" tIns="0" rIns="0" bIns="0" anchor="t">
            <a:noAutofit/>
          </a:bodyPr>
          <a:lstStyle>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Gemma의 계산·조건 오적용</a:t>
            </a:r>
          </a:p>
        </p:txBody>
      </p:sp>
      <p:sp>
        <p:nvSpPr>
          <p:cNvPr id="9" name="own-text-19">
            <a:extLst>
              <a:ext uri="{FF2B5EF4-FFF2-40B4-BE49-F238E27FC236}">
                <a16:creationId xmlns:a16="http://schemas.microsoft.com/office/drawing/2014/main" id="{45863B97-5E7D-4378-8B17-36968E9E304D}"/>
              </a:ext>
            </a:extLst>
          </p:cNvPr>
          <p:cNvSpPr>
            <a:spLocks noGrp="1"/>
          </p:cNvSpPr>
          <p:nvPr/>
        </p:nvSpPr>
        <p:spPr>
          <a:xfrm>
            <a:off x="9086850" y="2628900"/>
            <a:ext cx="4000500" cy="647700"/>
          </a:xfrm>
          <a:prstGeom prst="rect">
            <a:avLst/>
          </a:prstGeom>
          <a:noFill/>
          <a:ln w="0">
            <a:noFill/>
          </a:ln>
        </p:spPr>
        <p:txBody>
          <a:bodyPr wrap="square" lIns="0" tIns="0" rIns="0" bIns="0" anchor="t">
            <a:noAutofit/>
          </a:bodyPr>
          <a:lstStyle>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문자 100건 제공·95건 사용</a:t>
            </a:r>
          </a:p>
          <a:p>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“5건 초과, 110원”으로 답변</a:t>
            </a:r>
          </a:p>
        </p:txBody>
      </p:sp>
      <p:sp>
        <p:nvSpPr>
          <p:cNvPr id="10" name="own-text-20">
            <a:extLst>
              <a:ext uri="{FF2B5EF4-FFF2-40B4-BE49-F238E27FC236}">
                <a16:creationId xmlns:a16="http://schemas.microsoft.com/office/drawing/2014/main" id="{BF1E3D28-848B-4AF6-B0F3-C1EAB9E5CE1E}"/>
              </a:ext>
            </a:extLst>
          </p:cNvPr>
          <p:cNvSpPr>
            <a:spLocks noGrp="1"/>
          </p:cNvSpPr>
          <p:nvPr/>
        </p:nvSpPr>
        <p:spPr>
          <a:xfrm>
            <a:off x="9086850" y="3476625"/>
            <a:ext cx="4000500" cy="647700"/>
          </a:xfrm>
          <a:prstGeom prst="rect">
            <a:avLst/>
          </a:prstGeom>
          <a:noFill/>
          <a:ln w="0">
            <a:noFill/>
          </a:ln>
        </p:spPr>
        <p:txBody>
          <a:bodyPr wrap="square" lIns="0" tIns="0" rIns="0" bIns="0" anchor="t">
            <a:noAutofit/>
          </a:bodyPr>
          <a:lstStyle>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4,999점 보유·사용 한도 5,000점</a:t>
            </a:r>
          </a:p>
          <a:p>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“5,000점 사용 가능”으로 답변</a:t>
            </a:r>
          </a:p>
        </p:txBody>
      </p:sp>
      <p:sp>
        <p:nvSpPr>
          <p:cNvPr id="11" name="own-text-21">
            <a:extLst>
              <a:ext uri="{FF2B5EF4-FFF2-40B4-BE49-F238E27FC236}">
                <a16:creationId xmlns:a16="http://schemas.microsoft.com/office/drawing/2014/main" id="{E9468F7A-E094-440B-886C-E5B48CE509C9}"/>
              </a:ext>
            </a:extLst>
          </p:cNvPr>
          <p:cNvSpPr>
            <a:spLocks noGrp="1"/>
          </p:cNvSpPr>
          <p:nvPr/>
        </p:nvSpPr>
        <p:spPr>
          <a:xfrm>
            <a:off x="9086850" y="4333875"/>
            <a:ext cx="4000500" cy="333375"/>
          </a:xfrm>
          <a:prstGeom prst="rect">
            <a:avLst/>
          </a:prstGeom>
          <a:noFill/>
          <a:ln w="0">
            <a:noFill/>
          </a:ln>
        </p:spPr>
        <p:txBody>
          <a:bodyPr wrap="square" lIns="0" tIns="0" rIns="0" bIns="0" anchor="t">
            <a:noAutofit/>
          </a:bodyPr>
          <a:lstStyle>
            <a:defPPr algn="l">
              <a:defRPr sz="1800" b="1">
                <a:solidFill>
                  <a:srgbClr val="F72585"/>
                </a:solidFill>
                <a:latin typeface="맑은 고딕"/>
                <a:ea typeface="맑은 고딕"/>
                <a:cs typeface="맑은 고딕"/>
              </a:defRPr>
            </a:defPPr>
            <a:lvl1pPr algn="l">
              <a:defRPr sz="1800" b="1">
                <a:solidFill>
                  <a:srgbClr val="F72585"/>
                </a:solidFill>
                <a:latin typeface="맑은 고딕"/>
                <a:ea typeface="맑은 고딕"/>
                <a:cs typeface="맑은 고딕"/>
              </a:defRPr>
            </a:lvl1pPr>
            <a:lvl2pPr algn="l">
              <a:defRPr sz="1800" b="1">
                <a:solidFill>
                  <a:srgbClr val="F72585"/>
                </a:solidFill>
                <a:latin typeface="맑은 고딕"/>
                <a:ea typeface="맑은 고딕"/>
                <a:cs typeface="맑은 고딕"/>
              </a:defRPr>
            </a:lvl2pPr>
            <a:lvl3pPr algn="l">
              <a:defRPr sz="1800" b="1">
                <a:solidFill>
                  <a:srgbClr val="F72585"/>
                </a:solidFill>
                <a:latin typeface="맑은 고딕"/>
                <a:ea typeface="맑은 고딕"/>
                <a:cs typeface="맑은 고딕"/>
              </a:defRPr>
            </a:lvl3pPr>
            <a:lvl4pPr algn="l">
              <a:defRPr sz="1800" b="1">
                <a:solidFill>
                  <a:srgbClr val="F72585"/>
                </a:solidFill>
                <a:latin typeface="맑은 고딕"/>
                <a:ea typeface="맑은 고딕"/>
                <a:cs typeface="맑은 고딕"/>
              </a:defRPr>
            </a:lvl4pPr>
            <a:lvl5pPr algn="l">
              <a:defRPr sz="1800" b="1">
                <a:solidFill>
                  <a:srgbClr val="F72585"/>
                </a:solidFill>
                <a:latin typeface="맑은 고딕"/>
                <a:ea typeface="맑은 고딕"/>
                <a:cs typeface="맑은 고딕"/>
              </a:defRPr>
            </a:lvl5pPr>
            <a:lvl6pPr algn="l">
              <a:defRPr sz="1800" b="1">
                <a:solidFill>
                  <a:srgbClr val="F72585"/>
                </a:solidFill>
                <a:latin typeface="맑은 고딕"/>
                <a:ea typeface="맑은 고딕"/>
                <a:cs typeface="맑은 고딕"/>
              </a:defRPr>
            </a:lvl6pPr>
            <a:lvl7pPr algn="l">
              <a:defRPr sz="1800" b="1">
                <a:solidFill>
                  <a:srgbClr val="F72585"/>
                </a:solidFill>
                <a:latin typeface="맑은 고딕"/>
                <a:ea typeface="맑은 고딕"/>
                <a:cs typeface="맑은 고딕"/>
              </a:defRPr>
            </a:lvl7pPr>
            <a:lvl8pPr algn="l">
              <a:defRPr sz="1800" b="1">
                <a:solidFill>
                  <a:srgbClr val="F72585"/>
                </a:solidFill>
                <a:latin typeface="맑은 고딕"/>
                <a:ea typeface="맑은 고딕"/>
                <a:cs typeface="맑은 고딕"/>
              </a:defRPr>
            </a:lvl8pPr>
            <a:lvl9pPr algn="l">
              <a:defRPr sz="1800" b="1">
                <a:solidFill>
                  <a:srgbClr val="F72585"/>
                </a:solidFill>
                <a:latin typeface="맑은 고딕"/>
                <a:ea typeface="맑은 고딕"/>
                <a:cs typeface="맑은 고딕"/>
              </a:defRPr>
            </a:lvl9pPr>
          </a:lstStyle>
          <a:p>
            <a:pPr algn="l">
              <a:defRPr sz="1800" b="1">
                <a:solidFill>
                  <a:srgbClr val="F72585"/>
                </a:solidFill>
                <a:latin typeface="맑은 고딕"/>
                <a:ea typeface="맑은 고딕"/>
                <a:cs typeface="맑은 고딕"/>
              </a:defRPr>
            </a:pPr>
            <a:r>
              <a:rPr sz="1800" b="1">
                <a:solidFill>
                  <a:srgbClr val="F72585"/>
                </a:solidFill>
                <a:latin typeface="맑은 고딕"/>
                <a:ea typeface="맑은 고딕"/>
                <a:cs typeface="맑은 고딕"/>
              </a:rPr>
              <a:t>Qwen의 프롬프트 교정 여지</a:t>
            </a:r>
          </a:p>
        </p:txBody>
      </p:sp>
      <p:sp>
        <p:nvSpPr>
          <p:cNvPr id="12" name="own-text-22">
            <a:extLst>
              <a:ext uri="{FF2B5EF4-FFF2-40B4-BE49-F238E27FC236}">
                <a16:creationId xmlns:a16="http://schemas.microsoft.com/office/drawing/2014/main" id="{BA174B9D-52EE-4434-9D41-57CD9809D297}"/>
              </a:ext>
            </a:extLst>
          </p:cNvPr>
          <p:cNvSpPr>
            <a:spLocks noGrp="1"/>
          </p:cNvSpPr>
          <p:nvPr/>
        </p:nvSpPr>
        <p:spPr>
          <a:xfrm>
            <a:off x="9086850" y="4829175"/>
            <a:ext cx="4000500" cy="619125"/>
          </a:xfrm>
          <a:prstGeom prst="rect">
            <a:avLst/>
          </a:prstGeom>
          <a:noFill/>
          <a:ln w="0">
            <a:noFill/>
          </a:ln>
        </p:spPr>
        <p:txBody>
          <a:bodyPr wrap="square" lIns="0" tIns="0" rIns="0" bIns="0" anchor="t">
            <a:noAutofit/>
          </a:bodyPr>
          <a:lstStyle>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과잉 보류 352건 중</a:t>
            </a:r>
          </a:p>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255건은 환각이 없었음</a:t>
            </a:r>
          </a:p>
        </p:txBody>
      </p:sp>
      <p:sp>
        <p:nvSpPr>
          <p:cNvPr id="13" name="own-text-23">
            <a:extLst>
              <a:ext uri="{FF2B5EF4-FFF2-40B4-BE49-F238E27FC236}">
                <a16:creationId xmlns:a16="http://schemas.microsoft.com/office/drawing/2014/main" id="{53847936-9EEA-4108-956C-0406BC306CF4}"/>
              </a:ext>
            </a:extLst>
          </p:cNvPr>
          <p:cNvSpPr>
            <a:spLocks noGrp="1"/>
          </p:cNvSpPr>
          <p:nvPr/>
        </p:nvSpPr>
        <p:spPr>
          <a:xfrm>
            <a:off x="9086850" y="5581650"/>
            <a:ext cx="4000500" cy="542925"/>
          </a:xfrm>
          <a:prstGeom prst="rect">
            <a:avLst/>
          </a:prstGeom>
          <a:noFill/>
          <a:ln w="0">
            <a:noFill/>
          </a:ln>
        </p:spPr>
        <p:txBody>
          <a:bodyPr wrap="square" lIns="0" tIns="0" rIns="0" bIns="0" anchor="t">
            <a:noAutofit/>
          </a:bodyPr>
          <a:lstStyle>
            <a:defPPr algn="l">
              <a:defRPr sz="1552" b="0">
                <a:solidFill>
                  <a:srgbClr val="686B72"/>
                </a:solidFill>
                <a:latin typeface="맑은 고딕"/>
                <a:ea typeface="맑은 고딕"/>
                <a:cs typeface="맑은 고딕"/>
              </a:defRPr>
            </a:defPPr>
            <a:lvl1pPr algn="l">
              <a:defRPr sz="1552" b="0">
                <a:solidFill>
                  <a:srgbClr val="686B72"/>
                </a:solidFill>
                <a:latin typeface="맑은 고딕"/>
                <a:ea typeface="맑은 고딕"/>
                <a:cs typeface="맑은 고딕"/>
              </a:defRPr>
            </a:lvl1pPr>
            <a:lvl2pPr algn="l">
              <a:defRPr sz="1552" b="0">
                <a:solidFill>
                  <a:srgbClr val="686B72"/>
                </a:solidFill>
                <a:latin typeface="맑은 고딕"/>
                <a:ea typeface="맑은 고딕"/>
                <a:cs typeface="맑은 고딕"/>
              </a:defRPr>
            </a:lvl2pPr>
            <a:lvl3pPr algn="l">
              <a:defRPr sz="1552" b="0">
                <a:solidFill>
                  <a:srgbClr val="686B72"/>
                </a:solidFill>
                <a:latin typeface="맑은 고딕"/>
                <a:ea typeface="맑은 고딕"/>
                <a:cs typeface="맑은 고딕"/>
              </a:defRPr>
            </a:lvl3pPr>
            <a:lvl4pPr algn="l">
              <a:defRPr sz="1552" b="0">
                <a:solidFill>
                  <a:srgbClr val="686B72"/>
                </a:solidFill>
                <a:latin typeface="맑은 고딕"/>
                <a:ea typeface="맑은 고딕"/>
                <a:cs typeface="맑은 고딕"/>
              </a:defRPr>
            </a:lvl4pPr>
            <a:lvl5pPr algn="l">
              <a:defRPr sz="1552" b="0">
                <a:solidFill>
                  <a:srgbClr val="686B72"/>
                </a:solidFill>
                <a:latin typeface="맑은 고딕"/>
                <a:ea typeface="맑은 고딕"/>
                <a:cs typeface="맑은 고딕"/>
              </a:defRPr>
            </a:lvl5pPr>
            <a:lvl6pPr algn="l">
              <a:defRPr sz="1552" b="0">
                <a:solidFill>
                  <a:srgbClr val="686B72"/>
                </a:solidFill>
                <a:latin typeface="맑은 고딕"/>
                <a:ea typeface="맑은 고딕"/>
                <a:cs typeface="맑은 고딕"/>
              </a:defRPr>
            </a:lvl6pPr>
            <a:lvl7pPr algn="l">
              <a:defRPr sz="1552" b="0">
                <a:solidFill>
                  <a:srgbClr val="686B72"/>
                </a:solidFill>
                <a:latin typeface="맑은 고딕"/>
                <a:ea typeface="맑은 고딕"/>
                <a:cs typeface="맑은 고딕"/>
              </a:defRPr>
            </a:lvl7pPr>
            <a:lvl8pPr algn="l">
              <a:defRPr sz="1552" b="0">
                <a:solidFill>
                  <a:srgbClr val="686B72"/>
                </a:solidFill>
                <a:latin typeface="맑은 고딕"/>
                <a:ea typeface="맑은 고딕"/>
                <a:cs typeface="맑은 고딕"/>
              </a:defRPr>
            </a:lvl8pPr>
            <a:lvl9pPr algn="l">
              <a:defRPr sz="1552" b="0">
                <a:solidFill>
                  <a:srgbClr val="686B72"/>
                </a:solidFill>
                <a:latin typeface="맑은 고딕"/>
                <a:ea typeface="맑은 고딕"/>
                <a:cs typeface="맑은 고딕"/>
              </a:defRPr>
            </a:lvl9pPr>
          </a:lstStyle>
          <a:p>
            <a:pPr algn="l">
              <a:defRPr sz="1552" b="0">
                <a:solidFill>
                  <a:srgbClr val="686B72"/>
                </a:solidFill>
                <a:latin typeface="맑은 고딕"/>
                <a:ea typeface="맑은 고딕"/>
                <a:cs typeface="맑은 고딕"/>
              </a:defRPr>
            </a:pPr>
            <a:r>
              <a:rPr sz="1552" b="0">
                <a:solidFill>
                  <a:srgbClr val="686B72"/>
                </a:solidFill>
                <a:latin typeface="맑은 고딕"/>
                <a:ea typeface="맑은 고딕"/>
                <a:cs typeface="맑은 고딕"/>
              </a:rPr>
              <a:t>근거 우선 선택·과도한 되묻기가</a:t>
            </a:r>
          </a:p>
          <a:p>
            <a:pPr algn="l">
              <a:defRPr sz="1552" b="0">
                <a:solidFill>
                  <a:srgbClr val="686B72"/>
                </a:solidFill>
                <a:latin typeface="맑은 고딕"/>
                <a:ea typeface="맑은 고딕"/>
                <a:cs typeface="맑은 고딕"/>
              </a:defRPr>
            </a:pPr>
            <a:r>
              <a:rPr sz="1552" b="0">
                <a:solidFill>
                  <a:srgbClr val="686B72"/>
                </a:solidFill>
                <a:latin typeface="맑은 고딕"/>
                <a:ea typeface="맑은 고딕"/>
                <a:cs typeface="맑은 고딕"/>
              </a:rPr>
              <a:t>답변을 막는 구조를 확인</a:t>
            </a:r>
          </a:p>
        </p:txBody>
      </p:sp>
      <p:sp>
        <p:nvSpPr>
          <p:cNvPr id="14" name="own-text-24">
            <a:extLst>
              <a:ext uri="{FF2B5EF4-FFF2-40B4-BE49-F238E27FC236}">
                <a16:creationId xmlns:a16="http://schemas.microsoft.com/office/drawing/2014/main" id="{3525FBBB-FE59-47E7-BF6B-964167CDF87B}"/>
              </a:ext>
            </a:extLst>
          </p:cNvPr>
          <p:cNvSpPr>
            <a:spLocks noGrp="1"/>
          </p:cNvSpPr>
          <p:nvPr/>
        </p:nvSpPr>
        <p:spPr>
          <a:xfrm>
            <a:off x="9086850" y="6248400"/>
            <a:ext cx="4000500" cy="247650"/>
          </a:xfrm>
          <a:prstGeom prst="rect">
            <a:avLst/>
          </a:prstGeom>
          <a:noFill/>
          <a:ln w="0">
            <a:noFill/>
          </a:ln>
        </p:spPr>
        <p:txBody>
          <a:bodyPr wrap="square" lIns="0" tIns="0" rIns="0" bIns="0" anchor="t">
            <a:noAutofit/>
          </a:bodyPr>
          <a:lstStyle>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답하도록 바꾸면 환각 증가 위험도 남음</a:t>
            </a:r>
          </a:p>
        </p:txBody>
      </p:sp>
      <p:sp>
        <p:nvSpPr>
          <p:cNvPr id="15" name="own-text-25">
            <a:extLst>
              <a:ext uri="{FF2B5EF4-FFF2-40B4-BE49-F238E27FC236}">
                <a16:creationId xmlns:a16="http://schemas.microsoft.com/office/drawing/2014/main" id="{CE59EB09-CD9E-4B3C-B3DA-C435D901E918}"/>
              </a:ext>
            </a:extLst>
          </p:cNvPr>
          <p:cNvSpPr>
            <a:spLocks noGrp="1"/>
          </p:cNvSpPr>
          <p:nvPr/>
        </p:nvSpPr>
        <p:spPr>
          <a:xfrm>
            <a:off x="628650" y="5886450"/>
            <a:ext cx="8001000" cy="68580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전체 정답률 2.1%p 차이보다</a:t>
            </a:r>
          </a:p>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보류 안정성과 교정 가능성을 우선</a:t>
            </a:r>
          </a:p>
        </p:txBody>
      </p:sp>
    </p:spTree>
    <p:extLst>
      <p:ext uri="{BB962C8B-B14F-4D97-AF65-F5344CB8AC3E}">
        <p14:creationId xmlns:p14="http://schemas.microsoft.com/office/powerpoint/2010/main" val="2774890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wn-text-26">
            <a:extLst>
              <a:ext uri="{FF2B5EF4-FFF2-40B4-BE49-F238E27FC236}">
                <a16:creationId xmlns:a16="http://schemas.microsoft.com/office/drawing/2014/main" id="{F207934A-D232-4585-92FE-75A2A50AF41A}"/>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7">
            <a:extLst>
              <a:ext uri="{FF2B5EF4-FFF2-40B4-BE49-F238E27FC236}">
                <a16:creationId xmlns:a16="http://schemas.microsoft.com/office/drawing/2014/main" id="{D54A9783-D572-467A-AF00-8D94F0D5C7EF}"/>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28">
            <a:extLst>
              <a:ext uri="{FF2B5EF4-FFF2-40B4-BE49-F238E27FC236}">
                <a16:creationId xmlns:a16="http://schemas.microsoft.com/office/drawing/2014/main" id="{CE591D38-33DD-4477-8E5C-E3E2718B6D71}"/>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최종 튜닝보다 정확했고, Q4의 자원 효율을 고려</a:t>
            </a:r>
          </a:p>
        </p:txBody>
      </p:sp>
      <p:sp>
        <p:nvSpPr>
          <p:cNvPr id="4" name="own-text-29">
            <a:extLst>
              <a:ext uri="{FF2B5EF4-FFF2-40B4-BE49-F238E27FC236}">
                <a16:creationId xmlns:a16="http://schemas.microsoft.com/office/drawing/2014/main" id="{1B8F6CAF-45CE-40F9-8248-976148047EB5}"/>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0">
            <a:extLst>
              <a:ext uri="{FF2B5EF4-FFF2-40B4-BE49-F238E27FC236}">
                <a16:creationId xmlns:a16="http://schemas.microsoft.com/office/drawing/2014/main" id="{B4B45735-69CC-4798-94BD-FC683BA9C9DA}"/>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11</a:t>
            </a:r>
            <a:endParaRPr sz="1300" b="0">
              <a:solidFill>
                <a:srgbClr val="686B72"/>
              </a:solidFill>
              <a:latin typeface="맑은 고딕"/>
              <a:ea typeface="맑은 고딕"/>
              <a:cs typeface="맑은 고딕"/>
            </a:endParaRPr>
          </a:p>
        </p:txBody>
      </p:sp>
      <p:sp>
        <p:nvSpPr>
          <p:cNvPr id="6" name="own-text-31">
            <a:extLst>
              <a:ext uri="{FF2B5EF4-FFF2-40B4-BE49-F238E27FC236}">
                <a16:creationId xmlns:a16="http://schemas.microsoft.com/office/drawing/2014/main" id="{28A80B57-283D-44C3-BA09-BA862076E7F5}"/>
              </a:ext>
            </a:extLst>
          </p:cNvPr>
          <p:cNvSpPr>
            <a:spLocks noGrp="1"/>
          </p:cNvSpPr>
          <p:nvPr/>
        </p:nvSpPr>
        <p:spPr>
          <a:xfrm>
            <a:off x="628650" y="6515100"/>
            <a:ext cx="12458700" cy="457200"/>
          </a:xfrm>
          <a:prstGeom prst="rect">
            <a:avLst/>
          </a:prstGeom>
          <a:noFill/>
          <a:ln w="0">
            <a:noFill/>
          </a:ln>
        </p:spPr>
        <p:txBody>
          <a:bodyPr wrap="square" lIns="0" tIns="0" rIns="0" bIns="0" anchor="t">
            <a:noAutofit/>
          </a:bodyPr>
          <a:lstStyle>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부분 답변·무관 FAQ·답 없는 유사 문서·유사/다중 FAQ(공통 404건), 양자화 비교는 13유형 1,300건</a:t>
            </a:r>
          </a:p>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고려: 정답·환각뿐 아니라 오답 유형·프롬프트 교정 가능성, 응답 시간·가중치 크기와 동시 서빙 여유.</a:t>
            </a:r>
          </a:p>
        </p:txBody>
      </p:sp>
      <p:graphicFrame>
        <p:nvGraphicFramePr>
          <p:cNvPr id="7" name="표 6">
            <a:extLst>
              <a:ext uri="{FF2B5EF4-FFF2-40B4-BE49-F238E27FC236}">
                <a16:creationId xmlns:a16="http://schemas.microsoft.com/office/drawing/2014/main" id="{CE5D85E8-4E5A-4AFE-B871-F560ED6CFC3B}"/>
              </a:ext>
            </a:extLst>
          </p:cNvPr>
          <p:cNvGraphicFramePr/>
          <p:nvPr/>
        </p:nvGraphicFramePr>
        <p:xfrm>
          <a:off x="628650" y="2076450"/>
          <a:ext cx="8096250" cy="3238500"/>
        </p:xfrm>
        <a:graphic>
          <a:graphicData uri="http://schemas.openxmlformats.org/drawingml/2006/table">
            <a:tbl>
              <a:tblPr/>
              <a:tblGrid>
                <a:gridCol w="4838700">
                  <a:extLst>
                    <a:ext uri="{9D8B030D-6E8A-4147-A177-3AD203B41FA5}">
                      <a16:colId xmlns:a16="http://schemas.microsoft.com/office/drawing/2014/main" val="20000"/>
                    </a:ext>
                  </a:extLst>
                </a:gridCol>
                <a:gridCol w="1628775">
                  <a:extLst>
                    <a:ext uri="{9D8B030D-6E8A-4147-A177-3AD203B41FA5}">
                      <a16:colId xmlns:a16="http://schemas.microsoft.com/office/drawing/2014/main" val="20001"/>
                    </a:ext>
                  </a:extLst>
                </a:gridCol>
                <a:gridCol w="1628775">
                  <a:extLst>
                    <a:ext uri="{9D8B030D-6E8A-4147-A177-3AD203B41FA5}">
                      <a16:colId xmlns:a16="http://schemas.microsoft.com/office/drawing/2014/main" val="20002"/>
                    </a:ext>
                  </a:extLst>
                </a:gridCol>
              </a:tblGrid>
              <a:tr h="462643">
                <a:tc>
                  <a:txBody>
                    <a:bodyPr/>
                    <a:lstStyle/>
                    <a:p>
                      <a:r>
                        <a:rPr sz="1695"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695" b="1">
                          <a:solidFill>
                            <a:srgbClr val="FFFFFF"/>
                          </a:solidFill>
                          <a:latin typeface="맑은 고딕"/>
                          <a:ea typeface="맑은 고딕"/>
                          <a:cs typeface="맑은 고딕"/>
                        </a:rPr>
                        <a:t>정확도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695" b="1">
                          <a:solidFill>
                            <a:srgbClr val="FFFFFF"/>
                          </a:solidFill>
                          <a:latin typeface="맑은 고딕"/>
                          <a:ea typeface="맑은 고딕"/>
                          <a:cs typeface="맑은 고딕"/>
                        </a:rPr>
                        <a:t>환각률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62643">
                <a:tc>
                  <a:txBody>
                    <a:bodyPr/>
                    <a:lstStyle/>
                    <a:p>
                      <a:r>
                        <a:rPr sz="1695" b="0">
                          <a:solidFill>
                            <a:srgbClr val="17171A"/>
                          </a:solidFill>
                          <a:latin typeface="맑은 고딕"/>
                          <a:ea typeface="맑은 고딕"/>
                          <a:cs typeface="맑은 고딕"/>
                        </a:rPr>
                        <a:t>Qwen3 4B OFF · 초안</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62.87%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23.76%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62643">
                <a:tc>
                  <a:txBody>
                    <a:bodyPr/>
                    <a:lstStyle/>
                    <a:p>
                      <a:r>
                        <a:rPr sz="1695" b="0">
                          <a:solidFill>
                            <a:srgbClr val="17171A"/>
                          </a:solidFill>
                          <a:latin typeface="맑은 고딕"/>
                          <a:ea typeface="맑은 고딕"/>
                          <a:cs typeface="맑은 고딕"/>
                        </a:rPr>
                        <a:t>Qwen3 4B OFF · 최종 개선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77.48%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24.50%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62643">
                <a:tc>
                  <a:txBody>
                    <a:bodyPr/>
                    <a:lstStyle/>
                    <a:p>
                      <a:r>
                        <a:rPr sz="1695" b="0">
                          <a:solidFill>
                            <a:srgbClr val="17171A"/>
                          </a:solidFill>
                          <a:latin typeface="맑은 고딕"/>
                          <a:ea typeface="맑은 고딕"/>
                          <a:cs typeface="맑은 고딕"/>
                        </a:rPr>
                        <a:t>Gemma3 4B · Q4_K_M</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70.05%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29.70%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62643">
                <a:tc>
                  <a:txBody>
                    <a:bodyPr/>
                    <a:lstStyle/>
                    <a:p>
                      <a:r>
                        <a:rPr sz="1695"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71.78%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42.57%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62643">
                <a:tc>
                  <a:txBody>
                    <a:bodyPr/>
                    <a:lstStyle/>
                    <a:p>
                      <a:r>
                        <a:rPr sz="1695" b="1">
                          <a:solidFill>
                            <a:srgbClr val="F72585"/>
                          </a:solidFill>
                          <a:latin typeface="맑은 고딕"/>
                          <a:ea typeface="맑은 고딕"/>
                          <a:cs typeface="맑은 고딕"/>
                        </a:rPr>
                        <a:t>Qwen3 4B Instruct · Q4</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695" b="1">
                          <a:solidFill>
                            <a:srgbClr val="F72585"/>
                          </a:solidFill>
                          <a:latin typeface="맑은 고딕"/>
                          <a:ea typeface="맑은 고딕"/>
                          <a:cs typeface="맑은 고딕"/>
                        </a:rPr>
                        <a:t>85.15%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695" b="1">
                          <a:solidFill>
                            <a:srgbClr val="F72585"/>
                          </a:solidFill>
                          <a:latin typeface="맑은 고딕"/>
                          <a:ea typeface="맑은 고딕"/>
                          <a:cs typeface="맑은 고딕"/>
                        </a:rPr>
                        <a:t>23.02%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5"/>
                  </a:ext>
                </a:extLst>
              </a:tr>
              <a:tr h="462643">
                <a:tc>
                  <a:txBody>
                    <a:bodyPr/>
                    <a:lstStyle/>
                    <a:p>
                      <a:r>
                        <a:rPr sz="1695"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87.62%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22.28%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8" name="own-text-32">
            <a:extLst>
              <a:ext uri="{FF2B5EF4-FFF2-40B4-BE49-F238E27FC236}">
                <a16:creationId xmlns:a16="http://schemas.microsoft.com/office/drawing/2014/main" id="{69BE57FB-C277-4F32-AC10-5F9F43D34148}"/>
              </a:ext>
            </a:extLst>
          </p:cNvPr>
          <p:cNvSpPr>
            <a:spLocks noGrp="1"/>
          </p:cNvSpPr>
          <p:nvPr/>
        </p:nvSpPr>
        <p:spPr>
          <a:xfrm>
            <a:off x="9105900" y="2076450"/>
            <a:ext cx="4000500" cy="33337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Q4와 Q8의 품질 차이</a:t>
            </a:r>
          </a:p>
        </p:txBody>
      </p:sp>
      <p:sp>
        <p:nvSpPr>
          <p:cNvPr id="9" name="own-text-33">
            <a:extLst>
              <a:ext uri="{FF2B5EF4-FFF2-40B4-BE49-F238E27FC236}">
                <a16:creationId xmlns:a16="http://schemas.microsoft.com/office/drawing/2014/main" id="{1CBFFCE4-1AE8-45F6-B5C0-1A5BDEC92711}"/>
              </a:ext>
            </a:extLst>
          </p:cNvPr>
          <p:cNvSpPr>
            <a:spLocks noGrp="1"/>
          </p:cNvSpPr>
          <p:nvPr/>
        </p:nvSpPr>
        <p:spPr>
          <a:xfrm>
            <a:off x="9105900" y="2628900"/>
            <a:ext cx="4000500" cy="685800"/>
          </a:xfrm>
          <a:prstGeom prst="rect">
            <a:avLst/>
          </a:prstGeom>
          <a:noFill/>
          <a:ln w="0">
            <a:noFill/>
          </a:ln>
        </p:spPr>
        <p:txBody>
          <a:bodyPr wrap="square" lIns="0" tIns="0" rIns="0" bIns="0" anchor="t">
            <a:noAutofit/>
          </a:bodyPr>
          <a:lstStyle>
            <a:defPPr algn="l">
              <a:defRPr sz="1800" b="0">
                <a:solidFill>
                  <a:srgbClr val="17171A"/>
                </a:solidFill>
                <a:latin typeface="맑은 고딕"/>
                <a:ea typeface="맑은 고딕"/>
                <a:cs typeface="맑은 고딕"/>
              </a:defRPr>
            </a:defPPr>
            <a:lvl1pPr algn="l">
              <a:defRPr sz="1800" b="0">
                <a:solidFill>
                  <a:srgbClr val="17171A"/>
                </a:solidFill>
                <a:latin typeface="맑은 고딕"/>
                <a:ea typeface="맑은 고딕"/>
                <a:cs typeface="맑은 고딕"/>
              </a:defRPr>
            </a:lvl1pPr>
            <a:lvl2pPr algn="l">
              <a:defRPr sz="1800" b="0">
                <a:solidFill>
                  <a:srgbClr val="17171A"/>
                </a:solidFill>
                <a:latin typeface="맑은 고딕"/>
                <a:ea typeface="맑은 고딕"/>
                <a:cs typeface="맑은 고딕"/>
              </a:defRPr>
            </a:lvl2pPr>
            <a:lvl3pPr algn="l">
              <a:defRPr sz="1800" b="0">
                <a:solidFill>
                  <a:srgbClr val="17171A"/>
                </a:solidFill>
                <a:latin typeface="맑은 고딕"/>
                <a:ea typeface="맑은 고딕"/>
                <a:cs typeface="맑은 고딕"/>
              </a:defRPr>
            </a:lvl3pPr>
            <a:lvl4pPr algn="l">
              <a:defRPr sz="1800" b="0">
                <a:solidFill>
                  <a:srgbClr val="17171A"/>
                </a:solidFill>
                <a:latin typeface="맑은 고딕"/>
                <a:ea typeface="맑은 고딕"/>
                <a:cs typeface="맑은 고딕"/>
              </a:defRPr>
            </a:lvl4pPr>
            <a:lvl5pPr algn="l">
              <a:defRPr sz="1800" b="0">
                <a:solidFill>
                  <a:srgbClr val="17171A"/>
                </a:solidFill>
                <a:latin typeface="맑은 고딕"/>
                <a:ea typeface="맑은 고딕"/>
                <a:cs typeface="맑은 고딕"/>
              </a:defRPr>
            </a:lvl5pPr>
            <a:lvl6pPr algn="l">
              <a:defRPr sz="1800" b="0">
                <a:solidFill>
                  <a:srgbClr val="17171A"/>
                </a:solidFill>
                <a:latin typeface="맑은 고딕"/>
                <a:ea typeface="맑은 고딕"/>
                <a:cs typeface="맑은 고딕"/>
              </a:defRPr>
            </a:lvl6pPr>
            <a:lvl7pPr algn="l">
              <a:defRPr sz="1800" b="0">
                <a:solidFill>
                  <a:srgbClr val="17171A"/>
                </a:solidFill>
                <a:latin typeface="맑은 고딕"/>
                <a:ea typeface="맑은 고딕"/>
                <a:cs typeface="맑은 고딕"/>
              </a:defRPr>
            </a:lvl7pPr>
            <a:lvl8pPr algn="l">
              <a:defRPr sz="1800" b="0">
                <a:solidFill>
                  <a:srgbClr val="17171A"/>
                </a:solidFill>
                <a:latin typeface="맑은 고딕"/>
                <a:ea typeface="맑은 고딕"/>
                <a:cs typeface="맑은 고딕"/>
              </a:defRPr>
            </a:lvl8pPr>
            <a:lvl9pPr algn="l">
              <a:defRPr sz="1800" b="0">
                <a:solidFill>
                  <a:srgbClr val="17171A"/>
                </a:solidFill>
                <a:latin typeface="맑은 고딕"/>
                <a:ea typeface="맑은 고딕"/>
                <a:cs typeface="맑은 고딕"/>
              </a:defRPr>
            </a:lvl9pPr>
          </a:lstStyle>
          <a:p>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정확도 77.5% / 78.8%</a:t>
            </a:r>
          </a:p>
          <a:p>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환각률 26.2% / 26.5%</a:t>
            </a:r>
          </a:p>
        </p:txBody>
      </p:sp>
      <p:sp>
        <p:nvSpPr>
          <p:cNvPr id="10" name="own-text-34">
            <a:extLst>
              <a:ext uri="{FF2B5EF4-FFF2-40B4-BE49-F238E27FC236}">
                <a16:creationId xmlns:a16="http://schemas.microsoft.com/office/drawing/2014/main" id="{0747B631-3D8F-4884-BCF1-83EE78737272}"/>
              </a:ext>
            </a:extLst>
          </p:cNvPr>
          <p:cNvSpPr>
            <a:spLocks noGrp="1"/>
          </p:cNvSpPr>
          <p:nvPr/>
        </p:nvSpPr>
        <p:spPr>
          <a:xfrm>
            <a:off x="9105900" y="3476625"/>
            <a:ext cx="4000500" cy="285750"/>
          </a:xfrm>
          <a:prstGeom prst="rect">
            <a:avLst/>
          </a:prstGeom>
          <a:noFill/>
          <a:ln w="0">
            <a:noFill/>
          </a:ln>
        </p:spPr>
        <p:txBody>
          <a:bodyPr wrap="square" lIns="0" tIns="0" rIns="0" bIns="0" anchor="t">
            <a:noAutofit/>
          </a:bodyPr>
          <a:lstStyle>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통계적으로 뚜렷한 차이는 확인되지 않음</a:t>
            </a:r>
          </a:p>
        </p:txBody>
      </p:sp>
      <p:sp>
        <p:nvSpPr>
          <p:cNvPr id="11" name="own-text-35">
            <a:extLst>
              <a:ext uri="{FF2B5EF4-FFF2-40B4-BE49-F238E27FC236}">
                <a16:creationId xmlns:a16="http://schemas.microsoft.com/office/drawing/2014/main" id="{B4030F30-2FA6-40C0-846B-3240090334A2}"/>
              </a:ext>
            </a:extLst>
          </p:cNvPr>
          <p:cNvSpPr>
            <a:spLocks noGrp="1"/>
          </p:cNvSpPr>
          <p:nvPr/>
        </p:nvSpPr>
        <p:spPr>
          <a:xfrm>
            <a:off x="9105900" y="4000500"/>
            <a:ext cx="4000500" cy="333375"/>
          </a:xfrm>
          <a:prstGeom prst="rect">
            <a:avLst/>
          </a:prstGeom>
          <a:noFill/>
          <a:ln w="0">
            <a:noFill/>
          </a:ln>
        </p:spPr>
        <p:txBody>
          <a:bodyPr wrap="square" lIns="0" tIns="0" rIns="0" bIns="0" anchor="t">
            <a:noAutofit/>
          </a:bodyPr>
          <a:lstStyle>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Q4의 운영 자원 이점</a:t>
            </a:r>
          </a:p>
        </p:txBody>
      </p:sp>
      <p:sp>
        <p:nvSpPr>
          <p:cNvPr id="12" name="own-text-36">
            <a:extLst>
              <a:ext uri="{FF2B5EF4-FFF2-40B4-BE49-F238E27FC236}">
                <a16:creationId xmlns:a16="http://schemas.microsoft.com/office/drawing/2014/main" id="{168EA29D-2315-4C53-BEE4-8E507DF88AD2}"/>
              </a:ext>
            </a:extLst>
          </p:cNvPr>
          <p:cNvSpPr>
            <a:spLocks noGrp="1"/>
          </p:cNvSpPr>
          <p:nvPr/>
        </p:nvSpPr>
        <p:spPr>
          <a:xfrm>
            <a:off x="9105900" y="4495800"/>
            <a:ext cx="4000500" cy="685800"/>
          </a:xfrm>
          <a:prstGeom prst="rect">
            <a:avLst/>
          </a:prstGeom>
          <a:noFill/>
          <a:ln w="0">
            <a:noFill/>
          </a:ln>
        </p:spPr>
        <p:txBody>
          <a:bodyPr wrap="square" lIns="0" tIns="0" rIns="0" bIns="0" anchor="t">
            <a:noAutofit/>
          </a:bodyPr>
          <a:lstStyle>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평균 응답 2.61초 / 3.49초</a:t>
            </a:r>
          </a:p>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가중치 2.5GB / 4.3GB</a:t>
            </a:r>
          </a:p>
        </p:txBody>
      </p:sp>
      <p:sp>
        <p:nvSpPr>
          <p:cNvPr id="13" name="rule-37">
            <a:extLst>
              <a:ext uri="{FF2B5EF4-FFF2-40B4-BE49-F238E27FC236}">
                <a16:creationId xmlns:a16="http://schemas.microsoft.com/office/drawing/2014/main" id="{108C4A8D-4648-47AD-8BAF-7C2DDB80D3FF}"/>
              </a:ext>
            </a:extLst>
          </p:cNvPr>
          <p:cNvSpPr>
            <a:spLocks noGrp="1"/>
          </p:cNvSpPr>
          <p:nvPr/>
        </p:nvSpPr>
        <p:spPr>
          <a:xfrm>
            <a:off x="628650" y="5581650"/>
            <a:ext cx="12458700" cy="0"/>
          </a:xfrm>
          <a:prstGeom prst="line">
            <a:avLst/>
          </a:prstGeom>
          <a:noFill/>
          <a:ln w="9525">
            <a:solidFill>
              <a:srgbClr val="DDDDE1"/>
            </a:solidFill>
            <a:prstDash val="solid"/>
          </a:ln>
        </p:spPr>
      </p:sp>
      <p:sp>
        <p:nvSpPr>
          <p:cNvPr id="14" name="own-text-38">
            <a:extLst>
              <a:ext uri="{FF2B5EF4-FFF2-40B4-BE49-F238E27FC236}">
                <a16:creationId xmlns:a16="http://schemas.microsoft.com/office/drawing/2014/main" id="{4318DED0-1C0D-45A9-9FF1-2191559EF04D}"/>
              </a:ext>
            </a:extLst>
          </p:cNvPr>
          <p:cNvSpPr>
            <a:spLocks noGrp="1"/>
          </p:cNvSpPr>
          <p:nvPr/>
        </p:nvSpPr>
        <p:spPr>
          <a:xfrm>
            <a:off x="628650" y="5810250"/>
            <a:ext cx="1714500" cy="304800"/>
          </a:xfrm>
          <a:prstGeom prst="rect">
            <a:avLst/>
          </a:prstGeom>
          <a:noFill/>
          <a:ln w="0">
            <a:noFill/>
          </a:ln>
        </p:spPr>
        <p:txBody>
          <a:bodyPr wrap="square" lIns="0" tIns="0" rIns="0" bIns="0" anchor="t">
            <a:noAutofit/>
          </a:bodyPr>
          <a:lstStyle>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선정 근거</a:t>
            </a:r>
          </a:p>
        </p:txBody>
      </p:sp>
      <p:sp>
        <p:nvSpPr>
          <p:cNvPr id="15" name="own-text-39">
            <a:extLst>
              <a:ext uri="{FF2B5EF4-FFF2-40B4-BE49-F238E27FC236}">
                <a16:creationId xmlns:a16="http://schemas.microsoft.com/office/drawing/2014/main" id="{38254FA8-E5B6-4C30-B364-C50B4CBB7406}"/>
              </a:ext>
            </a:extLst>
          </p:cNvPr>
          <p:cNvSpPr>
            <a:spLocks noGrp="1"/>
          </p:cNvSpPr>
          <p:nvPr/>
        </p:nvSpPr>
        <p:spPr>
          <a:xfrm>
            <a:off x="2571750" y="5800725"/>
            <a:ext cx="10477500" cy="628650"/>
          </a:xfrm>
          <a:prstGeom prst="rect">
            <a:avLst/>
          </a:prstGeom>
          <a:noFill/>
          <a:ln w="0">
            <a:noFill/>
          </a:ln>
        </p:spPr>
        <p:txBody>
          <a:bodyPr wrap="square" lIns="0" tIns="0" rIns="0" bIns="0" anchor="t">
            <a:noAutofit/>
          </a:bodyPr>
          <a:lstStyle>
            <a:defPPr algn="l">
              <a:defRPr sz="1898" b="0">
                <a:solidFill>
                  <a:srgbClr val="17171A"/>
                </a:solidFill>
                <a:latin typeface="맑은 고딕"/>
                <a:ea typeface="맑은 고딕"/>
                <a:cs typeface="맑은 고딕"/>
              </a:defRPr>
            </a:defPPr>
            <a:lvl1pPr algn="l">
              <a:defRPr sz="1898" b="0">
                <a:solidFill>
                  <a:srgbClr val="17171A"/>
                </a:solidFill>
                <a:latin typeface="맑은 고딕"/>
                <a:ea typeface="맑은 고딕"/>
                <a:cs typeface="맑은 고딕"/>
              </a:defRPr>
            </a:lvl1pPr>
            <a:lvl2pPr algn="l">
              <a:defRPr sz="1898" b="0">
                <a:solidFill>
                  <a:srgbClr val="17171A"/>
                </a:solidFill>
                <a:latin typeface="맑은 고딕"/>
                <a:ea typeface="맑은 고딕"/>
                <a:cs typeface="맑은 고딕"/>
              </a:defRPr>
            </a:lvl2pPr>
            <a:lvl3pPr algn="l">
              <a:defRPr sz="1898" b="0">
                <a:solidFill>
                  <a:srgbClr val="17171A"/>
                </a:solidFill>
                <a:latin typeface="맑은 고딕"/>
                <a:ea typeface="맑은 고딕"/>
                <a:cs typeface="맑은 고딕"/>
              </a:defRPr>
            </a:lvl3pPr>
            <a:lvl4pPr algn="l">
              <a:defRPr sz="1898" b="0">
                <a:solidFill>
                  <a:srgbClr val="17171A"/>
                </a:solidFill>
                <a:latin typeface="맑은 고딕"/>
                <a:ea typeface="맑은 고딕"/>
                <a:cs typeface="맑은 고딕"/>
              </a:defRPr>
            </a:lvl4pPr>
            <a:lvl5pPr algn="l">
              <a:defRPr sz="1898" b="0">
                <a:solidFill>
                  <a:srgbClr val="17171A"/>
                </a:solidFill>
                <a:latin typeface="맑은 고딕"/>
                <a:ea typeface="맑은 고딕"/>
                <a:cs typeface="맑은 고딕"/>
              </a:defRPr>
            </a:lvl5pPr>
            <a:lvl6pPr algn="l">
              <a:defRPr sz="1898" b="0">
                <a:solidFill>
                  <a:srgbClr val="17171A"/>
                </a:solidFill>
                <a:latin typeface="맑은 고딕"/>
                <a:ea typeface="맑은 고딕"/>
                <a:cs typeface="맑은 고딕"/>
              </a:defRPr>
            </a:lvl6pPr>
            <a:lvl7pPr algn="l">
              <a:defRPr sz="1898" b="0">
                <a:solidFill>
                  <a:srgbClr val="17171A"/>
                </a:solidFill>
                <a:latin typeface="맑은 고딕"/>
                <a:ea typeface="맑은 고딕"/>
                <a:cs typeface="맑은 고딕"/>
              </a:defRPr>
            </a:lvl7pPr>
            <a:lvl8pPr algn="l">
              <a:defRPr sz="1898" b="0">
                <a:solidFill>
                  <a:srgbClr val="17171A"/>
                </a:solidFill>
                <a:latin typeface="맑은 고딕"/>
                <a:ea typeface="맑은 고딕"/>
                <a:cs typeface="맑은 고딕"/>
              </a:defRPr>
            </a:lvl8pPr>
            <a:lvl9pPr algn="l">
              <a:defRPr sz="1898" b="0">
                <a:solidFill>
                  <a:srgbClr val="17171A"/>
                </a:solidFill>
                <a:latin typeface="맑은 고딕"/>
                <a:ea typeface="맑은 고딕"/>
                <a:cs typeface="맑은 고딕"/>
              </a:defRPr>
            </a:lvl9pPr>
          </a:lstStyle>
          <a:p>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OFF 튜닝 이후에도 정답 우위가 남음</a:t>
            </a:r>
          </a:p>
          <a:p>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추측·확인 경로 덧붙임은 후속 프롬프트 교정 대상으로 구체화</a:t>
            </a:r>
          </a:p>
        </p:txBody>
      </p:sp>
    </p:spTree>
    <p:extLst>
      <p:ext uri="{BB962C8B-B14F-4D97-AF65-F5344CB8AC3E}">
        <p14:creationId xmlns:p14="http://schemas.microsoft.com/office/powerpoint/2010/main" val="3604966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wn-text-40">
            <a:extLst>
              <a:ext uri="{FF2B5EF4-FFF2-40B4-BE49-F238E27FC236}">
                <a16:creationId xmlns:a16="http://schemas.microsoft.com/office/drawing/2014/main" id="{DD2E1D71-320D-4DC8-8049-C2AA1E616F89}"/>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41">
            <a:extLst>
              <a:ext uri="{FF2B5EF4-FFF2-40B4-BE49-F238E27FC236}">
                <a16:creationId xmlns:a16="http://schemas.microsoft.com/office/drawing/2014/main" id="{BA6DD4C0-A82A-4503-8AF9-F8800FC0405B}"/>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42">
            <a:extLst>
              <a:ext uri="{FF2B5EF4-FFF2-40B4-BE49-F238E27FC236}">
                <a16:creationId xmlns:a16="http://schemas.microsoft.com/office/drawing/2014/main" id="{859D7F73-BF54-4086-87D1-F2A8922AC007}"/>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개선 프롬프트 비교</a:t>
            </a:r>
          </a:p>
        </p:txBody>
      </p:sp>
      <p:sp>
        <p:nvSpPr>
          <p:cNvPr id="4" name="own-text-43">
            <a:extLst>
              <a:ext uri="{FF2B5EF4-FFF2-40B4-BE49-F238E27FC236}">
                <a16:creationId xmlns:a16="http://schemas.microsoft.com/office/drawing/2014/main" id="{762F2923-999B-4161-BBAF-2CC0C0B83198}"/>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44">
            <a:extLst>
              <a:ext uri="{FF2B5EF4-FFF2-40B4-BE49-F238E27FC236}">
                <a16:creationId xmlns:a16="http://schemas.microsoft.com/office/drawing/2014/main" id="{38BD8416-525D-4979-900B-FD19F46B3151}"/>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12</a:t>
            </a:r>
            <a:endParaRPr sz="1300" b="0">
              <a:solidFill>
                <a:srgbClr val="686B72"/>
              </a:solidFill>
              <a:latin typeface="맑은 고딕"/>
              <a:ea typeface="맑은 고딕"/>
              <a:cs typeface="맑은 고딕"/>
            </a:endParaRPr>
          </a:p>
        </p:txBody>
      </p:sp>
      <p:sp>
        <p:nvSpPr>
          <p:cNvPr id="6" name="own-text-45">
            <a:extLst>
              <a:ext uri="{FF2B5EF4-FFF2-40B4-BE49-F238E27FC236}">
                <a16:creationId xmlns:a16="http://schemas.microsoft.com/office/drawing/2014/main" id="{946715BA-8B58-49F5-B548-9313409BF8EB}"/>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정답 수는 늘지 않았고, 무관 FAQ 유형은 94/100에서 82/100으로 하락. 기본·개선 프롬프트의 같은 900문항 비교.</a:t>
            </a:r>
          </a:p>
        </p:txBody>
      </p:sp>
      <p:sp>
        <p:nvSpPr>
          <p:cNvPr id="7" name="own-text-46">
            <a:extLst>
              <a:ext uri="{FF2B5EF4-FFF2-40B4-BE49-F238E27FC236}">
                <a16:creationId xmlns:a16="http://schemas.microsoft.com/office/drawing/2014/main" id="{BED5841F-7F8F-4730-B29B-462F4AE0D78D}"/>
              </a:ext>
            </a:extLst>
          </p:cNvPr>
          <p:cNvSpPr>
            <a:spLocks noGrp="1"/>
          </p:cNvSpPr>
          <p:nvPr/>
        </p:nvSpPr>
        <p:spPr>
          <a:xfrm>
            <a:off x="628650" y="2076450"/>
            <a:ext cx="5715000" cy="304800"/>
          </a:xfrm>
          <a:prstGeom prst="rect">
            <a:avLst/>
          </a:prstGeom>
          <a:noFill/>
          <a:ln w="0">
            <a:noFill/>
          </a:ln>
        </p:spPr>
        <p:txBody>
          <a:bodyPr wrap="square" lIns="0" tIns="0" rIns="0" bIns="0" anchor="t">
            <a:noAutofit/>
          </a:bodyPr>
          <a:lstStyle>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a:ext uri="{FF2B5EF4-FFF2-40B4-BE49-F238E27FC236}">
                <a16:creationId xmlns:a16="http://schemas.microsoft.com/office/drawing/2014/main" id="{449E3631-BE5D-4CF6-80B3-FC6A959B5445}"/>
              </a:ext>
            </a:extLst>
          </p:cNvPr>
          <p:cNvGraphicFramePr/>
          <p:nvPr/>
        </p:nvGraphicFramePr>
        <p:xfrm>
          <a:off x="628650" y="2543175"/>
          <a:ext cx="5753100" cy="2952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표 8">
            <a:extLst>
              <a:ext uri="{FF2B5EF4-FFF2-40B4-BE49-F238E27FC236}">
                <a16:creationId xmlns:a16="http://schemas.microsoft.com/office/drawing/2014/main" id="{46330785-99AD-48B7-8C7F-19E29D8AF0EF}"/>
              </a:ext>
            </a:extLst>
          </p:cNvPr>
          <p:cNvGraphicFramePr/>
          <p:nvPr/>
        </p:nvGraphicFramePr>
        <p:xfrm>
          <a:off x="6953250" y="2076450"/>
          <a:ext cx="6134100" cy="3429000"/>
        </p:xfrm>
        <a:graphic>
          <a:graphicData uri="http://schemas.openxmlformats.org/drawingml/2006/table">
            <a:tbl>
              <a:tblPr/>
              <a:tblGrid>
                <a:gridCol w="27051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tblGrid>
              <a:tr h="571500">
                <a:tc>
                  <a:txBody>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기본</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개선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571500">
                <a:tc>
                  <a:txBody>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698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571500">
                <a:tc>
                  <a:txBody>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571500">
                <a:tc>
                  <a:txBody>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147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571500">
                <a:tc>
                  <a:txBody>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303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234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0" name="own-text-47">
            <a:extLst>
              <a:ext uri="{FF2B5EF4-FFF2-40B4-BE49-F238E27FC236}">
                <a16:creationId xmlns:a16="http://schemas.microsoft.com/office/drawing/2014/main" id="{6377E4A5-799A-47B1-9894-A6326D5050D7}"/>
              </a:ext>
            </a:extLst>
          </p:cNvPr>
          <p:cNvSpPr>
            <a:spLocks noGrp="1"/>
          </p:cNvSpPr>
          <p:nvPr/>
        </p:nvSpPr>
        <p:spPr>
          <a:xfrm>
            <a:off x="628650" y="5772150"/>
            <a:ext cx="5810250" cy="409575"/>
          </a:xfrm>
          <a:prstGeom prst="rect">
            <a:avLst/>
          </a:prstGeom>
          <a:noFill/>
          <a:ln w="0">
            <a:noFill/>
          </a:ln>
        </p:spPr>
        <p:txBody>
          <a:bodyPr wrap="square" lIns="0" tIns="0" rIns="0" bIns="0" anchor="t">
            <a:noAutofit/>
          </a:bodyPr>
          <a:lstStyle>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48">
            <a:extLst>
              <a:ext uri="{FF2B5EF4-FFF2-40B4-BE49-F238E27FC236}">
                <a16:creationId xmlns:a16="http://schemas.microsoft.com/office/drawing/2014/main" id="{7697A4D0-4FAF-439E-8000-911201F84AA9}"/>
              </a:ext>
            </a:extLst>
          </p:cNvPr>
          <p:cNvSpPr>
            <a:spLocks noGrp="1"/>
          </p:cNvSpPr>
          <p:nvPr/>
        </p:nvSpPr>
        <p:spPr>
          <a:xfrm>
            <a:off x="6953250" y="5800725"/>
            <a:ext cx="6134100" cy="61912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3793357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직선 화살표 연결선 22">
            <a:extLst>
              <a:ext uri="{FF2B5EF4-FFF2-40B4-BE49-F238E27FC236}">
                <a16:creationId xmlns:a16="http://schemas.microsoft.com/office/drawing/2014/main" id="{A2AD6C91-CB7E-4676-9904-A3ED4431A910}"/>
              </a:ext>
            </a:extLst>
          </p:cNvPr>
          <p:cNvCxnSpPr>
            <a:stCxn id="18" idx="0"/>
            <a:endCxn id="10" idx="2"/>
          </p:cNvCxnSpPr>
          <p:nvPr/>
        </p:nvCxnSpPr>
        <p:spPr>
          <a:xfrm flipV="1">
            <a:off x="9024938" y="2895600"/>
            <a:ext cx="0" cy="704850"/>
          </a:xfrm>
          <a:prstGeom prst="straightConnector1">
            <a:avLst/>
          </a:prstGeom>
          <a:ln w="19050">
            <a:solidFill>
              <a:srgbClr val="F72585"/>
            </a:solidFill>
            <a:prstDash val="solid"/>
            <a:tailEnd type="triangle" w="sm" len="sm"/>
          </a:ln>
        </p:spPr>
      </p:cxnSp>
      <p:cxnSp>
        <p:nvCxnSpPr>
          <p:cNvPr id="22" name="직선 화살표 연결선 21">
            <a:extLst>
              <a:ext uri="{FF2B5EF4-FFF2-40B4-BE49-F238E27FC236}">
                <a16:creationId xmlns:a16="http://schemas.microsoft.com/office/drawing/2014/main" id="{92BD1F10-9968-4F02-91D9-D0848E6C1C37}"/>
              </a:ext>
            </a:extLst>
          </p:cNvPr>
          <p:cNvCxnSpPr>
            <a:stCxn id="17" idx="3"/>
            <a:endCxn id="18" idx="1"/>
          </p:cNvCxnSpPr>
          <p:nvPr/>
        </p:nvCxnSpPr>
        <p:spPr>
          <a:xfrm>
            <a:off x="7439025" y="3948113"/>
            <a:ext cx="438150" cy="0"/>
          </a:xfrm>
          <a:prstGeom prst="straightConnector1">
            <a:avLst/>
          </a:prstGeom>
          <a:ln w="19050">
            <a:solidFill>
              <a:srgbClr val="F72585"/>
            </a:solidFill>
            <a:prstDash val="solid"/>
            <a:tailEnd type="triangle" w="sm" len="sm"/>
          </a:ln>
        </p:spPr>
      </p:cxnSp>
      <p:cxnSp>
        <p:nvCxnSpPr>
          <p:cNvPr id="21" name="직선 화살표 연결선 20">
            <a:extLst>
              <a:ext uri="{FF2B5EF4-FFF2-40B4-BE49-F238E27FC236}">
                <a16:creationId xmlns:a16="http://schemas.microsoft.com/office/drawing/2014/main" id="{DCC4149A-83F8-4705-B2CB-A6867CD8B104}"/>
              </a:ext>
            </a:extLst>
          </p:cNvPr>
          <p:cNvCxnSpPr>
            <a:stCxn id="16" idx="3"/>
            <a:endCxn id="17" idx="1"/>
          </p:cNvCxnSpPr>
          <p:nvPr/>
        </p:nvCxnSpPr>
        <p:spPr>
          <a:xfrm>
            <a:off x="4705350" y="3948113"/>
            <a:ext cx="438150" cy="0"/>
          </a:xfrm>
          <a:prstGeom prst="straightConnector1">
            <a:avLst/>
          </a:prstGeom>
          <a:ln w="19050">
            <a:solidFill>
              <a:srgbClr val="F72585"/>
            </a:solidFill>
            <a:prstDash val="solid"/>
            <a:tailEnd type="triangle" w="sm" len="sm"/>
          </a:ln>
        </p:spPr>
      </p:cxnSp>
      <p:cxnSp>
        <p:nvCxnSpPr>
          <p:cNvPr id="20" name="연결선: 꺾임 19">
            <a:extLst>
              <a:ext uri="{FF2B5EF4-FFF2-40B4-BE49-F238E27FC236}">
                <a16:creationId xmlns:a16="http://schemas.microsoft.com/office/drawing/2014/main" id="{52A152E7-F2CE-4869-8661-F09AFA407F30}"/>
              </a:ext>
            </a:extLst>
          </p:cNvPr>
          <p:cNvCxnSpPr>
            <a:stCxn id="9" idx="2"/>
            <a:endCxn id="16" idx="0"/>
          </p:cNvCxnSpPr>
          <p:nvPr/>
        </p:nvCxnSpPr>
        <p:spPr>
          <a:xfrm flipH="1">
            <a:off x="3795713" y="2895600"/>
            <a:ext cx="2495550" cy="704850"/>
          </a:xfrm>
          <a:prstGeom prst="bentConnector4">
            <a:avLst>
              <a:gd name="adj1" fmla="val 0"/>
              <a:gd name="adj2" fmla="val 50000"/>
            </a:avLst>
          </a:prstGeom>
          <a:ln w="19050">
            <a:solidFill>
              <a:srgbClr val="F72585"/>
            </a:solidFill>
            <a:prstDash val="solid"/>
            <a:tailEnd type="triangle" w="sm" len="sm"/>
          </a:ln>
        </p:spPr>
      </p:cxnSp>
      <p:cxnSp>
        <p:nvCxnSpPr>
          <p:cNvPr id="19" name="직선 화살표 연결선 18">
            <a:extLst>
              <a:ext uri="{FF2B5EF4-FFF2-40B4-BE49-F238E27FC236}">
                <a16:creationId xmlns:a16="http://schemas.microsoft.com/office/drawing/2014/main" id="{45324D56-0D70-47F4-952E-30ADA259905C}"/>
              </a:ext>
            </a:extLst>
          </p:cNvPr>
          <p:cNvCxnSpPr>
            <a:stCxn id="8" idx="2"/>
            <a:endCxn id="16" idx="0"/>
          </p:cNvCxnSpPr>
          <p:nvPr/>
        </p:nvCxnSpPr>
        <p:spPr>
          <a:xfrm>
            <a:off x="3795713" y="2895600"/>
            <a:ext cx="0" cy="704850"/>
          </a:xfrm>
          <a:prstGeom prst="straightConnector1">
            <a:avLst/>
          </a:prstGeom>
          <a:ln w="19050">
            <a:solidFill>
              <a:srgbClr val="F72585"/>
            </a:solidFill>
            <a:prstDash val="solid"/>
            <a:tailEnd type="triangle" w="sm" len="sm"/>
          </a:ln>
        </p:spPr>
      </p:cxnSp>
      <p:cxnSp>
        <p:nvCxnSpPr>
          <p:cNvPr id="15" name="직선 화살표 연결선 14">
            <a:extLst>
              <a:ext uri="{FF2B5EF4-FFF2-40B4-BE49-F238E27FC236}">
                <a16:creationId xmlns:a16="http://schemas.microsoft.com/office/drawing/2014/main" id="{618E8A91-D773-4DD5-9481-4B9369AF867A}"/>
              </a:ext>
            </a:extLst>
          </p:cNvPr>
          <p:cNvCxnSpPr>
            <a:stCxn id="10" idx="3"/>
            <a:endCxn id="11" idx="1"/>
          </p:cNvCxnSpPr>
          <p:nvPr/>
        </p:nvCxnSpPr>
        <p:spPr>
          <a:xfrm>
            <a:off x="10172700" y="2547938"/>
            <a:ext cx="438150" cy="0"/>
          </a:xfrm>
          <a:prstGeom prst="straightConnector1">
            <a:avLst/>
          </a:prstGeom>
          <a:ln w="19050">
            <a:solidFill>
              <a:srgbClr val="F72585"/>
            </a:solidFill>
            <a:prstDash val="solid"/>
            <a:tailEnd type="triangle" w="sm" len="sm"/>
          </a:ln>
        </p:spPr>
      </p:cxnSp>
      <p:cxnSp>
        <p:nvCxnSpPr>
          <p:cNvPr id="14" name="직선 화살표 연결선 13">
            <a:extLst>
              <a:ext uri="{FF2B5EF4-FFF2-40B4-BE49-F238E27FC236}">
                <a16:creationId xmlns:a16="http://schemas.microsoft.com/office/drawing/2014/main" id="{F3816C1F-F99D-4C4A-AD19-AA29CC20808C}"/>
              </a:ext>
            </a:extLst>
          </p:cNvPr>
          <p:cNvCxnSpPr>
            <a:stCxn id="9" idx="3"/>
            <a:endCxn id="10" idx="1"/>
          </p:cNvCxnSpPr>
          <p:nvPr/>
        </p:nvCxnSpPr>
        <p:spPr>
          <a:xfrm>
            <a:off x="7439025" y="2547938"/>
            <a:ext cx="438150" cy="0"/>
          </a:xfrm>
          <a:prstGeom prst="straightConnector1">
            <a:avLst/>
          </a:prstGeom>
          <a:ln w="19050">
            <a:solidFill>
              <a:srgbClr val="F72585"/>
            </a:solidFill>
            <a:prstDash val="solid"/>
            <a:tailEnd type="triangle" w="sm" len="sm"/>
          </a:ln>
        </p:spPr>
      </p:cxnSp>
      <p:cxnSp>
        <p:nvCxnSpPr>
          <p:cNvPr id="13" name="직선 화살표 연결선 12">
            <a:extLst>
              <a:ext uri="{FF2B5EF4-FFF2-40B4-BE49-F238E27FC236}">
                <a16:creationId xmlns:a16="http://schemas.microsoft.com/office/drawing/2014/main" id="{BE984D3B-49F1-4B80-B6C1-B428FEF77071}"/>
              </a:ext>
            </a:extLst>
          </p:cNvPr>
          <p:cNvCxnSpPr>
            <a:stCxn id="8" idx="3"/>
            <a:endCxn id="9" idx="1"/>
          </p:cNvCxnSpPr>
          <p:nvPr/>
        </p:nvCxnSpPr>
        <p:spPr>
          <a:xfrm>
            <a:off x="4705350" y="2547938"/>
            <a:ext cx="438150" cy="0"/>
          </a:xfrm>
          <a:prstGeom prst="straightConnector1">
            <a:avLst/>
          </a:prstGeom>
          <a:ln w="19050">
            <a:solidFill>
              <a:srgbClr val="F72585"/>
            </a:solidFill>
            <a:prstDash val="solid"/>
            <a:tailEnd type="triangle" w="sm" len="sm"/>
          </a:ln>
        </p:spPr>
      </p:cxnSp>
      <p:cxnSp>
        <p:nvCxnSpPr>
          <p:cNvPr id="12" name="직선 화살표 연결선 11">
            <a:extLst>
              <a:ext uri="{FF2B5EF4-FFF2-40B4-BE49-F238E27FC236}">
                <a16:creationId xmlns:a16="http://schemas.microsoft.com/office/drawing/2014/main" id="{BA9556EB-2E9E-42E1-AFB6-5DD79B5B85B6}"/>
              </a:ext>
            </a:extLst>
          </p:cNvPr>
          <p:cNvCxnSpPr>
            <a:stCxn id="7" idx="3"/>
            <a:endCxn id="8" idx="1"/>
          </p:cNvCxnSpPr>
          <p:nvPr/>
        </p:nvCxnSpPr>
        <p:spPr>
          <a:xfrm>
            <a:off x="2447925" y="2547938"/>
            <a:ext cx="438150" cy="0"/>
          </a:xfrm>
          <a:prstGeom prst="straightConnector1">
            <a:avLst/>
          </a:prstGeom>
          <a:ln w="19050">
            <a:solidFill>
              <a:srgbClr val="F72585"/>
            </a:solidFill>
            <a:prstDash val="solid"/>
            <a:tailEnd type="triangle" w="sm" len="sm"/>
          </a:ln>
        </p:spPr>
      </p:cxnSp>
      <p:sp>
        <p:nvSpPr>
          <p:cNvPr id="27" name="own-text-49">
            <a:extLst>
              <a:ext uri="{FF2B5EF4-FFF2-40B4-BE49-F238E27FC236}">
                <a16:creationId xmlns:a16="http://schemas.microsoft.com/office/drawing/2014/main" id="{0F6A4D8E-41EC-4C11-A930-3E4DA9A231AC}"/>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50">
            <a:extLst>
              <a:ext uri="{FF2B5EF4-FFF2-40B4-BE49-F238E27FC236}">
                <a16:creationId xmlns:a16="http://schemas.microsoft.com/office/drawing/2014/main" id="{8ED30959-545A-46AD-88AD-A00CC7F51021}"/>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51">
            <a:extLst>
              <a:ext uri="{FF2B5EF4-FFF2-40B4-BE49-F238E27FC236}">
                <a16:creationId xmlns:a16="http://schemas.microsoft.com/office/drawing/2014/main" id="{9E070083-267E-4118-A847-46A0A781265C}"/>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코드 검사 후 FAQ 검색에 사용</a:t>
            </a:r>
          </a:p>
        </p:txBody>
      </p:sp>
      <p:sp>
        <p:nvSpPr>
          <p:cNvPr id="4" name="own-text-52">
            <a:extLst>
              <a:ext uri="{FF2B5EF4-FFF2-40B4-BE49-F238E27FC236}">
                <a16:creationId xmlns:a16="http://schemas.microsoft.com/office/drawing/2014/main" id="{D83284FF-74F3-4D21-86DF-C44088214959}"/>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3">
            <a:extLst>
              <a:ext uri="{FF2B5EF4-FFF2-40B4-BE49-F238E27FC236}">
                <a16:creationId xmlns:a16="http://schemas.microsoft.com/office/drawing/2014/main" id="{B1DCDD0B-248B-4725-8059-A8198CFBE980}"/>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13</a:t>
            </a:r>
            <a:endParaRPr sz="1300" b="0">
              <a:solidFill>
                <a:srgbClr val="686B72"/>
              </a:solidFill>
              <a:latin typeface="맑은 고딕"/>
              <a:ea typeface="맑은 고딕"/>
              <a:cs typeface="맑은 고딕"/>
            </a:endParaRPr>
          </a:p>
        </p:txBody>
      </p:sp>
      <p:sp>
        <p:nvSpPr>
          <p:cNvPr id="6" name="own-text-54">
            <a:extLst>
              <a:ext uri="{FF2B5EF4-FFF2-40B4-BE49-F238E27FC236}">
                <a16:creationId xmlns:a16="http://schemas.microsoft.com/office/drawing/2014/main" id="{2174210C-A275-459B-A1A8-ACA080040502}"/>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기능 평가 200건과 별도 질문 분리 100건을 시험. 아래는 질문 분리 100건 전체의 같은 질문·정답 FAQ 비교.</a:t>
            </a:r>
          </a:p>
        </p:txBody>
      </p:sp>
      <p:sp>
        <p:nvSpPr>
          <p:cNvPr id="7" name="pipeline-55">
            <a:extLst>
              <a:ext uri="{FF2B5EF4-FFF2-40B4-BE49-F238E27FC236}">
                <a16:creationId xmlns:a16="http://schemas.microsoft.com/office/drawing/2014/main" id="{3BDE3A0A-3913-4D49-A0FA-88C9A3B764DC}"/>
              </a:ext>
            </a:extLst>
          </p:cNvPr>
          <p:cNvSpPr>
            <a:spLocks noGrp="1"/>
          </p:cNvSpPr>
          <p:nvPr/>
        </p:nvSpPr>
        <p:spPr>
          <a:xfrm>
            <a:off x="628650" y="2200275"/>
            <a:ext cx="181927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56">
            <a:extLst>
              <a:ext uri="{FF2B5EF4-FFF2-40B4-BE49-F238E27FC236}">
                <a16:creationId xmlns:a16="http://schemas.microsoft.com/office/drawing/2014/main" id="{A5A512B2-7A4B-43B3-8707-C9178DF6BED6}"/>
              </a:ext>
            </a:extLst>
          </p:cNvPr>
          <p:cNvSpPr>
            <a:spLocks noGrp="1"/>
          </p:cNvSpPr>
          <p:nvPr/>
        </p:nvSpPr>
        <p:spPr>
          <a:xfrm>
            <a:off x="2886075" y="2200275"/>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57">
            <a:extLst>
              <a:ext uri="{FF2B5EF4-FFF2-40B4-BE49-F238E27FC236}">
                <a16:creationId xmlns:a16="http://schemas.microsoft.com/office/drawing/2014/main" id="{D9E8E498-CBFB-46E2-A3F5-77FF7B08981C}"/>
              </a:ext>
            </a:extLst>
          </p:cNvPr>
          <p:cNvSpPr>
            <a:spLocks noGrp="1"/>
          </p:cNvSpPr>
          <p:nvPr/>
        </p:nvSpPr>
        <p:spPr>
          <a:xfrm>
            <a:off x="5143500"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58">
            <a:extLst>
              <a:ext uri="{FF2B5EF4-FFF2-40B4-BE49-F238E27FC236}">
                <a16:creationId xmlns:a16="http://schemas.microsoft.com/office/drawing/2014/main" id="{3877CC67-5E58-4F20-A2DA-0FE732C96E30}"/>
              </a:ext>
            </a:extLst>
          </p:cNvPr>
          <p:cNvSpPr>
            <a:spLocks noGrp="1"/>
          </p:cNvSpPr>
          <p:nvPr/>
        </p:nvSpPr>
        <p:spPr>
          <a:xfrm>
            <a:off x="7877175"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59">
            <a:extLst>
              <a:ext uri="{FF2B5EF4-FFF2-40B4-BE49-F238E27FC236}">
                <a16:creationId xmlns:a16="http://schemas.microsoft.com/office/drawing/2014/main" id="{122CFF9F-CFE6-412C-8331-6F6B5F420310}"/>
              </a:ext>
            </a:extLst>
          </p:cNvPr>
          <p:cNvSpPr>
            <a:spLocks noGrp="1"/>
          </p:cNvSpPr>
          <p:nvPr/>
        </p:nvSpPr>
        <p:spPr>
          <a:xfrm>
            <a:off x="10610850" y="2200275"/>
            <a:ext cx="2476500" cy="69532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60">
            <a:extLst>
              <a:ext uri="{FF2B5EF4-FFF2-40B4-BE49-F238E27FC236}">
                <a16:creationId xmlns:a16="http://schemas.microsoft.com/office/drawing/2014/main" id="{74FFE386-EBD6-4FDC-9F2F-74D0213BA64E}"/>
              </a:ext>
            </a:extLst>
          </p:cNvPr>
          <p:cNvSpPr>
            <a:spLocks noGrp="1"/>
          </p:cNvSpPr>
          <p:nvPr/>
        </p:nvSpPr>
        <p:spPr>
          <a:xfrm>
            <a:off x="2886075" y="3600450"/>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61">
            <a:extLst>
              <a:ext uri="{FF2B5EF4-FFF2-40B4-BE49-F238E27FC236}">
                <a16:creationId xmlns:a16="http://schemas.microsoft.com/office/drawing/2014/main" id="{04D9DF65-277E-47AB-B793-BA38831D845F}"/>
              </a:ext>
            </a:extLst>
          </p:cNvPr>
          <p:cNvSpPr>
            <a:spLocks noGrp="1"/>
          </p:cNvSpPr>
          <p:nvPr/>
        </p:nvSpPr>
        <p:spPr>
          <a:xfrm>
            <a:off x="5143500"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변형 검사</a:t>
            </a:r>
          </a:p>
        </p:txBody>
      </p:sp>
      <p:sp>
        <p:nvSpPr>
          <p:cNvPr id="18" name="pipeline-62">
            <a:extLst>
              <a:ext uri="{FF2B5EF4-FFF2-40B4-BE49-F238E27FC236}">
                <a16:creationId xmlns:a16="http://schemas.microsoft.com/office/drawing/2014/main" id="{C785E426-9524-42F1-9C66-739DD7F6309D}"/>
              </a:ext>
            </a:extLst>
          </p:cNvPr>
          <p:cNvSpPr>
            <a:spLocks noGrp="1"/>
          </p:cNvSpPr>
          <p:nvPr/>
        </p:nvSpPr>
        <p:spPr>
          <a:xfrm>
            <a:off x="7877175"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63">
            <a:extLst>
              <a:ext uri="{FF2B5EF4-FFF2-40B4-BE49-F238E27FC236}">
                <a16:creationId xmlns:a16="http://schemas.microsoft.com/office/drawing/2014/main" id="{8ACF3A45-BEBA-4F2C-94EB-AF9A0EDF6855}"/>
              </a:ext>
            </a:extLst>
          </p:cNvPr>
          <p:cNvSpPr>
            <a:spLocks noGrp="1"/>
          </p:cNvSpPr>
          <p:nvPr/>
        </p:nvSpPr>
        <p:spPr>
          <a:xfrm>
            <a:off x="628650" y="3571875"/>
            <a:ext cx="2047875"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64">
            <a:extLst>
              <a:ext uri="{FF2B5EF4-FFF2-40B4-BE49-F238E27FC236}">
                <a16:creationId xmlns:a16="http://schemas.microsoft.com/office/drawing/2014/main" id="{393736F6-7E13-4923-B4F7-0EFCB42AC9C7}"/>
              </a:ext>
            </a:extLst>
          </p:cNvPr>
          <p:cNvSpPr>
            <a:spLocks noGrp="1"/>
          </p:cNvSpPr>
          <p:nvPr/>
        </p:nvSpPr>
        <p:spPr>
          <a:xfrm>
            <a:off x="10610850" y="3571875"/>
            <a:ext cx="2476500"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표 25">
            <a:extLst>
              <a:ext uri="{FF2B5EF4-FFF2-40B4-BE49-F238E27FC236}">
                <a16:creationId xmlns:a16="http://schemas.microsoft.com/office/drawing/2014/main" id="{E0F363E2-FC79-4791-8419-FE05AEC6B755}"/>
              </a:ext>
            </a:extLst>
          </p:cNvPr>
          <p:cNvGraphicFramePr/>
          <p:nvPr/>
        </p:nvGraphicFramePr>
        <p:xfrm>
          <a:off x="628650" y="4886325"/>
          <a:ext cx="12458700" cy="1571625"/>
        </p:xfrm>
        <a:graphic>
          <a:graphicData uri="http://schemas.openxmlformats.org/drawingml/2006/table">
            <a:tbl>
              <a:tblPr/>
              <a:tblGrid>
                <a:gridCol w="3914775">
                  <a:extLst>
                    <a:ext uri="{9D8B030D-6E8A-4147-A177-3AD203B41FA5}">
                      <a16:colId xmlns:a16="http://schemas.microsoft.com/office/drawing/2014/main" val="20000"/>
                    </a:ext>
                  </a:extLst>
                </a:gridCol>
                <a:gridCol w="2847975">
                  <a:extLst>
                    <a:ext uri="{9D8B030D-6E8A-4147-A177-3AD203B41FA5}">
                      <a16:colId xmlns:a16="http://schemas.microsoft.com/office/drawing/2014/main" val="20001"/>
                    </a:ext>
                  </a:extLst>
                </a:gridCol>
                <a:gridCol w="2847975">
                  <a:extLst>
                    <a:ext uri="{9D8B030D-6E8A-4147-A177-3AD203B41FA5}">
                      <a16:colId xmlns:a16="http://schemas.microsoft.com/office/drawing/2014/main" val="20002"/>
                    </a:ext>
                  </a:extLst>
                </a:gridCol>
                <a:gridCol w="2847975">
                  <a:extLst>
                    <a:ext uri="{9D8B030D-6E8A-4147-A177-3AD203B41FA5}">
                      <a16:colId xmlns:a16="http://schemas.microsoft.com/office/drawing/2014/main" val="20003"/>
                    </a:ext>
                  </a:extLst>
                </a:gridCol>
              </a:tblGrid>
              <a:tr h="392906">
                <a:tc>
                  <a:txBody>
                    <a:bodyPr/>
                    <a:lstStyle/>
                    <a:p>
                      <a:r>
                        <a:rPr sz="1598" b="1">
                          <a:solidFill>
                            <a:srgbClr val="FFFFFF"/>
                          </a:solidFill>
                          <a:latin typeface="맑은 고딕"/>
                          <a:ea typeface="맑은 고딕"/>
                          <a:cs typeface="맑은 고딕"/>
                        </a:rPr>
                        <a:t>질문 분리 전체 100건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판정 없이 검색</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초기 판정</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개선 판정</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92906">
                <a:tc>
                  <a:txBody>
                    <a:bodyPr/>
                    <a:lstStyle/>
                    <a:p>
                      <a:r>
                        <a:rPr sz="1598" b="1">
                          <a:solidFill>
                            <a:srgbClr val="F72585"/>
                          </a:solidFill>
                          <a:latin typeface="맑은 고딕"/>
                          <a:ea typeface="맑은 고딕"/>
                          <a:cs typeface="맑은 고딕"/>
                        </a:rPr>
                        <a:t>모든 정답 FAQ 검색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69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84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1"/>
                  </a:ext>
                </a:extLst>
              </a:tr>
              <a:tr h="392906">
                <a:tc>
                  <a:txBody>
                    <a:bodyPr/>
                    <a:lstStyle/>
                    <a:p>
                      <a:r>
                        <a:rPr sz="1598" b="0">
                          <a:solidFill>
                            <a:srgbClr val="17171A"/>
                          </a:solidFill>
                          <a:latin typeface="맑은 고딕"/>
                          <a:ea typeface="맑은 고딕"/>
                          <a:cs typeface="맑은 고딕"/>
                        </a:rPr>
                        <a:t>의도별 정답 FAQ 검색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161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181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182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392906">
                <a:tc>
                  <a:txBody>
                    <a:bodyPr/>
                    <a:lstStyle/>
                    <a:p>
                      <a:r>
                        <a:rPr sz="1598" b="1">
                          <a:solidFill>
                            <a:srgbClr val="F72585"/>
                          </a:solidFill>
                          <a:latin typeface="맑은 고딕"/>
                          <a:ea typeface="맑은 고딕"/>
                          <a:cs typeface="맑은 고딕"/>
                        </a:rPr>
                        <a:t>질문 개수 맞게 나눔</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90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07278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직선 화살표 연결선 9">
            <a:extLst>
              <a:ext uri="{FF2B5EF4-FFF2-40B4-BE49-F238E27FC236}">
                <a16:creationId xmlns:a16="http://schemas.microsoft.com/office/drawing/2014/main" id="{1DBBDF2D-D267-4018-8C3A-5AF874377EC7}"/>
              </a:ext>
            </a:extLst>
          </p:cNvPr>
          <p:cNvCxnSpPr>
            <a:stCxn id="8" idx="3"/>
            <a:endCxn id="9" idx="1"/>
          </p:cNvCxnSpPr>
          <p:nvPr/>
        </p:nvCxnSpPr>
        <p:spPr>
          <a:xfrm>
            <a:off x="2914650" y="3043238"/>
            <a:ext cx="1143000" cy="0"/>
          </a:xfrm>
          <a:prstGeom prst="straightConnector1">
            <a:avLst/>
          </a:prstGeom>
          <a:ln w="19050">
            <a:solidFill>
              <a:srgbClr val="F72585"/>
            </a:solidFill>
            <a:prstDash val="solid"/>
            <a:tailEnd type="triangle" w="sm" len="sm"/>
          </a:ln>
        </p:spPr>
      </p:cxnSp>
      <p:sp>
        <p:nvSpPr>
          <p:cNvPr id="19" name="own-text-65">
            <a:extLst>
              <a:ext uri="{FF2B5EF4-FFF2-40B4-BE49-F238E27FC236}">
                <a16:creationId xmlns:a16="http://schemas.microsoft.com/office/drawing/2014/main" id="{1E632639-FA8F-4BB1-9326-4C7522C14E7C}"/>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66">
            <a:extLst>
              <a:ext uri="{FF2B5EF4-FFF2-40B4-BE49-F238E27FC236}">
                <a16:creationId xmlns:a16="http://schemas.microsoft.com/office/drawing/2014/main" id="{C09A05DF-667A-4B8F-939F-41B4CA6FC47F}"/>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67">
            <a:extLst>
              <a:ext uri="{FF2B5EF4-FFF2-40B4-BE49-F238E27FC236}">
                <a16:creationId xmlns:a16="http://schemas.microsoft.com/office/drawing/2014/main" id="{5BCDC380-B916-4EF2-A1FD-FCA894050174}"/>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68">
            <a:extLst>
              <a:ext uri="{FF2B5EF4-FFF2-40B4-BE49-F238E27FC236}">
                <a16:creationId xmlns:a16="http://schemas.microsoft.com/office/drawing/2014/main" id="{8AF29F68-5C57-47B7-A773-BE5114318691}"/>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69">
            <a:extLst>
              <a:ext uri="{FF2B5EF4-FFF2-40B4-BE49-F238E27FC236}">
                <a16:creationId xmlns:a16="http://schemas.microsoft.com/office/drawing/2014/main" id="{06059DDA-079D-48C2-86E8-53F51A7F8408}"/>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14</a:t>
            </a:r>
            <a:endParaRPr sz="1300" b="0">
              <a:solidFill>
                <a:srgbClr val="686B72"/>
              </a:solidFill>
              <a:latin typeface="맑은 고딕"/>
              <a:ea typeface="맑은 고딕"/>
              <a:cs typeface="맑은 고딕"/>
            </a:endParaRPr>
          </a:p>
        </p:txBody>
      </p:sp>
      <p:sp>
        <p:nvSpPr>
          <p:cNvPr id="6" name="own-text-70">
            <a:extLst>
              <a:ext uri="{FF2B5EF4-FFF2-40B4-BE49-F238E27FC236}">
                <a16:creationId xmlns:a16="http://schemas.microsoft.com/office/drawing/2014/main" id="{47049482-6DB6-4C0D-9E8C-CBD51B8012AA}"/>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71">
            <a:extLst>
              <a:ext uri="{FF2B5EF4-FFF2-40B4-BE49-F238E27FC236}">
                <a16:creationId xmlns:a16="http://schemas.microsoft.com/office/drawing/2014/main" id="{F218CFB4-C3DD-4036-A544-CCF3CEC09AE3}"/>
              </a:ext>
            </a:extLst>
          </p:cNvPr>
          <p:cNvSpPr>
            <a:spLocks noGrp="1"/>
          </p:cNvSpPr>
          <p:nvPr/>
        </p:nvSpPr>
        <p:spPr>
          <a:xfrm>
            <a:off x="62865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72">
            <a:extLst>
              <a:ext uri="{FF2B5EF4-FFF2-40B4-BE49-F238E27FC236}">
                <a16:creationId xmlns:a16="http://schemas.microsoft.com/office/drawing/2014/main" id="{6833A135-CD58-4545-A78F-16A7B439E775}"/>
              </a:ext>
            </a:extLst>
          </p:cNvPr>
          <p:cNvSpPr>
            <a:spLocks noGrp="1"/>
          </p:cNvSpPr>
          <p:nvPr/>
        </p:nvSpPr>
        <p:spPr>
          <a:xfrm>
            <a:off x="628650" y="2686050"/>
            <a:ext cx="2286000" cy="71437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73">
            <a:extLst>
              <a:ext uri="{FF2B5EF4-FFF2-40B4-BE49-F238E27FC236}">
                <a16:creationId xmlns:a16="http://schemas.microsoft.com/office/drawing/2014/main" id="{AF1AB3C5-5A8E-4841-A5DB-DCC9823A2D7E}"/>
              </a:ext>
            </a:extLst>
          </p:cNvPr>
          <p:cNvSpPr>
            <a:spLocks noGrp="1"/>
          </p:cNvSpPr>
          <p:nvPr/>
        </p:nvSpPr>
        <p:spPr>
          <a:xfrm>
            <a:off x="4057650" y="2686050"/>
            <a:ext cx="2381250" cy="71437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74">
            <a:extLst>
              <a:ext uri="{FF2B5EF4-FFF2-40B4-BE49-F238E27FC236}">
                <a16:creationId xmlns:a16="http://schemas.microsoft.com/office/drawing/2014/main" id="{CB1585BB-819E-42E2-80AF-4D8D1CD1D109}"/>
              </a:ext>
            </a:extLst>
          </p:cNvPr>
          <p:cNvSpPr>
            <a:spLocks noGrp="1"/>
          </p:cNvSpPr>
          <p:nvPr/>
        </p:nvSpPr>
        <p:spPr>
          <a:xfrm>
            <a:off x="628650" y="3648075"/>
            <a:ext cx="5810250" cy="352425"/>
          </a:xfrm>
          <a:prstGeom prst="rect">
            <a:avLst/>
          </a:prstGeom>
          <a:noFill/>
          <a:ln w="0">
            <a:noFill/>
          </a:ln>
        </p:spPr>
        <p:txBody>
          <a:bodyPr wrap="square" lIns="0" tIns="0" rIns="0" bIns="0" anchor="t">
            <a:noAutofit/>
          </a:bodyPr>
          <a:lstStyle>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75">
            <a:extLst>
              <a:ext uri="{FF2B5EF4-FFF2-40B4-BE49-F238E27FC236}">
                <a16:creationId xmlns:a16="http://schemas.microsoft.com/office/drawing/2014/main" id="{800F0211-A891-4A62-B16A-DE59E70D871F}"/>
              </a:ext>
            </a:extLst>
          </p:cNvPr>
          <p:cNvSpPr>
            <a:spLocks noGrp="1"/>
          </p:cNvSpPr>
          <p:nvPr/>
        </p:nvSpPr>
        <p:spPr>
          <a:xfrm>
            <a:off x="628650" y="4229100"/>
            <a:ext cx="5810250" cy="304800"/>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76">
            <a:extLst>
              <a:ext uri="{FF2B5EF4-FFF2-40B4-BE49-F238E27FC236}">
                <a16:creationId xmlns:a16="http://schemas.microsoft.com/office/drawing/2014/main" id="{5635518B-A915-401B-BDD3-959AE19BD18E}"/>
              </a:ext>
            </a:extLst>
          </p:cNvPr>
          <p:cNvSpPr>
            <a:spLocks noGrp="1"/>
          </p:cNvSpPr>
          <p:nvPr/>
        </p:nvSpPr>
        <p:spPr>
          <a:xfrm>
            <a:off x="628650" y="4629150"/>
            <a:ext cx="5810250" cy="552450"/>
          </a:xfrm>
          <a:prstGeom prst="rect">
            <a:avLst/>
          </a:prstGeom>
          <a:noFill/>
          <a:ln w="0">
            <a:noFill/>
          </a:ln>
        </p:spPr>
        <p:txBody>
          <a:bodyPr wrap="square" lIns="0" tIns="0" rIns="0" bIns="0" anchor="t">
            <a:noAutofit/>
          </a:bodyPr>
          <a:lstStyle>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77">
            <a:extLst>
              <a:ext uri="{FF2B5EF4-FFF2-40B4-BE49-F238E27FC236}">
                <a16:creationId xmlns:a16="http://schemas.microsoft.com/office/drawing/2014/main" id="{6E587FC7-EBCD-4D75-B22E-565059201FF8}"/>
              </a:ext>
            </a:extLst>
          </p:cNvPr>
          <p:cNvSpPr>
            <a:spLocks noGrp="1"/>
          </p:cNvSpPr>
          <p:nvPr/>
        </p:nvSpPr>
        <p:spPr>
          <a:xfrm>
            <a:off x="628650" y="5372100"/>
            <a:ext cx="5810250" cy="704850"/>
          </a:xfrm>
          <a:prstGeom prst="rect">
            <a:avLst/>
          </a:prstGeom>
          <a:noFill/>
          <a:ln w="0">
            <a:noFill/>
          </a:ln>
        </p:spPr>
        <p:txBody>
          <a:bodyPr wrap="square" lIns="0" tIns="0" rIns="0" bIns="0" anchor="t">
            <a:noAutofit/>
          </a:bodyPr>
          <a:lstStyle>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원문·원문을 보존한 질문 조각 모두 76/100</a:t>
            </a:r>
          </a:p>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검색어 검사로 실제 변형 9/300건 탐지</a:t>
            </a:r>
          </a:p>
        </p:txBody>
      </p:sp>
      <p:sp>
        <p:nvSpPr>
          <p:cNvPr id="15" name="own-text-78">
            <a:extLst>
              <a:ext uri="{FF2B5EF4-FFF2-40B4-BE49-F238E27FC236}">
                <a16:creationId xmlns:a16="http://schemas.microsoft.com/office/drawing/2014/main" id="{20AF46B3-F19A-47EB-B5EF-F8D45C3091A2}"/>
              </a:ext>
            </a:extLst>
          </p:cNvPr>
          <p:cNvSpPr>
            <a:spLocks noGrp="1"/>
          </p:cNvSpPr>
          <p:nvPr/>
        </p:nvSpPr>
        <p:spPr>
          <a:xfrm>
            <a:off x="708660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표 15">
            <a:extLst>
              <a:ext uri="{FF2B5EF4-FFF2-40B4-BE49-F238E27FC236}">
                <a16:creationId xmlns:a16="http://schemas.microsoft.com/office/drawing/2014/main" id="{A1B20640-347D-4B2B-A404-AB391C7F796A}"/>
              </a:ext>
            </a:extLst>
          </p:cNvPr>
          <p:cNvGraphicFramePr/>
          <p:nvPr/>
        </p:nvGraphicFramePr>
        <p:xfrm>
          <a:off x="7086600" y="2686050"/>
          <a:ext cx="6000750" cy="2400300"/>
        </p:xfrm>
        <a:graphic>
          <a:graphicData uri="http://schemas.openxmlformats.org/drawingml/2006/table">
            <a:tbl>
              <a:tblPr/>
              <a:tblGrid>
                <a:gridCol w="287655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466850">
                  <a:extLst>
                    <a:ext uri="{9D8B030D-6E8A-4147-A177-3AD203B41FA5}">
                      <a16:colId xmlns:a16="http://schemas.microsoft.com/office/drawing/2014/main" val="20002"/>
                    </a:ext>
                  </a:extLst>
                </a:gridCol>
              </a:tblGrid>
              <a:tr h="600075">
                <a:tc>
                  <a:txBody>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생략</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비율</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600075">
                <a:tc>
                  <a:txBody>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66 / 141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46.8%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600075">
                <a:tc>
                  <a:txBody>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174 / 390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44.6%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600075">
                <a:tc>
                  <a:txBody>
                    <a:bodyPr/>
                    <a:lstStyle/>
                    <a:p>
                      <a:r>
                        <a:rPr sz="1748" b="1">
                          <a:solidFill>
                            <a:srgbClr val="F72585"/>
                          </a:solidFill>
                          <a:latin typeface="맑은 고딕"/>
                          <a:ea typeface="맑은 고딕"/>
                          <a:cs typeface="맑은 고딕"/>
                        </a:rPr>
                        <a:t>기본 단건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49 / 50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98.0%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bl>
          </a:graphicData>
        </a:graphic>
      </p:graphicFrame>
      <p:sp>
        <p:nvSpPr>
          <p:cNvPr id="17" name="own-text-79">
            <a:extLst>
              <a:ext uri="{FF2B5EF4-FFF2-40B4-BE49-F238E27FC236}">
                <a16:creationId xmlns:a16="http://schemas.microsoft.com/office/drawing/2014/main" id="{7C4BB4BB-AE33-40DA-A137-A742623E0FBA}"/>
              </a:ext>
            </a:extLst>
          </p:cNvPr>
          <p:cNvSpPr>
            <a:spLocks noGrp="1"/>
          </p:cNvSpPr>
          <p:nvPr/>
        </p:nvSpPr>
        <p:spPr>
          <a:xfrm>
            <a:off x="7086600" y="5457825"/>
            <a:ext cx="6000750" cy="38100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80">
            <a:extLst>
              <a:ext uri="{FF2B5EF4-FFF2-40B4-BE49-F238E27FC236}">
                <a16:creationId xmlns:a16="http://schemas.microsoft.com/office/drawing/2014/main" id="{D90B6E42-59B6-4CDA-8016-D70263804B6F}"/>
              </a:ext>
            </a:extLst>
          </p:cNvPr>
          <p:cNvSpPr>
            <a:spLocks noGrp="1"/>
          </p:cNvSpPr>
          <p:nvPr/>
        </p:nvSpPr>
        <p:spPr>
          <a:xfrm>
            <a:off x="7086600" y="5972175"/>
            <a:ext cx="6000750" cy="52387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25031339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직선 화살표 연결선 10">
            <a:extLst>
              <a:ext uri="{FF2B5EF4-FFF2-40B4-BE49-F238E27FC236}">
                <a16:creationId xmlns:a16="http://schemas.microsoft.com/office/drawing/2014/main" id="{C8C3FB44-B9B4-45EC-87BA-C3AED7F9CBC2}"/>
              </a:ext>
            </a:extLst>
          </p:cNvPr>
          <p:cNvCxnSpPr>
            <a:stCxn id="8" idx="3"/>
            <a:endCxn id="9" idx="1"/>
          </p:cNvCxnSpPr>
          <p:nvPr/>
        </p:nvCxnSpPr>
        <p:spPr>
          <a:xfrm>
            <a:off x="9410700" y="2447925"/>
            <a:ext cx="752475" cy="0"/>
          </a:xfrm>
          <a:prstGeom prst="straightConnector1">
            <a:avLst/>
          </a:prstGeom>
          <a:ln w="19050">
            <a:solidFill>
              <a:srgbClr val="F72585"/>
            </a:solidFill>
            <a:prstDash val="solid"/>
            <a:tailEnd type="triangle" w="sm" len="sm"/>
          </a:ln>
        </p:spPr>
      </p:cxnSp>
      <p:cxnSp>
        <p:nvCxnSpPr>
          <p:cNvPr id="10" name="직선 화살표 연결선 9">
            <a:extLst>
              <a:ext uri="{FF2B5EF4-FFF2-40B4-BE49-F238E27FC236}">
                <a16:creationId xmlns:a16="http://schemas.microsoft.com/office/drawing/2014/main" id="{59255915-3E1F-4EBF-B4EF-2DDEABBB7552}"/>
              </a:ext>
            </a:extLst>
          </p:cNvPr>
          <p:cNvCxnSpPr>
            <a:stCxn id="7" idx="3"/>
            <a:endCxn id="8" idx="1"/>
          </p:cNvCxnSpPr>
          <p:nvPr/>
        </p:nvCxnSpPr>
        <p:spPr>
          <a:xfrm>
            <a:off x="5676900" y="2447925"/>
            <a:ext cx="809625" cy="0"/>
          </a:xfrm>
          <a:prstGeom prst="straightConnector1">
            <a:avLst/>
          </a:prstGeom>
          <a:ln w="19050">
            <a:solidFill>
              <a:srgbClr val="F72585"/>
            </a:solidFill>
            <a:prstDash val="solid"/>
            <a:tailEnd type="triangle" w="sm" len="sm"/>
          </a:ln>
        </p:spPr>
      </p:cxnSp>
      <p:sp>
        <p:nvSpPr>
          <p:cNvPr id="15" name="own-text-81">
            <a:extLst>
              <a:ext uri="{FF2B5EF4-FFF2-40B4-BE49-F238E27FC236}">
                <a16:creationId xmlns:a16="http://schemas.microsoft.com/office/drawing/2014/main" id="{08DDABBB-764D-4CB8-B7A0-BF63C4DC0A6B}"/>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82">
            <a:extLst>
              <a:ext uri="{FF2B5EF4-FFF2-40B4-BE49-F238E27FC236}">
                <a16:creationId xmlns:a16="http://schemas.microsoft.com/office/drawing/2014/main" id="{D8A55F34-A545-4991-9AED-49397DEB96C2}"/>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질문별로 답변 칸을 나눠 출력 제어</a:t>
            </a:r>
          </a:p>
        </p:txBody>
      </p:sp>
      <p:sp>
        <p:nvSpPr>
          <p:cNvPr id="3" name="own-text-83">
            <a:extLst>
              <a:ext uri="{FF2B5EF4-FFF2-40B4-BE49-F238E27FC236}">
                <a16:creationId xmlns:a16="http://schemas.microsoft.com/office/drawing/2014/main" id="{78E09490-39F4-451B-8798-CD82A87345A6}"/>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질문마다 답변과 답변 가능 여부를 따로 받고, 답할 수 있는 본문만 합친 뒤 안내를 부착</a:t>
            </a:r>
          </a:p>
        </p:txBody>
      </p:sp>
      <p:sp>
        <p:nvSpPr>
          <p:cNvPr id="4" name="own-text-84">
            <a:extLst>
              <a:ext uri="{FF2B5EF4-FFF2-40B4-BE49-F238E27FC236}">
                <a16:creationId xmlns:a16="http://schemas.microsoft.com/office/drawing/2014/main" id="{F074DE43-8A94-4719-B8E6-532DEC8CDB5C}"/>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5">
            <a:extLst>
              <a:ext uri="{FF2B5EF4-FFF2-40B4-BE49-F238E27FC236}">
                <a16:creationId xmlns:a16="http://schemas.microsoft.com/office/drawing/2014/main" id="{B0E38333-D6E1-4616-9713-DFED019C5BF6}"/>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15</a:t>
            </a:r>
            <a:endParaRPr sz="1300" b="0">
              <a:solidFill>
                <a:srgbClr val="686B72"/>
              </a:solidFill>
              <a:latin typeface="맑은 고딕"/>
              <a:ea typeface="맑은 고딕"/>
              <a:cs typeface="맑은 고딕"/>
            </a:endParaRPr>
          </a:p>
        </p:txBody>
      </p:sp>
      <p:sp>
        <p:nvSpPr>
          <p:cNvPr id="6" name="own-text-86">
            <a:extLst>
              <a:ext uri="{FF2B5EF4-FFF2-40B4-BE49-F238E27FC236}">
                <a16:creationId xmlns:a16="http://schemas.microsoft.com/office/drawing/2014/main" id="{D578A62E-2B79-454C-887C-864528000059}"/>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채점 337문항. 세 방식 모두 분류기 적용. 반복 고지는 모델 본문에서 불가 안내가 두 문장 이상인 경우.</a:t>
            </a:r>
          </a:p>
        </p:txBody>
      </p:sp>
      <p:sp>
        <p:nvSpPr>
          <p:cNvPr id="7" name="pipeline-87">
            <a:extLst>
              <a:ext uri="{FF2B5EF4-FFF2-40B4-BE49-F238E27FC236}">
                <a16:creationId xmlns:a16="http://schemas.microsoft.com/office/drawing/2014/main" id="{546E4C74-7494-4664-B3E1-74F078317EC4}"/>
              </a:ext>
            </a:extLst>
          </p:cNvPr>
          <p:cNvSpPr>
            <a:spLocks noGrp="1"/>
          </p:cNvSpPr>
          <p:nvPr/>
        </p:nvSpPr>
        <p:spPr>
          <a:xfrm>
            <a:off x="628650" y="2047875"/>
            <a:ext cx="5048250" cy="800100"/>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답할 수 있음</a:t>
            </a:r>
          </a:p>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근거가 없어 답변 보류</a:t>
            </a:r>
          </a:p>
        </p:txBody>
      </p:sp>
      <p:sp>
        <p:nvSpPr>
          <p:cNvPr id="8" name="pipeline-88">
            <a:extLst>
              <a:ext uri="{FF2B5EF4-FFF2-40B4-BE49-F238E27FC236}">
                <a16:creationId xmlns:a16="http://schemas.microsoft.com/office/drawing/2014/main" id="{4489A3E1-4D99-4375-A540-D9ED32C630D6}"/>
              </a:ext>
            </a:extLst>
          </p:cNvPr>
          <p:cNvSpPr>
            <a:spLocks noGrp="1"/>
          </p:cNvSpPr>
          <p:nvPr/>
        </p:nvSpPr>
        <p:spPr>
          <a:xfrm>
            <a:off x="6486525" y="2047875"/>
            <a:ext cx="2924175" cy="800100"/>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598" b="1">
                <a:solidFill>
                  <a:srgbClr val="17171A"/>
                </a:solidFill>
                <a:latin typeface="맑은 고딕"/>
                <a:ea typeface="맑은 고딕"/>
                <a:cs typeface="맑은 고딕"/>
              </a:defRPr>
            </a:defPPr>
            <a:lvl1pPr algn="ctr">
              <a:defRPr sz="1598" b="1">
                <a:solidFill>
                  <a:srgbClr val="17171A"/>
                </a:solidFill>
                <a:latin typeface="맑은 고딕"/>
                <a:ea typeface="맑은 고딕"/>
                <a:cs typeface="맑은 고딕"/>
              </a:defRPr>
            </a:lvl1pPr>
            <a:lvl2pPr algn="ctr">
              <a:defRPr sz="1598" b="1">
                <a:solidFill>
                  <a:srgbClr val="17171A"/>
                </a:solidFill>
                <a:latin typeface="맑은 고딕"/>
                <a:ea typeface="맑은 고딕"/>
                <a:cs typeface="맑은 고딕"/>
              </a:defRPr>
            </a:lvl2pPr>
            <a:lvl3pPr algn="ctr">
              <a:defRPr sz="1598" b="1">
                <a:solidFill>
                  <a:srgbClr val="17171A"/>
                </a:solidFill>
                <a:latin typeface="맑은 고딕"/>
                <a:ea typeface="맑은 고딕"/>
                <a:cs typeface="맑은 고딕"/>
              </a:defRPr>
            </a:lvl3pPr>
            <a:lvl4pPr algn="ctr">
              <a:defRPr sz="1598" b="1">
                <a:solidFill>
                  <a:srgbClr val="17171A"/>
                </a:solidFill>
                <a:latin typeface="맑은 고딕"/>
                <a:ea typeface="맑은 고딕"/>
                <a:cs typeface="맑은 고딕"/>
              </a:defRPr>
            </a:lvl4pPr>
            <a:lvl5pPr algn="ctr">
              <a:defRPr sz="1598" b="1">
                <a:solidFill>
                  <a:srgbClr val="17171A"/>
                </a:solidFill>
                <a:latin typeface="맑은 고딕"/>
                <a:ea typeface="맑은 고딕"/>
                <a:cs typeface="맑은 고딕"/>
              </a:defRPr>
            </a:lvl5pPr>
            <a:lvl6pPr algn="ctr">
              <a:defRPr sz="1598" b="1">
                <a:solidFill>
                  <a:srgbClr val="17171A"/>
                </a:solidFill>
                <a:latin typeface="맑은 고딕"/>
                <a:ea typeface="맑은 고딕"/>
                <a:cs typeface="맑은 고딕"/>
              </a:defRPr>
            </a:lvl6pPr>
            <a:lvl7pPr algn="ctr">
              <a:defRPr sz="1598" b="1">
                <a:solidFill>
                  <a:srgbClr val="17171A"/>
                </a:solidFill>
                <a:latin typeface="맑은 고딕"/>
                <a:ea typeface="맑은 고딕"/>
                <a:cs typeface="맑은 고딕"/>
              </a:defRPr>
            </a:lvl7pPr>
            <a:lvl8pPr algn="ctr">
              <a:defRPr sz="1598" b="1">
                <a:solidFill>
                  <a:srgbClr val="17171A"/>
                </a:solidFill>
                <a:latin typeface="맑은 고딕"/>
                <a:ea typeface="맑은 고딕"/>
                <a:cs typeface="맑은 고딕"/>
              </a:defRPr>
            </a:lvl8pPr>
            <a:lvl9pPr algn="ctr">
              <a:defRPr sz="1598" b="1">
                <a:solidFill>
                  <a:srgbClr val="17171A"/>
                </a:solidFill>
                <a:latin typeface="맑은 고딕"/>
                <a:ea typeface="맑은 고딕"/>
                <a:cs typeface="맑은 고딕"/>
              </a:defRPr>
            </a:lvl9pPr>
          </a:lstStyle>
          <a:p>
            <a:pPr algn="ctr">
              <a:defRPr sz="1598" b="1">
                <a:solidFill>
                  <a:srgbClr val="17171A"/>
                </a:solidFill>
                <a:latin typeface="맑은 고딕"/>
                <a:ea typeface="맑은 고딕"/>
                <a:cs typeface="맑은 고딕"/>
              </a:defRPr>
            </a:pPr>
            <a:r>
              <a:rPr sz="1598" b="1">
                <a:solidFill>
                  <a:srgbClr val="17171A"/>
                </a:solidFill>
                <a:latin typeface="맑은 고딕"/>
                <a:ea typeface="맑은 고딕"/>
                <a:cs typeface="맑은 고딕"/>
              </a:rPr>
              <a:t>답할 수 있는 본문만 합침</a:t>
            </a:r>
          </a:p>
        </p:txBody>
      </p:sp>
      <p:sp>
        <p:nvSpPr>
          <p:cNvPr id="9" name="pipeline-89">
            <a:extLst>
              <a:ext uri="{FF2B5EF4-FFF2-40B4-BE49-F238E27FC236}">
                <a16:creationId xmlns:a16="http://schemas.microsoft.com/office/drawing/2014/main" id="{7D3FFF34-E485-417F-B036-05AE3BB247F0}"/>
              </a:ext>
            </a:extLst>
          </p:cNvPr>
          <p:cNvSpPr>
            <a:spLocks noGrp="1"/>
          </p:cNvSpPr>
          <p:nvPr/>
        </p:nvSpPr>
        <p:spPr>
          <a:xfrm>
            <a:off x="10163175" y="2047875"/>
            <a:ext cx="2924175" cy="800100"/>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598" b="1">
                <a:solidFill>
                  <a:srgbClr val="FFFFFF"/>
                </a:solidFill>
                <a:latin typeface="맑은 고딕"/>
                <a:ea typeface="맑은 고딕"/>
                <a:cs typeface="맑은 고딕"/>
              </a:defRPr>
            </a:defPPr>
            <a:lvl1pPr algn="ctr">
              <a:defRPr sz="1598" b="1">
                <a:solidFill>
                  <a:srgbClr val="FFFFFF"/>
                </a:solidFill>
                <a:latin typeface="맑은 고딕"/>
                <a:ea typeface="맑은 고딕"/>
                <a:cs typeface="맑은 고딕"/>
              </a:defRPr>
            </a:lvl1pPr>
            <a:lvl2pPr algn="ctr">
              <a:defRPr sz="1598" b="1">
                <a:solidFill>
                  <a:srgbClr val="FFFFFF"/>
                </a:solidFill>
                <a:latin typeface="맑은 고딕"/>
                <a:ea typeface="맑은 고딕"/>
                <a:cs typeface="맑은 고딕"/>
              </a:defRPr>
            </a:lvl2pPr>
            <a:lvl3pPr algn="ctr">
              <a:defRPr sz="1598" b="1">
                <a:solidFill>
                  <a:srgbClr val="FFFFFF"/>
                </a:solidFill>
                <a:latin typeface="맑은 고딕"/>
                <a:ea typeface="맑은 고딕"/>
                <a:cs typeface="맑은 고딕"/>
              </a:defRPr>
            </a:lvl3pPr>
            <a:lvl4pPr algn="ctr">
              <a:defRPr sz="1598" b="1">
                <a:solidFill>
                  <a:srgbClr val="FFFFFF"/>
                </a:solidFill>
                <a:latin typeface="맑은 고딕"/>
                <a:ea typeface="맑은 고딕"/>
                <a:cs typeface="맑은 고딕"/>
              </a:defRPr>
            </a:lvl4pPr>
            <a:lvl5pPr algn="ctr">
              <a:defRPr sz="1598" b="1">
                <a:solidFill>
                  <a:srgbClr val="FFFFFF"/>
                </a:solidFill>
                <a:latin typeface="맑은 고딕"/>
                <a:ea typeface="맑은 고딕"/>
                <a:cs typeface="맑은 고딕"/>
              </a:defRPr>
            </a:lvl5pPr>
            <a:lvl6pPr algn="ctr">
              <a:defRPr sz="1598" b="1">
                <a:solidFill>
                  <a:srgbClr val="FFFFFF"/>
                </a:solidFill>
                <a:latin typeface="맑은 고딕"/>
                <a:ea typeface="맑은 고딕"/>
                <a:cs typeface="맑은 고딕"/>
              </a:defRPr>
            </a:lvl6pPr>
            <a:lvl7pPr algn="ctr">
              <a:defRPr sz="1598" b="1">
                <a:solidFill>
                  <a:srgbClr val="FFFFFF"/>
                </a:solidFill>
                <a:latin typeface="맑은 고딕"/>
                <a:ea typeface="맑은 고딕"/>
                <a:cs typeface="맑은 고딕"/>
              </a:defRPr>
            </a:lvl7pPr>
            <a:lvl8pPr algn="ctr">
              <a:defRPr sz="1598" b="1">
                <a:solidFill>
                  <a:srgbClr val="FFFFFF"/>
                </a:solidFill>
                <a:latin typeface="맑은 고딕"/>
                <a:ea typeface="맑은 고딕"/>
                <a:cs typeface="맑은 고딕"/>
              </a:defRPr>
            </a:lvl8pPr>
            <a:lvl9pPr algn="ctr">
              <a:defRPr sz="1598" b="1">
                <a:solidFill>
                  <a:srgbClr val="FFFFFF"/>
                </a:solidFill>
                <a:latin typeface="맑은 고딕"/>
                <a:ea typeface="맑은 고딕"/>
                <a:cs typeface="맑은 고딕"/>
              </a:defRPr>
            </a:lvl9pPr>
          </a:lstStyle>
          <a:p>
            <a:pPr algn="ctr">
              <a:defRPr sz="1598" b="1">
                <a:solidFill>
                  <a:srgbClr val="FFFFFF"/>
                </a:solidFill>
                <a:latin typeface="맑은 고딕"/>
                <a:ea typeface="맑은 고딕"/>
                <a:cs typeface="맑은 고딕"/>
              </a:defRPr>
            </a:pPr>
            <a:r>
              <a:rPr sz="1598" b="1">
                <a:solidFill>
                  <a:srgbClr val="FFFFFF"/>
                </a:solidFill>
                <a:latin typeface="맑은 고딕"/>
                <a:ea typeface="맑은 고딕"/>
                <a:cs typeface="맑은 고딕"/>
              </a:rPr>
              <a:t>서버가 안내 문구 추가</a:t>
            </a:r>
          </a:p>
        </p:txBody>
      </p:sp>
      <p:graphicFrame>
        <p:nvGraphicFramePr>
          <p:cNvPr id="12" name="표 11">
            <a:extLst>
              <a:ext uri="{FF2B5EF4-FFF2-40B4-BE49-F238E27FC236}">
                <a16:creationId xmlns:a16="http://schemas.microsoft.com/office/drawing/2014/main" id="{2A1F26A5-55A0-4928-94A5-9700B38EAC37}"/>
              </a:ext>
            </a:extLst>
          </p:cNvPr>
          <p:cNvGraphicFramePr/>
          <p:nvPr/>
        </p:nvGraphicFramePr>
        <p:xfrm>
          <a:off x="628650" y="3276600"/>
          <a:ext cx="12458700" cy="2543175"/>
        </p:xfrm>
        <a:graphic>
          <a:graphicData uri="http://schemas.openxmlformats.org/drawingml/2006/table">
            <a:tbl>
              <a:tblPr/>
              <a:tblGrid>
                <a:gridCol w="4286250">
                  <a:extLst>
                    <a:ext uri="{9D8B030D-6E8A-4147-A177-3AD203B41FA5}">
                      <a16:colId xmlns:a16="http://schemas.microsoft.com/office/drawing/2014/main" val="20000"/>
                    </a:ext>
                  </a:extLst>
                </a:gridCol>
                <a:gridCol w="2724150">
                  <a:extLst>
                    <a:ext uri="{9D8B030D-6E8A-4147-A177-3AD203B41FA5}">
                      <a16:colId xmlns:a16="http://schemas.microsoft.com/office/drawing/2014/main" val="20001"/>
                    </a:ext>
                  </a:extLst>
                </a:gridCol>
                <a:gridCol w="2724150">
                  <a:extLst>
                    <a:ext uri="{9D8B030D-6E8A-4147-A177-3AD203B41FA5}">
                      <a16:colId xmlns:a16="http://schemas.microsoft.com/office/drawing/2014/main" val="20002"/>
                    </a:ext>
                  </a:extLst>
                </a:gridCol>
                <a:gridCol w="2724150">
                  <a:extLst>
                    <a:ext uri="{9D8B030D-6E8A-4147-A177-3AD203B41FA5}">
                      <a16:colId xmlns:a16="http://schemas.microsoft.com/office/drawing/2014/main" val="20003"/>
                    </a:ext>
                  </a:extLst>
                </a:gridCol>
              </a:tblGrid>
              <a:tr h="423863">
                <a:tc>
                  <a:txBody>
                    <a:bodyPr/>
                    <a:lstStyle/>
                    <a:p>
                      <a:r>
                        <a:rPr sz="1598"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답변·판정 모두 통합</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판정만 질문별 분리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답변·판정 모두 분리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23863">
                <a:tc>
                  <a:txBody>
                    <a:bodyPr/>
                    <a:lstStyle/>
                    <a:p>
                      <a:r>
                        <a:rPr sz="1598"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276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257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270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23863">
                <a:tc>
                  <a:txBody>
                    <a:bodyPr/>
                    <a:lstStyle/>
                    <a:p>
                      <a:r>
                        <a:rPr sz="1598"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44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23863">
                <a:tc>
                  <a:txBody>
                    <a:bodyPr/>
                    <a:lstStyle/>
                    <a:p>
                      <a:r>
                        <a:rPr sz="1598"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17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423863">
                <a:tc>
                  <a:txBody>
                    <a:bodyPr/>
                    <a:lstStyle/>
                    <a:p>
                      <a:r>
                        <a:rPr sz="1598" b="1">
                          <a:solidFill>
                            <a:srgbClr val="F72585"/>
                          </a:solidFill>
                          <a:latin typeface="맑은 고딕"/>
                          <a:ea typeface="맑은 고딕"/>
                          <a:cs typeface="맑은 고딕"/>
                        </a:rPr>
                        <a:t>반복 고지</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12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4"/>
                  </a:ext>
                </a:extLst>
              </a:tr>
              <a:tr h="423863">
                <a:tc>
                  <a:txBody>
                    <a:bodyPr/>
                    <a:lstStyle/>
                    <a:p>
                      <a:r>
                        <a:rPr sz="1598"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3" name="own-text-90">
            <a:extLst>
              <a:ext uri="{FF2B5EF4-FFF2-40B4-BE49-F238E27FC236}">
                <a16:creationId xmlns:a16="http://schemas.microsoft.com/office/drawing/2014/main" id="{08CC0092-AE96-41EF-B1D5-40C1AFA1E9AB}"/>
              </a:ext>
            </a:extLst>
          </p:cNvPr>
          <p:cNvSpPr>
            <a:spLocks noGrp="1"/>
          </p:cNvSpPr>
          <p:nvPr/>
        </p:nvSpPr>
        <p:spPr>
          <a:xfrm>
            <a:off x="628650" y="6086475"/>
            <a:ext cx="7715250" cy="36195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91">
            <a:extLst>
              <a:ext uri="{FF2B5EF4-FFF2-40B4-BE49-F238E27FC236}">
                <a16:creationId xmlns:a16="http://schemas.microsoft.com/office/drawing/2014/main" id="{E6608F14-CA86-4F3A-B5A6-1D8D162E5731}"/>
              </a:ext>
            </a:extLst>
          </p:cNvPr>
          <p:cNvSpPr>
            <a:spLocks noGrp="1"/>
          </p:cNvSpPr>
          <p:nvPr/>
        </p:nvSpPr>
        <p:spPr>
          <a:xfrm>
            <a:off x="8524875" y="6096000"/>
            <a:ext cx="4562475" cy="476250"/>
          </a:xfrm>
          <a:prstGeom prst="rect">
            <a:avLst/>
          </a:prstGeom>
          <a:noFill/>
          <a:ln w="0">
            <a:noFill/>
          </a:ln>
        </p:spPr>
        <p:txBody>
          <a:bodyPr wrap="square" lIns="0" tIns="0" rIns="0" bIns="0" anchor="t">
            <a:noAutofit/>
          </a:bodyPr>
          <a:lstStyle>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판정만 나눴을 때 대비 오류 12건에서 1건</a:t>
            </a:r>
          </a:p>
        </p:txBody>
      </p:sp>
    </p:spTree>
    <p:extLst>
      <p:ext uri="{BB962C8B-B14F-4D97-AF65-F5344CB8AC3E}">
        <p14:creationId xmlns:p14="http://schemas.microsoft.com/office/powerpoint/2010/main" val="36518057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게스트 채팅과 회원 채팅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비회원은 질문 횟수가 제한되고, 회원은 대화 이력을 이어갈 수 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16</a:t>
            </a:r>
            <a:endParaRPr sz="1300" b="0">
              <a:solidFill>
                <a:schemeClr val="accent3"/>
              </a:solidFill>
            </a:endParaRPr>
          </a:p>
        </p:txBody>
      </p:sp>
      <p:pic>
        <p:nvPicPr>
          <p:cNvPr id="40" name="그림 39"/>
          <p:cNvPicPr>
            <a:picLocks noChangeAspect="1"/>
          </p:cNvPicPr>
          <p:nvPr/>
        </p:nvPicPr>
        <p:blipFill rotWithShape="1">
          <a:blip r:embed="rId2"/>
          <a:stretch>
            <a:fillRect/>
          </a:stretch>
        </p:blipFill>
        <p:spPr>
          <a:xfrm>
            <a:off x="4878650" y="2628994"/>
            <a:ext cx="7800000" cy="19751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1" name="그림 40"/>
          <p:cNvPicPr>
            <a:picLocks noChangeAspect="1"/>
          </p:cNvPicPr>
          <p:nvPr/>
        </p:nvPicPr>
        <p:blipFill rotWithShape="1">
          <a:blip r:embed="rId3"/>
          <a:stretch>
            <a:fillRect/>
          </a:stretch>
        </p:blipFill>
        <p:spPr>
          <a:xfrm>
            <a:off x="4878650" y="5304100"/>
            <a:ext cx="7800000" cy="15169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2" name="캡션 1"/>
          <p:cNvSpPr/>
          <p:nvPr/>
        </p:nvSpPr>
        <p:spPr>
          <a:xfrm>
            <a:off x="5078650" y="2148994"/>
            <a:ext cx="32610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게스트 채팅 화면 · 횟수 제한 안내</a:t>
            </a:r>
          </a:p>
        </p:txBody>
      </p:sp>
      <p:sp>
        <p:nvSpPr>
          <p:cNvPr id="43" name="캡션 번호 1"/>
          <p:cNvSpPr/>
          <p:nvPr/>
        </p:nvSpPr>
        <p:spPr>
          <a:xfrm>
            <a:off x="4878650" y="2128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44" name="캡션 2"/>
          <p:cNvSpPr/>
          <p:nvPr/>
        </p:nvSpPr>
        <p:spPr>
          <a:xfrm>
            <a:off x="5078650" y="4824100"/>
            <a:ext cx="30832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회원 채팅 화면 · 최근 대화 목록</a:t>
            </a:r>
          </a:p>
        </p:txBody>
      </p:sp>
      <p:sp>
        <p:nvSpPr>
          <p:cNvPr id="45" name="캡션 번호 2"/>
          <p:cNvSpPr/>
          <p:nvPr/>
        </p:nvSpPr>
        <p:spPr>
          <a:xfrm>
            <a:off x="4878650" y="48041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6" name="게스트 채팅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게스트 채팅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9" name="게스트 채팅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게스트 채팅</a:t>
            </a:r>
          </a:p>
        </p:txBody>
      </p:sp>
      <p:sp>
        <p:nvSpPr>
          <p:cNvPr id="50" name="게스트 채팅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로그인 없이 바로 질문, 횟수 제한</a:t>
            </a:r>
          </a:p>
        </p:txBody>
      </p:sp>
      <p:sp>
        <p:nvSpPr>
          <p:cNvPr id="51" name="회원 채팅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회원 채팅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4" name="회원 채팅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회원 채팅</a:t>
            </a:r>
          </a:p>
        </p:txBody>
      </p:sp>
      <p:sp>
        <p:nvSpPr>
          <p:cNvPr id="55" name="회원 채팅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대화 이력 저장</a:t>
            </a:r>
          </a:p>
        </p:txBody>
      </p:sp>
      <p:sp>
        <p:nvSpPr>
          <p:cNvPr id="56" name="대화 세션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대화 세션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9" name="대화 세션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대화 세션</a:t>
            </a:r>
          </a:p>
        </p:txBody>
      </p:sp>
      <p:sp>
        <p:nvSpPr>
          <p:cNvPr id="60" name="대화 세션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맥락 유지, 답변 상태 안내</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분리와 멀티턴 상담</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여러 개를 한 번에 물어도, 앞 대화에 이어 물어도 맥락에 맞게 답변합니다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17</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50000"/>
            <a:ext cx="3954350" cy="134997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0" name="그림 39"/>
          <p:cNvPicPr>
            <a:picLocks noChangeAspect="1"/>
          </p:cNvPicPr>
          <p:nvPr/>
        </p:nvPicPr>
        <p:blipFill rotWithShape="1">
          <a:blip r:embed="rId3"/>
          <a:stretch>
            <a:fillRect/>
          </a:stretch>
        </p:blipFill>
        <p:spPr>
          <a:xfrm>
            <a:off x="9133000" y="2550000"/>
            <a:ext cx="3954350" cy="83568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2" name="그림 41"/>
          <p:cNvPicPr>
            <a:picLocks noChangeAspect="1"/>
          </p:cNvPicPr>
          <p:nvPr/>
        </p:nvPicPr>
        <p:blipFill rotWithShape="1">
          <a:blip r:embed="rId4"/>
          <a:stretch>
            <a:fillRect/>
          </a:stretch>
        </p:blipFill>
        <p:spPr>
          <a:xfrm>
            <a:off x="9133000" y="3715681"/>
            <a:ext cx="3954350" cy="100555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3" name="멀티턴 화살표"/>
          <p:cNvSpPr/>
          <p:nvPr/>
        </p:nvSpPr>
        <p:spPr>
          <a:xfrm>
            <a:off x="10960175" y="3445681"/>
            <a:ext cx="300000" cy="210000"/>
          </a:xfrm>
          <a:prstGeom prst="flowChartMerg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4" name="캡션 1"/>
          <p:cNvSpPr/>
          <p:nvPr/>
        </p:nvSpPr>
        <p:spPr>
          <a:xfrm>
            <a:off x="5078650" y="2070000"/>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질문 분리 답변 화면</a:t>
            </a:r>
          </a:p>
        </p:txBody>
      </p:sp>
      <p:sp>
        <p:nvSpPr>
          <p:cNvPr id="45"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46" name="캡션 2"/>
          <p:cNvSpPr/>
          <p:nvPr/>
        </p:nvSpPr>
        <p:spPr>
          <a:xfrm>
            <a:off x="9333000" y="207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멀티턴 대화 화면</a:t>
            </a:r>
          </a:p>
        </p:txBody>
      </p:sp>
      <p:sp>
        <p:nvSpPr>
          <p:cNvPr id="47" name="캡션 번호 2"/>
          <p:cNvSpPr/>
          <p:nvPr/>
        </p:nvSpPr>
        <p:spPr>
          <a:xfrm>
            <a:off x="913300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48" name="질문 분리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질문 분리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51" name="질문 분리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질문 분리</a:t>
            </a:r>
          </a:p>
        </p:txBody>
      </p:sp>
      <p:sp>
        <p:nvSpPr>
          <p:cNvPr id="52" name="질문 분리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답변 가능한 질문부터 먼저 답변</a:t>
            </a:r>
          </a:p>
        </p:txBody>
      </p:sp>
      <p:sp>
        <p:nvSpPr>
          <p:cNvPr id="53" name="멀티턴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멀티턴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6" name="멀티턴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멀티턴</a:t>
            </a:r>
          </a:p>
        </p:txBody>
      </p:sp>
      <p:sp>
        <p:nvSpPr>
          <p:cNvPr id="57" name="멀티턴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대화 맥락을 반영한 후속 질문</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입력 · 출력 가드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위험한 질문은 입력 단계에서, 근거 없는 답변은 출력 단계에서 막습니다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18</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60994"/>
            <a:ext cx="7000000" cy="1244680"/>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5" name="그림 34"/>
          <p:cNvPicPr>
            <a:picLocks noChangeAspect="1"/>
          </p:cNvPicPr>
          <p:nvPr/>
        </p:nvPicPr>
        <p:blipFill rotWithShape="1">
          <a:blip r:embed="rId3"/>
          <a:stretch>
            <a:fillRect/>
          </a:stretch>
        </p:blipFill>
        <p:spPr>
          <a:xfrm>
            <a:off x="4878650" y="4555674"/>
            <a:ext cx="7000000" cy="233333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6" name="캡션 1"/>
          <p:cNvSpPr/>
          <p:nvPr/>
        </p:nvSpPr>
        <p:spPr>
          <a:xfrm>
            <a:off x="5078650" y="208099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입력 가드 차단 화면</a:t>
            </a:r>
          </a:p>
        </p:txBody>
      </p:sp>
      <p:sp>
        <p:nvSpPr>
          <p:cNvPr id="37" name="캡션 번호 1"/>
          <p:cNvSpPr/>
          <p:nvPr/>
        </p:nvSpPr>
        <p:spPr>
          <a:xfrm>
            <a:off x="4878650" y="2060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38" name="캡션 2"/>
          <p:cNvSpPr/>
          <p:nvPr/>
        </p:nvSpPr>
        <p:spPr>
          <a:xfrm>
            <a:off x="5078650" y="407567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출력 가드 적용 화면</a:t>
            </a:r>
          </a:p>
        </p:txBody>
      </p:sp>
      <p:sp>
        <p:nvSpPr>
          <p:cNvPr id="39" name="캡션 번호 2"/>
          <p:cNvSpPr/>
          <p:nvPr/>
        </p:nvSpPr>
        <p:spPr>
          <a:xfrm>
            <a:off x="4878650" y="405567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0" name="입력 가드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입력 가드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3" name="입력 가드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입력 가드</a:t>
            </a:r>
          </a:p>
        </p:txBody>
      </p:sp>
      <p:sp>
        <p:nvSpPr>
          <p:cNvPr id="44" name="입력 가드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금지어·우회 표현 탐지, 마스킹</a:t>
            </a:r>
          </a:p>
        </p:txBody>
      </p:sp>
      <p:sp>
        <p:nvSpPr>
          <p:cNvPr id="45" name="출력 가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출력 가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8" name="출력 가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출력 가드</a:t>
            </a:r>
          </a:p>
        </p:txBody>
      </p:sp>
      <p:sp>
        <p:nvSpPr>
          <p:cNvPr id="49" name="출력 가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형식 오류·내부 정보 노출 차단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보안</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보안: 위협별 대응</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로그인부터 개인정보까지, 위협마다 막는 지점을 정해 두었습니다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19</a:t>
            </a:r>
            <a:endParaRPr sz="1300" b="0">
              <a:solidFill>
                <a:schemeClr val="accent3"/>
              </a:solidFill>
            </a:endParaRPr>
          </a:p>
        </p:txBody>
      </p:sp>
      <p:graphicFrame>
        <p:nvGraphicFramePr>
          <p:cNvPr id="9" name="Table 8"/>
          <p:cNvGraphicFramePr>
            <a:graphicFrameLocks noGrp="1"/>
          </p:cNvGraphicFramePr>
          <p:nvPr/>
        </p:nvGraphicFramePr>
        <p:xfrm>
          <a:off x="630936" y="2057400"/>
          <a:ext cx="7498079" cy="4096512"/>
        </p:xfrm>
        <a:graphic>
          <a:graphicData uri="http://schemas.openxmlformats.org/drawingml/2006/table">
            <a:tbl>
              <a:tblPr>
                <a:tableStyleId>{5C22544A-7EE6-4342-B048-85BDC9FD1C3A}</a:tableStyleId>
              </a:tblPr>
              <a:tblGrid>
                <a:gridCol w="105156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12064">
                <a:tc>
                  <a:txBody>
                    <a:bodyPr/>
                    <a:lstStyle/>
                    <a:p>
                      <a:r>
                        <a:rPr sz="1200" b="1">
                          <a:solidFill>
                            <a:srgbClr val="FFFFFF"/>
                          </a:solidFill>
                        </a:rPr>
                        <a:t>계층</a:t>
                      </a:r>
                    </a:p>
                  </a:txBody>
                  <a:tcPr marL="109728" marR="109728" anchor="ctr">
                    <a:solidFill>
                      <a:srgbClr val="17171A"/>
                    </a:solidFill>
                  </a:tcPr>
                </a:tc>
                <a:tc>
                  <a:txBody>
                    <a:bodyPr/>
                    <a:lstStyle/>
                    <a:p>
                      <a:r>
                        <a:rPr sz="1200" b="1">
                          <a:solidFill>
                            <a:srgbClr val="FFFFFF"/>
                          </a:solidFill>
                        </a:rPr>
                        <a:t>위협</a:t>
                      </a:r>
                    </a:p>
                  </a:txBody>
                  <a:tcPr marL="109728" marR="109728" anchor="ctr">
                    <a:solidFill>
                      <a:srgbClr val="17171A"/>
                    </a:solidFill>
                  </a:tcPr>
                </a:tc>
                <a:tc>
                  <a:txBody>
                    <a:bodyPr/>
                    <a:lstStyle/>
                    <a:p>
                      <a:r>
                        <a:rPr sz="1200" b="1">
                          <a:solidFill>
                            <a:srgbClr val="FFFFFF"/>
                          </a:solidFill>
                        </a:rPr>
                        <a:t>대응</a:t>
                      </a:r>
                    </a:p>
                  </a:txBody>
                  <a:tcPr marL="109728" marR="109728" anchor="ctr">
                    <a:solidFill>
                      <a:srgbClr val="17171A"/>
                    </a:solidFill>
                  </a:tcPr>
                </a:tc>
                <a:extLst>
                  <a:ext uri="{0D108BD9-81ED-4DB2-BD59-A6C34878D82A}">
                    <a16:rowId xmlns:a16="http://schemas.microsoft.com/office/drawing/2014/main" val="10000"/>
                  </a:ext>
                </a:extLst>
              </a:tr>
              <a:tr h="512064">
                <a:tc>
                  <a:txBody>
                    <a:bodyPr/>
                    <a:lstStyle/>
                    <a:p>
                      <a:r>
                        <a:rPr sz="1200" b="1">
                          <a:solidFill>
                            <a:srgbClr val="D91370"/>
                          </a:solidFill>
                        </a:rPr>
                        <a:t>로그인</a:t>
                      </a:r>
                    </a:p>
                  </a:txBody>
                  <a:tcPr marL="109728" marR="109728" anchor="ctr">
                    <a:solidFill>
                      <a:srgbClr val="FFFFFF"/>
                    </a:solidFill>
                  </a:tcPr>
                </a:tc>
                <a:tc>
                  <a:txBody>
                    <a:bodyPr/>
                    <a:lstStyle/>
                    <a:p>
                      <a:r>
                        <a:rPr sz="1200">
                          <a:solidFill>
                            <a:srgbClr val="17171A"/>
                          </a:solidFill>
                        </a:rPr>
                        <a:t>비밀번호 대입</a:t>
                      </a:r>
                    </a:p>
                  </a:txBody>
                  <a:tcPr marL="109728" marR="109728" anchor="ctr">
                    <a:solidFill>
                      <a:srgbClr val="FFFFFF"/>
                    </a:solidFill>
                  </a:tcPr>
                </a:tc>
                <a:tc>
                  <a:txBody>
                    <a:bodyPr/>
                    <a:lstStyle/>
                    <a:p>
                      <a:r>
                        <a:rPr sz="1200">
                          <a:solidFill>
                            <a:srgbClr val="17171A"/>
                          </a:solidFill>
                        </a:rPr>
                        <a:t>같은 이메일 5회 · 같은 IP 20회 실패 시 15분 차단</a:t>
                      </a:r>
                    </a:p>
                  </a:txBody>
                  <a:tcPr marL="109728" marR="109728" anchor="ctr">
                    <a:solidFill>
                      <a:srgbClr val="FFFFFF"/>
                    </a:solidFill>
                  </a:tcPr>
                </a:tc>
                <a:extLst>
                  <a:ext uri="{0D108BD9-81ED-4DB2-BD59-A6C34878D82A}">
                    <a16:rowId xmlns:a16="http://schemas.microsoft.com/office/drawing/2014/main" val="10001"/>
                  </a:ext>
                </a:extLst>
              </a:tr>
              <a:tr h="512064">
                <a:tc>
                  <a:txBody>
                    <a:bodyPr/>
                    <a:lstStyle/>
                    <a:p>
                      <a:r>
                        <a:rPr sz="1200" b="1">
                          <a:solidFill>
                            <a:srgbClr val="D91370"/>
                          </a:solidFill>
                        </a:rPr>
                        <a:t>토큰</a:t>
                      </a:r>
                    </a:p>
                  </a:txBody>
                  <a:tcPr marL="109728" marR="109728" anchor="ctr">
                    <a:solidFill>
                      <a:srgbClr val="F6F7F8"/>
                    </a:solidFill>
                  </a:tcPr>
                </a:tc>
                <a:tc>
                  <a:txBody>
                    <a:bodyPr/>
                    <a:lstStyle/>
                    <a:p>
                      <a:r>
                        <a:rPr sz="1200">
                          <a:solidFill>
                            <a:srgbClr val="17171A"/>
                          </a:solidFill>
                        </a:rPr>
                        <a:t>Refresh Token 탈취</a:t>
                      </a:r>
                    </a:p>
                  </a:txBody>
                  <a:tcPr marL="109728" marR="109728" anchor="ctr">
                    <a:solidFill>
                      <a:srgbClr val="F6F7F8"/>
                    </a:solidFill>
                  </a:tcPr>
                </a:tc>
                <a:tc>
                  <a:txBody>
                    <a:bodyPr/>
                    <a:lstStyle/>
                    <a:p>
                      <a:r>
                        <a:rPr sz="1200">
                          <a:solidFill>
                            <a:srgbClr val="17171A"/>
                          </a:solidFill>
                        </a:rPr>
                        <a:t>SHA-256 해시만 저장, 옛 토큰 재사용 시 전부 폐기</a:t>
                      </a:r>
                    </a:p>
                  </a:txBody>
                  <a:tcPr marL="109728" marR="109728" anchor="ctr">
                    <a:solidFill>
                      <a:srgbClr val="F6F7F8"/>
                    </a:solidFill>
                  </a:tcPr>
                </a:tc>
                <a:extLst>
                  <a:ext uri="{0D108BD9-81ED-4DB2-BD59-A6C34878D82A}">
                    <a16:rowId xmlns:a16="http://schemas.microsoft.com/office/drawing/2014/main" val="10002"/>
                  </a:ext>
                </a:extLst>
              </a:tr>
              <a:tr h="512064">
                <a:tc>
                  <a:txBody>
                    <a:bodyPr/>
                    <a:lstStyle/>
                    <a:p>
                      <a:r>
                        <a:rPr sz="1200" b="1">
                          <a:solidFill>
                            <a:srgbClr val="D91370"/>
                          </a:solidFill>
                        </a:rPr>
                        <a:t>토큰</a:t>
                      </a:r>
                    </a:p>
                  </a:txBody>
                  <a:tcPr marL="109728" marR="109728" anchor="ctr">
                    <a:solidFill>
                      <a:srgbClr val="FFFFFF"/>
                    </a:solidFill>
                  </a:tcPr>
                </a:tc>
                <a:tc>
                  <a:txBody>
                    <a:bodyPr/>
                    <a:lstStyle/>
                    <a:p>
                      <a:r>
                        <a:rPr sz="1200">
                          <a:solidFill>
                            <a:srgbClr val="17171A"/>
                          </a:solidFill>
                        </a:rPr>
                        <a:t>로그아웃 뒤 재사용</a:t>
                      </a:r>
                    </a:p>
                  </a:txBody>
                  <a:tcPr marL="109728" marR="109728" anchor="ctr">
                    <a:solidFill>
                      <a:srgbClr val="FFFFFF"/>
                    </a:solidFill>
                  </a:tcPr>
                </a:tc>
                <a:tc>
                  <a:txBody>
                    <a:bodyPr/>
                    <a:lstStyle/>
                    <a:p>
                      <a:r>
                        <a:rPr sz="1200">
                          <a:solidFill>
                            <a:srgbClr val="17171A"/>
                          </a:solidFill>
                        </a:rPr>
                        <a:t>로그아웃 전 발급 토큰은 만료 전이어도 거부</a:t>
                      </a:r>
                    </a:p>
                  </a:txBody>
                  <a:tcPr marL="109728" marR="109728" anchor="ctr">
                    <a:solidFill>
                      <a:srgbClr val="FFFFFF"/>
                    </a:solidFill>
                  </a:tcPr>
                </a:tc>
                <a:extLst>
                  <a:ext uri="{0D108BD9-81ED-4DB2-BD59-A6C34878D82A}">
                    <a16:rowId xmlns:a16="http://schemas.microsoft.com/office/drawing/2014/main" val="10003"/>
                  </a:ext>
                </a:extLst>
              </a:tr>
              <a:tr h="512064">
                <a:tc>
                  <a:txBody>
                    <a:bodyPr/>
                    <a:lstStyle/>
                    <a:p>
                      <a:r>
                        <a:rPr sz="1200" b="1">
                          <a:solidFill>
                            <a:srgbClr val="D91370"/>
                          </a:solidFill>
                        </a:rPr>
                        <a:t>브라우저</a:t>
                      </a:r>
                    </a:p>
                  </a:txBody>
                  <a:tcPr marL="109728" marR="109728" anchor="ctr">
                    <a:solidFill>
                      <a:srgbClr val="F6F7F8"/>
                    </a:solidFill>
                  </a:tcPr>
                </a:tc>
                <a:tc>
                  <a:txBody>
                    <a:bodyPr/>
                    <a:lstStyle/>
                    <a:p>
                      <a:r>
                        <a:rPr sz="1200">
                          <a:solidFill>
                            <a:srgbClr val="17171A"/>
                          </a:solidFill>
                        </a:rPr>
                        <a:t>외부 스크립트 (XSS)</a:t>
                      </a:r>
                    </a:p>
                  </a:txBody>
                  <a:tcPr marL="109728" marR="109728" anchor="ctr">
                    <a:solidFill>
                      <a:srgbClr val="F6F7F8"/>
                    </a:solidFill>
                  </a:tcPr>
                </a:tc>
                <a:tc>
                  <a:txBody>
                    <a:bodyPr/>
                    <a:lstStyle/>
                    <a:p>
                      <a:r>
                        <a:rPr sz="1200">
                          <a:solidFill>
                            <a:srgbClr val="17171A"/>
                          </a:solidFill>
                        </a:rPr>
                        <a:t>CSP: 자기 자신 + 카카오만 허용, 외부 form 차단</a:t>
                      </a:r>
                    </a:p>
                  </a:txBody>
                  <a:tcPr marL="109728" marR="109728" anchor="ctr">
                    <a:solidFill>
                      <a:srgbClr val="F6F7F8"/>
                    </a:solidFill>
                  </a:tcPr>
                </a:tc>
                <a:extLst>
                  <a:ext uri="{0D108BD9-81ED-4DB2-BD59-A6C34878D82A}">
                    <a16:rowId xmlns:a16="http://schemas.microsoft.com/office/drawing/2014/main" val="10004"/>
                  </a:ext>
                </a:extLst>
              </a:tr>
              <a:tr h="512064">
                <a:tc>
                  <a:txBody>
                    <a:bodyPr/>
                    <a:lstStyle/>
                    <a:p>
                      <a:r>
                        <a:rPr sz="1200" b="1">
                          <a:solidFill>
                            <a:srgbClr val="D91370"/>
                          </a:solidFill>
                        </a:rPr>
                        <a:t>서버</a:t>
                      </a:r>
                    </a:p>
                  </a:txBody>
                  <a:tcPr marL="109728" marR="109728" anchor="ctr">
                    <a:solidFill>
                      <a:srgbClr val="FFFFFF"/>
                    </a:solidFill>
                  </a:tcPr>
                </a:tc>
                <a:tc>
                  <a:txBody>
                    <a:bodyPr/>
                    <a:lstStyle/>
                    <a:p>
                      <a:r>
                        <a:rPr sz="1200">
                          <a:solidFill>
                            <a:srgbClr val="17171A"/>
                          </a:solidFill>
                        </a:rPr>
                        <a:t>다른 사이트 호출</a:t>
                      </a:r>
                    </a:p>
                  </a:txBody>
                  <a:tcPr marL="109728" marR="109728" anchor="ctr">
                    <a:solidFill>
                      <a:srgbClr val="FFFFFF"/>
                    </a:solidFill>
                  </a:tcPr>
                </a:tc>
                <a:tc>
                  <a:txBody>
                    <a:bodyPr/>
                    <a:lstStyle/>
                    <a:p>
                      <a:r>
                        <a:rPr sz="1200">
                          <a:solidFill>
                            <a:srgbClr val="17171A"/>
                          </a:solidFill>
                        </a:rPr>
                        <a:t>허용 origin만 CORS 통과, 클릭재킹 차단 헤더</a:t>
                      </a:r>
                    </a:p>
                  </a:txBody>
                  <a:tcPr marL="109728" marR="109728" anchor="ctr">
                    <a:solidFill>
                      <a:srgbClr val="FFFFFF"/>
                    </a:solidFill>
                  </a:tcPr>
                </a:tc>
                <a:extLst>
                  <a:ext uri="{0D108BD9-81ED-4DB2-BD59-A6C34878D82A}">
                    <a16:rowId xmlns:a16="http://schemas.microsoft.com/office/drawing/2014/main" val="10005"/>
                  </a:ext>
                </a:extLst>
              </a:tr>
              <a:tr h="512064">
                <a:tc>
                  <a:txBody>
                    <a:bodyPr/>
                    <a:lstStyle/>
                    <a:p>
                      <a:r>
                        <a:rPr sz="1200" b="1">
                          <a:solidFill>
                            <a:srgbClr val="D91370"/>
                          </a:solidFill>
                        </a:rPr>
                        <a:t>서버</a:t>
                      </a:r>
                    </a:p>
                  </a:txBody>
                  <a:tcPr marL="109728" marR="109728" anchor="ctr">
                    <a:solidFill>
                      <a:srgbClr val="F6F7F8"/>
                    </a:solidFill>
                  </a:tcPr>
                </a:tc>
                <a:tc>
                  <a:txBody>
                    <a:bodyPr/>
                    <a:lstStyle/>
                    <a:p>
                      <a:r>
                        <a:rPr sz="1200">
                          <a:solidFill>
                            <a:srgbClr val="17171A"/>
                          </a:solidFill>
                        </a:rPr>
                        <a:t>요청 폭주</a:t>
                      </a:r>
                    </a:p>
                  </a:txBody>
                  <a:tcPr marL="109728" marR="109728" anchor="ctr">
                    <a:solidFill>
                      <a:srgbClr val="F6F7F8"/>
                    </a:solidFill>
                  </a:tcPr>
                </a:tc>
                <a:tc>
                  <a:txBody>
                    <a:bodyPr/>
                    <a:lstStyle/>
                    <a:p>
                      <a:r>
                        <a:rPr sz="1200">
                          <a:solidFill>
                            <a:srgbClr val="17171A"/>
                          </a:solidFill>
                        </a:rPr>
                        <a:t>게스트는 IP별, 회원은 토큰별 속도 제한</a:t>
                      </a:r>
                    </a:p>
                  </a:txBody>
                  <a:tcPr marL="109728" marR="109728" anchor="ctr">
                    <a:solidFill>
                      <a:srgbClr val="F6F7F8"/>
                    </a:solidFill>
                  </a:tcPr>
                </a:tc>
                <a:extLst>
                  <a:ext uri="{0D108BD9-81ED-4DB2-BD59-A6C34878D82A}">
                    <a16:rowId xmlns:a16="http://schemas.microsoft.com/office/drawing/2014/main" val="10006"/>
                  </a:ext>
                </a:extLst>
              </a:tr>
              <a:tr h="512064">
                <a:tc>
                  <a:txBody>
                    <a:bodyPr/>
                    <a:lstStyle/>
                    <a:p>
                      <a:r>
                        <a:rPr sz="1200" b="1">
                          <a:solidFill>
                            <a:srgbClr val="D91370"/>
                          </a:solidFill>
                        </a:rPr>
                        <a:t>데이터</a:t>
                      </a:r>
                    </a:p>
                  </a:txBody>
                  <a:tcPr marL="109728" marR="109728" anchor="ctr">
                    <a:solidFill>
                      <a:srgbClr val="FFFFFF"/>
                    </a:solidFill>
                  </a:tcPr>
                </a:tc>
                <a:tc>
                  <a:txBody>
                    <a:bodyPr/>
                    <a:lstStyle/>
                    <a:p>
                      <a:r>
                        <a:rPr sz="1200">
                          <a:solidFill>
                            <a:srgbClr val="17171A"/>
                          </a:solidFill>
                        </a:rPr>
                        <a:t>개인정보 노출</a:t>
                      </a:r>
                    </a:p>
                  </a:txBody>
                  <a:tcPr marL="109728" marR="109728" anchor="ctr">
                    <a:solidFill>
                      <a:srgbClr val="FFFFFF"/>
                    </a:solidFill>
                  </a:tcPr>
                </a:tc>
                <a:tc>
                  <a:txBody>
                    <a:bodyPr/>
                    <a:lstStyle/>
                    <a:p>
                      <a:r>
                        <a:rPr sz="1200">
                          <a:solidFill>
                            <a:srgbClr val="17171A"/>
                          </a:solidFill>
                        </a:rPr>
                        <a:t>질문 접수 즉시 마스킹, 이후 모든 단계는 마스킹본</a:t>
                      </a:r>
                    </a:p>
                  </a:txBody>
                  <a:tcPr marL="109728" marR="109728" anchor="ctr">
                    <a:solidFill>
                      <a:srgbClr val="FFFFFF"/>
                    </a:solidFill>
                  </a:tcPr>
                </a:tc>
                <a:extLst>
                  <a:ext uri="{0D108BD9-81ED-4DB2-BD59-A6C34878D82A}">
                    <a16:rowId xmlns:a16="http://schemas.microsoft.com/office/drawing/2014/main" val="10007"/>
                  </a:ext>
                </a:extLst>
              </a:tr>
            </a:tbl>
          </a:graphicData>
        </a:graphic>
      </p:graphicFrame>
      <p:sp>
        <p:nvSpPr>
          <p:cNvPr id="10" name="Rounded Rectangle 9"/>
          <p:cNvSpPr/>
          <p:nvPr/>
        </p:nvSpPr>
        <p:spPr>
          <a:xfrm>
            <a:off x="8357616" y="2057400"/>
            <a:ext cx="4727448" cy="260604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586216" y="2240280"/>
            <a:ext cx="4297680" cy="320040"/>
          </a:xfrm>
          <a:prstGeom prst="rect">
            <a:avLst/>
          </a:prstGeom>
          <a:noFill/>
        </p:spPr>
        <p:txBody>
          <a:bodyPr wrap="square" lIns="0" tIns="0" rIns="0" bIns="0" anchor="t">
            <a:spAutoFit/>
          </a:bodyPr>
          <a:lstStyle/>
          <a:p>
            <a:pPr algn="l"/>
            <a:r>
              <a:rPr sz="1400" b="1">
                <a:solidFill>
                  <a:srgbClr val="17171A"/>
                </a:solidFill>
              </a:rPr>
              <a:t>개인정보 마스킹 예시</a:t>
            </a:r>
          </a:p>
        </p:txBody>
      </p:sp>
      <p:sp>
        <p:nvSpPr>
          <p:cNvPr id="12" name="TextBox 11"/>
          <p:cNvSpPr txBox="1"/>
          <p:nvPr/>
        </p:nvSpPr>
        <p:spPr>
          <a:xfrm>
            <a:off x="8586216" y="2697480"/>
            <a:ext cx="868680" cy="365760"/>
          </a:xfrm>
          <a:prstGeom prst="rect">
            <a:avLst/>
          </a:prstGeom>
          <a:noFill/>
        </p:spPr>
        <p:txBody>
          <a:bodyPr wrap="square" lIns="0" tIns="0" rIns="0" bIns="0" anchor="ctr">
            <a:spAutoFit/>
          </a:bodyPr>
          <a:lstStyle/>
          <a:p>
            <a:pPr algn="l"/>
            <a:r>
              <a:rPr sz="1100" b="1">
                <a:solidFill>
                  <a:srgbClr val="D91370"/>
                </a:solidFill>
              </a:rPr>
              <a:t>휴대폰</a:t>
            </a:r>
          </a:p>
        </p:txBody>
      </p:sp>
      <p:sp>
        <p:nvSpPr>
          <p:cNvPr id="13" name="TextBox 12"/>
          <p:cNvSpPr txBox="1"/>
          <p:nvPr/>
        </p:nvSpPr>
        <p:spPr>
          <a:xfrm>
            <a:off x="9454896" y="2697480"/>
            <a:ext cx="1600200" cy="365760"/>
          </a:xfrm>
          <a:prstGeom prst="rect">
            <a:avLst/>
          </a:prstGeom>
          <a:noFill/>
        </p:spPr>
        <p:txBody>
          <a:bodyPr wrap="square" lIns="0" tIns="0" rIns="0" bIns="0" anchor="ctr">
            <a:spAutoFit/>
          </a:bodyPr>
          <a:lstStyle/>
          <a:p>
            <a:pPr algn="l"/>
            <a:r>
              <a:rPr sz="1100" b="0">
                <a:solidFill>
                  <a:srgbClr val="686B72"/>
                </a:solidFill>
              </a:rPr>
              <a:t>010-1234-5678</a:t>
            </a:r>
          </a:p>
        </p:txBody>
      </p:sp>
      <p:sp>
        <p:nvSpPr>
          <p:cNvPr id="14" name="TextBox 13"/>
          <p:cNvSpPr txBox="1"/>
          <p:nvPr/>
        </p:nvSpPr>
        <p:spPr>
          <a:xfrm>
            <a:off x="11055096" y="26974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5" name="TextBox 14"/>
          <p:cNvSpPr txBox="1"/>
          <p:nvPr/>
        </p:nvSpPr>
        <p:spPr>
          <a:xfrm>
            <a:off x="11283696" y="2697480"/>
            <a:ext cx="1691640" cy="365760"/>
          </a:xfrm>
          <a:prstGeom prst="rect">
            <a:avLst/>
          </a:prstGeom>
          <a:noFill/>
        </p:spPr>
        <p:txBody>
          <a:bodyPr wrap="square" lIns="0" tIns="0" rIns="0" bIns="0" anchor="ctr">
            <a:spAutoFit/>
          </a:bodyPr>
          <a:lstStyle/>
          <a:p>
            <a:pPr algn="l"/>
            <a:r>
              <a:rPr sz="1100" b="1">
                <a:solidFill>
                  <a:srgbClr val="17171A"/>
                </a:solidFill>
              </a:rPr>
              <a:t>010-****-5678</a:t>
            </a:r>
          </a:p>
        </p:txBody>
      </p:sp>
      <p:sp>
        <p:nvSpPr>
          <p:cNvPr id="16" name="TextBox 15"/>
          <p:cNvSpPr txBox="1"/>
          <p:nvPr/>
        </p:nvSpPr>
        <p:spPr>
          <a:xfrm>
            <a:off x="8586216" y="3154680"/>
            <a:ext cx="868680" cy="365760"/>
          </a:xfrm>
          <a:prstGeom prst="rect">
            <a:avLst/>
          </a:prstGeom>
          <a:noFill/>
        </p:spPr>
        <p:txBody>
          <a:bodyPr wrap="square" lIns="0" tIns="0" rIns="0" bIns="0" anchor="ctr">
            <a:spAutoFit/>
          </a:bodyPr>
          <a:lstStyle/>
          <a:p>
            <a:pPr algn="l"/>
            <a:r>
              <a:rPr sz="1100" b="1">
                <a:solidFill>
                  <a:srgbClr val="D91370"/>
                </a:solidFill>
              </a:rPr>
              <a:t>주민번호</a:t>
            </a:r>
          </a:p>
        </p:txBody>
      </p:sp>
      <p:sp>
        <p:nvSpPr>
          <p:cNvPr id="17" name="TextBox 16"/>
          <p:cNvSpPr txBox="1"/>
          <p:nvPr/>
        </p:nvSpPr>
        <p:spPr>
          <a:xfrm>
            <a:off x="9454896" y="3154680"/>
            <a:ext cx="1600200" cy="365760"/>
          </a:xfrm>
          <a:prstGeom prst="rect">
            <a:avLst/>
          </a:prstGeom>
          <a:noFill/>
        </p:spPr>
        <p:txBody>
          <a:bodyPr wrap="square" lIns="0" tIns="0" rIns="0" bIns="0" anchor="ctr">
            <a:spAutoFit/>
          </a:bodyPr>
          <a:lstStyle/>
          <a:p>
            <a:pPr algn="l"/>
            <a:r>
              <a:rPr sz="1100" b="0">
                <a:solidFill>
                  <a:srgbClr val="686B72"/>
                </a:solidFill>
              </a:rPr>
              <a:t>900101-1234567</a:t>
            </a:r>
          </a:p>
        </p:txBody>
      </p:sp>
      <p:sp>
        <p:nvSpPr>
          <p:cNvPr id="18" name="TextBox 17"/>
          <p:cNvSpPr txBox="1"/>
          <p:nvPr/>
        </p:nvSpPr>
        <p:spPr>
          <a:xfrm>
            <a:off x="11055096" y="31546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9" name="TextBox 18"/>
          <p:cNvSpPr txBox="1"/>
          <p:nvPr/>
        </p:nvSpPr>
        <p:spPr>
          <a:xfrm>
            <a:off x="11283696" y="3154680"/>
            <a:ext cx="1691640" cy="365760"/>
          </a:xfrm>
          <a:prstGeom prst="rect">
            <a:avLst/>
          </a:prstGeom>
          <a:noFill/>
        </p:spPr>
        <p:txBody>
          <a:bodyPr wrap="square" lIns="0" tIns="0" rIns="0" bIns="0" anchor="ctr">
            <a:spAutoFit/>
          </a:bodyPr>
          <a:lstStyle/>
          <a:p>
            <a:pPr algn="l"/>
            <a:r>
              <a:rPr sz="1100" b="1">
                <a:solidFill>
                  <a:srgbClr val="17171A"/>
                </a:solidFill>
              </a:rPr>
              <a:t>900101-*******</a:t>
            </a:r>
          </a:p>
        </p:txBody>
      </p:sp>
      <p:sp>
        <p:nvSpPr>
          <p:cNvPr id="20" name="TextBox 19"/>
          <p:cNvSpPr txBox="1"/>
          <p:nvPr/>
        </p:nvSpPr>
        <p:spPr>
          <a:xfrm>
            <a:off x="8586216" y="3611880"/>
            <a:ext cx="868680" cy="365760"/>
          </a:xfrm>
          <a:prstGeom prst="rect">
            <a:avLst/>
          </a:prstGeom>
          <a:noFill/>
        </p:spPr>
        <p:txBody>
          <a:bodyPr wrap="square" lIns="0" tIns="0" rIns="0" bIns="0" anchor="ctr">
            <a:spAutoFit/>
          </a:bodyPr>
          <a:lstStyle/>
          <a:p>
            <a:pPr algn="l"/>
            <a:r>
              <a:rPr sz="1100" b="1">
                <a:solidFill>
                  <a:srgbClr val="D91370"/>
                </a:solidFill>
              </a:rPr>
              <a:t>카드번호</a:t>
            </a:r>
          </a:p>
        </p:txBody>
      </p:sp>
      <p:sp>
        <p:nvSpPr>
          <p:cNvPr id="21" name="TextBox 20"/>
          <p:cNvSpPr txBox="1"/>
          <p:nvPr/>
        </p:nvSpPr>
        <p:spPr>
          <a:xfrm>
            <a:off x="9454896" y="3611880"/>
            <a:ext cx="1600200" cy="365760"/>
          </a:xfrm>
          <a:prstGeom prst="rect">
            <a:avLst/>
          </a:prstGeom>
          <a:noFill/>
        </p:spPr>
        <p:txBody>
          <a:bodyPr wrap="square" lIns="0" tIns="0" rIns="0" bIns="0" anchor="ctr">
            <a:spAutoFit/>
          </a:bodyPr>
          <a:lstStyle/>
          <a:p>
            <a:pPr algn="l"/>
            <a:r>
              <a:rPr sz="1100" b="0">
                <a:solidFill>
                  <a:srgbClr val="686B72"/>
                </a:solidFill>
              </a:rPr>
              <a:t>1234-5678-9012-3456</a:t>
            </a:r>
          </a:p>
        </p:txBody>
      </p:sp>
      <p:sp>
        <p:nvSpPr>
          <p:cNvPr id="22" name="TextBox 21"/>
          <p:cNvSpPr txBox="1"/>
          <p:nvPr/>
        </p:nvSpPr>
        <p:spPr>
          <a:xfrm>
            <a:off x="11055096" y="36118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3" name="TextBox 22"/>
          <p:cNvSpPr txBox="1"/>
          <p:nvPr/>
        </p:nvSpPr>
        <p:spPr>
          <a:xfrm>
            <a:off x="11283696" y="3611880"/>
            <a:ext cx="1691640" cy="365760"/>
          </a:xfrm>
          <a:prstGeom prst="rect">
            <a:avLst/>
          </a:prstGeom>
          <a:noFill/>
        </p:spPr>
        <p:txBody>
          <a:bodyPr wrap="square" lIns="0" tIns="0" rIns="0" bIns="0" anchor="ctr">
            <a:spAutoFit/>
          </a:bodyPr>
          <a:lstStyle/>
          <a:p>
            <a:pPr algn="l"/>
            <a:r>
              <a:rPr sz="1100" b="1">
                <a:solidFill>
                  <a:srgbClr val="17171A"/>
                </a:solidFill>
              </a:rPr>
              <a:t>****-****-****-3456</a:t>
            </a:r>
          </a:p>
        </p:txBody>
      </p:sp>
      <p:sp>
        <p:nvSpPr>
          <p:cNvPr id="24" name="TextBox 23"/>
          <p:cNvSpPr txBox="1"/>
          <p:nvPr/>
        </p:nvSpPr>
        <p:spPr>
          <a:xfrm>
            <a:off x="8586216" y="4069080"/>
            <a:ext cx="868680" cy="365760"/>
          </a:xfrm>
          <a:prstGeom prst="rect">
            <a:avLst/>
          </a:prstGeom>
          <a:noFill/>
        </p:spPr>
        <p:txBody>
          <a:bodyPr wrap="square" lIns="0" tIns="0" rIns="0" bIns="0" anchor="ctr">
            <a:spAutoFit/>
          </a:bodyPr>
          <a:lstStyle/>
          <a:p>
            <a:pPr algn="l"/>
            <a:r>
              <a:rPr sz="1100" b="1">
                <a:solidFill>
                  <a:srgbClr val="D91370"/>
                </a:solidFill>
              </a:rPr>
              <a:t>이메일</a:t>
            </a:r>
          </a:p>
        </p:txBody>
      </p:sp>
      <p:sp>
        <p:nvSpPr>
          <p:cNvPr id="25" name="TextBox 24"/>
          <p:cNvSpPr txBox="1"/>
          <p:nvPr/>
        </p:nvSpPr>
        <p:spPr>
          <a:xfrm>
            <a:off x="9454896" y="4069080"/>
            <a:ext cx="1600200" cy="365760"/>
          </a:xfrm>
          <a:prstGeom prst="rect">
            <a:avLst/>
          </a:prstGeom>
          <a:noFill/>
        </p:spPr>
        <p:txBody>
          <a:bodyPr wrap="square" lIns="0" tIns="0" rIns="0" bIns="0" anchor="ctr">
            <a:spAutoFit/>
          </a:bodyPr>
          <a:lstStyle/>
          <a:p>
            <a:pPr algn="l"/>
            <a:r>
              <a:rPr sz="1100" b="0">
                <a:solidFill>
                  <a:srgbClr val="686B72"/>
                </a:solidFill>
              </a:rPr>
              <a:t>abcd@naver.com</a:t>
            </a:r>
          </a:p>
        </p:txBody>
      </p:sp>
      <p:sp>
        <p:nvSpPr>
          <p:cNvPr id="26" name="TextBox 25"/>
          <p:cNvSpPr txBox="1"/>
          <p:nvPr/>
        </p:nvSpPr>
        <p:spPr>
          <a:xfrm>
            <a:off x="11055096" y="40690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7" name="TextBox 26"/>
          <p:cNvSpPr txBox="1"/>
          <p:nvPr/>
        </p:nvSpPr>
        <p:spPr>
          <a:xfrm>
            <a:off x="11283696" y="4069080"/>
            <a:ext cx="1691640" cy="365760"/>
          </a:xfrm>
          <a:prstGeom prst="rect">
            <a:avLst/>
          </a:prstGeom>
          <a:noFill/>
        </p:spPr>
        <p:txBody>
          <a:bodyPr wrap="square" lIns="0" tIns="0" rIns="0" bIns="0" anchor="ctr">
            <a:spAutoFit/>
          </a:bodyPr>
          <a:lstStyle/>
          <a:p>
            <a:pPr algn="l"/>
            <a:r>
              <a:rPr sz="1100" b="1">
                <a:solidFill>
                  <a:srgbClr val="17171A"/>
                </a:solidFill>
              </a:rPr>
              <a:t>a***@naver.com</a:t>
            </a:r>
          </a:p>
        </p:txBody>
      </p:sp>
      <p:sp>
        <p:nvSpPr>
          <p:cNvPr id="28" name="Rounded Rectangle 27"/>
          <p:cNvSpPr/>
          <p:nvPr/>
        </p:nvSpPr>
        <p:spPr>
          <a:xfrm>
            <a:off x="8357616" y="4892040"/>
            <a:ext cx="4727448" cy="1261872"/>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586216" y="5001768"/>
            <a:ext cx="4297680" cy="1051560"/>
          </a:xfrm>
          <a:prstGeom prst="rect">
            <a:avLst/>
          </a:prstGeom>
          <a:noFill/>
        </p:spPr>
        <p:txBody>
          <a:bodyPr wrap="square" lIns="0" tIns="0" rIns="0" bIns="0" anchor="ctr">
            <a:spAutoFit/>
          </a:bodyPr>
          <a:lstStyle/>
          <a:p>
            <a:pPr algn="l"/>
            <a:r>
              <a:rPr sz="1300" b="1">
                <a:solidFill>
                  <a:srgbClr val="D91370"/>
                </a:solidFill>
              </a:rPr>
              <a:t>Redis가 멈추면 차단은 경고만 남기고 통과</a:t>
            </a:r>
          </a:p>
          <a:p>
            <a:pPr algn="l"/>
            <a:r>
              <a:rPr sz="1200" b="0">
                <a:solidFill>
                  <a:srgbClr val="17171A"/>
                </a:solidFill>
              </a:rPr>
              <a:t>보안 장치가 장애 원인이 되지 않게,</a:t>
            </a:r>
          </a:p>
          <a:p>
            <a:pPr algn="l"/>
            <a:r>
              <a:rPr sz="1200" b="0">
                <a:solidFill>
                  <a:srgbClr val="17171A"/>
                </a:solidFill>
              </a:rPr>
              <a:t>위험은 토큰 유효 시간으로 한정했습니다</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매장 · 지도 · 길찾기 · 예약</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20</a:t>
            </a:r>
            <a:endParaRPr sz="1300" b="0">
              <a:solidFill>
                <a:schemeClr val="accent3"/>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인기 · 급상승 FAQ 랭킹</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많이 찾는 질문과 갑자기 늘어난 질문을 채팅 화면에서 바로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21</a:t>
            </a:r>
            <a:endParaRPr sz="1300" b="0">
              <a:solidFill>
                <a:schemeClr val="accent3"/>
              </a:solidFill>
            </a:endParaRPr>
          </a:p>
        </p:txBody>
      </p:sp>
      <p:pic>
        <p:nvPicPr>
          <p:cNvPr id="26" name="그림 25"/>
          <p:cNvPicPr>
            <a:picLocks noChangeAspect="1"/>
          </p:cNvPicPr>
          <p:nvPr/>
        </p:nvPicPr>
        <p:blipFill rotWithShape="1">
          <a:blip r:embed="rId2"/>
          <a:stretch>
            <a:fillRect/>
          </a:stretch>
        </p:blipFill>
        <p:spPr>
          <a:xfrm>
            <a:off x="4878650" y="2550000"/>
            <a:ext cx="7322004" cy="4349999"/>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7" name="캡션"/>
          <p:cNvSpPr/>
          <p:nvPr/>
        </p:nvSpPr>
        <p:spPr>
          <a:xfrm>
            <a:off x="4878650" y="2090000"/>
            <a:ext cx="322834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230000" tIns="0" rIns="230000" bIns="0" rtlCol="0" anchor="ctr"/>
          <a:lstStyle/>
          <a:p>
            <a:pPr algn="l"/>
            <a:r>
              <a:rPr sz="1400" b="1">
                <a:solidFill>
                  <a:schemeClr val="bg1"/>
                </a:solidFill>
              </a:rPr>
              <a:t>인기·급상승·지역 급상승 랭킹 화면</a:t>
            </a:r>
          </a:p>
        </p:txBody>
      </p:sp>
      <p:sp>
        <p:nvSpPr>
          <p:cNvPr id="28" name="패널 번호 1"/>
          <p:cNvSpPr/>
          <p:nvPr/>
        </p:nvSpPr>
        <p:spPr>
          <a:xfrm>
            <a:off x="10046766" y="260835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1</a:t>
            </a:r>
          </a:p>
        </p:txBody>
      </p:sp>
      <p:sp>
        <p:nvSpPr>
          <p:cNvPr id="29" name="패널 번호 2"/>
          <p:cNvSpPr/>
          <p:nvPr/>
        </p:nvSpPr>
        <p:spPr>
          <a:xfrm>
            <a:off x="10046766" y="402359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2</a:t>
            </a:r>
          </a:p>
        </p:txBody>
      </p:sp>
      <p:sp>
        <p:nvSpPr>
          <p:cNvPr id="30" name="패널 번호 3"/>
          <p:cNvSpPr/>
          <p:nvPr/>
        </p:nvSpPr>
        <p:spPr>
          <a:xfrm>
            <a:off x="10046766" y="5453731"/>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3</a:t>
            </a:r>
          </a:p>
        </p:txBody>
      </p:sp>
      <p:sp>
        <p:nvSpPr>
          <p:cNvPr id="31" name="인기 FAQ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인기 FAQ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인기 FAQ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인기 FAQ</a:t>
            </a:r>
          </a:p>
        </p:txBody>
      </p:sp>
      <p:sp>
        <p:nvSpPr>
          <p:cNvPr id="35" name="인기 FAQ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최근 사용량 TOP 5</a:t>
            </a:r>
          </a:p>
        </p:txBody>
      </p:sp>
      <p:sp>
        <p:nvSpPr>
          <p:cNvPr id="36" name="급상승 FAQ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급상승 FAQ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급상승 FAQ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급상승 FAQ</a:t>
            </a:r>
          </a:p>
        </p:txBody>
      </p:sp>
      <p:sp>
        <p:nvSpPr>
          <p:cNvPr id="40" name="급상승 FAQ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대비 사용량 급증 TOP 5</a:t>
            </a:r>
          </a:p>
        </p:txBody>
      </p:sp>
      <p:sp>
        <p:nvSpPr>
          <p:cNvPr id="41" name="지역 급상승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지역 급상승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44" name="지역 급상승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지역 급상승</a:t>
            </a:r>
          </a:p>
        </p:txBody>
      </p:sp>
      <p:sp>
        <p:nvSpPr>
          <p:cNvPr id="45" name="지역 급상승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내 지역(IP 기반) 급상승 TOP 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사용자 · 상품 정보 조회와 가입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내 정보와 상품 정보를 질문으로 조회하고, 가입 · 해지까지 처리합니다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22</a:t>
            </a:r>
            <a:endParaRPr sz="1300" b="0">
              <a:solidFill>
                <a:schemeClr val="accent3"/>
              </a:solidFill>
            </a:endParaRPr>
          </a:p>
        </p:txBody>
      </p:sp>
      <p:pic>
        <p:nvPicPr>
          <p:cNvPr id="31" name="그림 30"/>
          <p:cNvPicPr>
            <a:picLocks noChangeAspect="1"/>
          </p:cNvPicPr>
          <p:nvPr/>
        </p:nvPicPr>
        <p:blipFill rotWithShape="1">
          <a:blip r:embed="rId2"/>
          <a:stretch>
            <a:fillRect/>
          </a:stretch>
        </p:blipFill>
        <p:spPr>
          <a:xfrm>
            <a:off x="8987350" y="5028378"/>
            <a:ext cx="4100000" cy="190424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2" name="그림 31"/>
          <p:cNvPicPr>
            <a:picLocks noChangeAspect="1"/>
          </p:cNvPicPr>
          <p:nvPr/>
        </p:nvPicPr>
        <p:blipFill rotWithShape="1">
          <a:blip r:embed="rId3"/>
          <a:stretch>
            <a:fillRect/>
          </a:stretch>
        </p:blipFill>
        <p:spPr>
          <a:xfrm>
            <a:off x="4878650" y="2550000"/>
            <a:ext cx="5400000" cy="1778378"/>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3" name="캡션 1"/>
          <p:cNvSpPr/>
          <p:nvPr/>
        </p:nvSpPr>
        <p:spPr>
          <a:xfrm>
            <a:off x="5078650" y="2070000"/>
            <a:ext cx="328056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사용자 정보 조회 화면 (정보 카드)</a:t>
            </a:r>
          </a:p>
        </p:txBody>
      </p:sp>
      <p:sp>
        <p:nvSpPr>
          <p:cNvPr id="34"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35" name="캡션 2"/>
          <p:cNvSpPr/>
          <p:nvPr/>
        </p:nvSpPr>
        <p:spPr>
          <a:xfrm>
            <a:off x="9187350" y="4548378"/>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상품 정보 조회 화면</a:t>
            </a:r>
          </a:p>
        </p:txBody>
      </p:sp>
      <p:sp>
        <p:nvSpPr>
          <p:cNvPr id="36" name="캡션 번호 2"/>
          <p:cNvSpPr/>
          <p:nvPr/>
        </p:nvSpPr>
        <p:spPr>
          <a:xfrm>
            <a:off x="8987350" y="452837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37" name="사용자 정보 조회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사용자 정보 조회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0" name="사용자 정보 조회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사용자 정보 조회</a:t>
            </a:r>
          </a:p>
        </p:txBody>
      </p:sp>
      <p:sp>
        <p:nvSpPr>
          <p:cNvPr id="41" name="사용자 정보 조회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요금·데이터 사용량·가입 상품 확인</a:t>
            </a:r>
          </a:p>
        </p:txBody>
      </p:sp>
      <p:sp>
        <p:nvSpPr>
          <p:cNvPr id="42" name="상품 정보 조회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상품 정보 조회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5" name="상품 정보 조회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상품 정보 조회</a:t>
            </a:r>
          </a:p>
        </p:txBody>
      </p:sp>
      <p:sp>
        <p:nvSpPr>
          <p:cNvPr id="46" name="상품 정보 조회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요금제·부가서비스를 질문으로 안내</a:t>
            </a:r>
          </a:p>
        </p:txBody>
      </p:sp>
      <p:sp>
        <p:nvSpPr>
          <p:cNvPr id="47" name="가입·해지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가입·해지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0" name="가입·해지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가입·해지</a:t>
            </a:r>
          </a:p>
        </p:txBody>
      </p:sp>
      <p:sp>
        <p:nvSpPr>
          <p:cNvPr id="51" name="가입·해지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상품 가입·해지·결합 처리</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고객센터 문의와 상담사 호출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문의를 남기고, 필요하면 상담사에게 연결합니다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23</a:t>
            </a:r>
            <a:endParaRPr sz="1300" b="0">
              <a:solidFill>
                <a:schemeClr val="accent3"/>
              </a:solidFill>
            </a:endParaRPr>
          </a:p>
        </p:txBody>
      </p:sp>
      <p:pic>
        <p:nvPicPr>
          <p:cNvPr id="25" name="그림 24"/>
          <p:cNvPicPr>
            <a:picLocks noChangeAspect="1"/>
          </p:cNvPicPr>
          <p:nvPr/>
        </p:nvPicPr>
        <p:blipFill rotWithShape="1">
          <a:blip r:embed="rId2"/>
          <a:stretch>
            <a:fillRect/>
          </a:stretch>
        </p:blipFill>
        <p:spPr>
          <a:xfrm>
            <a:off x="4878650" y="2550000"/>
            <a:ext cx="6400000" cy="235114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5078650" y="2070000"/>
            <a:ext cx="20768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고객센터 문의 화면</a:t>
            </a:r>
          </a:p>
        </p:txBody>
      </p:sp>
      <p:sp>
        <p:nvSpPr>
          <p:cNvPr id="27"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이미지 자리 2"/>
          <p:cNvSpPr/>
          <p:nvPr/>
        </p:nvSpPr>
        <p:spPr>
          <a:xfrm>
            <a:off x="4878650" y="5601144"/>
            <a:ext cx="6400000" cy="1300000"/>
          </a:xfrm>
          <a:prstGeom prst="roundRect">
            <a:avLst>
              <a:gd name="adj" fmla="val 4000"/>
            </a:avLst>
          </a:prstGeom>
          <a:solidFill>
            <a:schemeClr val="bg1"/>
          </a:solidFill>
          <a:ln w="19050">
            <a:solidFill>
              <a:schemeClr val="accent2"/>
            </a:solidFill>
            <a:prstDash val="dash"/>
          </a:ln>
          <a:effectLst>
            <a:outerShdw blurRad="254000" dist="88900" dir="5400000" algn="t" rotWithShape="0">
              <a:srgbClr val="17171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a:solidFill>
                  <a:schemeClr val="accent3"/>
                </a:solidFill>
              </a:rPr>
              <a:t>그림 2</a:t>
            </a:r>
          </a:p>
          <a:p>
            <a:pPr algn="ctr"/>
            <a:r>
              <a:rPr sz="1300">
                <a:solidFill>
                  <a:schemeClr val="accent3"/>
                </a:solidFill>
              </a:rPr>
              <a:t>준비 중</a:t>
            </a:r>
          </a:p>
        </p:txBody>
      </p:sp>
      <p:sp>
        <p:nvSpPr>
          <p:cNvPr id="29" name="캡션 2"/>
          <p:cNvSpPr/>
          <p:nvPr/>
        </p:nvSpPr>
        <p:spPr>
          <a:xfrm>
            <a:off x="5078650" y="5121144"/>
            <a:ext cx="230088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상담사 호출·상담 화면</a:t>
            </a:r>
          </a:p>
        </p:txBody>
      </p:sp>
      <p:sp>
        <p:nvSpPr>
          <p:cNvPr id="30" name="캡션 번호 2"/>
          <p:cNvSpPr/>
          <p:nvPr/>
        </p:nvSpPr>
        <p:spPr>
          <a:xfrm>
            <a:off x="4878650" y="510114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1" name="고객센터 문의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고객센터 문의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고객센터 문의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고객센터 문의</a:t>
            </a:r>
          </a:p>
        </p:txBody>
      </p:sp>
      <p:sp>
        <p:nvSpPr>
          <p:cNvPr id="35" name="고객센터 문의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문의 등록, 관리자 답변 확인</a:t>
            </a:r>
          </a:p>
        </p:txBody>
      </p:sp>
      <p:sp>
        <p:nvSpPr>
          <p:cNvPr id="36" name="상담사 호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담사 호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상담사 호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상담사 호출</a:t>
            </a:r>
          </a:p>
        </p:txBody>
      </p:sp>
      <p:sp>
        <p:nvSpPr>
          <p:cNvPr id="40" name="상담사 호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챗봇에서 상담사로 연결</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FAQ 대시보드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FAQ 운영 현황을 한눈에: 사용량 · 유사도 · 개별 정보</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24</a:t>
            </a:r>
            <a:endParaRPr sz="1300" b="0">
              <a:solidFill>
                <a:schemeClr val="accent3"/>
              </a:solidFill>
            </a:endParaRPr>
          </a:p>
        </p:txBody>
      </p:sp>
      <p:sp>
        <p:nvSpPr>
          <p:cNvPr id="9" name="FAQ 사용량 카드"/>
          <p:cNvSpPr/>
          <p:nvPr/>
        </p:nvSpPr>
        <p:spPr>
          <a:xfrm>
            <a:off x="628650"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0" name="FAQ 사용량 번호"/>
          <p:cNvSpPr/>
          <p:nvPr/>
        </p:nvSpPr>
        <p:spPr>
          <a:xfrm>
            <a:off x="818650"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1</a:t>
            </a:r>
          </a:p>
        </p:txBody>
      </p:sp>
      <p:sp>
        <p:nvSpPr>
          <p:cNvPr id="11" name="FAQ 사용량 제목"/>
          <p:cNvSpPr txBox="1"/>
          <p:nvPr/>
        </p:nvSpPr>
        <p:spPr>
          <a:xfrm>
            <a:off x="1388650"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사용량</a:t>
            </a:r>
          </a:p>
        </p:txBody>
      </p:sp>
      <p:pic>
        <p:nvPicPr>
          <p:cNvPr id="24" name="그림 23"/>
          <p:cNvPicPr>
            <a:picLocks noChangeAspect="1"/>
          </p:cNvPicPr>
          <p:nvPr/>
        </p:nvPicPr>
        <p:blipFill rotWithShape="1">
          <a:blip r:embed="rId2"/>
          <a:stretch>
            <a:fillRect/>
          </a:stretch>
        </p:blipFill>
        <p:spPr>
          <a:xfrm>
            <a:off x="818650" y="2867485"/>
            <a:ext cx="3606233" cy="2865030"/>
          </a:xfrm>
          <a:prstGeom prst="roundRect">
            <a:avLst>
              <a:gd name="adj" fmla="val 3000"/>
            </a:avLst>
          </a:prstGeom>
          <a:ln w="12700">
            <a:solidFill>
              <a:schemeClr val="accent2"/>
            </a:solidFill>
          </a:ln>
        </p:spPr>
      </p:pic>
      <p:sp>
        <p:nvSpPr>
          <p:cNvPr id="25" name="FAQ 사용량 설명"/>
          <p:cNvSpPr txBox="1"/>
          <p:nvPr/>
        </p:nvSpPr>
        <p:spPr>
          <a:xfrm>
            <a:off x="818650"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검색 결과 포함 횟수 TOP/LOW 20</a:t>
            </a:r>
          </a:p>
          <a:p>
            <a:pPr marL="200000" lvl="0" indent="-200000" algn="l">
              <a:spcAft>
                <a:spcPts val="600"/>
              </a:spcAft>
              <a:buChar char="•"/>
              <a:defRPr/>
            </a:pPr>
            <a:r>
              <a:rPr sz="1200" b="0">
                <a:solidFill>
                  <a:schemeClr val="tx1"/>
                </a:solidFill>
              </a:rPr>
              <a:t>의도별(사용자·매장·상품 데이터)로 필터</a:t>
            </a:r>
          </a:p>
        </p:txBody>
      </p:sp>
      <p:sp>
        <p:nvSpPr>
          <p:cNvPr id="26" name="FAQ 유사도 카드"/>
          <p:cNvSpPr/>
          <p:nvPr/>
        </p:nvSpPr>
        <p:spPr>
          <a:xfrm>
            <a:off x="4864883"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7" name="FAQ 유사도 번호"/>
          <p:cNvSpPr/>
          <p:nvPr/>
        </p:nvSpPr>
        <p:spPr>
          <a:xfrm>
            <a:off x="5054883"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2</a:t>
            </a:r>
          </a:p>
        </p:txBody>
      </p:sp>
      <p:sp>
        <p:nvSpPr>
          <p:cNvPr id="28" name="FAQ 유사도 제목"/>
          <p:cNvSpPr txBox="1"/>
          <p:nvPr/>
        </p:nvSpPr>
        <p:spPr>
          <a:xfrm>
            <a:off x="5624883"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유사도</a:t>
            </a:r>
          </a:p>
        </p:txBody>
      </p:sp>
      <p:pic>
        <p:nvPicPr>
          <p:cNvPr id="34" name="그림 24"/>
          <p:cNvPicPr>
            <a:picLocks noChangeAspect="1"/>
          </p:cNvPicPr>
          <p:nvPr/>
        </p:nvPicPr>
        <p:blipFill rotWithShape="1">
          <a:blip r:embed="rId3"/>
          <a:stretch>
            <a:fillRect/>
          </a:stretch>
        </p:blipFill>
        <p:spPr>
          <a:xfrm>
            <a:off x="5054883" y="2862252"/>
            <a:ext cx="3606233" cy="2875496"/>
          </a:xfrm>
          <a:prstGeom prst="roundRect">
            <a:avLst>
              <a:gd name="adj" fmla="val 3000"/>
            </a:avLst>
          </a:prstGeom>
          <a:ln w="12700">
            <a:solidFill>
              <a:schemeClr val="accent2"/>
            </a:solidFill>
          </a:ln>
        </p:spPr>
      </p:pic>
      <p:sp>
        <p:nvSpPr>
          <p:cNvPr id="29" name="FAQ 유사도 설명"/>
          <p:cNvSpPr txBox="1"/>
          <p:nvPr/>
        </p:nvSpPr>
        <p:spPr>
          <a:xfrm>
            <a:off x="5054883"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평균 Similarity TOP/LOW 20</a:t>
            </a:r>
          </a:p>
          <a:p>
            <a:pPr marL="200000" lvl="0" indent="-200000" algn="l">
              <a:spcAft>
                <a:spcPts val="600"/>
              </a:spcAft>
              <a:buChar char="•"/>
              <a:defRPr/>
            </a:pPr>
            <a:r>
              <a:rPr sz="1200" b="0">
                <a:solidFill>
                  <a:schemeClr val="tx1"/>
                </a:solidFill>
              </a:rPr>
              <a:t>전체 FAQ 평균 값을 함께 표시</a:t>
            </a:r>
          </a:p>
        </p:txBody>
      </p:sp>
      <p:sp>
        <p:nvSpPr>
          <p:cNvPr id="30" name="FAQ 개별 정보 카드"/>
          <p:cNvSpPr/>
          <p:nvPr/>
        </p:nvSpPr>
        <p:spPr>
          <a:xfrm>
            <a:off x="9101116"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1" name="FAQ 개별 정보 번호"/>
          <p:cNvSpPr/>
          <p:nvPr/>
        </p:nvSpPr>
        <p:spPr>
          <a:xfrm>
            <a:off x="9291116"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3</a:t>
            </a:r>
          </a:p>
        </p:txBody>
      </p:sp>
      <p:sp>
        <p:nvSpPr>
          <p:cNvPr id="32" name="FAQ 개별 정보 제목"/>
          <p:cNvSpPr txBox="1"/>
          <p:nvPr/>
        </p:nvSpPr>
        <p:spPr>
          <a:xfrm>
            <a:off x="9861116"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개별 정보</a:t>
            </a:r>
          </a:p>
        </p:txBody>
      </p:sp>
      <p:pic>
        <p:nvPicPr>
          <p:cNvPr id="35" name="그림 25"/>
          <p:cNvPicPr>
            <a:picLocks noChangeAspect="1"/>
          </p:cNvPicPr>
          <p:nvPr/>
        </p:nvPicPr>
        <p:blipFill rotWithShape="1">
          <a:blip r:embed="rId4"/>
          <a:stretch>
            <a:fillRect/>
          </a:stretch>
        </p:blipFill>
        <p:spPr>
          <a:xfrm>
            <a:off x="9291116" y="2867485"/>
            <a:ext cx="3606233" cy="2865030"/>
          </a:xfrm>
          <a:prstGeom prst="roundRect">
            <a:avLst>
              <a:gd name="adj" fmla="val 3000"/>
            </a:avLst>
          </a:prstGeom>
          <a:ln w="12700">
            <a:solidFill>
              <a:schemeClr val="accent2"/>
            </a:solidFill>
          </a:ln>
        </p:spPr>
      </p:pic>
      <p:sp>
        <p:nvSpPr>
          <p:cNvPr id="33" name="FAQ 개별 정보 설명"/>
          <p:cNvSpPr txBox="1"/>
          <p:nvPr/>
        </p:nvSpPr>
        <p:spPr>
          <a:xfrm>
            <a:off x="9291116"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 ID로 상세 정보와 사용량 추이 조회</a:t>
            </a:r>
          </a:p>
          <a:p>
            <a:pPr marL="200000" lvl="0" indent="-200000" algn="l">
              <a:spcAft>
                <a:spcPts val="600"/>
              </a:spcAft>
              <a:buChar char="•"/>
              <a:defRPr/>
            </a:pPr>
            <a:r>
              <a:rPr sz="1200" b="0">
                <a:solidFill>
                  <a:schemeClr val="tx1"/>
                </a:solidFill>
              </a:rPr>
              <a:t>함께 등장한 FAQ Top 5 확인</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개선이 필요한 FAQ</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검색 품질 · 활용도 · 중복 가능성이 있는 FAQ를 찾아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25</a:t>
            </a:r>
            <a:endParaRPr sz="1300" b="0">
              <a:solidFill>
                <a:schemeClr val="accent3"/>
              </a:solidFill>
            </a:endParaRPr>
          </a:p>
        </p:txBody>
      </p:sp>
      <p:sp>
        <p:nvSpPr>
          <p:cNvPr id="9" name="이미지 카드"/>
          <p:cNvSpPr/>
          <p:nvPr/>
        </p:nvSpPr>
        <p:spPr>
          <a:xfrm>
            <a:off x="628650" y="2050000"/>
            <a:ext cx="4900000"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그림 22"/>
          <p:cNvPicPr>
            <a:picLocks noChangeAspect="1"/>
          </p:cNvPicPr>
          <p:nvPr/>
        </p:nvPicPr>
        <p:blipFill rotWithShape="1">
          <a:blip r:embed="rId2"/>
          <a:stretch>
            <a:fillRect/>
          </a:stretch>
        </p:blipFill>
        <p:spPr>
          <a:xfrm>
            <a:off x="845805" y="2230000"/>
            <a:ext cx="4465689" cy="4390000"/>
          </a:xfrm>
          <a:prstGeom prst="roundRect">
            <a:avLst>
              <a:gd name="adj" fmla="val 3000"/>
            </a:avLst>
          </a:prstGeom>
          <a:ln w="12700">
            <a:solidFill>
              <a:schemeClr val="accent2"/>
            </a:solidFill>
          </a:ln>
        </p:spPr>
      </p:pic>
      <p:sp>
        <p:nvSpPr>
          <p:cNvPr id="24" name="화면 번호 1"/>
          <p:cNvSpPr/>
          <p:nvPr/>
        </p:nvSpPr>
        <p:spPr>
          <a:xfrm>
            <a:off x="3163563" y="2630287"/>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1</a:t>
            </a:r>
          </a:p>
        </p:txBody>
      </p:sp>
      <p:sp>
        <p:nvSpPr>
          <p:cNvPr id="25" name="화면 번호 2"/>
          <p:cNvSpPr/>
          <p:nvPr/>
        </p:nvSpPr>
        <p:spPr>
          <a:xfrm>
            <a:off x="590116" y="3311494"/>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2</a:t>
            </a:r>
          </a:p>
        </p:txBody>
      </p:sp>
      <p:sp>
        <p:nvSpPr>
          <p:cNvPr id="26" name="화면 번호 3"/>
          <p:cNvSpPr/>
          <p:nvPr/>
        </p:nvSpPr>
        <p:spPr>
          <a:xfrm>
            <a:off x="590116" y="532988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3</a:t>
            </a:r>
          </a:p>
        </p:txBody>
      </p:sp>
      <p:sp>
        <p:nvSpPr>
          <p:cNvPr id="27" name="화면 번호 4"/>
          <p:cNvSpPr/>
          <p:nvPr/>
        </p:nvSpPr>
        <p:spPr>
          <a:xfrm>
            <a:off x="5219798" y="418192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4</a:t>
            </a:r>
          </a:p>
        </p:txBody>
      </p:sp>
      <p:sp>
        <p:nvSpPr>
          <p:cNvPr id="28" name="개선 유형 필터 카드"/>
          <p:cNvSpPr/>
          <p:nvPr/>
        </p:nvSpPr>
        <p:spPr>
          <a:xfrm>
            <a:off x="5878650" y="205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개선 유형 필터 번호"/>
          <p:cNvSpPr/>
          <p:nvPr/>
        </p:nvSpPr>
        <p:spPr>
          <a:xfrm>
            <a:off x="6068650" y="237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1</a:t>
            </a:r>
          </a:p>
        </p:txBody>
      </p:sp>
      <p:sp>
        <p:nvSpPr>
          <p:cNvPr id="31" name="개선 유형 필터 제목"/>
          <p:cNvSpPr txBox="1"/>
          <p:nvPr/>
        </p:nvSpPr>
        <p:spPr>
          <a:xfrm>
            <a:off x="6738650" y="2160000"/>
            <a:ext cx="6148700" cy="340000"/>
          </a:xfrm>
          <a:prstGeom prst="rect">
            <a:avLst/>
          </a:prstGeom>
          <a:noFill/>
        </p:spPr>
        <p:txBody>
          <a:bodyPr wrap="square" lIns="0" tIns="0" rIns="0" bIns="0" anchor="ctr">
            <a:spAutoFit/>
          </a:bodyPr>
          <a:lstStyle/>
          <a:p>
            <a:pPr algn="l"/>
            <a:r>
              <a:rPr sz="1700" b="1">
                <a:solidFill>
                  <a:schemeClr val="tx2"/>
                </a:solidFill>
              </a:rPr>
              <a:t>개선 유형 필터</a:t>
            </a:r>
          </a:p>
        </p:txBody>
      </p:sp>
      <p:sp>
        <p:nvSpPr>
          <p:cNvPr id="32" name="개선 유형 필터 설명"/>
          <p:cNvSpPr txBox="1"/>
          <p:nvPr/>
        </p:nvSpPr>
        <p:spPr>
          <a:xfrm>
            <a:off x="6738650" y="2520000"/>
            <a:ext cx="6148700" cy="530000"/>
          </a:xfrm>
          <a:prstGeom prst="rect">
            <a:avLst/>
          </a:prstGeom>
          <a:noFill/>
        </p:spPr>
        <p:txBody>
          <a:bodyPr wrap="square" lIns="0" tIns="0" rIns="0" bIns="0" anchor="t">
            <a:spAutoFit/>
          </a:bodyPr>
          <a:lstStyle/>
          <a:p>
            <a:pPr algn="l"/>
            <a:r>
              <a:rPr sz="1250" b="0">
                <a:solidFill>
                  <a:schemeClr val="tx1"/>
                </a:solidFill>
              </a:rPr>
              <a:t>검색품질↓ · 활용도↓ · 중복의심 중에서 선택하고, 여러 유형을 고르면 모두 해당하는 FAQ를 보여줍니다.</a:t>
            </a:r>
          </a:p>
        </p:txBody>
      </p:sp>
      <p:sp>
        <p:nvSpPr>
          <p:cNvPr id="33" name="개선 필요 FAQ 목록 카드"/>
          <p:cNvSpPr/>
          <p:nvPr/>
        </p:nvSpPr>
        <p:spPr>
          <a:xfrm>
            <a:off x="5878650" y="327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개선 필요 FAQ 목록 번호"/>
          <p:cNvSpPr/>
          <p:nvPr/>
        </p:nvSpPr>
        <p:spPr>
          <a:xfrm>
            <a:off x="6068650" y="359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2</a:t>
            </a:r>
          </a:p>
        </p:txBody>
      </p:sp>
      <p:sp>
        <p:nvSpPr>
          <p:cNvPr id="36" name="개선 필요 FAQ 목록 제목"/>
          <p:cNvSpPr txBox="1"/>
          <p:nvPr/>
        </p:nvSpPr>
        <p:spPr>
          <a:xfrm>
            <a:off x="6738650" y="3380000"/>
            <a:ext cx="6148700" cy="340000"/>
          </a:xfrm>
          <a:prstGeom prst="rect">
            <a:avLst/>
          </a:prstGeom>
          <a:noFill/>
        </p:spPr>
        <p:txBody>
          <a:bodyPr wrap="square" lIns="0" tIns="0" rIns="0" bIns="0" anchor="ctr">
            <a:spAutoFit/>
          </a:bodyPr>
          <a:lstStyle/>
          <a:p>
            <a:pPr algn="l"/>
            <a:r>
              <a:rPr sz="1700" b="1">
                <a:solidFill>
                  <a:schemeClr val="tx2"/>
                </a:solidFill>
              </a:rPr>
              <a:t>개선 필요 FAQ 목록</a:t>
            </a:r>
          </a:p>
        </p:txBody>
      </p:sp>
      <p:sp>
        <p:nvSpPr>
          <p:cNvPr id="37" name="개선 필요 FAQ 목록 설명"/>
          <p:cNvSpPr txBox="1"/>
          <p:nvPr/>
        </p:nvSpPr>
        <p:spPr>
          <a:xfrm>
            <a:off x="6738650" y="3740000"/>
            <a:ext cx="6148700" cy="530000"/>
          </a:xfrm>
          <a:prstGeom prst="rect">
            <a:avLst/>
          </a:prstGeom>
          <a:noFill/>
        </p:spPr>
        <p:txBody>
          <a:bodyPr wrap="square" lIns="0" tIns="0" rIns="0" bIns="0" anchor="t">
            <a:spAutoFit/>
          </a:bodyPr>
          <a:lstStyle/>
          <a:p>
            <a:pPr algn="l"/>
            <a:r>
              <a:rPr sz="1250" b="0">
                <a:solidFill>
                  <a:schemeClr val="tx1"/>
                </a:solidFill>
              </a:rPr>
              <a:t>FAQ별 의도 · 버전 · 개선 유형을 태그로 표시하고, 행을 클릭하면 아래에서 상세 지표를 확인합니다.</a:t>
            </a:r>
          </a:p>
        </p:txBody>
      </p:sp>
      <p:sp>
        <p:nvSpPr>
          <p:cNvPr id="38" name="추가 정보 카드"/>
          <p:cNvSpPr/>
          <p:nvPr/>
        </p:nvSpPr>
        <p:spPr>
          <a:xfrm>
            <a:off x="5878650" y="449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추가 정보 번호"/>
          <p:cNvSpPr/>
          <p:nvPr/>
        </p:nvSpPr>
        <p:spPr>
          <a:xfrm>
            <a:off x="6068650" y="481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3</a:t>
            </a:r>
          </a:p>
        </p:txBody>
      </p:sp>
      <p:sp>
        <p:nvSpPr>
          <p:cNvPr id="41" name="추가 정보 제목"/>
          <p:cNvSpPr txBox="1"/>
          <p:nvPr/>
        </p:nvSpPr>
        <p:spPr>
          <a:xfrm>
            <a:off x="6738650" y="4600000"/>
            <a:ext cx="6148700" cy="340000"/>
          </a:xfrm>
          <a:prstGeom prst="rect">
            <a:avLst/>
          </a:prstGeom>
          <a:noFill/>
        </p:spPr>
        <p:txBody>
          <a:bodyPr wrap="square" lIns="0" tIns="0" rIns="0" bIns="0" anchor="ctr">
            <a:spAutoFit/>
          </a:bodyPr>
          <a:lstStyle/>
          <a:p>
            <a:pPr algn="l"/>
            <a:r>
              <a:rPr sz="1700" b="1">
                <a:solidFill>
                  <a:schemeClr val="tx2"/>
                </a:solidFill>
              </a:rPr>
              <a:t>추가 정보</a:t>
            </a:r>
          </a:p>
        </p:txBody>
      </p:sp>
      <p:sp>
        <p:nvSpPr>
          <p:cNvPr id="42" name="추가 정보 설명"/>
          <p:cNvSpPr txBox="1"/>
          <p:nvPr/>
        </p:nvSpPr>
        <p:spPr>
          <a:xfrm>
            <a:off x="6738650" y="4960000"/>
            <a:ext cx="6148700" cy="530000"/>
          </a:xfrm>
          <a:prstGeom prst="rect">
            <a:avLst/>
          </a:prstGeom>
          <a:noFill/>
        </p:spPr>
        <p:txBody>
          <a:bodyPr wrap="square" lIns="0" tIns="0" rIns="0" bIns="0" anchor="t">
            <a:spAutoFit/>
          </a:bodyPr>
          <a:lstStyle/>
          <a:p>
            <a:pPr algn="l"/>
            <a:r>
              <a:rPr sz="1250" b="0">
                <a:solidFill>
                  <a:schemeClr val="tx1"/>
                </a:solidFill>
              </a:rPr>
              <a:t>선택한 FAQ의 Top-K 포함 횟수 · 평균 Similarity · Gap 같은 검색·사용 지표와 중복 의심 FAQ 목록(중복 비율)을 제공합니다.</a:t>
            </a:r>
          </a:p>
        </p:txBody>
      </p:sp>
      <p:sp>
        <p:nvSpPr>
          <p:cNvPr id="43" name="조치 카드"/>
          <p:cNvSpPr/>
          <p:nvPr/>
        </p:nvSpPr>
        <p:spPr>
          <a:xfrm>
            <a:off x="5878650" y="571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조치 번호"/>
          <p:cNvSpPr/>
          <p:nvPr/>
        </p:nvSpPr>
        <p:spPr>
          <a:xfrm>
            <a:off x="6068650" y="603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4</a:t>
            </a:r>
          </a:p>
        </p:txBody>
      </p:sp>
      <p:sp>
        <p:nvSpPr>
          <p:cNvPr id="46" name="조치 제목"/>
          <p:cNvSpPr txBox="1"/>
          <p:nvPr/>
        </p:nvSpPr>
        <p:spPr>
          <a:xfrm>
            <a:off x="6738650" y="5820000"/>
            <a:ext cx="6148700" cy="340000"/>
          </a:xfrm>
          <a:prstGeom prst="rect">
            <a:avLst/>
          </a:prstGeom>
          <a:noFill/>
        </p:spPr>
        <p:txBody>
          <a:bodyPr wrap="square" lIns="0" tIns="0" rIns="0" bIns="0" anchor="ctr">
            <a:spAutoFit/>
          </a:bodyPr>
          <a:lstStyle/>
          <a:p>
            <a:pPr algn="l"/>
            <a:r>
              <a:rPr sz="1700" b="1">
                <a:solidFill>
                  <a:schemeClr val="tx2"/>
                </a:solidFill>
              </a:rPr>
              <a:t>조치</a:t>
            </a:r>
          </a:p>
        </p:txBody>
      </p:sp>
      <p:sp>
        <p:nvSpPr>
          <p:cNvPr id="47" name="조치 설명"/>
          <p:cNvSpPr txBox="1"/>
          <p:nvPr/>
        </p:nvSpPr>
        <p:spPr>
          <a:xfrm>
            <a:off x="6738650" y="6180000"/>
            <a:ext cx="6148700" cy="530000"/>
          </a:xfrm>
          <a:prstGeom prst="rect">
            <a:avLst/>
          </a:prstGeom>
          <a:noFill/>
        </p:spPr>
        <p:txBody>
          <a:bodyPr wrap="square" lIns="0" tIns="0" rIns="0" bIns="0" anchor="t">
            <a:spAutoFit/>
          </a:bodyPr>
          <a:lstStyle/>
          <a:p>
            <a:pPr algn="l"/>
            <a:r>
              <a:rPr sz="1250" b="0">
                <a:solidFill>
                  <a:schemeClr val="tx1"/>
                </a:solidFill>
              </a:rPr>
              <a:t>개선 대상에서 제외하거나, AI 검토를 실행해 판단 근거를 확인합니다.</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FAQ AI 검토</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중복 의심 FAQ를 AI가 판정하고, 근거와 함께 권고사항을 제시합니다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26</a:t>
            </a:r>
            <a:endParaRPr sz="1300" b="0">
              <a:solidFill>
                <a:schemeClr val="accent3"/>
              </a:solidFill>
            </a:endParaRPr>
          </a:p>
        </p:txBody>
      </p:sp>
      <p:pic>
        <p:nvPicPr>
          <p:cNvPr id="24" name="그림 23"/>
          <p:cNvPicPr>
            <a:picLocks noChangeAspect="1"/>
          </p:cNvPicPr>
          <p:nvPr/>
        </p:nvPicPr>
        <p:blipFill rotWithShape="1">
          <a:blip r:embed="rId2"/>
          <a:stretch>
            <a:fillRect/>
          </a:stretch>
        </p:blipFill>
        <p:spPr>
          <a:xfrm>
            <a:off x="2103983" y="2480000"/>
            <a:ext cx="4968220"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pic>
        <p:nvPicPr>
          <p:cNvPr id="25" name="그림 24"/>
          <p:cNvPicPr>
            <a:picLocks noChangeAspect="1"/>
          </p:cNvPicPr>
          <p:nvPr/>
        </p:nvPicPr>
        <p:blipFill rotWithShape="1">
          <a:blip r:embed="rId3"/>
          <a:stretch>
            <a:fillRect/>
          </a:stretch>
        </p:blipFill>
        <p:spPr>
          <a:xfrm>
            <a:off x="7872203" y="2480000"/>
            <a:ext cx="3739814"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2303983" y="2000000"/>
            <a:ext cx="15452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AI 검토 결과</a:t>
            </a:r>
          </a:p>
        </p:txBody>
      </p:sp>
      <p:sp>
        <p:nvSpPr>
          <p:cNvPr id="27" name="캡션 번호 1"/>
          <p:cNvSpPr/>
          <p:nvPr/>
        </p:nvSpPr>
        <p:spPr>
          <a:xfrm>
            <a:off x="210398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캡션 2"/>
          <p:cNvSpPr/>
          <p:nvPr/>
        </p:nvSpPr>
        <p:spPr>
          <a:xfrm>
            <a:off x="8072203" y="2000000"/>
            <a:ext cx="21853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세부사항 · 판정 근거</a:t>
            </a:r>
          </a:p>
        </p:txBody>
      </p:sp>
      <p:sp>
        <p:nvSpPr>
          <p:cNvPr id="29" name="캡션 번호 2"/>
          <p:cNvSpPr/>
          <p:nvPr/>
        </p:nvSpPr>
        <p:spPr>
          <a:xfrm>
            <a:off x="787220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0" name="단계 화살표"/>
          <p:cNvSpPr/>
          <p:nvPr/>
        </p:nvSpPr>
        <p:spPr>
          <a:xfrm>
            <a:off x="7212203" y="4000000"/>
            <a:ext cx="520000" cy="46000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검토 결과 설명"/>
          <p:cNvSpPr txBox="1"/>
          <p:nvPr/>
        </p:nvSpPr>
        <p:spPr>
          <a:xfrm>
            <a:off x="2103983" y="6180000"/>
            <a:ext cx="4968220"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대상 FAQ의 질문·답변과 의심 태그 표시</a:t>
            </a:r>
          </a:p>
          <a:p>
            <a:pPr marL="200000" indent="-200000" algn="l">
              <a:spcAft>
                <a:spcPts val="400"/>
              </a:spcAft>
              <a:buChar char="•"/>
            </a:pPr>
            <a:r>
              <a:rPr sz="1250" b="0">
                <a:solidFill>
                  <a:schemeClr val="tx1"/>
                </a:solidFill>
              </a:rPr>
              <a:t>후보 FAQ별 중복/별개 판정과 권고사항 제시</a:t>
            </a:r>
          </a:p>
          <a:p>
            <a:pPr marL="200000" indent="-200000" algn="l">
              <a:spcAft>
                <a:spcPts val="400"/>
              </a:spcAft>
              <a:buChar char="•"/>
            </a:pPr>
            <a:r>
              <a:rPr sz="1250" b="0">
                <a:solidFill>
                  <a:schemeClr val="tx1"/>
                </a:solidFill>
              </a:rPr>
              <a:t>'다시 검토'로 재실행 가능</a:t>
            </a:r>
          </a:p>
        </p:txBody>
      </p:sp>
      <p:sp>
        <p:nvSpPr>
          <p:cNvPr id="32" name="세부사항 설명"/>
          <p:cNvSpPr txBox="1"/>
          <p:nvPr/>
        </p:nvSpPr>
        <p:spPr>
          <a:xfrm>
            <a:off x="7872203" y="6180000"/>
            <a:ext cx="3739814"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후보 FAQ의 질문·답변 확인</a:t>
            </a:r>
          </a:p>
          <a:p>
            <a:pPr marL="200000" indent="-200000" algn="l">
              <a:spcAft>
                <a:spcPts val="400"/>
              </a:spcAft>
              <a:buChar char="•"/>
            </a:pPr>
            <a:r>
              <a:rPr sz="1250" b="0">
                <a:solidFill>
                  <a:schemeClr val="tx1"/>
                </a:solidFill>
              </a:rPr>
              <a:t>함께 검색된 유저 질문으로 근거 확인</a:t>
            </a:r>
          </a:p>
          <a:p>
            <a:pPr marL="200000" indent="-200000" algn="l">
              <a:spcAft>
                <a:spcPts val="400"/>
              </a:spcAft>
              <a:buChar char="•"/>
            </a:pPr>
            <a:r>
              <a:rPr sz="1250" b="0">
                <a:solidFill>
                  <a:schemeClr val="tx1"/>
                </a:solidFill>
              </a:rPr>
              <a:t>판정 결과와 판단 근거 제시</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금지어 · 금지 문장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27</a:t>
            </a:r>
            <a:endParaRPr sz="1300" b="0">
              <a:solidFill>
                <a:schemeClr val="accent3"/>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미응답 질문 클러스터링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답하지 못한 질문을 비슷한 것끼리 묶어, 관리자가 FAQ 후보를 한눈에 확인합니다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28</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미응답 질문 수집</a:t>
            </a:r>
          </a:p>
        </p:txBody>
      </p:sp>
      <p:sp>
        <p:nvSpPr>
          <p:cNvPr id="10" name="흐름 화살표 1"/>
          <p:cNvSpPr/>
          <p:nvPr/>
        </p:nvSpPr>
        <p:spPr>
          <a:xfrm>
            <a:off x="3538433"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흐름 2"/>
          <p:cNvSpPr/>
          <p:nvPr/>
        </p:nvSpPr>
        <p:spPr>
          <a:xfrm>
            <a:off x="3848216"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유사 질문 클러스터링</a:t>
            </a:r>
          </a:p>
        </p:txBody>
      </p:sp>
      <p:sp>
        <p:nvSpPr>
          <p:cNvPr id="12" name="흐름 화살표 2"/>
          <p:cNvSpPr/>
          <p:nvPr/>
        </p:nvSpPr>
        <p:spPr>
          <a:xfrm>
            <a:off x="6757999"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흐름 3"/>
          <p:cNvSpPr/>
          <p:nvPr/>
        </p:nvSpPr>
        <p:spPr>
          <a:xfrm>
            <a:off x="7067782"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묶음 확인</a:t>
            </a:r>
          </a:p>
        </p:txBody>
      </p:sp>
      <p:sp>
        <p:nvSpPr>
          <p:cNvPr id="14" name="흐름 화살표 3"/>
          <p:cNvSpPr/>
          <p:nvPr/>
        </p:nvSpPr>
        <p:spPr>
          <a:xfrm>
            <a:off x="9977565"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흐름 4"/>
          <p:cNvSpPr/>
          <p:nvPr/>
        </p:nvSpPr>
        <p:spPr>
          <a:xfrm>
            <a:off x="10287348"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FAQ 등록 · 유사표현 생성</a:t>
            </a:r>
          </a:p>
        </p:txBody>
      </p:sp>
      <p:pic>
        <p:nvPicPr>
          <p:cNvPr id="16" name="Picture 15" descr="image.png"/>
          <p:cNvPicPr>
            <a:picLocks noChangeAspect="1"/>
          </p:cNvPicPr>
          <p:nvPr/>
        </p:nvPicPr>
        <p:blipFill>
          <a:blip r:embed="rId2"/>
          <a:stretch>
            <a:fillRect/>
          </a:stretch>
        </p:blipFill>
        <p:spPr>
          <a:xfrm>
            <a:off x="628650" y="3046183"/>
            <a:ext cx="7899999" cy="3207633"/>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대표 질문 · 주제 카드"/>
          <p:cNvSpPr/>
          <p:nvPr/>
        </p:nvSpPr>
        <p:spPr>
          <a:xfrm>
            <a:off x="8828650" y="28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대표 질문 · 주제 번호"/>
          <p:cNvSpPr/>
          <p:nvPr/>
        </p:nvSpPr>
        <p:spPr>
          <a:xfrm>
            <a:off x="8998650" y="30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1</a:t>
            </a:r>
          </a:p>
        </p:txBody>
      </p:sp>
      <p:sp>
        <p:nvSpPr>
          <p:cNvPr id="20" name="대표 질문 · 주제 제목"/>
          <p:cNvSpPr txBox="1"/>
          <p:nvPr/>
        </p:nvSpPr>
        <p:spPr>
          <a:xfrm>
            <a:off x="9568650" y="2890000"/>
            <a:ext cx="3368700" cy="300000"/>
          </a:xfrm>
          <a:prstGeom prst="rect">
            <a:avLst/>
          </a:prstGeom>
          <a:noFill/>
        </p:spPr>
        <p:txBody>
          <a:bodyPr wrap="square" lIns="0" tIns="0" rIns="0" bIns="0" anchor="ctr">
            <a:spAutoFit/>
          </a:bodyPr>
          <a:lstStyle/>
          <a:p>
            <a:pPr algn="l"/>
            <a:r>
              <a:rPr sz="1400" b="1">
                <a:solidFill>
                  <a:schemeClr val="tx2"/>
                </a:solidFill>
              </a:rPr>
              <a:t>대표 질문 · 주제</a:t>
            </a:r>
          </a:p>
        </p:txBody>
      </p:sp>
      <p:sp>
        <p:nvSpPr>
          <p:cNvPr id="21" name="대표 질문 · 주제 설명"/>
          <p:cNvSpPr txBox="1"/>
          <p:nvPr/>
        </p:nvSpPr>
        <p:spPr>
          <a:xfrm>
            <a:off x="9568650" y="3200000"/>
            <a:ext cx="3368700" cy="390000"/>
          </a:xfrm>
          <a:prstGeom prst="rect">
            <a:avLst/>
          </a:prstGeom>
          <a:noFill/>
        </p:spPr>
        <p:txBody>
          <a:bodyPr wrap="square" lIns="0" tIns="0" rIns="0" bIns="0" anchor="t">
            <a:spAutoFit/>
          </a:bodyPr>
          <a:lstStyle/>
          <a:p>
            <a:pPr algn="l"/>
            <a:r>
              <a:rPr sz="1100" b="0">
                <a:solidFill>
                  <a:schemeClr val="tx1"/>
                </a:solidFill>
              </a:rPr>
              <a:t>묶음마다 대표 질문과 주제를 표시하고, 주제는 LLM이 추천합니다.</a:t>
            </a:r>
          </a:p>
        </p:txBody>
      </p:sp>
      <p:sp>
        <p:nvSpPr>
          <p:cNvPr id="22" name="질문 수 · 마지막 발생 카드"/>
          <p:cNvSpPr/>
          <p:nvPr/>
        </p:nvSpPr>
        <p:spPr>
          <a:xfrm>
            <a:off x="8828650" y="37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질문 수 · 마지막 발생 번호"/>
          <p:cNvSpPr/>
          <p:nvPr/>
        </p:nvSpPr>
        <p:spPr>
          <a:xfrm>
            <a:off x="8998650" y="39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2</a:t>
            </a:r>
          </a:p>
        </p:txBody>
      </p:sp>
      <p:sp>
        <p:nvSpPr>
          <p:cNvPr id="25" name="질문 수 · 마지막 발생 제목"/>
          <p:cNvSpPr txBox="1"/>
          <p:nvPr/>
        </p:nvSpPr>
        <p:spPr>
          <a:xfrm>
            <a:off x="9568650" y="3840000"/>
            <a:ext cx="3368700" cy="300000"/>
          </a:xfrm>
          <a:prstGeom prst="rect">
            <a:avLst/>
          </a:prstGeom>
          <a:noFill/>
        </p:spPr>
        <p:txBody>
          <a:bodyPr wrap="square" lIns="0" tIns="0" rIns="0" bIns="0" anchor="ctr">
            <a:spAutoFit/>
          </a:bodyPr>
          <a:lstStyle/>
          <a:p>
            <a:pPr algn="l"/>
            <a:r>
              <a:rPr sz="1400" b="1">
                <a:solidFill>
                  <a:schemeClr val="tx2"/>
                </a:solidFill>
              </a:rPr>
              <a:t>질문 수 · 마지막 발생</a:t>
            </a:r>
          </a:p>
        </p:txBody>
      </p:sp>
      <p:sp>
        <p:nvSpPr>
          <p:cNvPr id="26" name="질문 수 · 마지막 발생 설명"/>
          <p:cNvSpPr txBox="1"/>
          <p:nvPr/>
        </p:nvSpPr>
        <p:spPr>
          <a:xfrm>
            <a:off x="9568650" y="4150000"/>
            <a:ext cx="3368700" cy="390000"/>
          </a:xfrm>
          <a:prstGeom prst="rect">
            <a:avLst/>
          </a:prstGeom>
          <a:noFill/>
        </p:spPr>
        <p:txBody>
          <a:bodyPr wrap="square" lIns="0" tIns="0" rIns="0" bIns="0" anchor="t">
            <a:spAutoFit/>
          </a:bodyPr>
          <a:lstStyle/>
          <a:p>
            <a:pPr algn="l"/>
            <a:r>
              <a:rPr sz="1100" b="0">
                <a:solidFill>
                  <a:schemeClr val="tx1"/>
                </a:solidFill>
              </a:rPr>
              <a:t>자주 나오는 묶음을 질문 수와 최근 발생 시각으로 파악합니다.</a:t>
            </a:r>
          </a:p>
        </p:txBody>
      </p:sp>
      <p:sp>
        <p:nvSpPr>
          <p:cNvPr id="27" name="목록 필터 카드"/>
          <p:cNvSpPr/>
          <p:nvPr/>
        </p:nvSpPr>
        <p:spPr>
          <a:xfrm>
            <a:off x="8828650" y="47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목록 필터 번호"/>
          <p:cNvSpPr/>
          <p:nvPr/>
        </p:nvSpPr>
        <p:spPr>
          <a:xfrm>
            <a:off x="8998650" y="49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3</a:t>
            </a:r>
          </a:p>
        </p:txBody>
      </p:sp>
      <p:sp>
        <p:nvSpPr>
          <p:cNvPr id="30" name="목록 필터 제목"/>
          <p:cNvSpPr txBox="1"/>
          <p:nvPr/>
        </p:nvSpPr>
        <p:spPr>
          <a:xfrm>
            <a:off x="9568650" y="4790000"/>
            <a:ext cx="3368700" cy="300000"/>
          </a:xfrm>
          <a:prstGeom prst="rect">
            <a:avLst/>
          </a:prstGeom>
          <a:noFill/>
        </p:spPr>
        <p:txBody>
          <a:bodyPr wrap="square" lIns="0" tIns="0" rIns="0" bIns="0" anchor="ctr">
            <a:spAutoFit/>
          </a:bodyPr>
          <a:lstStyle/>
          <a:p>
            <a:pPr algn="l"/>
            <a:r>
              <a:rPr sz="1400" b="1">
                <a:solidFill>
                  <a:schemeClr val="tx2"/>
                </a:solidFill>
              </a:rPr>
              <a:t>목록 필터</a:t>
            </a:r>
          </a:p>
        </p:txBody>
      </p:sp>
      <p:sp>
        <p:nvSpPr>
          <p:cNvPr id="31" name="목록 필터 설명"/>
          <p:cNvSpPr txBox="1"/>
          <p:nvPr/>
        </p:nvSpPr>
        <p:spPr>
          <a:xfrm>
            <a:off x="9568650" y="5100000"/>
            <a:ext cx="3368700" cy="390000"/>
          </a:xfrm>
          <a:prstGeom prst="rect">
            <a:avLst/>
          </a:prstGeom>
          <a:noFill/>
        </p:spPr>
        <p:txBody>
          <a:bodyPr wrap="square" lIns="0" tIns="0" rIns="0" bIns="0" anchor="t">
            <a:spAutoFit/>
          </a:bodyPr>
          <a:lstStyle/>
          <a:p>
            <a:pPr algn="l"/>
            <a:r>
              <a:rPr sz="1100" b="0">
                <a:solidFill>
                  <a:schemeClr val="tx1"/>
                </a:solidFill>
              </a:rPr>
              <a:t>상태 · 질문 수 · 정렬 · 페이지당 개수로 목록을 좁혀서 봅니다.</a:t>
            </a:r>
          </a:p>
        </p:txBody>
      </p:sp>
      <p:sp>
        <p:nvSpPr>
          <p:cNvPr id="32" name="처리 카드"/>
          <p:cNvSpPr/>
          <p:nvPr/>
        </p:nvSpPr>
        <p:spPr>
          <a:xfrm>
            <a:off x="8828650" y="56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처리 번호"/>
          <p:cNvSpPr/>
          <p:nvPr/>
        </p:nvSpPr>
        <p:spPr>
          <a:xfrm>
            <a:off x="8998650" y="58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4</a:t>
            </a:r>
          </a:p>
        </p:txBody>
      </p:sp>
      <p:sp>
        <p:nvSpPr>
          <p:cNvPr id="35" name="처리 제목"/>
          <p:cNvSpPr txBox="1"/>
          <p:nvPr/>
        </p:nvSpPr>
        <p:spPr>
          <a:xfrm>
            <a:off x="9568650" y="5740000"/>
            <a:ext cx="3368700" cy="300000"/>
          </a:xfrm>
          <a:prstGeom prst="rect">
            <a:avLst/>
          </a:prstGeom>
          <a:noFill/>
        </p:spPr>
        <p:txBody>
          <a:bodyPr wrap="square" lIns="0" tIns="0" rIns="0" bIns="0" anchor="ctr">
            <a:spAutoFit/>
          </a:bodyPr>
          <a:lstStyle/>
          <a:p>
            <a:pPr algn="l"/>
            <a:r>
              <a:rPr sz="1400" b="1">
                <a:solidFill>
                  <a:schemeClr val="tx2"/>
                </a:solidFill>
              </a:rPr>
              <a:t>처리</a:t>
            </a:r>
          </a:p>
        </p:txBody>
      </p:sp>
      <p:sp>
        <p:nvSpPr>
          <p:cNvPr id="36" name="처리 설명"/>
          <p:cNvSpPr txBox="1"/>
          <p:nvPr/>
        </p:nvSpPr>
        <p:spPr>
          <a:xfrm>
            <a:off x="9568650" y="6050000"/>
            <a:ext cx="3368700" cy="390000"/>
          </a:xfrm>
          <a:prstGeom prst="rect">
            <a:avLst/>
          </a:prstGeom>
          <a:noFill/>
        </p:spPr>
        <p:txBody>
          <a:bodyPr wrap="square" lIns="0" tIns="0" rIns="0" bIns="0" anchor="t">
            <a:spAutoFit/>
          </a:bodyPr>
          <a:lstStyle/>
          <a:p>
            <a:pPr algn="l"/>
            <a:r>
              <a:rPr sz="1100" b="0">
                <a:solidFill>
                  <a:schemeClr val="tx1"/>
                </a:solidFill>
              </a:rPr>
              <a:t>[처리] 버튼으로 묶음 상세를 열어 FAQ 등록 · 보류 · 반려를 결정합니다.</a:t>
            </a:r>
          </a:p>
        </p:txBody>
      </p:sp>
      <p:sp>
        <p:nvSpPr>
          <p:cNvPr id="37" name="화면 번호 1"/>
          <p:cNvSpPr/>
          <p:nvPr/>
        </p:nvSpPr>
        <p:spPr>
          <a:xfrm>
            <a:off x="955250"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1</a:t>
            </a:r>
          </a:p>
        </p:txBody>
      </p:sp>
      <p:sp>
        <p:nvSpPr>
          <p:cNvPr id="38" name="화면 번호 2"/>
          <p:cNvSpPr/>
          <p:nvPr/>
        </p:nvSpPr>
        <p:spPr>
          <a:xfrm>
            <a:off x="4421317"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2</a:t>
            </a:r>
          </a:p>
        </p:txBody>
      </p:sp>
      <p:sp>
        <p:nvSpPr>
          <p:cNvPr id="39" name="화면 번호 3"/>
          <p:cNvSpPr/>
          <p:nvPr/>
        </p:nvSpPr>
        <p:spPr>
          <a:xfrm>
            <a:off x="5110477" y="3600814"/>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3</a:t>
            </a:r>
          </a:p>
        </p:txBody>
      </p:sp>
      <p:sp>
        <p:nvSpPr>
          <p:cNvPr id="40" name="화면 번호 4"/>
          <p:cNvSpPr/>
          <p:nvPr/>
        </p:nvSpPr>
        <p:spPr>
          <a:xfrm>
            <a:off x="7441458"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묶음 확인에서 FAQ 등록까지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묶음을 확인하고, 답변을 작성해 FAQ로 등록하며, 유사표현은 AI로 생성합니다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29</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미응답 질문 수집</a:t>
            </a:r>
          </a:p>
        </p:txBody>
      </p:sp>
      <p:sp>
        <p:nvSpPr>
          <p:cNvPr id="10" name="흐름 화살표 1"/>
          <p:cNvSpPr/>
          <p:nvPr/>
        </p:nvSpPr>
        <p:spPr>
          <a:xfrm>
            <a:off x="3538433"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1" name="흐름 2"/>
          <p:cNvSpPr/>
          <p:nvPr/>
        </p:nvSpPr>
        <p:spPr>
          <a:xfrm>
            <a:off x="3848216"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유사 질문 클러스터링</a:t>
            </a:r>
          </a:p>
        </p:txBody>
      </p:sp>
      <p:sp>
        <p:nvSpPr>
          <p:cNvPr id="12" name="흐름 화살표 2"/>
          <p:cNvSpPr/>
          <p:nvPr/>
        </p:nvSpPr>
        <p:spPr>
          <a:xfrm>
            <a:off x="6757999"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흐름 3"/>
          <p:cNvSpPr/>
          <p:nvPr/>
        </p:nvSpPr>
        <p:spPr>
          <a:xfrm>
            <a:off x="7067782"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묶음 확인</a:t>
            </a:r>
          </a:p>
        </p:txBody>
      </p:sp>
      <p:sp>
        <p:nvSpPr>
          <p:cNvPr id="14" name="흐름 화살표 3"/>
          <p:cNvSpPr/>
          <p:nvPr/>
        </p:nvSpPr>
        <p:spPr>
          <a:xfrm>
            <a:off x="9977565"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흐름 4"/>
          <p:cNvSpPr/>
          <p:nvPr/>
        </p:nvSpPr>
        <p:spPr>
          <a:xfrm>
            <a:off x="10287348"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FAQ 등록 · 유사표현 생성</a:t>
            </a:r>
          </a:p>
        </p:txBody>
      </p:sp>
      <p:sp>
        <p:nvSpPr>
          <p:cNvPr id="16" name="묶음 확인 틀"/>
          <p:cNvSpPr/>
          <p:nvPr/>
        </p:nvSpPr>
        <p:spPr>
          <a:xfrm>
            <a:off x="6286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FAQ 등록 틀"/>
          <p:cNvSpPr/>
          <p:nvPr/>
        </p:nvSpPr>
        <p:spPr>
          <a:xfrm>
            <a:off x="498300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8" name="유사표현 AI 생성 틀"/>
          <p:cNvSpPr/>
          <p:nvPr/>
        </p:nvSpPr>
        <p:spPr>
          <a:xfrm>
            <a:off x="93373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19" name="Picture 18" descr="image.png"/>
          <p:cNvPicPr>
            <a:picLocks noChangeAspect="1"/>
          </p:cNvPicPr>
          <p:nvPr/>
        </p:nvPicPr>
        <p:blipFill rotWithShape="1">
          <a:blip r:embed="rId2"/>
          <a:stretch>
            <a:fillRect/>
          </a:stretch>
        </p:blipFill>
        <p:spPr>
          <a:xfrm>
            <a:off x="778650" y="3117016"/>
            <a:ext cx="3450000" cy="3065967"/>
          </a:xfrm>
          <a:prstGeom prst="roundRect">
            <a:avLst>
              <a:gd name="adj" fmla="val 3000"/>
            </a:avLst>
          </a:prstGeom>
          <a:ln w="12700">
            <a:solidFill>
              <a:schemeClr val="accent2"/>
            </a:solidFill>
          </a:ln>
        </p:spPr>
      </p:pic>
      <p:sp>
        <p:nvSpPr>
          <p:cNvPr id="20" name="캡션 1"/>
          <p:cNvSpPr/>
          <p:nvPr/>
        </p:nvSpPr>
        <p:spPr>
          <a:xfrm>
            <a:off x="828650" y="2470000"/>
            <a:ext cx="130343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묶음 확인</a:t>
            </a:r>
          </a:p>
        </p:txBody>
      </p:sp>
      <p:sp>
        <p:nvSpPr>
          <p:cNvPr id="21" name="캡션 번호 1"/>
          <p:cNvSpPr/>
          <p:nvPr/>
        </p:nvSpPr>
        <p:spPr>
          <a:xfrm>
            <a:off x="6286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22" name="묶음 확인 설명"/>
          <p:cNvSpPr txBox="1"/>
          <p:nvPr/>
        </p:nvSpPr>
        <p:spPr>
          <a:xfrm>
            <a:off x="62865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묶음 안의 질문과 최고 유사도 확인</a:t>
            </a:r>
          </a:p>
          <a:p>
            <a:pPr marL="200000" lvl="0" indent="-200000" algn="l">
              <a:spcAft>
                <a:spcPts val="300"/>
              </a:spcAft>
              <a:buChar char="•"/>
              <a:defRPr/>
            </a:pPr>
            <a:r>
              <a:rPr sz="1200" b="0">
                <a:solidFill>
                  <a:schemeClr val="tx1"/>
                </a:solidFill>
              </a:rPr>
              <a:t>FAQ로 등록 · 보류 · 반려 중 선택</a:t>
            </a:r>
          </a:p>
        </p:txBody>
      </p:sp>
      <p:sp>
        <p:nvSpPr>
          <p:cNvPr id="23" name="단계 화살표 1"/>
          <p:cNvSpPr/>
          <p:nvPr/>
        </p:nvSpPr>
        <p:spPr>
          <a:xfrm>
            <a:off x="448082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4" name="Picture 23" descr="image.png"/>
          <p:cNvPicPr>
            <a:picLocks noChangeAspect="1"/>
          </p:cNvPicPr>
          <p:nvPr/>
        </p:nvPicPr>
        <p:blipFill rotWithShape="1">
          <a:blip r:embed="rId3"/>
          <a:srcRect l="8820" r="11060"/>
          <a:stretch>
            <a:fillRect/>
          </a:stretch>
        </p:blipFill>
        <p:spPr>
          <a:xfrm>
            <a:off x="5634893" y="3100000"/>
            <a:ext cx="2446214" cy="3100000"/>
          </a:xfrm>
          <a:prstGeom prst="roundRect">
            <a:avLst>
              <a:gd name="adj" fmla="val 3000"/>
            </a:avLst>
          </a:prstGeom>
          <a:ln w="12700">
            <a:solidFill>
              <a:schemeClr val="accent2"/>
            </a:solidFill>
          </a:ln>
        </p:spPr>
      </p:pic>
      <p:sp>
        <p:nvSpPr>
          <p:cNvPr id="25" name="캡션 2"/>
          <p:cNvSpPr/>
          <p:nvPr/>
        </p:nvSpPr>
        <p:spPr>
          <a:xfrm>
            <a:off x="5183000" y="2470000"/>
            <a:ext cx="1303263"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FAQ 등록</a:t>
            </a:r>
          </a:p>
        </p:txBody>
      </p:sp>
      <p:sp>
        <p:nvSpPr>
          <p:cNvPr id="26" name="캡션 번호 2"/>
          <p:cNvSpPr/>
          <p:nvPr/>
        </p:nvSpPr>
        <p:spPr>
          <a:xfrm>
            <a:off x="498300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27" name="FAQ 등록 설명"/>
          <p:cNvSpPr txBox="1"/>
          <p:nvPr/>
        </p:nvSpPr>
        <p:spPr>
          <a:xfrm>
            <a:off x="498300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카테고리 · Intent · 질문 · 답변 입력</a:t>
            </a:r>
          </a:p>
          <a:p>
            <a:pPr marL="200000" lvl="0" indent="-200000" algn="l">
              <a:spcAft>
                <a:spcPts val="300"/>
              </a:spcAft>
              <a:buChar char="•"/>
              <a:defRPr/>
            </a:pPr>
            <a:r>
              <a:rPr sz="1200" b="0">
                <a:solidFill>
                  <a:schemeClr val="tx1"/>
                </a:solidFill>
              </a:rPr>
              <a:t>답변 캐시 허용 여부 선택</a:t>
            </a:r>
          </a:p>
        </p:txBody>
      </p:sp>
      <p:sp>
        <p:nvSpPr>
          <p:cNvPr id="28" name="단계 화살표 2"/>
          <p:cNvSpPr/>
          <p:nvPr/>
        </p:nvSpPr>
        <p:spPr>
          <a:xfrm>
            <a:off x="883517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9" name="Picture 28" descr="image.png"/>
          <p:cNvPicPr>
            <a:picLocks noChangeAspect="1"/>
          </p:cNvPicPr>
          <p:nvPr/>
        </p:nvPicPr>
        <p:blipFill rotWithShape="1">
          <a:blip r:embed="rId4"/>
          <a:stretch>
            <a:fillRect/>
          </a:stretch>
        </p:blipFill>
        <p:spPr>
          <a:xfrm>
            <a:off x="9487350" y="3472488"/>
            <a:ext cx="3450000" cy="2355023"/>
          </a:xfrm>
          <a:prstGeom prst="roundRect">
            <a:avLst>
              <a:gd name="adj" fmla="val 3000"/>
            </a:avLst>
          </a:prstGeom>
          <a:ln w="12700">
            <a:solidFill>
              <a:schemeClr val="accent2"/>
            </a:solidFill>
          </a:ln>
        </p:spPr>
      </p:pic>
      <p:sp>
        <p:nvSpPr>
          <p:cNvPr id="30" name="캡션 3"/>
          <p:cNvSpPr/>
          <p:nvPr/>
        </p:nvSpPr>
        <p:spPr>
          <a:xfrm>
            <a:off x="9537350" y="2470000"/>
            <a:ext cx="19008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유사표현 AI 생성</a:t>
            </a:r>
          </a:p>
        </p:txBody>
      </p:sp>
      <p:sp>
        <p:nvSpPr>
          <p:cNvPr id="31" name="캡션 번호 3"/>
          <p:cNvSpPr/>
          <p:nvPr/>
        </p:nvSpPr>
        <p:spPr>
          <a:xfrm>
            <a:off x="93373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3</a:t>
            </a:r>
          </a:p>
        </p:txBody>
      </p:sp>
      <p:sp>
        <p:nvSpPr>
          <p:cNvPr id="32" name="유사표현 AI 생성 설명"/>
          <p:cNvSpPr txBox="1"/>
          <p:nvPr/>
        </p:nvSpPr>
        <p:spPr>
          <a:xfrm>
            <a:off x="9337350" y="6460000"/>
            <a:ext cx="3750000" cy="588500"/>
          </a:xfrm>
          <a:prstGeom prst="rect">
            <a:avLst/>
          </a:prstGeom>
          <a:noFill/>
        </p:spPr>
        <p:txBody>
          <a:bodyPr wrap="square" lIns="0" tIns="0" rIns="0" bIns="0" anchor="t">
            <a:spAutoFit/>
          </a:bodyPr>
          <a:lstStyle/>
          <a:p>
            <a:pPr marL="200000" lvl="0" indent="-200000" algn="l">
              <a:spcAft>
                <a:spcPts val="300"/>
              </a:spcAft>
              <a:buChar char="•"/>
              <a:defRPr/>
            </a:pPr>
            <a:r>
              <a:rPr lang="ko-KR" altLang="en-US" sz="1200" b="0">
                <a:solidFill>
                  <a:schemeClr val="tx1"/>
                </a:solidFill>
              </a:rPr>
              <a:t>유사표현 생성 버튼으로 </a:t>
            </a:r>
            <a:r>
              <a:rPr lang="en-US" altLang="ko-KR" sz="1200" b="0">
                <a:solidFill>
                  <a:schemeClr val="tx1"/>
                </a:solidFill>
              </a:rPr>
              <a:t>AI</a:t>
            </a:r>
            <a:r>
              <a:rPr lang="ko-KR" altLang="en-US" sz="1200" b="0">
                <a:solidFill>
                  <a:schemeClr val="tx1"/>
                </a:solidFill>
              </a:rPr>
              <a:t>가 동의어를 사용해 유사표현들을 생성</a:t>
            </a:r>
          </a:p>
          <a:p>
            <a:pPr marL="200000" lvl="0" indent="-200000" algn="l">
              <a:spcAft>
                <a:spcPts val="300"/>
              </a:spcAft>
              <a:buChar char="•"/>
              <a:defRPr/>
            </a:pPr>
            <a:r>
              <a:rPr sz="1200" b="0">
                <a:solidFill>
                  <a:schemeClr val="tx1"/>
                </a:solidFill>
              </a:rPr>
              <a:t>표현은 삭제하거나 직접 추가 (최대 10개)</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통신 지도</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지역별로 짧은 시간에 급증한 유사 질문을 자동으로 찾아 알려줍니다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30</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628650" y="2700000"/>
            <a:ext cx="12458700" cy="2242088"/>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1094703"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3082371"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5666338"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10357234"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지역별 감지 카드"/>
          <p:cNvSpPr/>
          <p:nvPr/>
        </p:nvSpPr>
        <p:spPr>
          <a:xfrm>
            <a:off x="62865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2" name="지역별 감지 번호"/>
          <p:cNvSpPr/>
          <p:nvPr/>
        </p:nvSpPr>
        <p:spPr>
          <a:xfrm>
            <a:off x="81865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3" name="지역별 감지 제목"/>
          <p:cNvSpPr txBox="1"/>
          <p:nvPr/>
        </p:nvSpPr>
        <p:spPr>
          <a:xfrm>
            <a:off x="1328650" y="5350000"/>
            <a:ext cx="2039675" cy="360000"/>
          </a:xfrm>
          <a:prstGeom prst="rect">
            <a:avLst/>
          </a:prstGeom>
          <a:noFill/>
        </p:spPr>
        <p:txBody>
          <a:bodyPr wrap="square" lIns="0" tIns="0" rIns="0" bIns="0" anchor="ctr">
            <a:spAutoFit/>
          </a:bodyPr>
          <a:lstStyle/>
          <a:p>
            <a:pPr lvl="0" algn="l">
              <a:defRPr/>
            </a:pPr>
            <a:r>
              <a:rPr sz="1500" b="1">
                <a:solidFill>
                  <a:schemeClr val="tx2"/>
                </a:solidFill>
              </a:rPr>
              <a:t>지역별 감지</a:t>
            </a:r>
          </a:p>
        </p:txBody>
      </p:sp>
      <p:sp>
        <p:nvSpPr>
          <p:cNvPr id="24" name="지역별 감지 설명"/>
          <p:cNvSpPr txBox="1"/>
          <p:nvPr/>
        </p:nvSpPr>
        <p:spPr>
          <a:xfrm>
            <a:off x="818650" y="5880000"/>
            <a:ext cx="2509675" cy="820000"/>
          </a:xfrm>
          <a:prstGeom prst="rect">
            <a:avLst/>
          </a:prstGeom>
          <a:noFill/>
        </p:spPr>
        <p:txBody>
          <a:bodyPr wrap="square" lIns="0" tIns="0" rIns="0" bIns="0" anchor="t">
            <a:spAutoFit/>
          </a:bodyPr>
          <a:lstStyle/>
          <a:p>
            <a:pPr lvl="0" algn="l">
              <a:defRPr/>
            </a:pPr>
            <a:r>
              <a:rPr sz="1200" b="0">
                <a:solidFill>
                  <a:schemeClr val="tx1"/>
                </a:solidFill>
              </a:rPr>
              <a:t>같은 지역에서 들어온 질문만 모아 비교합니다. 지역은 접속 IP로 판별합니다.</a:t>
            </a:r>
          </a:p>
        </p:txBody>
      </p:sp>
      <p:sp>
        <p:nvSpPr>
          <p:cNvPr id="25" name="급증 주제 자동 생성 카드"/>
          <p:cNvSpPr/>
          <p:nvPr/>
        </p:nvSpPr>
        <p:spPr>
          <a:xfrm>
            <a:off x="381832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6" name="급증 주제 자동 생성 번호"/>
          <p:cNvSpPr/>
          <p:nvPr/>
        </p:nvSpPr>
        <p:spPr>
          <a:xfrm>
            <a:off x="400832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7" name="급증 주제 자동 생성 제목"/>
          <p:cNvSpPr txBox="1"/>
          <p:nvPr/>
        </p:nvSpPr>
        <p:spPr>
          <a:xfrm>
            <a:off x="4518325" y="5350000"/>
            <a:ext cx="2039675" cy="360000"/>
          </a:xfrm>
          <a:prstGeom prst="rect">
            <a:avLst/>
          </a:prstGeom>
          <a:noFill/>
        </p:spPr>
        <p:txBody>
          <a:bodyPr wrap="square" lIns="0" tIns="0" rIns="0" bIns="0" anchor="ctr">
            <a:spAutoFit/>
          </a:bodyPr>
          <a:lstStyle/>
          <a:p>
            <a:pPr lvl="0" algn="l">
              <a:defRPr/>
            </a:pPr>
            <a:r>
              <a:rPr sz="1500" b="1">
                <a:solidFill>
                  <a:schemeClr val="tx2"/>
                </a:solidFill>
              </a:rPr>
              <a:t>급증 주제 자동 생성</a:t>
            </a:r>
          </a:p>
        </p:txBody>
      </p:sp>
      <p:sp>
        <p:nvSpPr>
          <p:cNvPr id="28" name="급증 주제 자동 생성 설명"/>
          <p:cNvSpPr txBox="1"/>
          <p:nvPr/>
        </p:nvSpPr>
        <p:spPr>
          <a:xfrm>
            <a:off x="4008325" y="5880000"/>
            <a:ext cx="2509675" cy="820000"/>
          </a:xfrm>
          <a:prstGeom prst="rect">
            <a:avLst/>
          </a:prstGeom>
          <a:noFill/>
        </p:spPr>
        <p:txBody>
          <a:bodyPr wrap="square" lIns="0" tIns="0" rIns="0" bIns="0" anchor="t">
            <a:spAutoFit/>
          </a:bodyPr>
          <a:lstStyle/>
          <a:p>
            <a:pPr lvl="0" algn="l">
              <a:defRPr/>
            </a:pPr>
            <a:r>
              <a:rPr sz="1200" b="0">
                <a:solidFill>
                  <a:schemeClr val="tx1"/>
                </a:solidFill>
              </a:rPr>
              <a:t>묶음의 질문들을 LLM이 요약해 주제를 만들고, 관리자에게 알림을 보냅니다.</a:t>
            </a:r>
          </a:p>
        </p:txBody>
      </p:sp>
      <p:sp>
        <p:nvSpPr>
          <p:cNvPr id="29" name="유사 질문 묶음 카드"/>
          <p:cNvSpPr/>
          <p:nvPr/>
        </p:nvSpPr>
        <p:spPr>
          <a:xfrm>
            <a:off x="700800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0" name="유사 질문 묶음 번호"/>
          <p:cNvSpPr/>
          <p:nvPr/>
        </p:nvSpPr>
        <p:spPr>
          <a:xfrm>
            <a:off x="719800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1" name="유사 질문 묶음 제목"/>
          <p:cNvSpPr txBox="1"/>
          <p:nvPr/>
        </p:nvSpPr>
        <p:spPr>
          <a:xfrm>
            <a:off x="7708000" y="5350000"/>
            <a:ext cx="2039675" cy="360000"/>
          </a:xfrm>
          <a:prstGeom prst="rect">
            <a:avLst/>
          </a:prstGeom>
          <a:noFill/>
        </p:spPr>
        <p:txBody>
          <a:bodyPr wrap="square" lIns="0" tIns="0" rIns="0" bIns="0" anchor="ctr">
            <a:spAutoFit/>
          </a:bodyPr>
          <a:lstStyle/>
          <a:p>
            <a:pPr lvl="0" algn="l">
              <a:defRPr/>
            </a:pPr>
            <a:r>
              <a:rPr sz="1500" b="1">
                <a:solidFill>
                  <a:schemeClr val="tx2"/>
                </a:solidFill>
              </a:rPr>
              <a:t>유사 질문 묶음</a:t>
            </a:r>
          </a:p>
        </p:txBody>
      </p:sp>
      <p:sp>
        <p:nvSpPr>
          <p:cNvPr id="32" name="유사 질문 묶음 설명"/>
          <p:cNvSpPr txBox="1"/>
          <p:nvPr/>
        </p:nvSpPr>
        <p:spPr>
          <a:xfrm>
            <a:off x="7198000" y="5880000"/>
            <a:ext cx="2509675" cy="820000"/>
          </a:xfrm>
          <a:prstGeom prst="rect">
            <a:avLst/>
          </a:prstGeom>
          <a:noFill/>
        </p:spPr>
        <p:txBody>
          <a:bodyPr wrap="square" lIns="0" tIns="0" rIns="0" bIns="0" anchor="t">
            <a:spAutoFit/>
          </a:bodyPr>
          <a:lstStyle/>
          <a:p>
            <a:pPr lvl="0" algn="l">
              <a:defRPr/>
            </a:pPr>
            <a:r>
              <a:rPr sz="1200" b="0">
                <a:solidFill>
                  <a:schemeClr val="tx1"/>
                </a:solidFill>
              </a:rPr>
              <a:t>비슷한 질문을 한 묶음으로 보고, 일정 시간 안에 정해진 건수를 넘으면 급증으로 판단합니다.</a:t>
            </a:r>
          </a:p>
        </p:txBody>
      </p:sp>
      <p:sp>
        <p:nvSpPr>
          <p:cNvPr id="33" name="처리 상태 관리 카드"/>
          <p:cNvSpPr/>
          <p:nvPr/>
        </p:nvSpPr>
        <p:spPr>
          <a:xfrm>
            <a:off x="1019767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4" name="처리 상태 관리 번호"/>
          <p:cNvSpPr/>
          <p:nvPr/>
        </p:nvSpPr>
        <p:spPr>
          <a:xfrm>
            <a:off x="1038767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5" name="처리 상태 관리 제목"/>
          <p:cNvSpPr txBox="1"/>
          <p:nvPr/>
        </p:nvSpPr>
        <p:spPr>
          <a:xfrm>
            <a:off x="10897675" y="5350000"/>
            <a:ext cx="2039675" cy="360000"/>
          </a:xfrm>
          <a:prstGeom prst="rect">
            <a:avLst/>
          </a:prstGeom>
          <a:noFill/>
        </p:spPr>
        <p:txBody>
          <a:bodyPr wrap="square" lIns="0" tIns="0" rIns="0" bIns="0" anchor="ctr">
            <a:spAutoFit/>
          </a:bodyPr>
          <a:lstStyle/>
          <a:p>
            <a:pPr lvl="0" algn="l">
              <a:defRPr/>
            </a:pPr>
            <a:r>
              <a:rPr sz="1500" b="1">
                <a:solidFill>
                  <a:schemeClr val="tx2"/>
                </a:solidFill>
              </a:rPr>
              <a:t>처리 상태 관리</a:t>
            </a:r>
          </a:p>
        </p:txBody>
      </p:sp>
      <p:sp>
        <p:nvSpPr>
          <p:cNvPr id="36" name="처리 상태 관리 설명"/>
          <p:cNvSpPr txBox="1"/>
          <p:nvPr/>
        </p:nvSpPr>
        <p:spPr>
          <a:xfrm>
            <a:off x="10387675" y="5880000"/>
            <a:ext cx="2509675" cy="820000"/>
          </a:xfrm>
          <a:prstGeom prst="rect">
            <a:avLst/>
          </a:prstGeom>
          <a:noFill/>
        </p:spPr>
        <p:txBody>
          <a:bodyPr wrap="square" lIns="0" tIns="0" rIns="0" bIns="0" anchor="t">
            <a:spAutoFit/>
          </a:bodyPr>
          <a:lstStyle/>
          <a:p>
            <a:pPr lvl="0" algn="l">
              <a:defRPr/>
            </a:pPr>
            <a:r>
              <a:rPr sz="1200" b="0">
                <a:solidFill>
                  <a:schemeClr val="tx1"/>
                </a:solidFill>
              </a:rPr>
              <a:t>미처리 · 처리 완료로 관리하고, 상태와 지역으로 목록을 걸러 봅니다.</a:t>
            </a:r>
          </a:p>
        </p:txBody>
      </p:sp>
      <p:sp>
        <p:nvSpPr>
          <p:cNvPr id="37" name="흐름 1"/>
          <p:cNvSpPr/>
          <p:nvPr/>
        </p:nvSpPr>
        <p:spPr>
          <a:xfrm>
            <a:off x="6286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급증 감지</a:t>
            </a:r>
          </a:p>
        </p:txBody>
      </p:sp>
      <p:sp>
        <p:nvSpPr>
          <p:cNvPr id="38"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40"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공지 · 장애 등록</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급증 내용 확인</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목록에서 묶음을 열어 실제 질문과 발생 시각을 확인하고, 처리를 마칩니다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31</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937172" y="2750000"/>
            <a:ext cx="3682956" cy="390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726477" y="293269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726477" y="3597391"/>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726477" y="492000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4497606" y="618156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급증 요약 카드"/>
          <p:cNvSpPr/>
          <p:nvPr/>
        </p:nvSpPr>
        <p:spPr>
          <a:xfrm>
            <a:off x="5228650" y="270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3" name="급증 요약 번호"/>
          <p:cNvSpPr/>
          <p:nvPr/>
        </p:nvSpPr>
        <p:spPr>
          <a:xfrm>
            <a:off x="5398650" y="297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4" name="급증 요약 제목"/>
          <p:cNvSpPr txBox="1"/>
          <p:nvPr/>
        </p:nvSpPr>
        <p:spPr>
          <a:xfrm>
            <a:off x="5968650" y="2819400"/>
            <a:ext cx="6968700" cy="209550"/>
          </a:xfrm>
          <a:prstGeom prst="rect">
            <a:avLst/>
          </a:prstGeom>
          <a:noFill/>
        </p:spPr>
        <p:txBody>
          <a:bodyPr wrap="square" lIns="0" tIns="0" rIns="0" bIns="0" anchor="ctr">
            <a:spAutoFit/>
          </a:bodyPr>
          <a:lstStyle/>
          <a:p>
            <a:pPr lvl="0" algn="l">
              <a:defRPr/>
            </a:pPr>
            <a:r>
              <a:rPr lang="ko-KR" altLang="en-US" sz="1400" b="1">
                <a:solidFill>
                  <a:schemeClr val="tx2"/>
                </a:solidFill>
              </a:rPr>
              <a:t>급증 클러스터 이름</a:t>
            </a:r>
          </a:p>
        </p:txBody>
      </p:sp>
      <p:sp>
        <p:nvSpPr>
          <p:cNvPr id="25" name="급증 요약 설명"/>
          <p:cNvSpPr txBox="1"/>
          <p:nvPr/>
        </p:nvSpPr>
        <p:spPr>
          <a:xfrm>
            <a:off x="5968650" y="3090000"/>
            <a:ext cx="6968700" cy="177075"/>
          </a:xfrm>
          <a:prstGeom prst="rect">
            <a:avLst/>
          </a:prstGeom>
          <a:noFill/>
        </p:spPr>
        <p:txBody>
          <a:bodyPr wrap="square" lIns="0" tIns="0" rIns="0" bIns="0" anchor="t">
            <a:spAutoFit/>
          </a:bodyPr>
          <a:lstStyle/>
          <a:p>
            <a:pPr lvl="0" algn="l">
              <a:defRPr/>
            </a:pPr>
            <a:r>
              <a:rPr lang="ko-KR" altLang="en-US" sz="1200" b="0">
                <a:solidFill>
                  <a:schemeClr val="tx1"/>
                </a:solidFill>
              </a:rPr>
              <a:t>클러스터 내의 질문들을 확인해</a:t>
            </a:r>
            <a:r>
              <a:rPr lang="en-US" altLang="ko-KR" sz="1200" b="0">
                <a:solidFill>
                  <a:schemeClr val="tx1"/>
                </a:solidFill>
              </a:rPr>
              <a:t>,</a:t>
            </a:r>
            <a:r>
              <a:rPr lang="ko-KR" altLang="en-US" sz="1200" b="0">
                <a:solidFill>
                  <a:schemeClr val="tx1"/>
                </a:solidFill>
              </a:rPr>
              <a:t> </a:t>
            </a:r>
            <a:r>
              <a:rPr lang="en-US" altLang="ko-KR" sz="1200" b="0">
                <a:solidFill>
                  <a:schemeClr val="tx1"/>
                </a:solidFill>
              </a:rPr>
              <a:t>LLM</a:t>
            </a:r>
            <a:r>
              <a:rPr lang="ko-KR" altLang="en-US" sz="1200" b="0">
                <a:solidFill>
                  <a:schemeClr val="tx1"/>
                </a:solidFill>
              </a:rPr>
              <a:t>이 클러스터 이름을 자동으로 명명합니다</a:t>
            </a:r>
            <a:r>
              <a:rPr lang="en-US" altLang="ko-KR" sz="1200" b="0">
                <a:solidFill>
                  <a:schemeClr val="tx1"/>
                </a:solidFill>
              </a:rPr>
              <a:t>.</a:t>
            </a:r>
          </a:p>
        </p:txBody>
      </p:sp>
      <p:sp>
        <p:nvSpPr>
          <p:cNvPr id="26" name="급증 질문 목록 카드"/>
          <p:cNvSpPr/>
          <p:nvPr/>
        </p:nvSpPr>
        <p:spPr>
          <a:xfrm>
            <a:off x="5228650" y="372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8" name="급증 질문 목록 번호"/>
          <p:cNvSpPr/>
          <p:nvPr/>
        </p:nvSpPr>
        <p:spPr>
          <a:xfrm>
            <a:off x="5398650" y="399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9" name="급증 질문 목록 제목"/>
          <p:cNvSpPr txBox="1"/>
          <p:nvPr/>
        </p:nvSpPr>
        <p:spPr>
          <a:xfrm>
            <a:off x="5968650" y="3848100"/>
            <a:ext cx="6968700" cy="209550"/>
          </a:xfrm>
          <a:prstGeom prst="rect">
            <a:avLst/>
          </a:prstGeom>
          <a:noFill/>
        </p:spPr>
        <p:txBody>
          <a:bodyPr wrap="square" lIns="0" tIns="0" rIns="0" bIns="0" anchor="ctr">
            <a:spAutoFit/>
          </a:bodyPr>
          <a:lstStyle/>
          <a:p>
            <a:pPr lvl="0" algn="l">
              <a:defRPr/>
            </a:pPr>
            <a:r>
              <a:rPr sz="1400" b="1">
                <a:solidFill>
                  <a:schemeClr val="tx2"/>
                </a:solidFill>
              </a:rPr>
              <a:t>급증 요약</a:t>
            </a:r>
          </a:p>
        </p:txBody>
      </p:sp>
      <p:sp>
        <p:nvSpPr>
          <p:cNvPr id="30" name="급증 질문 목록 설명"/>
          <p:cNvSpPr txBox="1"/>
          <p:nvPr/>
        </p:nvSpPr>
        <p:spPr>
          <a:xfrm>
            <a:off x="5968650" y="4115000"/>
            <a:ext cx="6968700" cy="180775"/>
          </a:xfrm>
          <a:prstGeom prst="rect">
            <a:avLst/>
          </a:prstGeom>
          <a:noFill/>
        </p:spPr>
        <p:txBody>
          <a:bodyPr wrap="square" lIns="0" tIns="0" rIns="0" bIns="0" anchor="t">
            <a:spAutoFit/>
          </a:bodyPr>
          <a:lstStyle/>
          <a:p>
            <a:pPr lvl="0" algn="l">
              <a:defRPr/>
            </a:pPr>
            <a:r>
              <a:rPr sz="1200" b="0">
                <a:solidFill>
                  <a:schemeClr val="tx1"/>
                </a:solidFill>
              </a:rPr>
              <a:t>지역 · 처리 상태 · 발생 수 · 발생 일시를 한눈에 확인합니다.</a:t>
            </a:r>
          </a:p>
        </p:txBody>
      </p:sp>
      <p:sp>
        <p:nvSpPr>
          <p:cNvPr id="31" name="원인 판단 카드"/>
          <p:cNvSpPr/>
          <p:nvPr/>
        </p:nvSpPr>
        <p:spPr>
          <a:xfrm>
            <a:off x="5228650" y="475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3" name="원인 판단 번호"/>
          <p:cNvSpPr/>
          <p:nvPr/>
        </p:nvSpPr>
        <p:spPr>
          <a:xfrm>
            <a:off x="5398650" y="502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4" name="원인 판단 제목"/>
          <p:cNvSpPr txBox="1"/>
          <p:nvPr/>
        </p:nvSpPr>
        <p:spPr>
          <a:xfrm>
            <a:off x="5968650" y="4876800"/>
            <a:ext cx="6968700" cy="209550"/>
          </a:xfrm>
          <a:prstGeom prst="rect">
            <a:avLst/>
          </a:prstGeom>
          <a:noFill/>
        </p:spPr>
        <p:txBody>
          <a:bodyPr wrap="square" lIns="0" tIns="0" rIns="0" bIns="0" anchor="ctr">
            <a:spAutoFit/>
          </a:bodyPr>
          <a:lstStyle/>
          <a:p>
            <a:pPr lvl="0" algn="l">
              <a:defRPr/>
            </a:pPr>
            <a:r>
              <a:rPr sz="1400" b="1">
                <a:solidFill>
                  <a:schemeClr val="tx2"/>
                </a:solidFill>
              </a:rPr>
              <a:t>급증 질문 목록</a:t>
            </a:r>
          </a:p>
        </p:txBody>
      </p:sp>
      <p:sp>
        <p:nvSpPr>
          <p:cNvPr id="35" name="원인 판단 설명"/>
          <p:cNvSpPr txBox="1"/>
          <p:nvPr/>
        </p:nvSpPr>
        <p:spPr>
          <a:xfrm>
            <a:off x="5968650" y="5140000"/>
            <a:ext cx="6968700" cy="174950"/>
          </a:xfrm>
          <a:prstGeom prst="rect">
            <a:avLst/>
          </a:prstGeom>
          <a:noFill/>
        </p:spPr>
        <p:txBody>
          <a:bodyPr wrap="square" lIns="0" tIns="0" rIns="0" bIns="0" anchor="t">
            <a:spAutoFit/>
          </a:bodyPr>
          <a:lstStyle/>
          <a:p>
            <a:pPr lvl="0" algn="l">
              <a:defRPr/>
            </a:pPr>
            <a:r>
              <a:rPr sz="1200" b="0">
                <a:solidFill>
                  <a:schemeClr val="tx1"/>
                </a:solidFill>
              </a:rPr>
              <a:t>묶음에 들어온 실제 질문과 시각이 나열되어, 어떤 문제인지 바로 알 수 있습니다.</a:t>
            </a:r>
          </a:p>
        </p:txBody>
      </p:sp>
      <p:sp>
        <p:nvSpPr>
          <p:cNvPr id="36" name="처리 완료 카드"/>
          <p:cNvSpPr/>
          <p:nvPr/>
        </p:nvSpPr>
        <p:spPr>
          <a:xfrm>
            <a:off x="5228650" y="577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8" name="처리 완료 번호"/>
          <p:cNvSpPr/>
          <p:nvPr/>
        </p:nvSpPr>
        <p:spPr>
          <a:xfrm>
            <a:off x="5398650" y="604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9" name="처리 완료 제목"/>
          <p:cNvSpPr txBox="1"/>
          <p:nvPr/>
        </p:nvSpPr>
        <p:spPr>
          <a:xfrm>
            <a:off x="5968650" y="5855000"/>
            <a:ext cx="6968700" cy="300000"/>
          </a:xfrm>
          <a:prstGeom prst="rect">
            <a:avLst/>
          </a:prstGeom>
          <a:noFill/>
        </p:spPr>
        <p:txBody>
          <a:bodyPr wrap="square" lIns="0" tIns="0" rIns="0" bIns="0" anchor="ctr">
            <a:spAutoFit/>
          </a:bodyPr>
          <a:lstStyle/>
          <a:p>
            <a:pPr lvl="0" algn="l">
              <a:defRPr/>
            </a:pPr>
            <a:r>
              <a:rPr sz="1400" b="1">
                <a:solidFill>
                  <a:schemeClr val="tx2"/>
                </a:solidFill>
              </a:rPr>
              <a:t>처리 완료</a:t>
            </a:r>
          </a:p>
        </p:txBody>
      </p:sp>
      <p:sp>
        <p:nvSpPr>
          <p:cNvPr id="40" name="처리 완료 설명"/>
          <p:cNvSpPr txBox="1"/>
          <p:nvPr/>
        </p:nvSpPr>
        <p:spPr>
          <a:xfrm>
            <a:off x="5968650" y="6165000"/>
            <a:ext cx="6968700" cy="485000"/>
          </a:xfrm>
          <a:prstGeom prst="rect">
            <a:avLst/>
          </a:prstGeom>
          <a:noFill/>
        </p:spPr>
        <p:txBody>
          <a:bodyPr wrap="square" lIns="0" tIns="0" rIns="0" bIns="0" anchor="t">
            <a:spAutoFit/>
          </a:bodyPr>
          <a:lstStyle/>
          <a:p>
            <a:pPr lvl="0" algn="l">
              <a:defRPr/>
            </a:pPr>
            <a:r>
              <a:rPr sz="1200" b="0">
                <a:solidFill>
                  <a:schemeClr val="tx1"/>
                </a:solidFill>
              </a:rPr>
              <a:t>확인을 마치면 [처리 완료]로 상태를 바꾸고, 필요하면 이어서 공지 · 장애를 등록합니다.</a:t>
            </a:r>
          </a:p>
        </p:txBody>
      </p:sp>
      <p:sp>
        <p:nvSpPr>
          <p:cNvPr id="41"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급증 감지</a:t>
            </a:r>
          </a:p>
        </p:txBody>
      </p:sp>
      <p:sp>
        <p:nvSpPr>
          <p:cNvPr id="42" name="흐름 화살표 1"/>
          <p:cNvSpPr/>
          <p:nvPr/>
        </p:nvSpPr>
        <p:spPr>
          <a:xfrm>
            <a:off x="453332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3" name="흐름 2"/>
          <p:cNvSpPr/>
          <p:nvPr/>
        </p:nvSpPr>
        <p:spPr>
          <a:xfrm>
            <a:off x="505800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급증 항목 확인</a:t>
            </a:r>
          </a:p>
        </p:txBody>
      </p:sp>
      <p:sp>
        <p:nvSpPr>
          <p:cNvPr id="44" name="흐름 화살표 2"/>
          <p:cNvSpPr/>
          <p:nvPr/>
        </p:nvSpPr>
        <p:spPr>
          <a:xfrm>
            <a:off x="896267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5"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공지 · 장애 등록</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공지 · 장애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통신 장애를 확인하면 대상 지역을 골라 안내를 등록하고, 등록 현황을 관리합니다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32</a:t>
            </a:r>
            <a:endParaRPr sz="1300" b="0">
              <a:solidFill>
                <a:schemeClr val="accent3"/>
              </a:solidFill>
            </a:endParaRPr>
          </a:p>
        </p:txBody>
      </p:sp>
      <p:pic>
        <p:nvPicPr>
          <p:cNvPr id="16" name="Picture 15" descr="image.png"/>
          <p:cNvPicPr>
            <a:picLocks noChangeAspect="1"/>
          </p:cNvPicPr>
          <p:nvPr/>
        </p:nvPicPr>
        <p:blipFill>
          <a:blip r:embed="rId2"/>
          <a:stretch>
            <a:fillRect/>
          </a:stretch>
        </p:blipFill>
        <p:spPr>
          <a:xfrm>
            <a:off x="709606" y="3000000"/>
            <a:ext cx="3338088" cy="375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캡션 1"/>
          <p:cNvSpPr/>
          <p:nvPr/>
        </p:nvSpPr>
        <p:spPr>
          <a:xfrm>
            <a:off x="909606" y="2520000"/>
            <a:ext cx="18297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공지 · 장애 등록</a:t>
            </a:r>
          </a:p>
        </p:txBody>
      </p:sp>
      <p:sp>
        <p:nvSpPr>
          <p:cNvPr id="18" name="캡션 번호 1"/>
          <p:cNvSpPr/>
          <p:nvPr/>
        </p:nvSpPr>
        <p:spPr>
          <a:xfrm>
            <a:off x="709606"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pic>
        <p:nvPicPr>
          <p:cNvPr id="19" name="Picture 18" descr="image.png"/>
          <p:cNvPicPr>
            <a:picLocks noChangeAspect="1"/>
          </p:cNvPicPr>
          <p:nvPr/>
        </p:nvPicPr>
        <p:blipFill>
          <a:blip r:embed="rId3"/>
          <a:stretch>
            <a:fillRect/>
          </a:stretch>
        </p:blipFill>
        <p:spPr>
          <a:xfrm>
            <a:off x="4416738" y="3000000"/>
            <a:ext cx="8670612" cy="2308445"/>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0" name="캡션 2"/>
          <p:cNvSpPr/>
          <p:nvPr/>
        </p:nvSpPr>
        <p:spPr>
          <a:xfrm>
            <a:off x="4616738" y="252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등록된 공지 관리</a:t>
            </a:r>
          </a:p>
        </p:txBody>
      </p:sp>
      <p:sp>
        <p:nvSpPr>
          <p:cNvPr id="21" name="캡션 번호 2"/>
          <p:cNvSpPr/>
          <p:nvPr/>
        </p:nvSpPr>
        <p:spPr>
          <a:xfrm>
            <a:off x="4416738"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pic>
        <p:nvPicPr>
          <p:cNvPr id="22" name="Picture 21" descr="image.png"/>
          <p:cNvPicPr>
            <a:picLocks noChangeAspect="1"/>
          </p:cNvPicPr>
          <p:nvPr/>
        </p:nvPicPr>
        <p:blipFill>
          <a:blip r:embed="rId4"/>
          <a:stretch>
            <a:fillRect/>
          </a:stretch>
        </p:blipFill>
        <p:spPr>
          <a:xfrm>
            <a:off x="4416739" y="5940318"/>
            <a:ext cx="8670610" cy="809682"/>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3" name="캡션 3"/>
          <p:cNvSpPr/>
          <p:nvPr/>
        </p:nvSpPr>
        <p:spPr>
          <a:xfrm>
            <a:off x="4616739" y="5460318"/>
            <a:ext cx="2316889"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사용자 화면 상단 배너</a:t>
            </a:r>
          </a:p>
        </p:txBody>
      </p:sp>
      <p:sp>
        <p:nvSpPr>
          <p:cNvPr id="24" name="캡션 번호 3"/>
          <p:cNvSpPr/>
          <p:nvPr/>
        </p:nvSpPr>
        <p:spPr>
          <a:xfrm>
            <a:off x="4416739" y="544031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3</a:t>
            </a:r>
          </a:p>
        </p:txBody>
      </p:sp>
      <p:sp>
        <p:nvSpPr>
          <p:cNvPr id="25"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감지</a:t>
            </a:r>
          </a:p>
        </p:txBody>
      </p:sp>
      <p:sp>
        <p:nvSpPr>
          <p:cNvPr id="26"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28"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흐름 3"/>
          <p:cNvSpPr/>
          <p:nvPr/>
        </p:nvSpPr>
        <p:spPr>
          <a:xfrm>
            <a:off x="94873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공지 · 장애 등록</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안정성 모니터링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33</a:t>
            </a:r>
            <a:endParaRPr sz="1300" b="0">
              <a:solidFill>
                <a:schemeClr val="accent3"/>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wn-text-92">
            <a:extLst>
              <a:ext uri="{FF2B5EF4-FFF2-40B4-BE49-F238E27FC236}">
                <a16:creationId xmlns:a16="http://schemas.microsoft.com/office/drawing/2014/main" id="{93402ECF-6FB9-440A-84BE-3B1129661ECC}"/>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93">
            <a:extLst>
              <a:ext uri="{FF2B5EF4-FFF2-40B4-BE49-F238E27FC236}">
                <a16:creationId xmlns:a16="http://schemas.microsoft.com/office/drawing/2014/main" id="{2AD863E8-1E15-43AD-8024-E95A7BD11074}"/>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94">
            <a:extLst>
              <a:ext uri="{FF2B5EF4-FFF2-40B4-BE49-F238E27FC236}">
                <a16:creationId xmlns:a16="http://schemas.microsoft.com/office/drawing/2014/main" id="{21EF77B9-F996-46E2-B3F3-4CC845537B4C}"/>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95">
            <a:extLst>
              <a:ext uri="{FF2B5EF4-FFF2-40B4-BE49-F238E27FC236}">
                <a16:creationId xmlns:a16="http://schemas.microsoft.com/office/drawing/2014/main" id="{20080D78-8899-48AF-B36A-ECC6B76BD725}"/>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96">
            <a:extLst>
              <a:ext uri="{FF2B5EF4-FFF2-40B4-BE49-F238E27FC236}">
                <a16:creationId xmlns:a16="http://schemas.microsoft.com/office/drawing/2014/main" id="{1E086749-4EA8-4B66-B2A2-71E85544C578}"/>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34</a:t>
            </a:r>
            <a:endParaRPr sz="1300" b="0">
              <a:solidFill>
                <a:srgbClr val="686B72"/>
              </a:solidFill>
              <a:latin typeface="맑은 고딕"/>
              <a:ea typeface="맑은 고딕"/>
              <a:cs typeface="맑은 고딕"/>
            </a:endParaRPr>
          </a:p>
        </p:txBody>
      </p:sp>
      <p:graphicFrame>
        <p:nvGraphicFramePr>
          <p:cNvPr id="6" name="표 5">
            <a:extLst>
              <a:ext uri="{FF2B5EF4-FFF2-40B4-BE49-F238E27FC236}">
                <a16:creationId xmlns:a16="http://schemas.microsoft.com/office/drawing/2014/main" id="{A8354190-356F-4104-9352-C5F7C96E9991}"/>
              </a:ext>
            </a:extLst>
          </p:cNvPr>
          <p:cNvGraphicFramePr/>
          <p:nvPr/>
        </p:nvGraphicFramePr>
        <p:xfrm>
          <a:off x="628650" y="2076450"/>
          <a:ext cx="12458700" cy="4010025"/>
        </p:xfrm>
        <a:graphic>
          <a:graphicData uri="http://schemas.openxmlformats.org/drawingml/2006/table">
            <a:tbl>
              <a:tblPr/>
              <a:tblGrid>
                <a:gridCol w="2724150">
                  <a:extLst>
                    <a:ext uri="{9D8B030D-6E8A-4147-A177-3AD203B41FA5}">
                      <a16:colId xmlns:a16="http://schemas.microsoft.com/office/drawing/2014/main" val="20000"/>
                    </a:ext>
                  </a:extLst>
                </a:gridCol>
                <a:gridCol w="2657475">
                  <a:extLst>
                    <a:ext uri="{9D8B030D-6E8A-4147-A177-3AD203B41FA5}">
                      <a16:colId xmlns:a16="http://schemas.microsoft.com/office/drawing/2014/main" val="20001"/>
                    </a:ext>
                  </a:extLst>
                </a:gridCol>
                <a:gridCol w="7077075">
                  <a:extLst>
                    <a:ext uri="{9D8B030D-6E8A-4147-A177-3AD203B41FA5}">
                      <a16:colId xmlns:a16="http://schemas.microsoft.com/office/drawing/2014/main" val="20002"/>
                    </a:ext>
                  </a:extLst>
                </a:gridCol>
              </a:tblGrid>
              <a:tr h="445558">
                <a:tc>
                  <a:txBody>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기본 주기</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실행 기준·역할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45558">
                <a:tc>
                  <a:txBody>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45558">
                <a:tc>
                  <a:txBody>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매일 09:00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45558">
                <a:tc>
                  <a:txBody>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월 한도 80%·100% 도달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45558">
                <a:tc>
                  <a:txBody>
                    <a:bodyPr/>
                    <a:lstStyle/>
                    <a:p>
                      <a:r>
                        <a:rPr sz="1598" b="0">
                          <a:solidFill>
                            <a:srgbClr val="17171A"/>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매일 04:00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기간·상태 조건에 따른 익명화·삭제와 로밍 상태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45558">
                <a:tc>
                  <a:txBody>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1분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445558">
                <a:tc>
                  <a:txBody>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예약 확인 1분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445558">
                <a:tc>
                  <a:txBody>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r h="445558">
                <a:tc>
                  <a:txBody>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5초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5140134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그 외</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알림</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35</a:t>
            </a:r>
            <a:endParaRPr sz="1300" b="0">
              <a:solidFill>
                <a:schemeClr val="accent3"/>
              </a:solidFill>
            </a:endParaRPr>
          </a:p>
        </p:txBody>
      </p:sp>
    </p:spTree>
  </p:cSld>
  <p:clrMapOvr>
    <a:masterClrMapping/>
  </p:clrMapOvr>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5840</Words>
  <Application>Microsoft Office PowerPoint</Application>
  <PresentationFormat>사용자 지정</PresentationFormat>
  <Paragraphs>926</Paragraphs>
  <Slides>35</Slides>
  <Notes>9</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35</vt:i4>
      </vt:variant>
    </vt:vector>
  </HeadingPairs>
  <TitlesOfParts>
    <vt:vector size="39" baseType="lpstr">
      <vt:lpstr>맑은 고딕</vt:lpstr>
      <vt:lpstr>Arial</vt:lpstr>
      <vt:lpstr>Calibri</vt:lpstr>
      <vt:lpstr>UBot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pc</cp:lastModifiedBy>
  <cp:revision>9</cp:revision>
  <dcterms:created xsi:type="dcterms:W3CDTF">2026-10-25T05:22:11Z</dcterms:created>
  <dcterms:modified xsi:type="dcterms:W3CDTF">2026-10-26T00:54:46Z</dcterms:modified>
  <cp:version/>
</cp:coreProperties>
</file>