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fdaf96493143c2" /><Relationship Type="http://schemas.openxmlformats.org/officeDocument/2006/relationships/extended-properties" Target="/docProps/app.xml" Id="R2df21c654a404e12" /><Relationship Type="http://schemas.openxmlformats.org/officeDocument/2006/relationships/officeDocument" Target="/ppt/presentation.xml" Id="R77b0d4ef617b4a27" /></Relationships>
</file>

<file path=ppt/presentation.xml><?xml version="1.0" encoding="utf-8"?>
<p:presentation xmlns:p="http://schemas.openxmlformats.org/presentationml/2006/main">
  <p:sldMasterIdLst>
    <p:sldMasterId xmlns:r="http://schemas.openxmlformats.org/officeDocument/2006/relationships" id="2147483648" r:id="Rb440223c3bc74e9a"/>
  </p:sldMasterIdLst>
  <p:notesMasterIdLst>
    <p:notesMasterId xmlns:r="http://schemas.openxmlformats.org/officeDocument/2006/relationships" r:id="Rb27fb31aff014d94"/>
  </p:notesMasterIdLst>
  <p:sldIdLst>
    <p:sldId xmlns:r="http://schemas.openxmlformats.org/officeDocument/2006/relationships" id="256" r:id="Rceb6c407c78e45d1"/>
    <p:sldId xmlns:r="http://schemas.openxmlformats.org/officeDocument/2006/relationships" id="257" r:id="R73f5375e58134490"/>
    <p:sldId xmlns:r="http://schemas.openxmlformats.org/officeDocument/2006/relationships" id="258" r:id="R1b512a9dd6bc4269"/>
    <p:sldId xmlns:r="http://schemas.openxmlformats.org/officeDocument/2006/relationships" id="259" r:id="R11188ee7358b468b"/>
    <p:sldId xmlns:r="http://schemas.openxmlformats.org/officeDocument/2006/relationships" id="260" r:id="Ra8991f4be6544d09"/>
    <p:sldId xmlns:r="http://schemas.openxmlformats.org/officeDocument/2006/relationships" id="261" r:id="R8813f21d10324765"/>
    <p:sldId xmlns:r="http://schemas.openxmlformats.org/officeDocument/2006/relationships" id="262" r:id="Rfc87c950acc744ee"/>
    <p:sldId xmlns:r="http://schemas.openxmlformats.org/officeDocument/2006/relationships" id="263" r:id="R49e0b71ad19e430c"/>
  </p:sldIdLst>
  <p:sldSz cx="13716000" cy="771525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ff7c36f02bc441a" /><Relationship Type="http://schemas.openxmlformats.org/officeDocument/2006/relationships/slideMaster" Target="/ppt/slideMasters/slideMaster1.xml" Id="Rb440223c3bc74e9a" /><Relationship Type="http://schemas.openxmlformats.org/officeDocument/2006/relationships/notesMaster" Target="/ppt/notesMasters/notesMaster1.xml" Id="Rb27fb31aff014d94" /><Relationship Type="http://schemas.openxmlformats.org/officeDocument/2006/relationships/presProps" Target="/ppt/presProps.xml" Id="R7446a14708f449eb" /><Relationship Type="http://schemas.openxmlformats.org/officeDocument/2006/relationships/viewProps" Target="/ppt/viewProps.xml" Id="Rf02bfdfe25f244d9" /><Relationship Type="http://schemas.openxmlformats.org/officeDocument/2006/relationships/tableStyles" Target="/ppt/tableStyles.xml" Id="R861c65c1372a4c92" /><Relationship Type="http://schemas.openxmlformats.org/officeDocument/2006/relationships/slide" Target="/ppt/slides/slide1.xml" Id="Rceb6c407c78e45d1" /><Relationship Type="http://schemas.openxmlformats.org/officeDocument/2006/relationships/slide" Target="/ppt/slides/slide2.xml" Id="R73f5375e58134490" /><Relationship Type="http://schemas.openxmlformats.org/officeDocument/2006/relationships/slide" Target="/ppt/slides/slide3.xml" Id="R1b512a9dd6bc4269" /><Relationship Type="http://schemas.openxmlformats.org/officeDocument/2006/relationships/slide" Target="/ppt/slides/slide4.xml" Id="R11188ee7358b468b" /><Relationship Type="http://schemas.openxmlformats.org/officeDocument/2006/relationships/slide" Target="/ppt/slides/slide5.xml" Id="Ra8991f4be6544d09" /><Relationship Type="http://schemas.openxmlformats.org/officeDocument/2006/relationships/slide" Target="/ppt/slides/slide6.xml" Id="R8813f21d10324765" /><Relationship Type="http://schemas.openxmlformats.org/officeDocument/2006/relationships/slide" Target="/ppt/slides/slide7.xml" Id="Rfc87c950acc744ee" /><Relationship Type="http://schemas.openxmlformats.org/officeDocument/2006/relationships/slide" Target="/ppt/slides/slide8.xml" Id="R49e0b71ad19e43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86f8ffa4c240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ccfba8a1514687" /><Relationship Type="http://schemas.openxmlformats.org/officeDocument/2006/relationships/notesMaster" Target="/ppt/notesMasters/notesMaster1.xml" Id="R56445bda49e449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550542cdac4516" /><Relationship Type="http://schemas.openxmlformats.org/officeDocument/2006/relationships/notesMaster" Target="/ppt/notesMasters/notesMaster1.xml" Id="Rdaff47eba3854c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f218c7aa0842d9" /><Relationship Type="http://schemas.openxmlformats.org/officeDocument/2006/relationships/notesMaster" Target="/ppt/notesMasters/notesMaster1.xml" Id="R80d2712ef2244c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706ae89d10438b" /><Relationship Type="http://schemas.openxmlformats.org/officeDocument/2006/relationships/notesMaster" Target="/ppt/notesMasters/notesMaster1.xml" Id="R8098ddb789fa4f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5f95cf6dae43f1" /><Relationship Type="http://schemas.openxmlformats.org/officeDocument/2006/relationships/notesMaster" Target="/ppt/notesMasters/notesMaster1.xml" Id="Ra2db5ebb199648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756804acfe453f" /><Relationship Type="http://schemas.openxmlformats.org/officeDocument/2006/relationships/notesMaster" Target="/ppt/notesMasters/notesMaster1.xml" Id="R0a7beae6e7cc4b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a793e9d64042da" /><Relationship Type="http://schemas.openxmlformats.org/officeDocument/2006/relationships/notesMaster" Target="/ppt/notesMasters/notesMaster1.xml" Id="R9b87a215dfdb46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4dc0f210b74740" /><Relationship Type="http://schemas.openxmlformats.org/officeDocument/2006/relationships/notesMaster" Target="/ppt/notesMasters/notesMaster1.xml" Id="Rbca19cb8ade34e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초기테스트는조건과예외,자료부족,공격대응까지함께보는엄격한기준이었습니다. 작은모델을그대로통과시키기어려워품질기준으로14B OFF를1차선정했습니다. 하지만별도동시서빙시험에서4B보다처리여유가작았습니다. 그래서큰모델을그대로운영하는대신4B를튜닝하고코드로보완할수있는지검토했습니다.</a:t>
            </a:r>
          </a:p>
          <a:p xmlns:a="http://schemas.openxmlformats.org/drawingml/2006/main">
            <a:r>
              <a:t/>
            </a:r>
          </a:p>
          <a:p xmlns:a="http://schemas.openxmlformats.org/drawingml/2006/main">
            <a:r>
              <a:t>비교 조건과 해석</a:t>
            </a:r>
          </a:p>
          <a:p xmlns:a="http://schemas.openxmlformats.org/drawingml/2006/main">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xmlns:a="http://schemas.openxmlformats.org/drawingml/2006/main">
            <a:r>
              <a:t/>
            </a:r>
          </a:p>
          <a:p xmlns:a="http://schemas.openxmlformats.org/drawingml/2006/main">
            <a:r>
              <a:t>근거</a:t>
            </a:r>
          </a:p>
          <a:p xmlns:a="http://schemas.openxmlformats.org/drawingml/2006/main">
            <a:r>
              <a:t>C:/Ureka/ureca_project2/LLM_Test/model_test_v2/try1/results/all_summary.md</a:t>
            </a:r>
          </a:p>
          <a:p xmlns:a="http://schemas.openxmlformats.org/drawingml/2006/main">
            <a:r>
              <a:t>C:/Ureka/ureca_project2/LLM_Test/model_test_v2/try2/results/all_summary.md</a:t>
            </a:r>
          </a:p>
          <a:p xmlns:a="http://schemas.openxmlformats.org/drawingml/2006/main">
            <a:r>
              <a:t>C:/Ureka/ureca_project2/LLM_Test/model_test_v3/try1/results/all_summary.md</a:t>
            </a:r>
          </a:p>
          <a:p xmlns:a="http://schemas.openxmlformats.org/drawingml/2006/main">
            <a:r>
              <a:t>C:/Ureka/ureca_project2/LLM_Test/model_test_v3/try1/results/summary/model_selection.md</a:t>
            </a:r>
          </a:p>
          <a:p xmlns:a="http://schemas.openxmlformats.org/drawingml/2006/main">
            <a:r>
              <a:t>C:/Ureka/ureca_project2/LLM_Test/model_test_v4/try1/results/summary/brief_report.md</a:t>
            </a:r>
          </a:p>
          <a:p xmlns:a="http://schemas.openxmlformats.org/drawingml/2006/main">
            <a:r>
              <a:t>C:/Ureka/ureca_project2/LLM_Test/model_test_v4/try1/results/summary/tuning_target_decision.md</a:t>
            </a:r>
          </a:p>
          <a:p xmlns:a="http://schemas.openxmlformats.org/drawingml/2006/main">
            <a:r>
              <a:t>C:/Ureka/ureca_project2/LLM_Test/servingtest/l4/reports/L4_MULTIMODEL_RESULTS_20261006.md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(38초)</a:t>
            </a:r>
          </a:p>
          <a:p xmlns:a="http://schemas.openxmlformats.org/drawingml/2006/main">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xmlns:a="http://schemas.openxmlformats.org/drawingml/2006/main">
            <a:r>
              <a:t/>
            </a:r>
          </a:p>
          <a:p xmlns:a="http://schemas.openxmlformats.org/drawingml/2006/main">
            <a:r>
              <a:t>비교 조건과 해석</a:t>
            </a:r>
          </a:p>
          <a:p xmlns:a="http://schemas.openxmlformats.org/drawingml/2006/main">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계산사례는결정문1-5의원자료이며현재화면에서는예시를삭제하고약점만요약했다. 1-3의근거→보류→본문연결,1-4의불필요한되묻기는관측된교정가설근거. 이후개선효과는다음프롬프트슬라이드의같은표본으로검증해야함. v3/v4의환각률차이를튜닝효과로연결하지않는다.</a:t>
            </a:r>
          </a:p>
          <a:p xmlns:a="http://schemas.openxmlformats.org/drawingml/2006/main">
            <a:r>
              <a:t/>
            </a:r>
          </a:p>
          <a:p xmlns:a="http://schemas.openxmlformats.org/drawingml/2006/main">
            <a:r>
              <a:t>근거</a:t>
            </a:r>
          </a:p>
          <a:p xmlns:a="http://schemas.openxmlformats.org/drawingml/2006/main">
            <a:r>
              <a:t>C:/Ureka/ureca_project2/LLM_Test/model_test_v4/try1/results/summary/tuning_target_decision.md</a:t>
            </a:r>
          </a:p>
          <a:p xmlns:a="http://schemas.openxmlformats.org/drawingml/2006/main">
            <a:r>
              <a:t>C:/Ureka/ureca_project2/LLM_Test/presentation_work/revision_20261026_pink/selection_metrics.json</a:t>
            </a:r>
          </a:p>
          <a:p xmlns:a="http://schemas.openxmlformats.org/drawingml/2006/main">
            <a:r>
              <a:t>C:/Ureka/ureca_project2/LLM_Test/presentation_work/revision_20261026_pink/derive_selection_metrics.py</a:t>
            </a:r>
          </a:p>
          <a:p xmlns:a="http://schemas.openxmlformats.org/drawingml/2006/main">
            <a:r>
              <a:t>C:/Ureka/ureca_project2/LLM_Test/presentation_work/evidence_20261026/gemma_v3_v4_and_status.json</a:t>
            </a:r>
          </a:p>
          <a:p xmlns:a="http://schemas.openxmlformats.org/drawingml/2006/main">
            <a:r>
              <a:t/>
            </a:r>
          </a:p>
          <a:p xmlns:a="http://schemas.openxmlformats.org/drawingml/2006/main">
            <a:r>
              <a:t>Gemma의버전간비교해석</a:t>
            </a:r>
          </a:p>
          <a:p xmlns:a="http://schemas.openxmlformats.org/drawingml/2006/main">
            <a:r>
              <a:t>자료부족3유형은SR/HR/EC이며v3 85/300=28.3%,v4 600/2598=23.1%다. 유형비중은낮아졌으나공통12유형에서v4의유형별환각률을v3비중으로가중해도약25.0%이므로,50.3→24.1감소를문항비중만의효과로설명할수없다. 유형내문항·FAQ,생성프롬프트·출력스키마,판정모델·상세루브릭이함께바뀌었다. 화면의설명도비중과문항·보류지침변화를함께명시한다. 계산능력문제를단독인과로확정한비교실험이아니며동일v4내모델비교를선정근거로사용한다.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(29초)</a:t>
            </a:r>
          </a:p>
          <a:p xmlns:a="http://schemas.openxmlformats.org/drawingml/2006/main">
            <a:r>
              <a:t>기본프롬프트의Instruct도OFF최종개선안보다정확했고상태판단과근거선택도개선됐습니다. Q8과품질차이는뚜렷하지않았지만시간과용량이늘어Q4를택했습니다. 다만Instruct에서는기존에쉽게고칠수있던과잉보류가이미많이줄었습니다. 그래서후속고도화는정답률상승보다환각을줄이는방향에집중했습니다.</a:t>
            </a:r>
          </a:p>
          <a:p xmlns:a="http://schemas.openxmlformats.org/drawingml/2006/main">
            <a:r>
              <a:t/>
            </a:r>
          </a:p>
          <a:p xmlns:a="http://schemas.openxmlformats.org/drawingml/2006/main">
            <a:r>
              <a:t>비교 조건과 해석</a:t>
            </a:r>
          </a:p>
          <a:p xmlns:a="http://schemas.openxmlformats.org/drawingml/2006/main">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xmlns:a="http://schemas.openxmlformats.org/drawingml/2006/main">
            <a:r>
              <a:t/>
            </a:r>
          </a:p>
          <a:p xmlns:a="http://schemas.openxmlformats.org/drawingml/2006/main">
            <a:r>
              <a:t>근거</a:t>
            </a:r>
          </a:p>
          <a:p xmlns:a="http://schemas.openxmlformats.org/drawingml/2006/main">
            <a:r>
              <a:t>C:/Ureka/ureca_project2/LLM_Test/presentation_work/revision_20261026_pink/model_comparison_metrics.json</a:t>
            </a:r>
          </a:p>
          <a:p xmlns:a="http://schemas.openxmlformats.org/drawingml/2006/main">
            <a:r>
              <a:t>C:/Ureka/ureca_project2/LLM_Test/presentation_work/revision_20261026_pink/derive_model_comparison.py</a:t>
            </a:r>
          </a:p>
          <a:p xmlns:a="http://schemas.openxmlformats.org/drawingml/2006/main">
            <a:r>
              <a:t>C:/Ureka/ureca_project2/LLM_Test/scripts/docgen/judge_report.js</a:t>
            </a:r>
          </a:p>
          <a:p xmlns:a="http://schemas.openxmlformats.org/drawingml/2006/main">
            <a:r>
              <a:t>C:/Ureka/ureca_project2/LLM_Test/presentation_work/evidence_20261026/off_tuned_vs_instruct.json</a:t>
            </a:r>
          </a:p>
          <a:p xmlns:a="http://schemas.openxmlformats.org/drawingml/2006/main">
            <a:r>
              <a:t>C:/Ureka/ureca_project2/LLM_Test/model_test_v5/try1/results/summary/quantization_decision.md</a:t>
            </a:r>
          </a:p>
          <a:p xmlns:a="http://schemas.openxmlformats.org/drawingml/2006/main">
            <a:r>
              <a:t>C:/Ureka/ureca_project2/LLM_Test/model_test_v5/try1/results/summary/cause_breakdown.md</a:t>
            </a:r>
          </a:p>
          <a:p xmlns:a="http://schemas.openxmlformats.org/drawingml/2006/main">
            <a:r>
              <a:t/>
            </a:r>
          </a:p>
          <a:p xmlns:a="http://schemas.openxmlformats.org/drawingml/2006/main">
            <a:r>
              <a:t>최신 정의</a:t>
            </a:r>
          </a:p>
          <a:p xmlns:a="http://schemas.openxmlformats.org/drawingml/2006/main">
            <a:r>
              <a:t>화면은Gemma Q4_K_M기존모델을제외한5행이다. OFF와Instruct Q4_K_M에기존을붙인것은기존시험결과재사용을뜻한다. 상태판단은출력status와기대상태의엄격일치(정답과독립)로404건분모, 근거선택은evidence_ids에정답근거문서만하나이상인용한비율이며205건분모다. 공통404건에서상태정답252/313/315/357/370,근거정답80/101/191/180/185(표행순)다. n1300별도오답분석에서OFF의과잉보류는185/491=37.7%,Instruct Q4는18/293=6.1%,환각동반오답은32.6%에서64.2%였다. 사라진것은주로과잉보류를풀어정답을쉽게늘릴교정여지이며전체튜닝가능성이없어졌다는실증결론은아니다. 후속900건에서정답703→698,환각184→122를관측해환각감소중심방향으로정리한다.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xmlns:a="http://schemas.openxmlformats.org/drawingml/2006/main">
            <a:r>
              <a:t/>
            </a:r>
          </a:p>
          <a:p xmlns:a="http://schemas.openxmlformats.org/drawingml/2006/main">
            <a:r>
              <a:t>비교 조건과 해석</a:t>
            </a:r>
          </a:p>
          <a:p xmlns:a="http://schemas.openxmlformats.org/drawingml/2006/main">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xmlns:a="http://schemas.openxmlformats.org/drawingml/2006/main">
            <a:r>
              <a:t/>
            </a:r>
          </a:p>
          <a:p xmlns:a="http://schemas.openxmlformats.org/drawingml/2006/main">
            <a:r>
              <a:t>근거</a:t>
            </a:r>
          </a:p>
          <a:p xmlns:a="http://schemas.openxmlformats.org/drawingml/2006/main">
            <a:r>
              <a:t>C:/Ureka/ureca_project2/LLM_Test/prompts_test_v7/try1/results/llm_judge/pv7-try1_variant_compare_vs_v4_base.md</a:t>
            </a:r>
          </a:p>
          <a:p xmlns:a="http://schemas.openxmlformats.org/drawingml/2006/main">
            <a:r>
              <a:t>C:/Ureka/ureca_project2/LLM_Test/prompts_test_v7/try1/results/summary/failure_analysis.md</a:t>
            </a:r>
          </a:p>
          <a:p xmlns:a="http://schemas.openxmlformats.org/drawingml/2006/main">
            <a:r>
              <a:t>C:/Ureka/ureca_project2/LLM_Test/prompts_test_v7/SETUP.md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여러질문을나누고생략된대상을복원하기위해판정모델을도입했습니다. 분리나멀티턴표지가없는질문은원문검색을먼저시도합니다. 질문분리100건전체에서필요한FAQ를모두찾은문항은판정없이69건에서판정적용84건이됐습니다. 의도별FAQ적중은161개에서182개,질문개수는90건에서맞았습니다. 이는답변정확도가아니라검색과분리성능입니다.</a:t>
            </a:r>
          </a:p>
          <a:p xmlns:a="http://schemas.openxmlformats.org/drawingml/2006/main">
            <a:r>
              <a:t/>
            </a:r>
          </a:p>
          <a:p xmlns:a="http://schemas.openxmlformats.org/drawingml/2006/main">
            <a:r>
              <a:t>비교 조건과 해석</a:t>
            </a:r>
          </a:p>
          <a:p xmlns:a="http://schemas.openxmlformats.org/drawingml/2006/main">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C:/Ureka/ureca_project2/eval_205_multiturn/docs-evaluation/2026-10-16-split/final/split/split-analysis.json</a:t>
            </a:r>
          </a:p>
          <a:p xmlns:a="http://schemas.openxmlformats.org/drawingml/2006/main">
            <a:r>
              <a:t>C:/Ureka/ureca_project2/LLM_Test/presentation_work/revision_20261026_pink/feedback_metrics.json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xmlns:a="http://schemas.openxmlformats.org/drawingml/2006/main">
            <a:r>
              <a:t/>
            </a:r>
          </a:p>
          <a:p xmlns:a="http://schemas.openxmlformats.org/drawingml/2006/main">
            <a:r>
              <a:t>비교 조건과 해석</a:t>
            </a:r>
          </a:p>
          <a:p xmlns:a="http://schemas.openxmlformats.org/drawingml/2006/main">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C:/Ureka/ureca_project2/eval_205_multiturn/docs-evaluation/2026-10-15-keep-search/HANDOFF.md</a:t>
            </a:r>
          </a:p>
          <a:p xmlns:a="http://schemas.openxmlformats.org/drawingml/2006/main">
            <a:r>
              <a:t>C:/Ureka/ureca_project2/LLM_Test/presentation_work/evidence_20261026/recomputed_metrics.json</a:t>
            </a:r>
          </a:p>
          <a:p xmlns:a="http://schemas.openxmlformats.org/drawingml/2006/main">
            <a:r>
              <a:t>C:/Ureka/ureca_project2/LLM_Test/presentation_work/revision_20261026_pink/slide_metrics.json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(31초)</a:t>
            </a:r>
          </a:p>
          <a:p xmlns:a="http://schemas.openxmlformats.org/drawingml/2006/main">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xmlns:a="http://schemas.openxmlformats.org/drawingml/2006/main">
            <a:r>
              <a:t/>
            </a:r>
          </a:p>
          <a:p xmlns:a="http://schemas.openxmlformats.org/drawingml/2006/main">
            <a:r>
              <a:t>비교 조건과 해석</a:t>
            </a:r>
          </a:p>
          <a:p xmlns:a="http://schemas.openxmlformats.org/drawingml/2006/main">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xmlns:a="http://schemas.openxmlformats.org/drawingml/2006/main">
            <a:r>
              <a:t/>
            </a:r>
          </a:p>
          <a:p xmlns:a="http://schemas.openxmlformats.org/drawingml/2006/main">
            <a:r>
              <a:t>근거</a:t>
            </a:r>
          </a:p>
          <a:p xmlns:a="http://schemas.openxmlformats.org/drawingml/2006/main">
            <a:r>
              <a:t>C:/Ureka/ureca_project2/LLM_Test/presentation_work/revision_20261026_pink/derive_slide_metrics.py</a:t>
            </a:r>
          </a:p>
          <a:p xmlns:a="http://schemas.openxmlformats.org/drawingml/2006/main">
            <a:r>
              <a:t>C:/Ureka/ureca_project2/LLM_Test/presentation_work/revision_20261026_pink/slide_metrics.json</a:t>
            </a:r>
          </a:p>
          <a:p xmlns:a="http://schemas.openxmlformats.org/drawingml/2006/main">
            <a:r>
              <a:t>C:/Ureka/ureca_project2/LLM_Test/pipeline_test_v4/try2/results/all_summary.md</a:t>
            </a:r>
          </a:p>
          <a:p xmlns:a="http://schemas.openxmlformats.org/drawingml/2006/main">
            <a:r>
              <a:t>C:/Ureka/ureca_project2/LLM_Test/pipeline_test_v1/try1/results/interim_summary.md</a:t>
            </a:r>
          </a:p>
          <a:p xmlns:a="http://schemas.openxmlformats.org/drawingml/2006/main">
            <a:r>
              <a:t>C:/Ureka/ureca_project2/LLM_Test/pipeline_test_v5/try1/results/all_summary.md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xmlns:a="http://schemas.openxmlformats.org/drawingml/2006/main">
            <a:r>
              <a:t/>
            </a:r>
          </a:p>
          <a:p xmlns:a="http://schemas.openxmlformats.org/drawingml/2006/main">
            <a:r>
              <a:t>비교 조건과 해석</a:t>
            </a:r>
          </a:p>
          <a:p xmlns:a="http://schemas.openxmlformats.org/drawingml/2006/main">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xmlns:a="http://schemas.openxmlformats.org/drawingml/2006/main">
            <a:r>
              <a:t/>
            </a:r>
          </a:p>
          <a:p xmlns:a="http://schemas.openxmlformats.org/drawingml/2006/main">
            <a:r>
              <a:t>근거</a:t>
            </a:r>
          </a:p>
          <a:p xmlns:a="http://schemas.openxmlformats.org/drawingml/2006/main">
            <a:r>
              <a:t>C:/Ureka/ureca_project2/BackEnd/src/main/resources/application.yml</a:t>
            </a:r>
          </a:p>
          <a:p xmlns:a="http://schemas.openxmlformats.org/drawingml/2006/main">
            <a:r>
              <a:t>C:/Ureka/ureca_project2/BackEnd/src/main/java/com/ubot/retention/scheduler/DataRetentionScheduler.java</a:t>
            </a:r>
          </a:p>
          <a:p xmlns:a="http://schemas.openxmlformats.org/drawingml/2006/main">
            <a:r>
              <a:t>C:/Ureka/ureca_project2/BackEnd/src/main/resources/db/migration/R__purge_expired_data.sql</a:t>
            </a:r>
          </a:p>
          <a:p xmlns:a="http://schemas.openxmlformats.org/drawingml/2006/main">
            <a:r>
              <a:t>C:/Ureka/ureca_project2/LLM_Test/presentation_work/evidence_20261026/evidence_review.json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6012af510842e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4126817c514fec" /><Relationship Type="http://schemas.openxmlformats.org/officeDocument/2006/relationships/slideLayout" Target="/ppt/slideLayouts/slideLayout1.xml" Id="R5d033bbb36904b6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033bbb36904b6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d4f761c1c8747ef" /><Relationship Type="http://schemas.openxmlformats.org/officeDocument/2006/relationships/chart" Target="/ppt/slides/charts/chart1.xml" Id="Refa9e1d4571b4b52" /><Relationship Type="http://schemas.openxmlformats.org/officeDocument/2006/relationships/notesSlide" Target="/ppt/notesSlides/notesSlide1.xml" Id="R810f1f6321f44a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1651144fa445e3" /><Relationship Type="http://schemas.openxmlformats.org/officeDocument/2006/relationships/notesSlide" Target="/ppt/notesSlides/notesSlide2.xml" Id="Refe9ea2f8a084a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9bab8dbddb4ae4" /><Relationship Type="http://schemas.openxmlformats.org/officeDocument/2006/relationships/notesSlide" Target="/ppt/notesSlides/notesSlide3.xml" Id="Rda2f3abbe7d844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4910e62cec4890" /><Relationship Type="http://schemas.openxmlformats.org/officeDocument/2006/relationships/chart" Target="/ppt/slides/charts/chart2.xml" Id="R97eacbd8d1104ec5" /><Relationship Type="http://schemas.openxmlformats.org/officeDocument/2006/relationships/notesSlide" Target="/ppt/notesSlides/notesSlide4.xml" Id="R9c447e91341d4a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d54e2b40b14899" /><Relationship Type="http://schemas.openxmlformats.org/officeDocument/2006/relationships/notesSlide" Target="/ppt/notesSlides/notesSlide5.xml" Id="R4aabc67f38c443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a081951703647ea" /><Relationship Type="http://schemas.openxmlformats.org/officeDocument/2006/relationships/notesSlide" Target="/ppt/notesSlides/notesSlide6.xml" Id="Ref1ff253b52649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3dd9ccf0084170" /><Relationship Type="http://schemas.openxmlformats.org/officeDocument/2006/relationships/notesSlide" Target="/ppt/notesSlides/notesSlide7.xml" Id="Ra687f3e6f01e47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824ce44630e46fb" /><Relationship Type="http://schemas.openxmlformats.org/officeDocument/2006/relationships/notesSlide" Target="/ppt/notesSlides/notesSlide8.xml" Id="R764af36cbfef46dc" /></Relationships>
</file>

<file path=ppt/slides/charts/chart1.xml><?xml version="1.0" encoding="utf-8"?>
<c:chartSpace xmlns:c="http://schemas.openxmlformats.org/drawingml/2006/chart">
  <c:lang val="en-US"/>
  <c:chart>
    <c:plotArea>
      <c:barChart>
        <c:barDir val="col"/>
        <c:grouping val="clustered"/>
        <c:varyColors val="0"/>
        <c:ser>
          <c:idx val="0"/>
          <c:order val="0"/>
          <c:tx>
            <c:v>HTTP 완료 RPS</c:v>
          </c:tx>
          <c:spPr>
            <a:solidFill xmlns:a="http://schemas.openxmlformats.org/drawingml/2006/main">
              <a:srgbClr val="F72585"/>
            </a:solidFill>
          </c:spPr>
          <c:invertIfNegative val="0"/>
          <c:cat>
            <c:strLit>
              <c:ptCount val="3"/>
              <c:pt idx="0">
                <c:v>4B</c:v>
              </c:pt>
              <c:pt idx="1">
                <c:v>8B</c:v>
              </c:pt>
              <c:pt idx="2">
                <c:v>14B</c:v>
              </c:pt>
            </c:strLit>
          </c:cat>
          <c:val>
            <c:numLit>
              <c:formatCode>General</c:formatCode>
              <c:ptCount val="3"/>
              <c:pt idx="0">
                <c:v>9.13</c:v>
              </c:pt>
              <c:pt idx="1">
                <c:v>6.1</c:v>
              </c:pt>
              <c:pt idx="2">
                <c:v>3.33</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12"/>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3"/>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기본 프롬프트</c:v>
          </c:tx>
          <c:spPr>
            <a:solidFill xmlns:a="http://schemas.openxmlformats.org/drawingml/2006/main">
              <a:srgbClr val="B9BAC1"/>
            </a:solidFill>
          </c:spPr>
          <c:invertIfNegative val="0"/>
          <c:cat>
            <c:strLit>
              <c:ptCount val="2"/>
              <c:pt idx="0">
                <c:v>환각</c:v>
              </c:pt>
              <c:pt idx="1">
                <c:v>되묻기</c:v>
              </c:pt>
            </c:strLit>
          </c:cat>
          <c:val>
            <c:numLit>
              <c:formatCode>General</c:formatCode>
              <c:ptCount val="2"/>
              <c:pt idx="0">
                <c:v>20.44</c:v>
              </c:pt>
              <c:pt idx="1">
                <c:v>14</c:v>
              </c:pt>
            </c:numLit>
          </c:val>
        </c:ser>
        <c:ser>
          <c:idx val="1"/>
          <c:order val="1"/>
          <c:tx>
            <c:v>개선 프롬프트</c:v>
          </c:tx>
          <c:spPr>
            <a:solidFill xmlns:a="http://schemas.openxmlformats.org/drawingml/2006/main">
              <a:srgbClr val="F72585"/>
            </a:solidFill>
          </c:spPr>
          <c:invertIfNegative val="0"/>
          <c:cat>
            <c:strLit>
              <c:ptCount val="2"/>
              <c:pt idx="0">
                <c:v>환각</c:v>
              </c:pt>
              <c:pt idx="1">
                <c:v>되묻기</c:v>
              </c:pt>
            </c:strLit>
          </c:cat>
          <c:val>
            <c:numLit>
              <c:formatCode>General</c:formatCode>
              <c:ptCount val="2"/>
              <c:pt idx="0">
                <c:v>13.56</c:v>
              </c:pt>
              <c:pt idx="1">
                <c:v>0.11</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25"/>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686B72"/>
              </a:solidFill>
              <a:latin typeface="맑은 고딕"/>
              <a:ea typeface="맑은 고딕"/>
              <a:cs typeface="맑은 고딕"/>
            </a:defRPr>
          </a:pPr>
        </a:p>
      </c:txPr>
    </c:legend>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3" name="own-text-1">
            <a:extLst xmlns:a="http://schemas.openxmlformats.org/drawingml/2006/main">
              <a:ext uri="{FF2B5EF4-FFF2-40B4-BE49-F238E27FC236}">
                <a16:creationId xmlns:a16="http://schemas.microsoft.com/office/drawing/2014/main" id="{DB3822FF-C1E3-4B4E-8A56-C862A11438DF}"/>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xmlns:a="http://schemas.openxmlformats.org/drawingml/2006/main">
              <a:ext uri="{FF2B5EF4-FFF2-40B4-BE49-F238E27FC236}">
                <a16:creationId xmlns:a16="http://schemas.microsoft.com/office/drawing/2014/main" id="{1F6915BD-10E4-4C32-877E-506B8DD4A7F7}"/>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14B OFF 1차 선정과 4B 튜닝 검토</a:t>
            </a:r>
          </a:p>
        </p:txBody>
      </p:sp>
      <p:sp>
        <p:nvSpPr>
          <p:cNvPr id="3" name="own-text-3">
            <a:extLst xmlns:a="http://schemas.openxmlformats.org/drawingml/2006/main">
              <a:ext uri="{FF2B5EF4-FFF2-40B4-BE49-F238E27FC236}">
                <a16:creationId xmlns:a16="http://schemas.microsoft.com/office/drawing/2014/main" id="{97E6F84E-80A8-41FA-BA84-74351769393F}"/>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소형 모델의 단독 통과가 어려웠던 엄격한 품질·보류 기준에서, 후속 튜닝과 코드 교정을 검토</a:t>
            </a:r>
          </a:p>
        </p:txBody>
      </p:sp>
      <p:sp>
        <p:nvSpPr>
          <p:cNvPr id="4" name="own-text-4">
            <a:extLst xmlns:a="http://schemas.openxmlformats.org/drawingml/2006/main">
              <a:ext uri="{FF2B5EF4-FFF2-40B4-BE49-F238E27FC236}">
                <a16:creationId xmlns:a16="http://schemas.microsoft.com/office/drawing/2014/main" id="{4A434F07-8613-4EFC-82EF-2491CDA33C11}"/>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xmlns:a="http://schemas.openxmlformats.org/drawingml/2006/main">
              <a:ext uri="{FF2B5EF4-FFF2-40B4-BE49-F238E27FC236}">
                <a16:creationId xmlns:a16="http://schemas.microsoft.com/office/drawing/2014/main" id="{E9B1C137-AAFE-487A-B456-9E46AD0F9635}"/>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01</a:t>
            </a:r>
          </a:p>
        </p:txBody>
      </p:sp>
      <p:sp>
        <p:nvSpPr>
          <p:cNvPr id="6" name="own-text-6">
            <a:extLst xmlns:a="http://schemas.openxmlformats.org/drawingml/2006/main">
              <a:ext uri="{FF2B5EF4-FFF2-40B4-BE49-F238E27FC236}">
                <a16:creationId xmlns:a16="http://schemas.microsoft.com/office/drawing/2014/main" id="{4E6B8F36-0E57-49A0-9385-8B2425C835CC}"/>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
            <a:extLst xmlns:a="http://schemas.openxmlformats.org/drawingml/2006/main">
              <a:ext uri="{FF2B5EF4-FFF2-40B4-BE49-F238E27FC236}">
                <a16:creationId xmlns:a16="http://schemas.microsoft.com/office/drawing/2014/main" id="{74FF68C0-AA94-4D96-9AFE-C450136C4C43}"/>
              </a:ext>
            </a:extLst>
          </p:cNvPr>
          <p:cNvGraphicFramePr/>
          <p:nvPr/>
        </p:nvGraphicFramePr>
        <p:xfrm>
          <a:off xmlns:a="http://schemas.openxmlformats.org/drawingml/2006/main" x="628650" y="2076450"/>
          <a:ext xmlns:a="http://schemas.openxmlformats.org/drawingml/2006/main" cx="7239000" cy="3886200"/>
        </p:xfrm>
        <a:graphic xmlns:a="http://schemas.openxmlformats.org/drawingml/2006/main">
          <a:graphicData uri="http://schemas.openxmlformats.org/drawingml/2006/table">
            <a:tbl>
              <a:tblPr/>
              <a:tblGrid>
                <a:gridCol w="2028825"/>
                <a:gridCol w="952500"/>
                <a:gridCol w="952500"/>
                <a:gridCol w="952500"/>
                <a:gridCol w="2352675"/>
              </a:tblGrid>
              <a:tr h="323850">
                <a:tc>
                  <a:txBody>
                    <a:bodyPr>
                      <a:noAutofit/>
                    </a:bodyPr>
                    <a:lstStyle/>
                    <a:p>
                      <a:r>
                        <a:rPr sz="1373"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P95(초)</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제외·후순위 근거</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23850">
                <a:tc>
                  <a:txBody>
                    <a:bodyPr>
                      <a:noAutofit/>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56.7%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1.43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1">
                          <a:solidFill>
                            <a:srgbClr val="F72585"/>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31.3%</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50.3%</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2.78</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4B 튜닝 후보</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r h="323850">
                <a:tc>
                  <a:txBody>
                    <a:bodyPr>
                      <a:noAutofit/>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29.0%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2.92</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4B 튜닝 후보</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r h="323850">
                <a:tc>
                  <a:txBody>
                    <a:bodyPr>
                      <a:noAutofit/>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37.3%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53.3%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5.65</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보류 88건 실패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26.0%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4.53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튜닝 후 확장 후보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64.0%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7.28</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크기·조건 판단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1">
                          <a:solidFill>
                            <a:srgbClr val="F72585"/>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70.7%</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23.7%</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8.11</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1차 MVP 선정</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r h="323850">
                <a:tc>
                  <a:txBody>
                    <a:bodyPr>
                      <a:noAutofit/>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39.0%</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43.0%</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5.04</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72.3%</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13.7%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47.62</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 우수·지연 큼</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59.7%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26.8%</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18.33</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품질·지연 검토</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75.6%</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24.7%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28.49</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 우수·지연 큼</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bl>
          </a:graphicData>
        </a:graphic>
      </p:graphicFrame>
      <p:sp>
        <p:nvSpPr>
          <p:cNvPr id="8" name="own-text-7">
            <a:extLst xmlns:a="http://schemas.openxmlformats.org/drawingml/2006/main">
              <a:ext uri="{FF2B5EF4-FFF2-40B4-BE49-F238E27FC236}">
                <a16:creationId xmlns:a16="http://schemas.microsoft.com/office/drawing/2014/main" id="{F3D68A16-7DC0-4FEA-861C-FAC14CFB3ABB}"/>
              </a:ext>
            </a:extLst>
          </p:cNvPr>
          <p:cNvSpPr>
            <a:spLocks xmlns:a="http://schemas.openxmlformats.org/drawingml/2006/main" noGrp="1"/>
          </p:cNvSpPr>
          <p:nvPr/>
        </p:nvSpPr>
        <p:spPr>
          <a:xfrm xmlns:a="http://schemas.openxmlformats.org/drawingml/2006/main">
            <a:off x="628650" y="60579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xmlns:a="http://schemas.openxmlformats.org/drawingml/2006/main">
              <a:ext uri="{FF2B5EF4-FFF2-40B4-BE49-F238E27FC236}">
                <a16:creationId xmlns:a16="http://schemas.microsoft.com/office/drawing/2014/main" id="{5D94C49D-9C7F-4BB8-991F-FD1AB399188F}"/>
              </a:ext>
            </a:extLst>
          </p:cNvPr>
          <p:cNvSpPr>
            <a:spLocks xmlns:a="http://schemas.openxmlformats.org/drawingml/2006/main" noGrp="1"/>
          </p:cNvSpPr>
          <p:nvPr/>
        </p:nvSpPr>
        <p:spPr>
          <a:xfrm xmlns:a="http://schemas.openxmlformats.org/drawingml/2006/main">
            <a:off x="8248650" y="2076450"/>
            <a:ext cx="4857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품질 기준으로 14B OFF를 1차 선정</a:t>
            </a:r>
          </a:p>
        </p:txBody>
      </p:sp>
      <p:graphicFrame>
        <p:nvGraphicFramePr>
          <p:cNvPr id="10" name="Chart">
            <a:extLst xmlns:a="http://schemas.openxmlformats.org/drawingml/2006/main">
              <a:ext uri="{FF2B5EF4-FFF2-40B4-BE49-F238E27FC236}">
                <a16:creationId xmlns:a16="http://schemas.microsoft.com/office/drawing/2014/main" id="{0117E184-AAF1-46D3-BBA5-80D5387A4997}"/>
              </a:ext>
            </a:extLst>
          </p:cNvPr>
          <p:cNvGraphicFramePr/>
          <p:nvPr/>
        </p:nvGraphicFramePr>
        <p:xfrm>
          <a:off xmlns:a="http://schemas.openxmlformats.org/drawingml/2006/main" x="8248650" y="2771775"/>
          <a:ext xmlns:a="http://schemas.openxmlformats.org/drawingml/2006/main" cx="4857750" cy="2457450"/>
        </p:xfrm>
        <a:graphic xmlns:a="http://schemas.openxmlformats.org/drawingml/2006/main">
          <a:graphicData uri="http://schemas.openxmlformats.org/drawingml/2006/chart">
            <c:chart xmlns:r="http://schemas.openxmlformats.org/officeDocument/2006/relationships" xmlns:c="http://schemas.openxmlformats.org/drawingml/2006/chart" r:id="Refa9e1d4571b4b52"/>
          </a:graphicData>
        </a:graphic>
      </p:graphicFrame>
      <p:sp>
        <p:nvSpPr>
          <p:cNvPr id="11" name="own-text-9">
            <a:extLst xmlns:a="http://schemas.openxmlformats.org/drawingml/2006/main">
              <a:ext uri="{FF2B5EF4-FFF2-40B4-BE49-F238E27FC236}">
                <a16:creationId xmlns:a16="http://schemas.microsoft.com/office/drawing/2014/main" id="{30E4C914-3AC4-4DB6-B2D5-23D924115445}"/>
              </a:ext>
            </a:extLst>
          </p:cNvPr>
          <p:cNvSpPr>
            <a:spLocks xmlns:a="http://schemas.openxmlformats.org/drawingml/2006/main" noGrp="1"/>
          </p:cNvSpPr>
          <p:nvPr/>
        </p:nvSpPr>
        <p:spPr>
          <a:xfrm xmlns:a="http://schemas.openxmlformats.org/drawingml/2006/main">
            <a:off x="8248650" y="5391150"/>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동시 32명, 초당 완료 요청 수</a:t>
            </a:r>
          </a:p>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L4·30초 시험·이전 Qwen3 계열</a:t>
            </a:r>
          </a:p>
        </p:txBody>
      </p:sp>
      <p:sp>
        <p:nvSpPr>
          <p:cNvPr id="12" name="own-text-10">
            <a:extLst xmlns:a="http://schemas.openxmlformats.org/drawingml/2006/main">
              <a:ext uri="{FF2B5EF4-FFF2-40B4-BE49-F238E27FC236}">
                <a16:creationId xmlns:a16="http://schemas.microsoft.com/office/drawing/2014/main" id="{3A4D7884-32BA-4D1A-B6CE-6F64F3FA44A5}"/>
              </a:ext>
            </a:extLst>
          </p:cNvPr>
          <p:cNvSpPr>
            <a:spLocks xmlns:a="http://schemas.openxmlformats.org/drawingml/2006/main" noGrp="1"/>
          </p:cNvSpPr>
          <p:nvPr/>
        </p:nvSpPr>
        <p:spPr>
          <a:xfrm xmlns:a="http://schemas.openxmlformats.org/drawingml/2006/main">
            <a:off x="8248650" y="5962650"/>
            <a:ext cx="4857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동시 서빙 부담을 줄이기 위해</a:t>
            </a:r>
          </a:p>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4B 모델의 튜닝 가능성을 재검토</a:t>
            </a:r>
          </a:p>
        </p:txBody>
      </p:sp>
    </p:spTree>
    <p:extLst>
      <p:ext uri="{BB962C8B-B14F-4D97-AF65-F5344CB8AC3E}">
        <p14:creationId xmlns:p14="http://schemas.microsoft.com/office/powerpoint/2010/main" val="971658971"/>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5" name="own-text-11">
            <a:extLst xmlns:a="http://schemas.openxmlformats.org/drawingml/2006/main">
              <a:ext uri="{FF2B5EF4-FFF2-40B4-BE49-F238E27FC236}">
                <a16:creationId xmlns:a16="http://schemas.microsoft.com/office/drawing/2014/main" id="{E3A9B5CB-4F4C-4093-AB5D-AF9B39334BE6}"/>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2">
            <a:extLst xmlns:a="http://schemas.openxmlformats.org/drawingml/2006/main">
              <a:ext uri="{FF2B5EF4-FFF2-40B4-BE49-F238E27FC236}">
                <a16:creationId xmlns:a16="http://schemas.microsoft.com/office/drawing/2014/main" id="{99473990-B5D5-4A65-97BB-43EED7623789}"/>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3">
            <a:extLst xmlns:a="http://schemas.openxmlformats.org/drawingml/2006/main">
              <a:ext uri="{FF2B5EF4-FFF2-40B4-BE49-F238E27FC236}">
                <a16:creationId xmlns:a16="http://schemas.microsoft.com/office/drawing/2014/main" id="{F39A3133-70B5-46AD-BA3D-B1C26A1A0115}"/>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4">
            <a:extLst xmlns:a="http://schemas.openxmlformats.org/drawingml/2006/main">
              <a:ext uri="{FF2B5EF4-FFF2-40B4-BE49-F238E27FC236}">
                <a16:creationId xmlns:a16="http://schemas.microsoft.com/office/drawing/2014/main" id="{E68BBC57-D5A5-409F-92FD-A4A3F761A610}"/>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5">
            <a:extLst xmlns:a="http://schemas.openxmlformats.org/drawingml/2006/main">
              <a:ext uri="{FF2B5EF4-FFF2-40B4-BE49-F238E27FC236}">
                <a16:creationId xmlns:a16="http://schemas.microsoft.com/office/drawing/2014/main" id="{BBD7DCC0-D320-4F30-84A2-3ADF8CA02DE6}"/>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02</a:t>
            </a:r>
          </a:p>
        </p:txBody>
      </p:sp>
      <p:sp>
        <p:nvSpPr>
          <p:cNvPr id="6" name="own-text-16">
            <a:extLst xmlns:a="http://schemas.openxmlformats.org/drawingml/2006/main">
              <a:ext uri="{FF2B5EF4-FFF2-40B4-BE49-F238E27FC236}">
                <a16:creationId xmlns:a16="http://schemas.microsoft.com/office/drawing/2014/main" id="{C0F72AF1-25E5-4B91-B436-BB89980CF887}"/>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
            <a:extLst xmlns:a="http://schemas.openxmlformats.org/drawingml/2006/main">
              <a:ext uri="{FF2B5EF4-FFF2-40B4-BE49-F238E27FC236}">
                <a16:creationId xmlns:a16="http://schemas.microsoft.com/office/drawing/2014/main" id="{31EE4500-E799-4E84-8CA8-A12258DB69F7}"/>
              </a:ext>
            </a:extLst>
          </p:cNvPr>
          <p:cNvGraphicFramePr/>
          <p:nvPr/>
        </p:nvGraphicFramePr>
        <p:xfrm>
          <a:off xmlns:a="http://schemas.openxmlformats.org/drawingml/2006/main" x="628650" y="2076450"/>
          <a:ext xmlns:a="http://schemas.openxmlformats.org/drawingml/2006/main" cx="8001000" cy="3619500"/>
        </p:xfrm>
        <a:graphic xmlns:a="http://schemas.openxmlformats.org/drawingml/2006/main">
          <a:graphicData uri="http://schemas.openxmlformats.org/drawingml/2006/table">
            <a:tbl>
              <a:tblPr/>
              <a:tblGrid>
                <a:gridCol w="4724400"/>
                <a:gridCol w="1638300"/>
                <a:gridCol w="1638300"/>
              </a:tblGrid>
              <a:tr h="452438">
                <a:tc>
                  <a:txBody>
                    <a:bodyPr>
                      <a:noAutofit/>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Gemma3</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Qwen3 OFF</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52438">
                <a:tc>
                  <a:txBody>
                    <a:bodyPr>
                      <a:noAutofit/>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36.6%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69.9%</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77.0%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48.0%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55.5%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79.5%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87.2%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10.6%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17">
            <a:extLst xmlns:a="http://schemas.openxmlformats.org/drawingml/2006/main">
              <a:ext uri="{FF2B5EF4-FFF2-40B4-BE49-F238E27FC236}">
                <a16:creationId xmlns:a16="http://schemas.microsoft.com/office/drawing/2014/main" id="{54C910EF-00B2-4A05-9B71-F9681A63779F}"/>
              </a:ext>
            </a:extLst>
          </p:cNvPr>
          <p:cNvSpPr>
            <a:spLocks xmlns:a="http://schemas.openxmlformats.org/drawingml/2006/main" noGrp="1"/>
          </p:cNvSpPr>
          <p:nvPr/>
        </p:nvSpPr>
        <p:spPr>
          <a:xfrm xmlns:a="http://schemas.openxmlformats.org/drawingml/2006/main">
            <a:off x="9086850" y="20764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17171A"/>
                </a:solidFill>
                <a:latin typeface="맑은 고딕"/>
                <a:ea typeface="맑은 고딕"/>
                <a:cs typeface="맑은 고딕"/>
              </a:defRPr>
            </a:defPPr>
            <a:lvl1pPr algn="l">
              <a:defRPr sz="1748" b="1">
                <a:solidFill>
                  <a:srgbClr val="17171A"/>
                </a:solidFill>
                <a:latin typeface="맑은 고딕"/>
                <a:ea typeface="맑은 고딕"/>
                <a:cs typeface="맑은 고딕"/>
              </a:defRPr>
            </a:lvl1pPr>
            <a:lvl2pPr algn="l">
              <a:defRPr sz="1748" b="1">
                <a:solidFill>
                  <a:srgbClr val="17171A"/>
                </a:solidFill>
                <a:latin typeface="맑은 고딕"/>
                <a:ea typeface="맑은 고딕"/>
                <a:cs typeface="맑은 고딕"/>
              </a:defRPr>
            </a:lvl2pPr>
            <a:lvl3pPr algn="l">
              <a:defRPr sz="1748" b="1">
                <a:solidFill>
                  <a:srgbClr val="17171A"/>
                </a:solidFill>
                <a:latin typeface="맑은 고딕"/>
                <a:ea typeface="맑은 고딕"/>
                <a:cs typeface="맑은 고딕"/>
              </a:defRPr>
            </a:lvl3pPr>
            <a:lvl4pPr algn="l">
              <a:defRPr sz="1748" b="1">
                <a:solidFill>
                  <a:srgbClr val="17171A"/>
                </a:solidFill>
                <a:latin typeface="맑은 고딕"/>
                <a:ea typeface="맑은 고딕"/>
                <a:cs typeface="맑은 고딕"/>
              </a:defRPr>
            </a:lvl4pPr>
            <a:lvl5pPr algn="l">
              <a:defRPr sz="1748" b="1">
                <a:solidFill>
                  <a:srgbClr val="17171A"/>
                </a:solidFill>
                <a:latin typeface="맑은 고딕"/>
                <a:ea typeface="맑은 고딕"/>
                <a:cs typeface="맑은 고딕"/>
              </a:defRPr>
            </a:lvl5pPr>
            <a:lvl6pPr algn="l">
              <a:defRPr sz="1748" b="1">
                <a:solidFill>
                  <a:srgbClr val="17171A"/>
                </a:solidFill>
                <a:latin typeface="맑은 고딕"/>
                <a:ea typeface="맑은 고딕"/>
                <a:cs typeface="맑은 고딕"/>
              </a:defRPr>
            </a:lvl6pPr>
            <a:lvl7pPr algn="l">
              <a:defRPr sz="1748" b="1">
                <a:solidFill>
                  <a:srgbClr val="17171A"/>
                </a:solidFill>
                <a:latin typeface="맑은 고딕"/>
                <a:ea typeface="맑은 고딕"/>
                <a:cs typeface="맑은 고딕"/>
              </a:defRPr>
            </a:lvl7pPr>
            <a:lvl8pPr algn="l">
              <a:defRPr sz="1748" b="1">
                <a:solidFill>
                  <a:srgbClr val="17171A"/>
                </a:solidFill>
                <a:latin typeface="맑은 고딕"/>
                <a:ea typeface="맑은 고딕"/>
                <a:cs typeface="맑은 고딕"/>
              </a:defRPr>
            </a:lvl8pPr>
            <a:lvl9pPr algn="l">
              <a:defRPr sz="1748" b="1">
                <a:solidFill>
                  <a:srgbClr val="17171A"/>
                </a:solidFill>
                <a:latin typeface="맑은 고딕"/>
                <a:ea typeface="맑은 고딕"/>
                <a:cs typeface="맑은 고딕"/>
              </a:defRPr>
            </a:lvl9pPr>
          </a:lstStyle>
          <a:p xmlns:a="http://schemas.openxmlformats.org/drawingml/2006/main">
            <a:pPr algn="l">
              <a:defRPr sz="1748" b="1">
                <a:solidFill>
                  <a:srgbClr val="17171A"/>
                </a:solidFill>
                <a:latin typeface="맑은 고딕"/>
                <a:ea typeface="맑은 고딕"/>
                <a:cs typeface="맑은 고딕"/>
              </a:defRPr>
            </a:pPr>
            <a:r>
              <a:rPr sz="1748" b="1">
                <a:solidFill>
                  <a:srgbClr val="17171A"/>
                </a:solidFill>
                <a:latin typeface="맑은 고딕"/>
                <a:ea typeface="맑은 고딕"/>
                <a:cs typeface="맑은 고딕"/>
              </a:rPr>
              <a:t>4B 후보 재평가 (약 2,600건)</a:t>
            </a:r>
          </a:p>
        </p:txBody>
      </p:sp>
      <p:graphicFrame>
        <p:nvGraphicFramePr>
          <p:cNvPr id="9" name="">
            <a:extLst xmlns:a="http://schemas.openxmlformats.org/drawingml/2006/main">
              <a:ext uri="{FF2B5EF4-FFF2-40B4-BE49-F238E27FC236}">
                <a16:creationId xmlns:a16="http://schemas.microsoft.com/office/drawing/2014/main" id="{61082EBA-208C-4D44-8663-0F0DD8B583C8}"/>
              </a:ext>
            </a:extLst>
          </p:cNvPr>
          <p:cNvGraphicFramePr/>
          <p:nvPr/>
        </p:nvGraphicFramePr>
        <p:xfrm>
          <a:off xmlns:a="http://schemas.openxmlformats.org/drawingml/2006/main" x="9086850" y="2514600"/>
          <a:ext xmlns:a="http://schemas.openxmlformats.org/drawingml/2006/main" cx="4000500" cy="1066800"/>
        </p:xfrm>
        <a:graphic xmlns:a="http://schemas.openxmlformats.org/drawingml/2006/main">
          <a:graphicData uri="http://schemas.openxmlformats.org/drawingml/2006/table">
            <a:tbl>
              <a:tblPr/>
              <a:tblGrid>
                <a:gridCol w="1847850"/>
                <a:gridCol w="1076325"/>
                <a:gridCol w="1076325"/>
              </a:tblGrid>
              <a:tr h="355600">
                <a:tc>
                  <a:txBody>
                    <a:bodyPr>
                      <a:noAutofit/>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55600">
                <a:tc>
                  <a:txBody>
                    <a:bodyPr>
                      <a:noAutofit/>
                    </a:bodyPr>
                    <a:lstStyle/>
                    <a:p>
                      <a:r>
                        <a:rPr sz="1448" b="0">
                          <a:solidFill>
                            <a:srgbClr val="17171A"/>
                          </a:solidFill>
                          <a:latin typeface="맑은 고딕"/>
                          <a:ea typeface="맑은 고딕"/>
                          <a:cs typeface="맑은 고딕"/>
                        </a:rPr>
                        <a:t>Gemma3</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65.1%</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24.1%</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55600">
                <a:tc>
                  <a:txBody>
                    <a:bodyPr>
                      <a:noAutofit/>
                    </a:bodyPr>
                    <a:lstStyle/>
                    <a:p>
                      <a:r>
                        <a:rPr sz="1448" b="1">
                          <a:solidFill>
                            <a:srgbClr val="F72585"/>
                          </a:solidFill>
                          <a:latin typeface="맑은 고딕"/>
                          <a:ea typeface="맑은 고딕"/>
                          <a:cs typeface="맑은 고딕"/>
                        </a:rPr>
                        <a:t>Qwen3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63.0%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22.0%</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0" name="own-text-18">
            <a:extLst xmlns:a="http://schemas.openxmlformats.org/drawingml/2006/main">
              <a:ext uri="{FF2B5EF4-FFF2-40B4-BE49-F238E27FC236}">
                <a16:creationId xmlns:a16="http://schemas.microsoft.com/office/drawing/2014/main" id="{1BD4044E-68DA-4E53-A9E2-775A8EC3255C}"/>
              </a:ext>
            </a:extLst>
          </p:cNvPr>
          <p:cNvSpPr>
            <a:spLocks xmlns:a="http://schemas.openxmlformats.org/drawingml/2006/main" noGrp="1"/>
          </p:cNvSpPr>
          <p:nvPr/>
        </p:nvSpPr>
        <p:spPr>
          <a:xfrm xmlns:a="http://schemas.openxmlformats.org/drawingml/2006/main">
            <a:off x="9086850" y="3800475"/>
            <a:ext cx="4000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17171A"/>
                </a:solidFill>
                <a:latin typeface="맑은 고딕"/>
                <a:ea typeface="맑은 고딕"/>
                <a:cs typeface="맑은 고딕"/>
              </a:defRPr>
            </a:defPPr>
            <a:lvl1pPr algn="l">
              <a:defRPr sz="1748" b="1">
                <a:solidFill>
                  <a:srgbClr val="17171A"/>
                </a:solidFill>
                <a:latin typeface="맑은 고딕"/>
                <a:ea typeface="맑은 고딕"/>
                <a:cs typeface="맑은 고딕"/>
              </a:defRPr>
            </a:lvl1pPr>
            <a:lvl2pPr algn="l">
              <a:defRPr sz="1748" b="1">
                <a:solidFill>
                  <a:srgbClr val="17171A"/>
                </a:solidFill>
                <a:latin typeface="맑은 고딕"/>
                <a:ea typeface="맑은 고딕"/>
                <a:cs typeface="맑은 고딕"/>
              </a:defRPr>
            </a:lvl2pPr>
            <a:lvl3pPr algn="l">
              <a:defRPr sz="1748" b="1">
                <a:solidFill>
                  <a:srgbClr val="17171A"/>
                </a:solidFill>
                <a:latin typeface="맑은 고딕"/>
                <a:ea typeface="맑은 고딕"/>
                <a:cs typeface="맑은 고딕"/>
              </a:defRPr>
            </a:lvl3pPr>
            <a:lvl4pPr algn="l">
              <a:defRPr sz="1748" b="1">
                <a:solidFill>
                  <a:srgbClr val="17171A"/>
                </a:solidFill>
                <a:latin typeface="맑은 고딕"/>
                <a:ea typeface="맑은 고딕"/>
                <a:cs typeface="맑은 고딕"/>
              </a:defRPr>
            </a:lvl4pPr>
            <a:lvl5pPr algn="l">
              <a:defRPr sz="1748" b="1">
                <a:solidFill>
                  <a:srgbClr val="17171A"/>
                </a:solidFill>
                <a:latin typeface="맑은 고딕"/>
                <a:ea typeface="맑은 고딕"/>
                <a:cs typeface="맑은 고딕"/>
              </a:defRPr>
            </a:lvl5pPr>
            <a:lvl6pPr algn="l">
              <a:defRPr sz="1748" b="1">
                <a:solidFill>
                  <a:srgbClr val="17171A"/>
                </a:solidFill>
                <a:latin typeface="맑은 고딕"/>
                <a:ea typeface="맑은 고딕"/>
                <a:cs typeface="맑은 고딕"/>
              </a:defRPr>
            </a:lvl6pPr>
            <a:lvl7pPr algn="l">
              <a:defRPr sz="1748" b="1">
                <a:solidFill>
                  <a:srgbClr val="17171A"/>
                </a:solidFill>
                <a:latin typeface="맑은 고딕"/>
                <a:ea typeface="맑은 고딕"/>
                <a:cs typeface="맑은 고딕"/>
              </a:defRPr>
            </a:lvl7pPr>
            <a:lvl8pPr algn="l">
              <a:defRPr sz="1748" b="1">
                <a:solidFill>
                  <a:srgbClr val="17171A"/>
                </a:solidFill>
                <a:latin typeface="맑은 고딕"/>
                <a:ea typeface="맑은 고딕"/>
                <a:cs typeface="맑은 고딕"/>
              </a:defRPr>
            </a:lvl8pPr>
            <a:lvl9pPr algn="l">
              <a:defRPr sz="1748" b="1">
                <a:solidFill>
                  <a:srgbClr val="17171A"/>
                </a:solidFill>
                <a:latin typeface="맑은 고딕"/>
                <a:ea typeface="맑은 고딕"/>
                <a:cs typeface="맑은 고딕"/>
              </a:defRPr>
            </a:lvl9pPr>
          </a:lstStyle>
          <a:p xmlns:a="http://schemas.openxmlformats.org/drawingml/2006/main">
            <a:pPr algn="l">
              <a:defRPr sz="1748" b="1">
                <a:solidFill>
                  <a:srgbClr val="17171A"/>
                </a:solidFill>
                <a:latin typeface="맑은 고딕"/>
                <a:ea typeface="맑은 고딕"/>
                <a:cs typeface="맑은 고딕"/>
              </a:defRPr>
            </a:pPr>
            <a:r>
              <a:rPr sz="1748" b="1">
                <a:solidFill>
                  <a:srgbClr val="17171A"/>
                </a:solidFill>
                <a:latin typeface="맑은 고딕"/>
                <a:ea typeface="맑은 고딕"/>
                <a:cs typeface="맑은 고딕"/>
              </a:rPr>
              <a:t>Gemma의 약점</a:t>
            </a:r>
          </a:p>
        </p:txBody>
      </p:sp>
      <p:sp>
        <p:nvSpPr>
          <p:cNvPr id="11" name="own-text-19">
            <a:extLst xmlns:a="http://schemas.openxmlformats.org/drawingml/2006/main">
              <a:ext uri="{FF2B5EF4-FFF2-40B4-BE49-F238E27FC236}">
                <a16:creationId xmlns:a16="http://schemas.microsoft.com/office/drawing/2014/main" id="{975BA8C9-8749-44CB-9A0A-CF5F76877659}"/>
              </a:ext>
            </a:extLst>
          </p:cNvPr>
          <p:cNvSpPr>
            <a:spLocks xmlns:a="http://schemas.openxmlformats.org/drawingml/2006/main" noGrp="1"/>
          </p:cNvSpPr>
          <p:nvPr/>
        </p:nvSpPr>
        <p:spPr>
          <a:xfrm xmlns:a="http://schemas.openxmlformats.org/drawingml/2006/main">
            <a:off x="9086850" y="4248150"/>
            <a:ext cx="4000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48" b="0">
                <a:solidFill>
                  <a:srgbClr val="686B72"/>
                </a:solidFill>
                <a:latin typeface="맑은 고딕"/>
                <a:ea typeface="맑은 고딕"/>
                <a:cs typeface="맑은 고딕"/>
              </a:defRPr>
            </a:defPPr>
            <a:lvl1pPr algn="l">
              <a:defRPr sz="1448" b="0">
                <a:solidFill>
                  <a:srgbClr val="686B72"/>
                </a:solidFill>
                <a:latin typeface="맑은 고딕"/>
                <a:ea typeface="맑은 고딕"/>
                <a:cs typeface="맑은 고딕"/>
              </a:defRPr>
            </a:lvl1pPr>
            <a:lvl2pPr algn="l">
              <a:defRPr sz="1448" b="0">
                <a:solidFill>
                  <a:srgbClr val="686B72"/>
                </a:solidFill>
                <a:latin typeface="맑은 고딕"/>
                <a:ea typeface="맑은 고딕"/>
                <a:cs typeface="맑은 고딕"/>
              </a:defRPr>
            </a:lvl2pPr>
            <a:lvl3pPr algn="l">
              <a:defRPr sz="1448" b="0">
                <a:solidFill>
                  <a:srgbClr val="686B72"/>
                </a:solidFill>
                <a:latin typeface="맑은 고딕"/>
                <a:ea typeface="맑은 고딕"/>
                <a:cs typeface="맑은 고딕"/>
              </a:defRPr>
            </a:lvl3pPr>
            <a:lvl4pPr algn="l">
              <a:defRPr sz="1448" b="0">
                <a:solidFill>
                  <a:srgbClr val="686B72"/>
                </a:solidFill>
                <a:latin typeface="맑은 고딕"/>
                <a:ea typeface="맑은 고딕"/>
                <a:cs typeface="맑은 고딕"/>
              </a:defRPr>
            </a:lvl4pPr>
            <a:lvl5pPr algn="l">
              <a:defRPr sz="1448" b="0">
                <a:solidFill>
                  <a:srgbClr val="686B72"/>
                </a:solidFill>
                <a:latin typeface="맑은 고딕"/>
                <a:ea typeface="맑은 고딕"/>
                <a:cs typeface="맑은 고딕"/>
              </a:defRPr>
            </a:lvl5pPr>
            <a:lvl6pPr algn="l">
              <a:defRPr sz="1448" b="0">
                <a:solidFill>
                  <a:srgbClr val="686B72"/>
                </a:solidFill>
                <a:latin typeface="맑은 고딕"/>
                <a:ea typeface="맑은 고딕"/>
                <a:cs typeface="맑은 고딕"/>
              </a:defRPr>
            </a:lvl6pPr>
            <a:lvl7pPr algn="l">
              <a:defRPr sz="1448" b="0">
                <a:solidFill>
                  <a:srgbClr val="686B72"/>
                </a:solidFill>
                <a:latin typeface="맑은 고딕"/>
                <a:ea typeface="맑은 고딕"/>
                <a:cs typeface="맑은 고딕"/>
              </a:defRPr>
            </a:lvl7pPr>
            <a:lvl8pPr algn="l">
              <a:defRPr sz="1448" b="0">
                <a:solidFill>
                  <a:srgbClr val="686B72"/>
                </a:solidFill>
                <a:latin typeface="맑은 고딕"/>
                <a:ea typeface="맑은 고딕"/>
                <a:cs typeface="맑은 고딕"/>
              </a:defRPr>
            </a:lvl8pPr>
            <a:lvl9pPr algn="l">
              <a:defRPr sz="1448" b="0">
                <a:solidFill>
                  <a:srgbClr val="686B72"/>
                </a:solidFill>
                <a:latin typeface="맑은 고딕"/>
                <a:ea typeface="맑은 고딕"/>
                <a:cs typeface="맑은 고딕"/>
              </a:defRPr>
            </a:lvl9pPr>
          </a:lstStyle>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계산 오적용·답 없는 문항의 오답·환각</a:t>
            </a:r>
          </a:p>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자료 부족 3유형 비중 28.3%→23.1%</a:t>
            </a:r>
          </a:p>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문항·보류 지침도 바뀐 시험에서</a:t>
            </a:r>
          </a:p>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전체 환각률 50.3%→24.1%</a:t>
            </a:r>
          </a:p>
        </p:txBody>
      </p:sp>
      <p:sp>
        <p:nvSpPr>
          <p:cNvPr id="12" name="own-text-20">
            <a:extLst xmlns:a="http://schemas.openxmlformats.org/drawingml/2006/main">
              <a:ext uri="{FF2B5EF4-FFF2-40B4-BE49-F238E27FC236}">
                <a16:creationId xmlns:a16="http://schemas.microsoft.com/office/drawing/2014/main" id="{DA85D808-992C-4DD0-9057-5C829BA1E72D}"/>
              </a:ext>
            </a:extLst>
          </p:cNvPr>
          <p:cNvSpPr>
            <a:spLocks xmlns:a="http://schemas.openxmlformats.org/drawingml/2006/main" noGrp="1"/>
          </p:cNvSpPr>
          <p:nvPr/>
        </p:nvSpPr>
        <p:spPr>
          <a:xfrm xmlns:a="http://schemas.openxmlformats.org/drawingml/2006/main">
            <a:off x="9086850" y="5419725"/>
            <a:ext cx="4000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Qwen의 프롬프트 교정 여지</a:t>
            </a:r>
          </a:p>
        </p:txBody>
      </p:sp>
      <p:sp>
        <p:nvSpPr>
          <p:cNvPr id="13" name="own-text-21">
            <a:extLst xmlns:a="http://schemas.openxmlformats.org/drawingml/2006/main">
              <a:ext uri="{FF2B5EF4-FFF2-40B4-BE49-F238E27FC236}">
                <a16:creationId xmlns:a16="http://schemas.microsoft.com/office/drawing/2014/main" id="{BF64F4BE-1723-4E15-A285-541EAD754B34}"/>
              </a:ext>
            </a:extLst>
          </p:cNvPr>
          <p:cNvSpPr>
            <a:spLocks xmlns:a="http://schemas.openxmlformats.org/drawingml/2006/main" noGrp="1"/>
          </p:cNvSpPr>
          <p:nvPr/>
        </p:nvSpPr>
        <p:spPr>
          <a:xfrm xmlns:a="http://schemas.openxmlformats.org/drawingml/2006/main">
            <a:off x="9086850" y="5848350"/>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과잉 보류 352건 중 255건은 환각 없음</a:t>
            </a:r>
          </a:p>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근거 우선 선택·과도한 되묻기가</a:t>
            </a:r>
          </a:p>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답변을 막는 구조를 확인</a:t>
            </a:r>
          </a:p>
        </p:txBody>
      </p:sp>
      <p:sp>
        <p:nvSpPr>
          <p:cNvPr id="14" name="own-text-22">
            <a:extLst xmlns:a="http://schemas.openxmlformats.org/drawingml/2006/main">
              <a:ext uri="{FF2B5EF4-FFF2-40B4-BE49-F238E27FC236}">
                <a16:creationId xmlns:a16="http://schemas.microsoft.com/office/drawing/2014/main" id="{1A46C279-4F91-461D-8B24-17A1DDC3F6F6}"/>
              </a:ext>
            </a:extLst>
          </p:cNvPr>
          <p:cNvSpPr>
            <a:spLocks xmlns:a="http://schemas.openxmlformats.org/drawingml/2006/main" noGrp="1"/>
          </p:cNvSpPr>
          <p:nvPr/>
        </p:nvSpPr>
        <p:spPr>
          <a:xfrm xmlns:a="http://schemas.openxmlformats.org/drawingml/2006/main">
            <a:off x="628650" y="588645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1348170044"/>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4" name="own-text-23">
            <a:extLst xmlns:a="http://schemas.openxmlformats.org/drawingml/2006/main">
              <a:ext uri="{FF2B5EF4-FFF2-40B4-BE49-F238E27FC236}">
                <a16:creationId xmlns:a16="http://schemas.microsoft.com/office/drawing/2014/main" id="{72AF99D3-A97F-4FC9-80D2-A6508594CDB2}"/>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4">
            <a:extLst xmlns:a="http://schemas.openxmlformats.org/drawingml/2006/main">
              <a:ext uri="{FF2B5EF4-FFF2-40B4-BE49-F238E27FC236}">
                <a16:creationId xmlns:a16="http://schemas.microsoft.com/office/drawing/2014/main" id="{33C80DB8-72E6-4163-9240-C7E7D9D6CA6D}"/>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5">
            <a:extLst xmlns:a="http://schemas.openxmlformats.org/drawingml/2006/main">
              <a:ext uri="{FF2B5EF4-FFF2-40B4-BE49-F238E27FC236}">
                <a16:creationId xmlns:a16="http://schemas.microsoft.com/office/drawing/2014/main" id="{90A938FE-08A4-47B1-B6EE-5884C157AD31}"/>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개선안보다 정확했고, 상태 판단과 근거 선택도 개선</a:t>
            </a:r>
          </a:p>
        </p:txBody>
      </p:sp>
      <p:sp>
        <p:nvSpPr>
          <p:cNvPr id="4" name="own-text-26">
            <a:extLst xmlns:a="http://schemas.openxmlformats.org/drawingml/2006/main">
              <a:ext uri="{FF2B5EF4-FFF2-40B4-BE49-F238E27FC236}">
                <a16:creationId xmlns:a16="http://schemas.microsoft.com/office/drawing/2014/main" id="{76BB61A9-F334-4727-812A-DC96ED39EB2E}"/>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27">
            <a:extLst xmlns:a="http://schemas.openxmlformats.org/drawingml/2006/main">
              <a:ext uri="{FF2B5EF4-FFF2-40B4-BE49-F238E27FC236}">
                <a16:creationId xmlns:a16="http://schemas.microsoft.com/office/drawing/2014/main" id="{36728324-9986-4FD9-BF9F-7778AFEEBDFF}"/>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03</a:t>
            </a:r>
          </a:p>
        </p:txBody>
      </p:sp>
      <p:sp>
        <p:nvSpPr>
          <p:cNvPr id="6" name="own-text-28">
            <a:extLst xmlns:a="http://schemas.openxmlformats.org/drawingml/2006/main">
              <a:ext uri="{FF2B5EF4-FFF2-40B4-BE49-F238E27FC236}">
                <a16:creationId xmlns:a16="http://schemas.microsoft.com/office/drawing/2014/main" id="{4972AA7C-1C45-456A-AE73-9502226AFFA6}"/>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404건(오답 집중 표본 포함). 상태는 기대 동작의 엄격 일치, 근거는 정답 문서만 1개 이상 인용한 비율(대상 205건).</a:t>
            </a:r>
          </a:p>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하단 Q4·Q8 품질·자원 및 오답 원인 비교는 별도 1,300문항 기준.</a:t>
            </a:r>
          </a:p>
        </p:txBody>
      </p:sp>
      <p:graphicFrame>
        <p:nvGraphicFramePr>
          <p:cNvPr id="7" name="">
            <a:extLst xmlns:a="http://schemas.openxmlformats.org/drawingml/2006/main">
              <a:ext uri="{FF2B5EF4-FFF2-40B4-BE49-F238E27FC236}">
                <a16:creationId xmlns:a16="http://schemas.microsoft.com/office/drawing/2014/main" id="{D2843786-0DE7-4D98-BC75-14B9E75FCA3A}"/>
              </a:ext>
            </a:extLst>
          </p:cNvPr>
          <p:cNvGraphicFramePr/>
          <p:nvPr/>
        </p:nvGraphicFramePr>
        <p:xfrm>
          <a:off xmlns:a="http://schemas.openxmlformats.org/drawingml/2006/main" x="628650" y="2076450"/>
          <a:ext xmlns:a="http://schemas.openxmlformats.org/drawingml/2006/main" cx="12458700" cy="2476500"/>
        </p:xfrm>
        <a:graphic xmlns:a="http://schemas.openxmlformats.org/drawingml/2006/main">
          <a:graphicData uri="http://schemas.openxmlformats.org/drawingml/2006/table">
            <a:tbl>
              <a:tblPr/>
              <a:tblGrid>
                <a:gridCol w="4762500"/>
                <a:gridCol w="1809750"/>
                <a:gridCol w="1809750"/>
                <a:gridCol w="2038350"/>
                <a:gridCol w="2038350"/>
              </a:tblGrid>
              <a:tr h="412750">
                <a:tc>
                  <a:txBody>
                    <a:bodyPr>
                      <a:noAutofit/>
                    </a:bodyPr>
                    <a:lstStyle/>
                    <a:p>
                      <a:r>
                        <a:rPr sz="1523"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23" b="1">
                          <a:solidFill>
                            <a:srgbClr val="FFFFFF"/>
                          </a:solidFill>
                          <a:latin typeface="맑은 고딕"/>
                          <a:ea typeface="맑은 고딕"/>
                          <a:cs typeface="맑은 고딕"/>
                        </a:rPr>
                        <a:t>정답률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23" b="1">
                          <a:solidFill>
                            <a:srgbClr val="FFFFFF"/>
                          </a:solidFill>
                          <a:latin typeface="맑은 고딕"/>
                          <a:ea typeface="맑은 고딕"/>
                          <a:cs typeface="맑은 고딕"/>
                        </a:rPr>
                        <a:t>환각률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23" b="1">
                          <a:solidFill>
                            <a:srgbClr val="FFFFFF"/>
                          </a:solidFill>
                          <a:latin typeface="맑은 고딕"/>
                          <a:ea typeface="맑은 고딕"/>
                          <a:cs typeface="맑은 고딕"/>
                        </a:rPr>
                        <a:t>상태 판단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23" b="1">
                          <a:solidFill>
                            <a:srgbClr val="FFFFFF"/>
                          </a:solidFill>
                          <a:latin typeface="맑은 고딕"/>
                          <a:ea typeface="맑은 고딕"/>
                          <a:cs typeface="맑은 고딕"/>
                        </a:rPr>
                        <a:t>근거 선택</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12750">
                <a:tc>
                  <a:txBody>
                    <a:bodyPr>
                      <a:noAutofit/>
                    </a:bodyPr>
                    <a:lstStyle/>
                    <a:p>
                      <a:r>
                        <a:rPr sz="1523" b="0">
                          <a:solidFill>
                            <a:srgbClr val="17171A"/>
                          </a:solidFill>
                          <a:latin typeface="맑은 고딕"/>
                          <a:ea typeface="맑은 고딕"/>
                          <a:cs typeface="맑은 고딕"/>
                        </a:rPr>
                        <a:t>Qwen3 4B OFF · 기존</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62.9%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23.8%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62.4%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39.0%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12750">
                <a:tc>
                  <a:txBody>
                    <a:bodyPr>
                      <a:noAutofit/>
                    </a:bodyPr>
                    <a:lstStyle/>
                    <a:p>
                      <a:r>
                        <a:rPr sz="1523" b="0">
                          <a:solidFill>
                            <a:srgbClr val="17171A"/>
                          </a:solidFill>
                          <a:latin typeface="맑은 고딕"/>
                          <a:ea typeface="맑은 고딕"/>
                          <a:cs typeface="맑은 고딕"/>
                        </a:rPr>
                        <a:t>Qwen3 4B OFF · 프롬프트 개선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77.5%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24.5%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77.5%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49.3%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12750">
                <a:tc>
                  <a:txBody>
                    <a:bodyPr>
                      <a:noAutofit/>
                    </a:bodyPr>
                    <a:lstStyle/>
                    <a:p>
                      <a:r>
                        <a:rPr sz="1523"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71.8%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42.6%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78.0%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93.2%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12750">
                <a:tc>
                  <a:txBody>
                    <a:bodyPr>
                      <a:noAutofit/>
                    </a:bodyPr>
                    <a:lstStyle/>
                    <a:p>
                      <a:r>
                        <a:rPr sz="1523" b="1">
                          <a:solidFill>
                            <a:srgbClr val="F72585"/>
                          </a:solidFill>
                          <a:latin typeface="맑은 고딕"/>
                          <a:ea typeface="맑은 고딕"/>
                          <a:cs typeface="맑은 고딕"/>
                        </a:rPr>
                        <a:t>Qwen3 4B Instruct Q4_K_M · 기존</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23" b="1">
                          <a:solidFill>
                            <a:srgbClr val="F72585"/>
                          </a:solidFill>
                          <a:latin typeface="맑은 고딕"/>
                          <a:ea typeface="맑은 고딕"/>
                          <a:cs typeface="맑은 고딕"/>
                        </a:rPr>
                        <a:t>85.1%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23" b="1">
                          <a:solidFill>
                            <a:srgbClr val="F72585"/>
                          </a:solidFill>
                          <a:latin typeface="맑은 고딕"/>
                          <a:ea typeface="맑은 고딕"/>
                          <a:cs typeface="맑은 고딕"/>
                        </a:rPr>
                        <a:t>23.0%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23" b="1">
                          <a:solidFill>
                            <a:srgbClr val="F72585"/>
                          </a:solidFill>
                          <a:latin typeface="맑은 고딕"/>
                          <a:ea typeface="맑은 고딕"/>
                          <a:cs typeface="맑은 고딕"/>
                        </a:rPr>
                        <a:t>88.4%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23" b="1">
                          <a:solidFill>
                            <a:srgbClr val="F72585"/>
                          </a:solidFill>
                          <a:latin typeface="맑은 고딕"/>
                          <a:ea typeface="맑은 고딕"/>
                          <a:cs typeface="맑은 고딕"/>
                        </a:rPr>
                        <a:t>87.8%</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12750">
                <a:tc>
                  <a:txBody>
                    <a:bodyPr>
                      <a:noAutofit/>
                    </a:bodyPr>
                    <a:lstStyle/>
                    <a:p>
                      <a:r>
                        <a:rPr sz="1523"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87.6%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22.3%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91.6%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90.2%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29">
            <a:extLst xmlns:a="http://schemas.openxmlformats.org/drawingml/2006/main">
              <a:ext uri="{FF2B5EF4-FFF2-40B4-BE49-F238E27FC236}">
                <a16:creationId xmlns:a16="http://schemas.microsoft.com/office/drawing/2014/main" id="{77A12FD8-DCAD-4DBF-9EFD-624F9D7330BC}"/>
              </a:ext>
            </a:extLst>
          </p:cNvPr>
          <p:cNvSpPr>
            <a:spLocks xmlns:a="http://schemas.openxmlformats.org/drawingml/2006/main" noGrp="1"/>
          </p:cNvSpPr>
          <p:nvPr/>
        </p:nvSpPr>
        <p:spPr>
          <a:xfrm xmlns:a="http://schemas.openxmlformats.org/drawingml/2006/main">
            <a:off x="628650" y="4876800"/>
            <a:ext cx="600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Q4와 Q8의 품질·자원 비교</a:t>
            </a:r>
          </a:p>
        </p:txBody>
      </p:sp>
      <p:sp>
        <p:nvSpPr>
          <p:cNvPr id="9" name="own-text-30">
            <a:extLst xmlns:a="http://schemas.openxmlformats.org/drawingml/2006/main">
              <a:ext uri="{FF2B5EF4-FFF2-40B4-BE49-F238E27FC236}">
                <a16:creationId xmlns:a16="http://schemas.microsoft.com/office/drawing/2014/main" id="{66DAF7C6-D0A0-4E90-94C9-10F18F4DB241}"/>
              </a:ext>
            </a:extLst>
          </p:cNvPr>
          <p:cNvSpPr>
            <a:spLocks xmlns:a="http://schemas.openxmlformats.org/drawingml/2006/main" noGrp="1"/>
          </p:cNvSpPr>
          <p:nvPr/>
        </p:nvSpPr>
        <p:spPr>
          <a:xfrm xmlns:a="http://schemas.openxmlformats.org/drawingml/2006/main">
            <a:off x="628650" y="5295900"/>
            <a:ext cx="600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정답률 77.5% / 78.8%</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환각률 26.2% / 26.5%</a:t>
            </a:r>
          </a:p>
        </p:txBody>
      </p:sp>
      <p:sp>
        <p:nvSpPr>
          <p:cNvPr id="10" name="own-text-31">
            <a:extLst xmlns:a="http://schemas.openxmlformats.org/drawingml/2006/main">
              <a:ext uri="{FF2B5EF4-FFF2-40B4-BE49-F238E27FC236}">
                <a16:creationId xmlns:a16="http://schemas.microsoft.com/office/drawing/2014/main" id="{C7040938-0077-4F1C-90B2-F0559E9E7DDF}"/>
              </a:ext>
            </a:extLst>
          </p:cNvPr>
          <p:cNvSpPr>
            <a:spLocks xmlns:a="http://schemas.openxmlformats.org/drawingml/2006/main" noGrp="1"/>
          </p:cNvSpPr>
          <p:nvPr/>
        </p:nvSpPr>
        <p:spPr>
          <a:xfrm xmlns:a="http://schemas.openxmlformats.org/drawingml/2006/main">
            <a:off x="628650" y="5981700"/>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23" b="0">
                <a:solidFill>
                  <a:srgbClr val="686B72"/>
                </a:solidFill>
                <a:latin typeface="맑은 고딕"/>
                <a:ea typeface="맑은 고딕"/>
                <a:cs typeface="맑은 고딕"/>
              </a:defRPr>
            </a:defPPr>
            <a:lvl1pPr algn="l">
              <a:defRPr sz="1523" b="0">
                <a:solidFill>
                  <a:srgbClr val="686B72"/>
                </a:solidFill>
                <a:latin typeface="맑은 고딕"/>
                <a:ea typeface="맑은 고딕"/>
                <a:cs typeface="맑은 고딕"/>
              </a:defRPr>
            </a:lvl1pPr>
            <a:lvl2pPr algn="l">
              <a:defRPr sz="1523" b="0">
                <a:solidFill>
                  <a:srgbClr val="686B72"/>
                </a:solidFill>
                <a:latin typeface="맑은 고딕"/>
                <a:ea typeface="맑은 고딕"/>
                <a:cs typeface="맑은 고딕"/>
              </a:defRPr>
            </a:lvl2pPr>
            <a:lvl3pPr algn="l">
              <a:defRPr sz="1523" b="0">
                <a:solidFill>
                  <a:srgbClr val="686B72"/>
                </a:solidFill>
                <a:latin typeface="맑은 고딕"/>
                <a:ea typeface="맑은 고딕"/>
                <a:cs typeface="맑은 고딕"/>
              </a:defRPr>
            </a:lvl3pPr>
            <a:lvl4pPr algn="l">
              <a:defRPr sz="1523" b="0">
                <a:solidFill>
                  <a:srgbClr val="686B72"/>
                </a:solidFill>
                <a:latin typeface="맑은 고딕"/>
                <a:ea typeface="맑은 고딕"/>
                <a:cs typeface="맑은 고딕"/>
              </a:defRPr>
            </a:lvl4pPr>
            <a:lvl5pPr algn="l">
              <a:defRPr sz="1523" b="0">
                <a:solidFill>
                  <a:srgbClr val="686B72"/>
                </a:solidFill>
                <a:latin typeface="맑은 고딕"/>
                <a:ea typeface="맑은 고딕"/>
                <a:cs typeface="맑은 고딕"/>
              </a:defRPr>
            </a:lvl5pPr>
            <a:lvl6pPr algn="l">
              <a:defRPr sz="1523" b="0">
                <a:solidFill>
                  <a:srgbClr val="686B72"/>
                </a:solidFill>
                <a:latin typeface="맑은 고딕"/>
                <a:ea typeface="맑은 고딕"/>
                <a:cs typeface="맑은 고딕"/>
              </a:defRPr>
            </a:lvl6pPr>
            <a:lvl7pPr algn="l">
              <a:defRPr sz="1523" b="0">
                <a:solidFill>
                  <a:srgbClr val="686B72"/>
                </a:solidFill>
                <a:latin typeface="맑은 고딕"/>
                <a:ea typeface="맑은 고딕"/>
                <a:cs typeface="맑은 고딕"/>
              </a:defRPr>
            </a:lvl7pPr>
            <a:lvl8pPr algn="l">
              <a:defRPr sz="1523" b="0">
                <a:solidFill>
                  <a:srgbClr val="686B72"/>
                </a:solidFill>
                <a:latin typeface="맑은 고딕"/>
                <a:ea typeface="맑은 고딕"/>
                <a:cs typeface="맑은 고딕"/>
              </a:defRPr>
            </a:lvl8pPr>
            <a:lvl9pPr algn="l">
              <a:defRPr sz="1523" b="0">
                <a:solidFill>
                  <a:srgbClr val="686B72"/>
                </a:solidFill>
                <a:latin typeface="맑은 고딕"/>
                <a:ea typeface="맑은 고딕"/>
                <a:cs typeface="맑은 고딕"/>
              </a:defRPr>
            </a:lvl9pPr>
          </a:lstStyle>
          <a:p xmlns:a="http://schemas.openxmlformats.org/drawingml/2006/main">
            <a:pPr algn="l">
              <a:defRPr sz="1523" b="0">
                <a:solidFill>
                  <a:srgbClr val="686B72"/>
                </a:solidFill>
                <a:latin typeface="맑은 고딕"/>
                <a:ea typeface="맑은 고딕"/>
                <a:cs typeface="맑은 고딕"/>
              </a:defRPr>
            </a:pPr>
            <a:r>
              <a:rPr sz="1523" b="0">
                <a:solidFill>
                  <a:srgbClr val="686B72"/>
                </a:solidFill>
                <a:latin typeface="맑은 고딕"/>
                <a:ea typeface="맑은 고딕"/>
                <a:cs typeface="맑은 고딕"/>
              </a:rPr>
              <a:t>평균 응답 2.61초 / 3.49초·가중치 2.5GB / 4.3GB</a:t>
            </a:r>
          </a:p>
          <a:p xmlns:a="http://schemas.openxmlformats.org/drawingml/2006/main">
            <a:pPr algn="l">
              <a:defRPr sz="1523" b="0">
                <a:solidFill>
                  <a:srgbClr val="686B72"/>
                </a:solidFill>
                <a:latin typeface="맑은 고딕"/>
                <a:ea typeface="맑은 고딕"/>
                <a:cs typeface="맑은 고딕"/>
              </a:defRPr>
            </a:pPr>
            <a:r>
              <a:rPr sz="1523" b="0">
                <a:solidFill>
                  <a:srgbClr val="686B72"/>
                </a:solidFill>
                <a:latin typeface="맑은 고딕"/>
                <a:ea typeface="맑은 고딕"/>
                <a:cs typeface="맑은 고딕"/>
              </a:rPr>
              <a:t>품질 차이가 뚜렷하지 않아 동시 서빙 여유를 고려</a:t>
            </a:r>
          </a:p>
        </p:txBody>
      </p:sp>
      <p:sp>
        <p:nvSpPr>
          <p:cNvPr id="11" name="own-text-32">
            <a:extLst xmlns:a="http://schemas.openxmlformats.org/drawingml/2006/main">
              <a:ext uri="{FF2B5EF4-FFF2-40B4-BE49-F238E27FC236}">
                <a16:creationId xmlns:a16="http://schemas.microsoft.com/office/drawing/2014/main" id="{1147DDDD-B925-4733-A6ED-C243FBBC9CD8}"/>
              </a:ext>
            </a:extLst>
          </p:cNvPr>
          <p:cNvSpPr>
            <a:spLocks xmlns:a="http://schemas.openxmlformats.org/drawingml/2006/main" noGrp="1"/>
          </p:cNvSpPr>
          <p:nvPr/>
        </p:nvSpPr>
        <p:spPr>
          <a:xfrm xmlns:a="http://schemas.openxmlformats.org/drawingml/2006/main">
            <a:off x="7086600" y="4876800"/>
            <a:ext cx="600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xmlns:a="http://schemas.openxmlformats.org/drawingml/2006/main">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Instruct 고도화의 한계와 방향</a:t>
            </a:r>
          </a:p>
        </p:txBody>
      </p:sp>
      <p:sp>
        <p:nvSpPr>
          <p:cNvPr id="12" name="own-text-33">
            <a:extLst xmlns:a="http://schemas.openxmlformats.org/drawingml/2006/main">
              <a:ext uri="{FF2B5EF4-FFF2-40B4-BE49-F238E27FC236}">
                <a16:creationId xmlns:a16="http://schemas.microsoft.com/office/drawing/2014/main" id="{807D1509-3D4B-4D57-B4F8-A88A7F0DD75B}"/>
              </a:ext>
            </a:extLst>
          </p:cNvPr>
          <p:cNvSpPr>
            <a:spLocks xmlns:a="http://schemas.openxmlformats.org/drawingml/2006/main" noGrp="1"/>
          </p:cNvSpPr>
          <p:nvPr/>
        </p:nvSpPr>
        <p:spPr>
          <a:xfrm xmlns:a="http://schemas.openxmlformats.org/drawingml/2006/main">
            <a:off x="7086600" y="5295900"/>
            <a:ext cx="600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오답 중 과잉 보류 37.7%에서 6.1%로 감소</a:t>
            </a:r>
          </a:p>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보류만 풀어 정답을 늘릴 교정 여지가 줄어듦</a:t>
            </a:r>
          </a:p>
        </p:txBody>
      </p:sp>
      <p:sp>
        <p:nvSpPr>
          <p:cNvPr id="13" name="own-text-34">
            <a:extLst xmlns:a="http://schemas.openxmlformats.org/drawingml/2006/main">
              <a:ext uri="{FF2B5EF4-FFF2-40B4-BE49-F238E27FC236}">
                <a16:creationId xmlns:a16="http://schemas.microsoft.com/office/drawing/2014/main" id="{4E2ED71F-624B-49A7-ADDC-785E8AF2D90F}"/>
              </a:ext>
            </a:extLst>
          </p:cNvPr>
          <p:cNvSpPr>
            <a:spLocks xmlns:a="http://schemas.openxmlformats.org/drawingml/2006/main" noGrp="1"/>
          </p:cNvSpPr>
          <p:nvPr/>
        </p:nvSpPr>
        <p:spPr>
          <a:xfrm xmlns:a="http://schemas.openxmlformats.org/drawingml/2006/main">
            <a:off x="7086600" y="60769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정답률 상승보다 환각 감소에 집중</a:t>
            </a:r>
          </a:p>
        </p:txBody>
      </p:sp>
    </p:spTree>
    <p:extLst>
      <p:ext uri="{BB962C8B-B14F-4D97-AF65-F5344CB8AC3E}">
        <p14:creationId xmlns:p14="http://schemas.microsoft.com/office/powerpoint/2010/main" val="1972036640"/>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own-text-35">
            <a:extLst xmlns:a="http://schemas.openxmlformats.org/drawingml/2006/main">
              <a:ext uri="{FF2B5EF4-FFF2-40B4-BE49-F238E27FC236}">
                <a16:creationId xmlns:a16="http://schemas.microsoft.com/office/drawing/2014/main" id="{E84C9089-3F66-4E39-8137-D80E1DD92898}"/>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36">
            <a:extLst xmlns:a="http://schemas.openxmlformats.org/drawingml/2006/main">
              <a:ext uri="{FF2B5EF4-FFF2-40B4-BE49-F238E27FC236}">
                <a16:creationId xmlns:a16="http://schemas.microsoft.com/office/drawing/2014/main" id="{63F9CC92-DD4F-4BD4-846E-971D97FCE488}"/>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37">
            <a:extLst xmlns:a="http://schemas.openxmlformats.org/drawingml/2006/main">
              <a:ext uri="{FF2B5EF4-FFF2-40B4-BE49-F238E27FC236}">
                <a16:creationId xmlns:a16="http://schemas.microsoft.com/office/drawing/2014/main" id="{4DBC51E8-0ECF-443E-8B29-217633A6B6AF}"/>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38">
            <a:extLst xmlns:a="http://schemas.openxmlformats.org/drawingml/2006/main">
              <a:ext uri="{FF2B5EF4-FFF2-40B4-BE49-F238E27FC236}">
                <a16:creationId xmlns:a16="http://schemas.microsoft.com/office/drawing/2014/main" id="{E22E5AD3-AAD5-45A1-9BFE-B4890C285632}"/>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9">
            <a:extLst xmlns:a="http://schemas.openxmlformats.org/drawingml/2006/main">
              <a:ext uri="{FF2B5EF4-FFF2-40B4-BE49-F238E27FC236}">
                <a16:creationId xmlns:a16="http://schemas.microsoft.com/office/drawing/2014/main" id="{F5BD1123-07BE-4367-A0D2-1965A8141046}"/>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04</a:t>
            </a:r>
          </a:p>
        </p:txBody>
      </p:sp>
      <p:sp>
        <p:nvSpPr>
          <p:cNvPr id="6" name="own-text-40">
            <a:extLst xmlns:a="http://schemas.openxmlformats.org/drawingml/2006/main">
              <a:ext uri="{FF2B5EF4-FFF2-40B4-BE49-F238E27FC236}">
                <a16:creationId xmlns:a16="http://schemas.microsoft.com/office/drawing/2014/main" id="{19DCD057-D07D-4D61-9042-3C03142647B2}"/>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1">
            <a:extLst xmlns:a="http://schemas.openxmlformats.org/drawingml/2006/main">
              <a:ext uri="{FF2B5EF4-FFF2-40B4-BE49-F238E27FC236}">
                <a16:creationId xmlns:a16="http://schemas.microsoft.com/office/drawing/2014/main" id="{666A1AF4-208B-41CA-9FE8-ADC6B3E73452}"/>
              </a:ext>
            </a:extLst>
          </p:cNvPr>
          <p:cNvSpPr>
            <a:spLocks xmlns:a="http://schemas.openxmlformats.org/drawingml/2006/main" noGrp="1"/>
          </p:cNvSpPr>
          <p:nvPr/>
        </p:nvSpPr>
        <p:spPr>
          <a:xfrm xmlns:a="http://schemas.openxmlformats.org/drawingml/2006/main">
            <a:off x="628650" y="20764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xmlns:a="http://schemas.openxmlformats.org/drawingml/2006/main">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xmlns:a="http://schemas.openxmlformats.org/drawingml/2006/main">
              <a:ext uri="{FF2B5EF4-FFF2-40B4-BE49-F238E27FC236}">
                <a16:creationId xmlns:a16="http://schemas.microsoft.com/office/drawing/2014/main" id="{EC25E36F-CC43-4322-A75D-4E7118C2ECF6}"/>
              </a:ext>
            </a:extLst>
          </p:cNvPr>
          <p:cNvGraphicFramePr/>
          <p:nvPr/>
        </p:nvGraphicFramePr>
        <p:xfrm>
          <a:off xmlns:a="http://schemas.openxmlformats.org/drawingml/2006/main" x="628650" y="2543175"/>
          <a:ext xmlns:a="http://schemas.openxmlformats.org/drawingml/2006/main" cx="5753100" cy="2952750"/>
        </p:xfrm>
        <a:graphic xmlns:a="http://schemas.openxmlformats.org/drawingml/2006/main">
          <a:graphicData uri="http://schemas.openxmlformats.org/drawingml/2006/chart">
            <c:chart xmlns:r="http://schemas.openxmlformats.org/officeDocument/2006/relationships" xmlns:c="http://schemas.openxmlformats.org/drawingml/2006/chart" r:id="R97eacbd8d1104ec5"/>
          </a:graphicData>
        </a:graphic>
      </p:graphicFrame>
      <p:graphicFrame>
        <p:nvGraphicFramePr>
          <p:cNvPr id="9" name="">
            <a:extLst xmlns:a="http://schemas.openxmlformats.org/drawingml/2006/main">
              <a:ext uri="{FF2B5EF4-FFF2-40B4-BE49-F238E27FC236}">
                <a16:creationId xmlns:a16="http://schemas.microsoft.com/office/drawing/2014/main" id="{173BCB43-5553-48BE-8427-7414094A3241}"/>
              </a:ext>
            </a:extLst>
          </p:cNvPr>
          <p:cNvGraphicFramePr/>
          <p:nvPr/>
        </p:nvGraphicFramePr>
        <p:xfrm>
          <a:off xmlns:a="http://schemas.openxmlformats.org/drawingml/2006/main" x="6953250" y="2076450"/>
          <a:ext xmlns:a="http://schemas.openxmlformats.org/drawingml/2006/main" cx="6134100" cy="3429000"/>
        </p:xfrm>
        <a:graphic xmlns:a="http://schemas.openxmlformats.org/drawingml/2006/main">
          <a:graphicData uri="http://schemas.openxmlformats.org/drawingml/2006/table">
            <a:tbl>
              <a:tblPr/>
              <a:tblGrid>
                <a:gridCol w="2705100"/>
                <a:gridCol w="1714500"/>
                <a:gridCol w="1714500"/>
              </a:tblGrid>
              <a:tr h="571500">
                <a:tc>
                  <a:txBody>
                    <a:bodyPr>
                      <a:noAutofit/>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기본</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개선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571500">
                <a:tc>
                  <a:txBody>
                    <a:bodyPr>
                      <a:noAutofit/>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698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147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234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0" name="own-text-42">
            <a:extLst xmlns:a="http://schemas.openxmlformats.org/drawingml/2006/main">
              <a:ext uri="{FF2B5EF4-FFF2-40B4-BE49-F238E27FC236}">
                <a16:creationId xmlns:a16="http://schemas.microsoft.com/office/drawing/2014/main" id="{D89091D9-E034-46CF-B015-07D7A7B2C8A2}"/>
              </a:ext>
            </a:extLst>
          </p:cNvPr>
          <p:cNvSpPr>
            <a:spLocks xmlns:a="http://schemas.openxmlformats.org/drawingml/2006/main" noGrp="1"/>
          </p:cNvSpPr>
          <p:nvPr/>
        </p:nvSpPr>
        <p:spPr>
          <a:xfrm xmlns:a="http://schemas.openxmlformats.org/drawingml/2006/main">
            <a:off x="628650" y="577215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xmlns:a="http://schemas.openxmlformats.org/drawingml/2006/main">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3">
            <a:extLst xmlns:a="http://schemas.openxmlformats.org/drawingml/2006/main">
              <a:ext uri="{FF2B5EF4-FFF2-40B4-BE49-F238E27FC236}">
                <a16:creationId xmlns:a16="http://schemas.microsoft.com/office/drawing/2014/main" id="{CD6000A0-987C-4174-88E6-E9E1C5B0E1EA}"/>
              </a:ext>
            </a:extLst>
          </p:cNvPr>
          <p:cNvSpPr>
            <a:spLocks xmlns:a="http://schemas.openxmlformats.org/drawingml/2006/main" noGrp="1"/>
          </p:cNvSpPr>
          <p:nvPr/>
        </p:nvSpPr>
        <p:spPr>
          <a:xfrm xmlns:a="http://schemas.openxmlformats.org/drawingml/2006/main">
            <a:off x="6953250" y="5800725"/>
            <a:ext cx="6134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337583971"/>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794443DB-FC79-48C0-BE70-C8590E6C80F6}"/>
              </a:ext>
            </a:extLst>
          </p:cNvPr>
          <p:cNvCxnSpPr>
            <a:stCxn xmlns:a="http://schemas.openxmlformats.org/drawingml/2006/main" id="18" idx="0"/>
            <a:endCxn xmlns:a="http://schemas.openxmlformats.org/drawingml/2006/main" id="10" idx="2"/>
          </p:cNvCxnSpPr>
          <p:nvPr/>
        </p:nvCxnSpPr>
        <p:spPr>
          <a:xfrm xmlns:a="http://schemas.openxmlformats.org/drawingml/2006/main" flipV="1">
            <a:off x="9024938"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7987B683-ED0A-4C75-8F4E-69F290420F52}"/>
              </a:ext>
            </a:extLst>
          </p:cNvPr>
          <p:cNvCxnSpPr>
            <a:stCxn xmlns:a="http://schemas.openxmlformats.org/drawingml/2006/main" id="17" idx="3"/>
            <a:endCxn xmlns:a="http://schemas.openxmlformats.org/drawingml/2006/main" id="18" idx="1"/>
          </p:cNvCxnSpPr>
          <p:nvPr/>
        </p:nvCxnSpPr>
        <p:spPr>
          <a:xfrm xmlns:a="http://schemas.openxmlformats.org/drawingml/2006/main">
            <a:off x="7439025"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F2BFFA5D-3E53-4E3C-B659-7DDFF013938C}"/>
              </a:ext>
            </a:extLst>
          </p:cNvPr>
          <p:cNvCxnSpPr>
            <a:stCxn xmlns:a="http://schemas.openxmlformats.org/drawingml/2006/main" id="16" idx="3"/>
            <a:endCxn xmlns:a="http://schemas.openxmlformats.org/drawingml/2006/main" id="17" idx="1"/>
          </p:cNvCxnSpPr>
          <p:nvPr/>
        </p:nvCxnSpPr>
        <p:spPr>
          <a:xfrm xmlns:a="http://schemas.openxmlformats.org/drawingml/2006/main">
            <a:off x="4705350"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06261EAC-CC34-4BC8-8D3F-43767D6E791B}"/>
              </a:ext>
            </a:extLst>
          </p:cNvPr>
          <p:cNvCxnSpPr>
            <a:stCxn xmlns:a="http://schemas.openxmlformats.org/drawingml/2006/main" id="9" idx="2"/>
            <a:endCxn xmlns:a="http://schemas.openxmlformats.org/drawingml/2006/main" id="16" idx="0"/>
          </p:cNvCxnSpPr>
          <p:nvPr/>
        </p:nvCxnSpPr>
        <p:spPr>
          <a:xfrm xmlns:a="http://schemas.openxmlformats.org/drawingml/2006/main" flipH="1">
            <a:off x="3795713" y="2895600"/>
            <a:ext cx="2495550" cy="704850"/>
          </a:xfrm>
          <a:prstGeom xmlns:a="http://schemas.openxmlformats.org/drawingml/2006/main" prst="bentConnector4">
            <a:avLst>
              <a:gd name="adj1" fmla="val 0"/>
              <a:gd name="adj2" fmla="val 50000"/>
            </a:avLst>
          </a:prstGeom>
          <a:ln xmlns:a="http://schemas.openxmlformats.org/drawingml/2006/main" w="19050">
            <a:solidFill>
              <a:srgbClr val="F725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B356EB3F-20E0-45EC-A0E3-A5B4B556A56C}"/>
              </a:ext>
            </a:extLst>
          </p:cNvPr>
          <p:cNvCxnSpPr>
            <a:stCxn xmlns:a="http://schemas.openxmlformats.org/drawingml/2006/main" id="8" idx="2"/>
            <a:endCxn xmlns:a="http://schemas.openxmlformats.org/drawingml/2006/main" id="16" idx="0"/>
          </p:cNvCxnSpPr>
          <p:nvPr/>
        </p:nvCxnSpPr>
        <p:spPr>
          <a:xfrm xmlns:a="http://schemas.openxmlformats.org/drawingml/2006/main">
            <a:off x="3795713"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40928708-85A2-4028-B150-F3D0F26F7395}"/>
              </a:ext>
            </a:extLst>
          </p:cNvPr>
          <p:cNvCxnSpPr>
            <a:stCxn xmlns:a="http://schemas.openxmlformats.org/drawingml/2006/main" id="10" idx="3"/>
            <a:endCxn xmlns:a="http://schemas.openxmlformats.org/drawingml/2006/main" id="11" idx="1"/>
          </p:cNvCxnSpPr>
          <p:nvPr/>
        </p:nvCxnSpPr>
        <p:spPr>
          <a:xfrm xmlns:a="http://schemas.openxmlformats.org/drawingml/2006/main">
            <a:off x="1017270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750ECCF3-9DDE-47EC-8542-B1592C828EF1}"/>
              </a:ext>
            </a:extLst>
          </p:cNvPr>
          <p:cNvCxnSpPr>
            <a:stCxn xmlns:a="http://schemas.openxmlformats.org/drawingml/2006/main" id="9" idx="3"/>
            <a:endCxn xmlns:a="http://schemas.openxmlformats.org/drawingml/2006/main" id="10" idx="1"/>
          </p:cNvCxnSpPr>
          <p:nvPr/>
        </p:nvCxnSpPr>
        <p:spPr>
          <a:xfrm xmlns:a="http://schemas.openxmlformats.org/drawingml/2006/main">
            <a:off x="74390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AF9EFA88-00D8-4087-A8DB-852680AABD39}"/>
              </a:ext>
            </a:extLst>
          </p:cNvPr>
          <p:cNvCxnSpPr>
            <a:stCxn xmlns:a="http://schemas.openxmlformats.org/drawingml/2006/main" id="8" idx="3"/>
            <a:endCxn xmlns:a="http://schemas.openxmlformats.org/drawingml/2006/main" id="9" idx="1"/>
          </p:cNvCxnSpPr>
          <p:nvPr/>
        </p:nvCxnSpPr>
        <p:spPr>
          <a:xfrm xmlns:a="http://schemas.openxmlformats.org/drawingml/2006/main">
            <a:off x="470535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A6E93B08-1A79-4DE0-A389-CBC8C0557E9B}"/>
              </a:ext>
            </a:extLst>
          </p:cNvPr>
          <p:cNvCxnSpPr>
            <a:stCxn xmlns:a="http://schemas.openxmlformats.org/drawingml/2006/main" id="7" idx="3"/>
            <a:endCxn xmlns:a="http://schemas.openxmlformats.org/drawingml/2006/main" id="8" idx="1"/>
          </p:cNvCxnSpPr>
          <p:nvPr/>
        </p:nvCxnSpPr>
        <p:spPr>
          <a:xfrm xmlns:a="http://schemas.openxmlformats.org/drawingml/2006/main">
            <a:off x="24479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27" name="own-text-44">
            <a:extLst xmlns:a="http://schemas.openxmlformats.org/drawingml/2006/main">
              <a:ext uri="{FF2B5EF4-FFF2-40B4-BE49-F238E27FC236}">
                <a16:creationId xmlns:a16="http://schemas.microsoft.com/office/drawing/2014/main" id="{542400D9-BCC8-4AFF-A6AB-EC808C8E252B}"/>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45">
            <a:extLst xmlns:a="http://schemas.openxmlformats.org/drawingml/2006/main">
              <a:ext uri="{FF2B5EF4-FFF2-40B4-BE49-F238E27FC236}">
                <a16:creationId xmlns:a16="http://schemas.microsoft.com/office/drawing/2014/main" id="{2A30D761-9CD5-4301-98DE-10C2B0C476E5}"/>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46">
            <a:extLst xmlns:a="http://schemas.openxmlformats.org/drawingml/2006/main">
              <a:ext uri="{FF2B5EF4-FFF2-40B4-BE49-F238E27FC236}">
                <a16:creationId xmlns:a16="http://schemas.microsoft.com/office/drawing/2014/main" id="{5592AB7C-A11D-4D73-9DCB-129E9A54B046}"/>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47">
            <a:extLst xmlns:a="http://schemas.openxmlformats.org/drawingml/2006/main">
              <a:ext uri="{FF2B5EF4-FFF2-40B4-BE49-F238E27FC236}">
                <a16:creationId xmlns:a16="http://schemas.microsoft.com/office/drawing/2014/main" id="{BBA0DD9A-7729-42B5-8B31-116940009C29}"/>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8">
            <a:extLst xmlns:a="http://schemas.openxmlformats.org/drawingml/2006/main">
              <a:ext uri="{FF2B5EF4-FFF2-40B4-BE49-F238E27FC236}">
                <a16:creationId xmlns:a16="http://schemas.microsoft.com/office/drawing/2014/main" id="{D159B958-B93C-48F5-BB9A-7078B0A49464}"/>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05</a:t>
            </a:r>
          </a:p>
        </p:txBody>
      </p:sp>
      <p:sp>
        <p:nvSpPr>
          <p:cNvPr id="6" name="own-text-49">
            <a:extLst xmlns:a="http://schemas.openxmlformats.org/drawingml/2006/main">
              <a:ext uri="{FF2B5EF4-FFF2-40B4-BE49-F238E27FC236}">
                <a16:creationId xmlns:a16="http://schemas.microsoft.com/office/drawing/2014/main" id="{735136E7-2BF7-4BC3-BE46-0FF6FC7D9476}"/>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0">
            <a:extLst xmlns:a="http://schemas.openxmlformats.org/drawingml/2006/main">
              <a:ext uri="{FF2B5EF4-FFF2-40B4-BE49-F238E27FC236}">
                <a16:creationId xmlns:a16="http://schemas.microsoft.com/office/drawing/2014/main" id="{A3FBC1EF-C55E-470C-884D-843C00518DA0}"/>
              </a:ext>
            </a:extLst>
          </p:cNvPr>
          <p:cNvSpPr>
            <a:spLocks xmlns:a="http://schemas.openxmlformats.org/drawingml/2006/main" noGrp="1"/>
          </p:cNvSpPr>
          <p:nvPr/>
        </p:nvSpPr>
        <p:spPr>
          <a:xfrm xmlns:a="http://schemas.openxmlformats.org/drawingml/2006/main">
            <a:off x="628650" y="2200275"/>
            <a:ext cx="181927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1">
            <a:extLst xmlns:a="http://schemas.openxmlformats.org/drawingml/2006/main">
              <a:ext uri="{FF2B5EF4-FFF2-40B4-BE49-F238E27FC236}">
                <a16:creationId xmlns:a16="http://schemas.microsoft.com/office/drawing/2014/main" id="{FB46BFCC-D8E4-4314-B09F-9A6C422A9DD3}"/>
              </a:ext>
            </a:extLst>
          </p:cNvPr>
          <p:cNvSpPr>
            <a:spLocks xmlns:a="http://schemas.openxmlformats.org/drawingml/2006/main" noGrp="1"/>
          </p:cNvSpPr>
          <p:nvPr/>
        </p:nvSpPr>
        <p:spPr>
          <a:xfrm xmlns:a="http://schemas.openxmlformats.org/drawingml/2006/main">
            <a:off x="2886075" y="2200275"/>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2">
            <a:extLst xmlns:a="http://schemas.openxmlformats.org/drawingml/2006/main">
              <a:ext uri="{FF2B5EF4-FFF2-40B4-BE49-F238E27FC236}">
                <a16:creationId xmlns:a16="http://schemas.microsoft.com/office/drawing/2014/main" id="{C480241A-4BC7-40BC-BD06-C4F06E0306AE}"/>
              </a:ext>
            </a:extLst>
          </p:cNvPr>
          <p:cNvSpPr>
            <a:spLocks xmlns:a="http://schemas.openxmlformats.org/drawingml/2006/main" noGrp="1"/>
          </p:cNvSpPr>
          <p:nvPr/>
        </p:nvSpPr>
        <p:spPr>
          <a:xfrm xmlns:a="http://schemas.openxmlformats.org/drawingml/2006/main">
            <a:off x="5143500"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3">
            <a:extLst xmlns:a="http://schemas.openxmlformats.org/drawingml/2006/main">
              <a:ext uri="{FF2B5EF4-FFF2-40B4-BE49-F238E27FC236}">
                <a16:creationId xmlns:a16="http://schemas.microsoft.com/office/drawing/2014/main" id="{5E2869BB-CE7A-4980-A8F4-24724AC552B8}"/>
              </a:ext>
            </a:extLst>
          </p:cNvPr>
          <p:cNvSpPr>
            <a:spLocks xmlns:a="http://schemas.openxmlformats.org/drawingml/2006/main" noGrp="1"/>
          </p:cNvSpPr>
          <p:nvPr/>
        </p:nvSpPr>
        <p:spPr>
          <a:xfrm xmlns:a="http://schemas.openxmlformats.org/drawingml/2006/main">
            <a:off x="7877175"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4">
            <a:extLst xmlns:a="http://schemas.openxmlformats.org/drawingml/2006/main">
              <a:ext uri="{FF2B5EF4-FFF2-40B4-BE49-F238E27FC236}">
                <a16:creationId xmlns:a16="http://schemas.microsoft.com/office/drawing/2014/main" id="{917D78EF-0F87-4D41-AD3C-97AE9E67A863}"/>
              </a:ext>
            </a:extLst>
          </p:cNvPr>
          <p:cNvSpPr>
            <a:spLocks xmlns:a="http://schemas.openxmlformats.org/drawingml/2006/main" noGrp="1"/>
          </p:cNvSpPr>
          <p:nvPr/>
        </p:nvSpPr>
        <p:spPr>
          <a:xfrm xmlns:a="http://schemas.openxmlformats.org/drawingml/2006/main">
            <a:off x="10610850" y="2200275"/>
            <a:ext cx="2476500" cy="69532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55">
            <a:extLst xmlns:a="http://schemas.openxmlformats.org/drawingml/2006/main">
              <a:ext uri="{FF2B5EF4-FFF2-40B4-BE49-F238E27FC236}">
                <a16:creationId xmlns:a16="http://schemas.microsoft.com/office/drawing/2014/main" id="{B3540CDC-8CFD-4C33-8188-EF1452437710}"/>
              </a:ext>
            </a:extLst>
          </p:cNvPr>
          <p:cNvSpPr>
            <a:spLocks xmlns:a="http://schemas.openxmlformats.org/drawingml/2006/main" noGrp="1"/>
          </p:cNvSpPr>
          <p:nvPr/>
        </p:nvSpPr>
        <p:spPr>
          <a:xfrm xmlns:a="http://schemas.openxmlformats.org/drawingml/2006/main">
            <a:off x="2886075" y="3600450"/>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56">
            <a:extLst xmlns:a="http://schemas.openxmlformats.org/drawingml/2006/main">
              <a:ext uri="{FF2B5EF4-FFF2-40B4-BE49-F238E27FC236}">
                <a16:creationId xmlns:a16="http://schemas.microsoft.com/office/drawing/2014/main" id="{C16F4B94-6735-40EF-ABB6-999F30E90455}"/>
              </a:ext>
            </a:extLst>
          </p:cNvPr>
          <p:cNvSpPr>
            <a:spLocks xmlns:a="http://schemas.openxmlformats.org/drawingml/2006/main" noGrp="1"/>
          </p:cNvSpPr>
          <p:nvPr/>
        </p:nvSpPr>
        <p:spPr>
          <a:xfrm xmlns:a="http://schemas.openxmlformats.org/drawingml/2006/main">
            <a:off x="5143500"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57">
            <a:extLst xmlns:a="http://schemas.openxmlformats.org/drawingml/2006/main">
              <a:ext uri="{FF2B5EF4-FFF2-40B4-BE49-F238E27FC236}">
                <a16:creationId xmlns:a16="http://schemas.microsoft.com/office/drawing/2014/main" id="{BDD026E1-5327-4F34-8990-354AD061A966}"/>
              </a:ext>
            </a:extLst>
          </p:cNvPr>
          <p:cNvSpPr>
            <a:spLocks xmlns:a="http://schemas.openxmlformats.org/drawingml/2006/main" noGrp="1"/>
          </p:cNvSpPr>
          <p:nvPr/>
        </p:nvSpPr>
        <p:spPr>
          <a:xfrm xmlns:a="http://schemas.openxmlformats.org/drawingml/2006/main">
            <a:off x="7877175"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58">
            <a:extLst xmlns:a="http://schemas.openxmlformats.org/drawingml/2006/main">
              <a:ext uri="{FF2B5EF4-FFF2-40B4-BE49-F238E27FC236}">
                <a16:creationId xmlns:a16="http://schemas.microsoft.com/office/drawing/2014/main" id="{B0B083FC-6596-4729-B482-080AAE3B1CB9}"/>
              </a:ext>
            </a:extLst>
          </p:cNvPr>
          <p:cNvSpPr>
            <a:spLocks xmlns:a="http://schemas.openxmlformats.org/drawingml/2006/main" noGrp="1"/>
          </p:cNvSpPr>
          <p:nvPr/>
        </p:nvSpPr>
        <p:spPr>
          <a:xfrm xmlns:a="http://schemas.openxmlformats.org/drawingml/2006/main">
            <a:off x="628650" y="3571875"/>
            <a:ext cx="2047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59">
            <a:extLst xmlns:a="http://schemas.openxmlformats.org/drawingml/2006/main">
              <a:ext uri="{FF2B5EF4-FFF2-40B4-BE49-F238E27FC236}">
                <a16:creationId xmlns:a16="http://schemas.microsoft.com/office/drawing/2014/main" id="{20CCC935-87B5-4AD6-B8A3-E080DA27D015}"/>
              </a:ext>
            </a:extLst>
          </p:cNvPr>
          <p:cNvSpPr>
            <a:spLocks xmlns:a="http://schemas.openxmlformats.org/drawingml/2006/main" noGrp="1"/>
          </p:cNvSpPr>
          <p:nvPr/>
        </p:nvSpPr>
        <p:spPr>
          <a:xfrm xmlns:a="http://schemas.openxmlformats.org/drawingml/2006/main">
            <a:off x="10610850" y="35718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
            <a:extLst xmlns:a="http://schemas.openxmlformats.org/drawingml/2006/main">
              <a:ext uri="{FF2B5EF4-FFF2-40B4-BE49-F238E27FC236}">
                <a16:creationId xmlns:a16="http://schemas.microsoft.com/office/drawing/2014/main" id="{C6D723C7-6424-4493-9395-472705CDBDCE}"/>
              </a:ext>
            </a:extLst>
          </p:cNvPr>
          <p:cNvGraphicFramePr/>
          <p:nvPr/>
        </p:nvGraphicFramePr>
        <p:xfrm>
          <a:off xmlns:a="http://schemas.openxmlformats.org/drawingml/2006/main" x="628650" y="4886325"/>
          <a:ext xmlns:a="http://schemas.openxmlformats.org/drawingml/2006/main" cx="12458700" cy="1571625"/>
        </p:xfrm>
        <a:graphic xmlns:a="http://schemas.openxmlformats.org/drawingml/2006/main">
          <a:graphicData uri="http://schemas.openxmlformats.org/drawingml/2006/table">
            <a:tbl>
              <a:tblPr/>
              <a:tblGrid>
                <a:gridCol w="4838700"/>
                <a:gridCol w="3810000"/>
                <a:gridCol w="3810000"/>
              </a:tblGrid>
              <a:tr h="392906">
                <a:tc>
                  <a:txBody>
                    <a:bodyPr>
                      <a:noAutofit/>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 없이 검색</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개선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92906">
                <a:tc>
                  <a:txBody>
                    <a:bodyPr>
                      <a:noAutofit/>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84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392906">
                <a:tc>
                  <a:txBody>
                    <a:bodyPr>
                      <a:noAutofit/>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161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182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392906">
                <a:tc>
                  <a:txBody>
                    <a:bodyPr>
                      <a:noAutofit/>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90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Tree>
    <p:extLst>
      <p:ext uri="{BB962C8B-B14F-4D97-AF65-F5344CB8AC3E}">
        <p14:creationId xmlns:p14="http://schemas.microsoft.com/office/powerpoint/2010/main" val="1474946924"/>
      </p:ext>
    </p:extLst>
  </p:cSld>
</p:sld>
</file>

<file path=ppt/slides/slide6.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530AE1B0-3E3D-4E1D-9B56-817F5257A9ED}"/>
              </a:ext>
            </a:extLst>
          </p:cNvPr>
          <p:cNvCxnSpPr>
            <a:stCxn xmlns:a="http://schemas.openxmlformats.org/drawingml/2006/main" id="8" idx="3"/>
            <a:endCxn xmlns:a="http://schemas.openxmlformats.org/drawingml/2006/main" id="9" idx="1"/>
          </p:cNvCxnSpPr>
          <p:nvPr/>
        </p:nvCxnSpPr>
        <p:spPr>
          <a:xfrm xmlns:a="http://schemas.openxmlformats.org/drawingml/2006/main">
            <a:off x="2914650" y="3043238"/>
            <a:ext cx="114300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9" name="own-text-60">
            <a:extLst xmlns:a="http://schemas.openxmlformats.org/drawingml/2006/main">
              <a:ext uri="{FF2B5EF4-FFF2-40B4-BE49-F238E27FC236}">
                <a16:creationId xmlns:a16="http://schemas.microsoft.com/office/drawing/2014/main" id="{3F2FBDB9-64A1-4DF2-8DB6-A4356112C977}"/>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1">
            <a:extLst xmlns:a="http://schemas.openxmlformats.org/drawingml/2006/main">
              <a:ext uri="{FF2B5EF4-FFF2-40B4-BE49-F238E27FC236}">
                <a16:creationId xmlns:a16="http://schemas.microsoft.com/office/drawing/2014/main" id="{1E803A09-4540-43B8-911B-24FBBF13153E}"/>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2">
            <a:extLst xmlns:a="http://schemas.openxmlformats.org/drawingml/2006/main">
              <a:ext uri="{FF2B5EF4-FFF2-40B4-BE49-F238E27FC236}">
                <a16:creationId xmlns:a16="http://schemas.microsoft.com/office/drawing/2014/main" id="{137E0FBB-9555-47A5-94A7-86D7F510F6B9}"/>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3">
            <a:extLst xmlns:a="http://schemas.openxmlformats.org/drawingml/2006/main">
              <a:ext uri="{FF2B5EF4-FFF2-40B4-BE49-F238E27FC236}">
                <a16:creationId xmlns:a16="http://schemas.microsoft.com/office/drawing/2014/main" id="{19CB6D8B-D911-4B10-8251-37F3EFBDB826}"/>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4">
            <a:extLst xmlns:a="http://schemas.openxmlformats.org/drawingml/2006/main">
              <a:ext uri="{FF2B5EF4-FFF2-40B4-BE49-F238E27FC236}">
                <a16:creationId xmlns:a16="http://schemas.microsoft.com/office/drawing/2014/main" id="{EAC7430D-DCA1-469D-A702-51DE6839B2ED}"/>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06</a:t>
            </a:r>
          </a:p>
        </p:txBody>
      </p:sp>
      <p:sp>
        <p:nvSpPr>
          <p:cNvPr id="6" name="own-text-65">
            <a:extLst xmlns:a="http://schemas.openxmlformats.org/drawingml/2006/main">
              <a:ext uri="{FF2B5EF4-FFF2-40B4-BE49-F238E27FC236}">
                <a16:creationId xmlns:a16="http://schemas.microsoft.com/office/drawing/2014/main" id="{BEFCDEBE-3CF1-4F7F-A64E-395293D35C7A}"/>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66">
            <a:extLst xmlns:a="http://schemas.openxmlformats.org/drawingml/2006/main">
              <a:ext uri="{FF2B5EF4-FFF2-40B4-BE49-F238E27FC236}">
                <a16:creationId xmlns:a16="http://schemas.microsoft.com/office/drawing/2014/main" id="{17F7BA47-1B97-4818-A1A9-329B29A2BA42}"/>
              </a:ext>
            </a:extLst>
          </p:cNvPr>
          <p:cNvSpPr>
            <a:spLocks xmlns:a="http://schemas.openxmlformats.org/drawingml/2006/main" noGrp="1"/>
          </p:cNvSpPr>
          <p:nvPr/>
        </p:nvSpPr>
        <p:spPr>
          <a:xfrm xmlns:a="http://schemas.openxmlformats.org/drawingml/2006/main">
            <a:off x="62865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67">
            <a:extLst xmlns:a="http://schemas.openxmlformats.org/drawingml/2006/main">
              <a:ext uri="{FF2B5EF4-FFF2-40B4-BE49-F238E27FC236}">
                <a16:creationId xmlns:a16="http://schemas.microsoft.com/office/drawing/2014/main" id="{0AFCD9E1-60BF-4D26-BC1C-3398664DA11D}"/>
              </a:ext>
            </a:extLst>
          </p:cNvPr>
          <p:cNvSpPr>
            <a:spLocks xmlns:a="http://schemas.openxmlformats.org/drawingml/2006/main" noGrp="1"/>
          </p:cNvSpPr>
          <p:nvPr/>
        </p:nvSpPr>
        <p:spPr>
          <a:xfrm xmlns:a="http://schemas.openxmlformats.org/drawingml/2006/main">
            <a:off x="628650" y="2686050"/>
            <a:ext cx="228600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68">
            <a:extLst xmlns:a="http://schemas.openxmlformats.org/drawingml/2006/main">
              <a:ext uri="{FF2B5EF4-FFF2-40B4-BE49-F238E27FC236}">
                <a16:creationId xmlns:a16="http://schemas.microsoft.com/office/drawing/2014/main" id="{02CA5854-E3E9-4CFC-AAC5-E467DF678DA7}"/>
              </a:ext>
            </a:extLst>
          </p:cNvPr>
          <p:cNvSpPr>
            <a:spLocks xmlns:a="http://schemas.openxmlformats.org/drawingml/2006/main" noGrp="1"/>
          </p:cNvSpPr>
          <p:nvPr/>
        </p:nvSpPr>
        <p:spPr>
          <a:xfrm xmlns:a="http://schemas.openxmlformats.org/drawingml/2006/main">
            <a:off x="4057650" y="2686050"/>
            <a:ext cx="2381250" cy="71437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69">
            <a:extLst xmlns:a="http://schemas.openxmlformats.org/drawingml/2006/main">
              <a:ext uri="{FF2B5EF4-FFF2-40B4-BE49-F238E27FC236}">
                <a16:creationId xmlns:a16="http://schemas.microsoft.com/office/drawing/2014/main" id="{DEE7670C-CEB7-4F05-96A1-2D7D157BA317}"/>
              </a:ext>
            </a:extLst>
          </p:cNvPr>
          <p:cNvSpPr>
            <a:spLocks xmlns:a="http://schemas.openxmlformats.org/drawingml/2006/main" noGrp="1"/>
          </p:cNvSpPr>
          <p:nvPr/>
        </p:nvSpPr>
        <p:spPr>
          <a:xfrm xmlns:a="http://schemas.openxmlformats.org/drawingml/2006/main">
            <a:off x="628650" y="3648075"/>
            <a:ext cx="581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0">
            <a:extLst xmlns:a="http://schemas.openxmlformats.org/drawingml/2006/main">
              <a:ext uri="{FF2B5EF4-FFF2-40B4-BE49-F238E27FC236}">
                <a16:creationId xmlns:a16="http://schemas.microsoft.com/office/drawing/2014/main" id="{0EBCB81C-C15F-4961-9219-9E894223419C}"/>
              </a:ext>
            </a:extLst>
          </p:cNvPr>
          <p:cNvSpPr>
            <a:spLocks xmlns:a="http://schemas.openxmlformats.org/drawingml/2006/main" noGrp="1"/>
          </p:cNvSpPr>
          <p:nvPr/>
        </p:nvSpPr>
        <p:spPr>
          <a:xfrm xmlns:a="http://schemas.openxmlformats.org/drawingml/2006/main">
            <a:off x="628650" y="4229100"/>
            <a:ext cx="581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1">
            <a:extLst xmlns:a="http://schemas.openxmlformats.org/drawingml/2006/main">
              <a:ext uri="{FF2B5EF4-FFF2-40B4-BE49-F238E27FC236}">
                <a16:creationId xmlns:a16="http://schemas.microsoft.com/office/drawing/2014/main" id="{0671396D-FAC9-4B21-90CF-2AB745BFA622}"/>
              </a:ext>
            </a:extLst>
          </p:cNvPr>
          <p:cNvSpPr>
            <a:spLocks xmlns:a="http://schemas.openxmlformats.org/drawingml/2006/main" noGrp="1"/>
          </p:cNvSpPr>
          <p:nvPr/>
        </p:nvSpPr>
        <p:spPr>
          <a:xfrm xmlns:a="http://schemas.openxmlformats.org/drawingml/2006/main">
            <a:off x="628650" y="462915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xmlns:a="http://schemas.openxmlformats.org/drawingml/2006/main">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2">
            <a:extLst xmlns:a="http://schemas.openxmlformats.org/drawingml/2006/main">
              <a:ext uri="{FF2B5EF4-FFF2-40B4-BE49-F238E27FC236}">
                <a16:creationId xmlns:a16="http://schemas.microsoft.com/office/drawing/2014/main" id="{4D80BABA-AD7A-48A1-A0A6-2BA995C17BD8}"/>
              </a:ext>
            </a:extLst>
          </p:cNvPr>
          <p:cNvSpPr>
            <a:spLocks xmlns:a="http://schemas.openxmlformats.org/drawingml/2006/main" noGrp="1"/>
          </p:cNvSpPr>
          <p:nvPr/>
        </p:nvSpPr>
        <p:spPr>
          <a:xfrm xmlns:a="http://schemas.openxmlformats.org/drawingml/2006/main">
            <a:off x="628650" y="5372100"/>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3">
            <a:extLst xmlns:a="http://schemas.openxmlformats.org/drawingml/2006/main">
              <a:ext uri="{FF2B5EF4-FFF2-40B4-BE49-F238E27FC236}">
                <a16:creationId xmlns:a16="http://schemas.microsoft.com/office/drawing/2014/main" id="{17B8BFFF-0632-45A3-B30D-AF1DE0CE5D06}"/>
              </a:ext>
            </a:extLst>
          </p:cNvPr>
          <p:cNvSpPr>
            <a:spLocks xmlns:a="http://schemas.openxmlformats.org/drawingml/2006/main" noGrp="1"/>
          </p:cNvSpPr>
          <p:nvPr/>
        </p:nvSpPr>
        <p:spPr>
          <a:xfrm xmlns:a="http://schemas.openxmlformats.org/drawingml/2006/main">
            <a:off x="708660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
            <a:extLst xmlns:a="http://schemas.openxmlformats.org/drawingml/2006/main">
              <a:ext uri="{FF2B5EF4-FFF2-40B4-BE49-F238E27FC236}">
                <a16:creationId xmlns:a16="http://schemas.microsoft.com/office/drawing/2014/main" id="{A3D6781B-C215-4B33-8CC7-BCFFB8CC83B7}"/>
              </a:ext>
            </a:extLst>
          </p:cNvPr>
          <p:cNvGraphicFramePr/>
          <p:nvPr/>
        </p:nvGraphicFramePr>
        <p:xfrm>
          <a:off xmlns:a="http://schemas.openxmlformats.org/drawingml/2006/main" x="7086600" y="2686050"/>
          <a:ext xmlns:a="http://schemas.openxmlformats.org/drawingml/2006/main" cx="6000750" cy="2400300"/>
        </p:xfrm>
        <a:graphic xmlns:a="http://schemas.openxmlformats.org/drawingml/2006/main">
          <a:graphicData uri="http://schemas.openxmlformats.org/drawingml/2006/table">
            <a:tbl>
              <a:tblPr/>
              <a:tblGrid>
                <a:gridCol w="2876550"/>
                <a:gridCol w="1657350"/>
                <a:gridCol w="1466850"/>
              </a:tblGrid>
              <a:tr h="600075">
                <a:tc>
                  <a:txBody>
                    <a:bodyPr>
                      <a:noAutofit/>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생략</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비율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600075">
                <a:tc>
                  <a:txBody>
                    <a:bodyPr>
                      <a:noAutofit/>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66 / 141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46.8%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00075">
                <a:tc>
                  <a:txBody>
                    <a:bodyPr>
                      <a:noAutofit/>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174 / 390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44.6%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600075">
                <a:tc>
                  <a:txBody>
                    <a:bodyPr>
                      <a:noAutofit/>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49 / 50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98.0%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7" name="own-text-74">
            <a:extLst xmlns:a="http://schemas.openxmlformats.org/drawingml/2006/main">
              <a:ext uri="{FF2B5EF4-FFF2-40B4-BE49-F238E27FC236}">
                <a16:creationId xmlns:a16="http://schemas.microsoft.com/office/drawing/2014/main" id="{1C49C42E-FBB2-4D06-B05A-037DBF03F5CD}"/>
              </a:ext>
            </a:extLst>
          </p:cNvPr>
          <p:cNvSpPr>
            <a:spLocks xmlns:a="http://schemas.openxmlformats.org/drawingml/2006/main" noGrp="1"/>
          </p:cNvSpPr>
          <p:nvPr/>
        </p:nvSpPr>
        <p:spPr>
          <a:xfrm xmlns:a="http://schemas.openxmlformats.org/drawingml/2006/main">
            <a:off x="7086600" y="5457825"/>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75">
            <a:extLst xmlns:a="http://schemas.openxmlformats.org/drawingml/2006/main">
              <a:ext uri="{FF2B5EF4-FFF2-40B4-BE49-F238E27FC236}">
                <a16:creationId xmlns:a16="http://schemas.microsoft.com/office/drawing/2014/main" id="{2ED65A11-1716-4E3F-8275-ADB3778A180E}"/>
              </a:ext>
            </a:extLst>
          </p:cNvPr>
          <p:cNvSpPr>
            <a:spLocks xmlns:a="http://schemas.openxmlformats.org/drawingml/2006/main" noGrp="1"/>
          </p:cNvSpPr>
          <p:nvPr/>
        </p:nvSpPr>
        <p:spPr>
          <a:xfrm xmlns:a="http://schemas.openxmlformats.org/drawingml/2006/main">
            <a:off x="7086600" y="597217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1318021402"/>
      </p:ext>
    </p:extLst>
  </p:cSld>
</p:sld>
</file>

<file path=ppt/slides/slide7.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7F4212A6-9456-41AA-ABB1-70FED2A69AAA}"/>
              </a:ext>
            </a:extLst>
          </p:cNvPr>
          <p:cNvCxnSpPr>
            <a:stCxn xmlns:a="http://schemas.openxmlformats.org/drawingml/2006/main" id="8" idx="3"/>
            <a:endCxn xmlns:a="http://schemas.openxmlformats.org/drawingml/2006/main" id="9" idx="1"/>
          </p:cNvCxnSpPr>
          <p:nvPr/>
        </p:nvCxnSpPr>
        <p:spPr>
          <a:xfrm xmlns:a="http://schemas.openxmlformats.org/drawingml/2006/main">
            <a:off x="9410700" y="2447925"/>
            <a:ext cx="75247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648B3548-A389-48CE-BA4A-1D13B38C23F6}"/>
              </a:ext>
            </a:extLst>
          </p:cNvPr>
          <p:cNvCxnSpPr>
            <a:stCxn xmlns:a="http://schemas.openxmlformats.org/drawingml/2006/main" id="7" idx="3"/>
            <a:endCxn xmlns:a="http://schemas.openxmlformats.org/drawingml/2006/main" id="8" idx="1"/>
          </p:cNvCxnSpPr>
          <p:nvPr/>
        </p:nvCxnSpPr>
        <p:spPr>
          <a:xfrm xmlns:a="http://schemas.openxmlformats.org/drawingml/2006/main">
            <a:off x="5676900" y="2447925"/>
            <a:ext cx="80962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5" name="own-text-76">
            <a:extLst xmlns:a="http://schemas.openxmlformats.org/drawingml/2006/main">
              <a:ext uri="{FF2B5EF4-FFF2-40B4-BE49-F238E27FC236}">
                <a16:creationId xmlns:a16="http://schemas.microsoft.com/office/drawing/2014/main" id="{84E949A7-E14F-43DC-904C-7ECC356767B5}"/>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77">
            <a:extLst xmlns:a="http://schemas.openxmlformats.org/drawingml/2006/main">
              <a:ext uri="{FF2B5EF4-FFF2-40B4-BE49-F238E27FC236}">
                <a16:creationId xmlns:a16="http://schemas.microsoft.com/office/drawing/2014/main" id="{BDBF4AB3-8E21-4A32-8A65-2C5C851BCA1A}"/>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78">
            <a:extLst xmlns:a="http://schemas.openxmlformats.org/drawingml/2006/main">
              <a:ext uri="{FF2B5EF4-FFF2-40B4-BE49-F238E27FC236}">
                <a16:creationId xmlns:a16="http://schemas.microsoft.com/office/drawing/2014/main" id="{5EF2C427-E1FF-44FB-841B-15A80E1172D6}"/>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79">
            <a:extLst xmlns:a="http://schemas.openxmlformats.org/drawingml/2006/main">
              <a:ext uri="{FF2B5EF4-FFF2-40B4-BE49-F238E27FC236}">
                <a16:creationId xmlns:a16="http://schemas.microsoft.com/office/drawing/2014/main" id="{F2686CE6-9FE1-4933-857F-10063121CD2A}"/>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0">
            <a:extLst xmlns:a="http://schemas.openxmlformats.org/drawingml/2006/main">
              <a:ext uri="{FF2B5EF4-FFF2-40B4-BE49-F238E27FC236}">
                <a16:creationId xmlns:a16="http://schemas.microsoft.com/office/drawing/2014/main" id="{8710BA92-1BD2-496A-8050-7A9A1B2EECB0}"/>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07</a:t>
            </a:r>
          </a:p>
        </p:txBody>
      </p:sp>
      <p:sp>
        <p:nvSpPr>
          <p:cNvPr id="6" name="own-text-81">
            <a:extLst xmlns:a="http://schemas.openxmlformats.org/drawingml/2006/main">
              <a:ext uri="{FF2B5EF4-FFF2-40B4-BE49-F238E27FC236}">
                <a16:creationId xmlns:a16="http://schemas.microsoft.com/office/drawing/2014/main" id="{E1BE73D6-21B4-4439-B93F-96E32C346EF1}"/>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표현은 모델 본문에서 자료 부족 고지문이 두 문장 이상인 경우.</a:t>
            </a:r>
          </a:p>
        </p:txBody>
      </p:sp>
      <p:sp>
        <p:nvSpPr>
          <p:cNvPr id="7" name="pipeline-82">
            <a:extLst xmlns:a="http://schemas.openxmlformats.org/drawingml/2006/main">
              <a:ext uri="{FF2B5EF4-FFF2-40B4-BE49-F238E27FC236}">
                <a16:creationId xmlns:a16="http://schemas.microsoft.com/office/drawing/2014/main" id="{0A9EE7E3-8FE2-48BF-BE0E-E1BC2B83A384}"/>
              </a:ext>
            </a:extLst>
          </p:cNvPr>
          <p:cNvSpPr>
            <a:spLocks xmlns:a="http://schemas.openxmlformats.org/drawingml/2006/main" noGrp="1"/>
          </p:cNvSpPr>
          <p:nvPr/>
        </p:nvSpPr>
        <p:spPr>
          <a:xfrm xmlns:a="http://schemas.openxmlformats.org/drawingml/2006/main">
            <a:off x="628650" y="2047875"/>
            <a:ext cx="504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3">
            <a:extLst xmlns:a="http://schemas.openxmlformats.org/drawingml/2006/main">
              <a:ext uri="{FF2B5EF4-FFF2-40B4-BE49-F238E27FC236}">
                <a16:creationId xmlns:a16="http://schemas.microsoft.com/office/drawing/2014/main" id="{4FA3CC1F-81A4-4797-B859-74296FAAB527}"/>
              </a:ext>
            </a:extLst>
          </p:cNvPr>
          <p:cNvSpPr>
            <a:spLocks xmlns:a="http://schemas.openxmlformats.org/drawingml/2006/main" noGrp="1"/>
          </p:cNvSpPr>
          <p:nvPr/>
        </p:nvSpPr>
        <p:spPr>
          <a:xfrm xmlns:a="http://schemas.openxmlformats.org/drawingml/2006/main">
            <a:off x="6486525" y="2047875"/>
            <a:ext cx="2924175" cy="800100"/>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xmlns:a="http://schemas.openxmlformats.org/drawingml/2006/main">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4">
            <a:extLst xmlns:a="http://schemas.openxmlformats.org/drawingml/2006/main">
              <a:ext uri="{FF2B5EF4-FFF2-40B4-BE49-F238E27FC236}">
                <a16:creationId xmlns:a16="http://schemas.microsoft.com/office/drawing/2014/main" id="{9BBC87E8-F8B0-4C2F-955D-EF8AFDF43140}"/>
              </a:ext>
            </a:extLst>
          </p:cNvPr>
          <p:cNvSpPr>
            <a:spLocks xmlns:a="http://schemas.openxmlformats.org/drawingml/2006/main" noGrp="1"/>
          </p:cNvSpPr>
          <p:nvPr/>
        </p:nvSpPr>
        <p:spPr>
          <a:xfrm xmlns:a="http://schemas.openxmlformats.org/drawingml/2006/main">
            <a:off x="10163175" y="2047875"/>
            <a:ext cx="2924175" cy="800100"/>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xmlns:a="http://schemas.openxmlformats.org/drawingml/2006/main">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
            <a:extLst xmlns:a="http://schemas.openxmlformats.org/drawingml/2006/main">
              <a:ext uri="{FF2B5EF4-FFF2-40B4-BE49-F238E27FC236}">
                <a16:creationId xmlns:a16="http://schemas.microsoft.com/office/drawing/2014/main" id="{CFEA2498-0B43-4405-8787-590A13C9205A}"/>
              </a:ext>
            </a:extLst>
          </p:cNvPr>
          <p:cNvGraphicFramePr/>
          <p:nvPr/>
        </p:nvGraphicFramePr>
        <p:xfrm>
          <a:off xmlns:a="http://schemas.openxmlformats.org/drawingml/2006/main" x="628650" y="3276600"/>
          <a:ext xmlns:a="http://schemas.openxmlformats.org/drawingml/2006/main" cx="12458700" cy="2543175"/>
        </p:xfrm>
        <a:graphic xmlns:a="http://schemas.openxmlformats.org/drawingml/2006/main">
          <a:graphicData uri="http://schemas.openxmlformats.org/drawingml/2006/table">
            <a:tbl>
              <a:tblPr/>
              <a:tblGrid>
                <a:gridCol w="4286250"/>
                <a:gridCol w="2724150"/>
                <a:gridCol w="2724150"/>
                <a:gridCol w="2724150"/>
              </a:tblGrid>
              <a:tr h="423863">
                <a:tc>
                  <a:txBody>
                    <a:bodyPr>
                      <a:noAutofit/>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통합</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판정만 질문별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23863">
                <a:tc>
                  <a:txBody>
                    <a:bodyPr>
                      <a:noAutofit/>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276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257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270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17</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1">
                          <a:solidFill>
                            <a:srgbClr val="F72585"/>
                          </a:solidFill>
                          <a:latin typeface="맑은 고딕"/>
                          <a:ea typeface="맑은 고딕"/>
                          <a:cs typeface="맑은 고딕"/>
                        </a:rPr>
                        <a:t>반복 표현(고지문)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3" name="own-text-85">
            <a:extLst xmlns:a="http://schemas.openxmlformats.org/drawingml/2006/main">
              <a:ext uri="{FF2B5EF4-FFF2-40B4-BE49-F238E27FC236}">
                <a16:creationId xmlns:a16="http://schemas.microsoft.com/office/drawing/2014/main" id="{C92DA012-5301-428E-BB8E-4A6FB7A59D60}"/>
              </a:ext>
            </a:extLst>
          </p:cNvPr>
          <p:cNvSpPr>
            <a:spLocks xmlns:a="http://schemas.openxmlformats.org/drawingml/2006/main" noGrp="1"/>
          </p:cNvSpPr>
          <p:nvPr/>
        </p:nvSpPr>
        <p:spPr>
          <a:xfrm xmlns:a="http://schemas.openxmlformats.org/drawingml/2006/main">
            <a:off x="628650" y="6086475"/>
            <a:ext cx="771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86">
            <a:extLst xmlns:a="http://schemas.openxmlformats.org/drawingml/2006/main">
              <a:ext uri="{FF2B5EF4-FFF2-40B4-BE49-F238E27FC236}">
                <a16:creationId xmlns:a16="http://schemas.microsoft.com/office/drawing/2014/main" id="{F10C542B-FB66-4836-B78E-C1FF89C0B213}"/>
              </a:ext>
            </a:extLst>
          </p:cNvPr>
          <p:cNvSpPr>
            <a:spLocks xmlns:a="http://schemas.openxmlformats.org/drawingml/2006/main" noGrp="1"/>
          </p:cNvSpPr>
          <p:nvPr/>
        </p:nvSpPr>
        <p:spPr>
          <a:xfrm xmlns:a="http://schemas.openxmlformats.org/drawingml/2006/main">
            <a:off x="8524875" y="6096000"/>
            <a:ext cx="45624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869893717"/>
      </p:ext>
    </p:extLst>
  </p:cSld>
</p:sld>
</file>

<file path=ppt/slides/slide8.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7" name="own-text-87">
            <a:extLst xmlns:a="http://schemas.openxmlformats.org/drawingml/2006/main">
              <a:ext uri="{FF2B5EF4-FFF2-40B4-BE49-F238E27FC236}">
                <a16:creationId xmlns:a16="http://schemas.microsoft.com/office/drawing/2014/main" id="{BE9CF121-82A8-466A-8F43-FF2C86D6B9CE}"/>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88">
            <a:extLst xmlns:a="http://schemas.openxmlformats.org/drawingml/2006/main">
              <a:ext uri="{FF2B5EF4-FFF2-40B4-BE49-F238E27FC236}">
                <a16:creationId xmlns:a16="http://schemas.microsoft.com/office/drawing/2014/main" id="{8090730E-2542-49C6-9594-FF66F257B665}"/>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89">
            <a:extLst xmlns:a="http://schemas.openxmlformats.org/drawingml/2006/main">
              <a:ext uri="{FF2B5EF4-FFF2-40B4-BE49-F238E27FC236}">
                <a16:creationId xmlns:a16="http://schemas.microsoft.com/office/drawing/2014/main" id="{85CDA9CC-8EBD-4061-B4DE-1787EEFD08E5}"/>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0">
            <a:extLst xmlns:a="http://schemas.openxmlformats.org/drawingml/2006/main">
              <a:ext uri="{FF2B5EF4-FFF2-40B4-BE49-F238E27FC236}">
                <a16:creationId xmlns:a16="http://schemas.microsoft.com/office/drawing/2014/main" id="{4C63FC95-13EA-48BE-8408-CB82DA48AED6}"/>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1">
            <a:extLst xmlns:a="http://schemas.openxmlformats.org/drawingml/2006/main">
              <a:ext uri="{FF2B5EF4-FFF2-40B4-BE49-F238E27FC236}">
                <a16:creationId xmlns:a16="http://schemas.microsoft.com/office/drawing/2014/main" id="{448C927C-3FF0-4D94-B957-054703526D87}"/>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08</a:t>
            </a:r>
          </a:p>
        </p:txBody>
      </p:sp>
      <p:graphicFrame>
        <p:nvGraphicFramePr>
          <p:cNvPr id="6" name="">
            <a:extLst xmlns:a="http://schemas.openxmlformats.org/drawingml/2006/main">
              <a:ext uri="{FF2B5EF4-FFF2-40B4-BE49-F238E27FC236}">
                <a16:creationId xmlns:a16="http://schemas.microsoft.com/office/drawing/2014/main" id="{451E90BF-E420-4A54-816C-D4C7F1DB6671}"/>
              </a:ext>
            </a:extLst>
          </p:cNvPr>
          <p:cNvGraphicFramePr/>
          <p:nvPr/>
        </p:nvGraphicFramePr>
        <p:xfrm>
          <a:off xmlns:a="http://schemas.openxmlformats.org/drawingml/2006/main" x="628650" y="2076450"/>
          <a:ext xmlns:a="http://schemas.openxmlformats.org/drawingml/2006/main" cx="12458700" cy="4010025"/>
        </p:xfrm>
        <a:graphic xmlns:a="http://schemas.openxmlformats.org/drawingml/2006/main">
          <a:graphicData uri="http://schemas.openxmlformats.org/drawingml/2006/table">
            <a:tbl>
              <a:tblPr/>
              <a:tblGrid>
                <a:gridCol w="2724150"/>
                <a:gridCol w="2657475"/>
                <a:gridCol w="7077075"/>
              </a:tblGrid>
              <a:tr h="445558">
                <a:tc>
                  <a:txBody>
                    <a:bodyPr>
                      <a:noAutofit/>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기본 주기</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실행 기준·역할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45558">
                <a:tc>
                  <a:txBody>
                    <a:bodyPr>
                      <a:noAutofit/>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09:00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월 한도 80%·100% 도달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04:00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1분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예약 확인 1분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5초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Tree>
    <p:extLst>
      <p:ext uri="{BB962C8B-B14F-4D97-AF65-F5344CB8AC3E}">
        <p14:creationId xmlns:p14="http://schemas.microsoft.com/office/powerpoint/2010/main" val="1379725150"/>
      </p:ext>
    </p:extLst>
  </p:cSld>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2026-10-26T04:38:08.4970000Z</dcterms:created>
  <dcterms:modified xsi:type="dcterms:W3CDTF">2026-10-26T04:38:08.4970000Z</dcterms:modified>
</coreProperties>
</file>