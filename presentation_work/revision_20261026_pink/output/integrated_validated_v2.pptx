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7"/>
  </p:notesMasterIdLst>
  <p:sldIdLst>
    <p:sldId id="277" r:id="rId2"/>
    <p:sldId id="256" r:id="rId3"/>
    <p:sldId id="278" r:id="rId4"/>
    <p:sldId id="257" r:id="rId5"/>
    <p:sldId id="280" r:id="rId6"/>
    <p:sldId id="281" r:id="rId7"/>
    <p:sldId id="282" r:id="rId8"/>
    <p:sldId id="279" r:id="rId9"/>
    <p:sldId id="284" r:id="rId10"/>
    <p:sldId id="285" r:id="rId11"/>
    <p:sldId id="286" r:id="rId12"/>
    <p:sldId id="287" r:id="rId13"/>
    <p:sldId id="288" r:id="rId14"/>
    <p:sldId id="289" r:id="rId15"/>
    <p:sldId id="290" r:id="rId16"/>
    <p:sldId id="258" r:id="rId17"/>
    <p:sldId id="259" r:id="rId18"/>
    <p:sldId id="260" r:id="rId19"/>
    <p:sldId id="283"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91" r:id="rId35"/>
    <p:sldId id="276" r:id="rId36"/>
  </p:sldIdLst>
  <p:sldSz cx="13716000" cy="7715250"/>
  <p:notesSz cx="771525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프로젝트 팀 구성 및 역할" id="{6C8A44CC-470C-A065-729A-F60DBA9BDE47}">
          <p14:sldIdLst>
            <p14:sldId id="277"/>
            <p14:sldId id="256"/>
            <p14:sldId id="278"/>
            <p14:sldId id="257"/>
            <p14:sldId id="280"/>
            <p14:sldId id="281"/>
            <p14:sldId id="282"/>
            <p14:sldId id="279"/>
            <p14:sldId id="284"/>
            <p14:sldId id="285"/>
            <p14:sldId id="286"/>
            <p14:sldId id="287"/>
            <p14:sldId id="288"/>
            <p14:sldId id="289"/>
            <p14:sldId id="290"/>
            <p14:sldId id="258"/>
            <p14:sldId id="259"/>
            <p14:sldId id="260"/>
            <p14:sldId id="283"/>
            <p14:sldId id="261"/>
            <p14:sldId id="262"/>
            <p14:sldId id="263"/>
            <p14:sldId id="264"/>
            <p14:sldId id="265"/>
            <p14:sldId id="266"/>
            <p14:sldId id="267"/>
            <p14:sldId id="268"/>
            <p14:sldId id="269"/>
            <p14:sldId id="270"/>
            <p14:sldId id="271"/>
            <p14:sldId id="272"/>
            <p14:sldId id="273"/>
            <p14:sldId id="274"/>
            <p14:sldId id="291"/>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216" y="312"/>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HTTP 완료 RPS</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4B</c:v>
                </c:pt>
                <c:pt idx="1">
                  <c:v>8B</c:v>
                </c:pt>
                <c:pt idx="2">
                  <c:v>14B</c:v>
                </c:pt>
              </c:strCache>
            </c:strRef>
          </c:cat>
          <c:val>
            <c:numRef>
              <c:f>'Chart Data'!$B$2:$B$4</c:f>
              <c:numCache>
                <c:formatCode>General</c:formatCode>
                <c:ptCount val="3"/>
                <c:pt idx="0">
                  <c:v>9.13</c:v>
                </c:pt>
                <c:pt idx="1">
                  <c:v>6.1</c:v>
                </c:pt>
                <c:pt idx="2">
                  <c:v>3.33</c:v>
                </c:pt>
              </c:numCache>
            </c:numRef>
          </c:val>
          <c:extLst>
            <c:ext xmlns:c16="http://schemas.microsoft.com/office/drawing/2014/chart" uri="{C3380CC4-5D6E-409C-BE32-E72D297353CC}">
              <c16:uniqueId val="{00000000-24DC-4B6D-B782-5EFA5317C406}"/>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12"/>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3"/>
      </c:valAx>
      <c:spPr>
        <a:noFill/>
        <a:ln w="0">
          <a:noFill/>
        </a:ln>
      </c:spPr>
    </c:plotArea>
    <c:plotVisOnly val="1"/>
    <c:dispBlanksAs val="zero"/>
    <c:showDLblsOverMax val="1"/>
  </c:chart>
  <c:spPr>
    <a:no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기본 프롬프트</c:v>
          </c:tx>
          <c:spPr>
            <a:solidFill>
              <a:srgbClr val="B9BAC1"/>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환각</c:v>
                </c:pt>
                <c:pt idx="1">
                  <c:v>되묻기</c:v>
                </c:pt>
              </c:strCache>
            </c:strRef>
          </c:cat>
          <c:val>
            <c:numRef>
              <c:f>'Chart Data'!$B$2:$B$3</c:f>
              <c:numCache>
                <c:formatCode>General</c:formatCode>
                <c:ptCount val="2"/>
                <c:pt idx="0">
                  <c:v>20.44</c:v>
                </c:pt>
                <c:pt idx="1">
                  <c:v>14</c:v>
                </c:pt>
              </c:numCache>
            </c:numRef>
          </c:val>
          <c:extLst>
            <c:ext xmlns:c16="http://schemas.microsoft.com/office/drawing/2014/chart" uri="{C3380CC4-5D6E-409C-BE32-E72D297353CC}">
              <c16:uniqueId val="{00000000-487C-4432-88DA-597FA7695573}"/>
            </c:ext>
          </c:extLst>
        </c:ser>
        <c:ser>
          <c:idx val="1"/>
          <c:order val="1"/>
          <c:tx>
            <c:v>개선 프롬프트</c:v>
          </c:tx>
          <c:spPr>
            <a:solidFill>
              <a:srgbClr val="F72585"/>
            </a:solidFill>
          </c:spPr>
          <c:invertIfNegative val="0"/>
          <c:dLbls>
            <c:numFmt formatCode="0.0" sourceLinked="0"/>
            <c:spPr>
              <a:noFill/>
              <a:ln>
                <a:noFill/>
              </a:ln>
              <a:effectLst/>
            </c:spPr>
            <c:txPr>
              <a:bodyPr anchorCtr="1"/>
              <a:lstStyle/>
              <a:p>
                <a:pPr>
                  <a:defRPr sz="1725" b="1">
                    <a:solidFill>
                      <a:srgbClr val="17171A"/>
                    </a:solidFill>
                    <a:latin typeface="맑은 고딕"/>
                    <a:ea typeface="맑은 고딕"/>
                    <a:cs typeface="맑은 고딕"/>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Data'!$C$2:$C$3</c:f>
              <c:strCache>
                <c:ptCount val="2"/>
                <c:pt idx="0">
                  <c:v>환각</c:v>
                </c:pt>
                <c:pt idx="1">
                  <c:v>되묻기</c:v>
                </c:pt>
              </c:strCache>
            </c:strRef>
          </c:cat>
          <c:val>
            <c:numRef>
              <c:f>'Chart Data'!$D$2:$D$3</c:f>
              <c:numCache>
                <c:formatCode>General</c:formatCode>
                <c:ptCount val="2"/>
                <c:pt idx="0">
                  <c:v>13.56</c:v>
                </c:pt>
                <c:pt idx="1">
                  <c:v>0.11</c:v>
                </c:pt>
              </c:numCache>
            </c:numRef>
          </c:val>
          <c:extLst>
            <c:ext xmlns:c16="http://schemas.microsoft.com/office/drawing/2014/chart" uri="{C3380CC4-5D6E-409C-BE32-E72D297353CC}">
              <c16:uniqueId val="{00000001-487C-4432-88DA-597FA7695573}"/>
            </c:ext>
          </c:extLst>
        </c:ser>
        <c:dLbls>
          <c:dLblPos val="outEnd"/>
          <c:showLegendKey val="0"/>
          <c:showVal val="1"/>
          <c:showCatName val="0"/>
          <c:showSerName val="0"/>
          <c:showPercent val="0"/>
          <c:showBubbleSize val="0"/>
        </c:dLbls>
        <c:gapWidth val="11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DDDE1"/>
            </a:solidFill>
          </a:ln>
        </c:spPr>
        <c:txPr>
          <a:bodyPr anchorCtr="1"/>
          <a:lstStyle/>
          <a:p>
            <a:pPr>
              <a:defRPr sz="1425">
                <a:solidFill>
                  <a:srgbClr val="17171A"/>
                </a:solidFill>
                <a:latin typeface="맑은 고딕"/>
                <a:ea typeface="맑은 고딕"/>
                <a:cs typeface="맑은 고딕"/>
              </a:defRPr>
            </a:pPr>
            <a:endParaRPr lang="ko-KR"/>
          </a:p>
        </c:txPr>
        <c:crossAx val="48672768"/>
        <c:crosses val="autoZero"/>
        <c:auto val="1"/>
        <c:lblAlgn val="ctr"/>
        <c:lblOffset val="100"/>
        <c:noMultiLvlLbl val="1"/>
      </c:catAx>
      <c:valAx>
        <c:axId val="48672768"/>
        <c:scaling>
          <c:orientation val="minMax"/>
          <c:max val="25"/>
          <c:min val="0"/>
        </c:scaling>
        <c:delete val="0"/>
        <c:axPos val="l"/>
        <c:majorGridlines>
          <c:spPr>
            <a:ln w="6668">
              <a:solidFill>
                <a:srgbClr val="DDDDE1"/>
              </a:solidFill>
            </a:ln>
          </c:spPr>
        </c:majorGridlines>
        <c:numFmt formatCode="General" sourceLinked="1"/>
        <c:majorTickMark val="none"/>
        <c:minorTickMark val="none"/>
        <c:tickLblPos val="nextTo"/>
        <c:spPr>
          <a:ln w="0">
            <a:noFill/>
          </a:ln>
        </c:spPr>
        <c:txPr>
          <a:bodyPr anchorCtr="1"/>
          <a:lstStyle/>
          <a:p>
            <a:pPr>
              <a:defRPr sz="1275">
                <a:solidFill>
                  <a:srgbClr val="686B72"/>
                </a:solidFill>
                <a:latin typeface="맑은 고딕"/>
                <a:ea typeface="맑은 고딕"/>
                <a:cs typeface="맑은 고딕"/>
              </a:defRPr>
            </a:pPr>
            <a:endParaRPr lang="ko-KR"/>
          </a:p>
        </c:txPr>
        <c:crossAx val="48650112"/>
        <c:crosses val="autoZero"/>
        <c:crossBetween val="between"/>
        <c:majorUnit val="5"/>
      </c:valAx>
      <c:spPr>
        <a:noFill/>
        <a:ln w="0">
          <a:noFill/>
        </a:ln>
      </c:spPr>
    </c:plotArea>
    <c:legend>
      <c:legendPos val="b"/>
      <c:overlay val="0"/>
      <c:txPr>
        <a:bodyPr anchorCtr="1"/>
        <a:lstStyle/>
        <a:p>
          <a:pPr>
            <a:defRPr sz="1350">
              <a:solidFill>
                <a:srgbClr val="686B72"/>
              </a:solidFill>
              <a:latin typeface="맑은 고딕"/>
              <a:ea typeface="맑은 고딕"/>
              <a:cs typeface="맑은 고딕"/>
            </a:defRPr>
          </a:pPr>
          <a:endParaRPr lang="ko-KR"/>
        </a:p>
      </c:txPr>
    </c:legend>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pPr lvl="0">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lvl="0">
              <a:defRPr/>
            </a:pPr>
            <a:fld id="{5282F153-3F37-0F45-9E97-73ACFA13230C}" type="datetime1">
              <a:rPr lang="en-US"/>
              <a:pPr lvl="0">
                <a:defRPr/>
              </a:pPr>
              <a:t>10/26/2026</a:t>
            </a:fld>
            <a:endParaRPr lang="en-US"/>
          </a:p>
        </p:txBody>
      </p:sp>
      <p:sp>
        <p:nvSpPr>
          <p:cNvPr id="4" name="Slide Image Placeholder 3"/>
          <p:cNvSpPr>
            <a:spLocks noGrp="1" noRot="1" noChangeAspect="1" noTextEdi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anchor="ctr"/>
          <a:lstStyle/>
          <a:p>
            <a:pPr lvl="0">
              <a:defRPr/>
            </a:pPr>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en-US"/>
              <a:t>Click to edit Master text styles</a:t>
            </a:r>
          </a:p>
          <a:p>
            <a:pPr lvl="1">
              <a:defRPr/>
            </a:pPr>
            <a:r>
              <a:rPr lang="en-US"/>
              <a:t>Second level</a:t>
            </a:r>
          </a:p>
          <a:p>
            <a:pPr lvl="2">
              <a:defRPr/>
            </a:pPr>
            <a:r>
              <a:rPr lang="en-US"/>
              <a:t>Third level</a:t>
            </a:r>
          </a:p>
          <a:p>
            <a:pPr lvl="3">
              <a:defRPr/>
            </a:pPr>
            <a:r>
              <a:rPr lang="en-US"/>
              <a:t>Fourth level</a:t>
            </a:r>
          </a:p>
          <a:p>
            <a:pPr lvl="4">
              <a:defRPr/>
            </a:pPr>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lvl="0">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lvl="0">
              <a:defRPr/>
            </a:pPr>
            <a:fld id="{CE5E9CC1-C706-0F49-92D6-E571CC5EEA8F}" type="slidenum">
              <a:rPr lang="en-US"/>
              <a:pPr lvl="0">
                <a:defRPr/>
              </a:pPr>
              <a:t>‹#›</a:t>
            </a:fld>
            <a:endParaRPr 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TextEdit="1"/>
          </p:cNvSpPr>
          <p:nvPr>
            <p:ph type="sldImg"/>
          </p:nvPr>
        </p:nvSpPr>
        <p:spPr/>
      </p:sp>
      <p:sp>
        <p:nvSpPr>
          <p:cNvPr id="3" name="Notes Placeholder 2"/>
          <p:cNvSpPr>
            <a:spLocks noGrp="1"/>
          </p:cNvSpPr>
          <p:nvPr>
            <p:ph type="body" idx="1"/>
          </p:nvPr>
        </p:nvSpPr>
        <p:spPr/>
        <p:txBody>
          <a:bodyPr/>
          <a:lstStyle/>
          <a:p>
            <a:pPr lvl="0">
              <a:defRPr/>
            </a:pPr>
            <a:endParaRPr lang="en-US"/>
          </a:p>
        </p:txBody>
      </p:sp>
      <p:sp>
        <p:nvSpPr>
          <p:cNvPr id="4" name="Slide Number Placeholder 3"/>
          <p:cNvSpPr>
            <a:spLocks noGrp="1"/>
          </p:cNvSpPr>
          <p:nvPr>
            <p:ph type="sldNum" sz="quarter" idx="10"/>
          </p:nvPr>
        </p:nvSpPr>
        <p:spPr/>
        <p:txBody>
          <a:bodyPr/>
          <a:lstStyle/>
          <a:p>
            <a:pPr lvl="0">
              <a:defRPr/>
            </a:pPr>
            <a:fld id="{F7021451-1387-4CA6-816F-3879F97B5CBC}" type="slidenum">
              <a:rPr lang="en-US"/>
              <a:pPr lvl="0">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초기테스트는조건과예외,자료부족,공격대응까지함께보는엄격한기준이었습니다. 작은모델을그대로통과시키기어려워품질기준으로14B OFF를1차선정했습니다. 하지만별도동시서빙시험에서4B보다처리여유가작았습니다. 그래서큰모델을그대로운영하는대신4B를튜닝하고코드로보완할수있는지검토했습니다.</a:t>
            </a:r>
          </a:p>
          <a:p>
            <a:endParaRPr/>
          </a:p>
          <a:p>
            <a:r>
              <a:t>비교 조건과 해석</a:t>
            </a:r>
          </a:p>
          <a:p>
            <a:r>
              <a:t>v2 try1=9모델, 표본 검수 26건과 결정론 형식 지표. v2 try2 Qwen1.7B 정답47%=300건 Judge. v3 EXAONE7.8B 기대 ABSTAIN88건 중0; Qwen4B ON P95 47.6초. v3의 1차 MVP는 Qwen14B OFF였고, v4에서 작은4B 모델의 튜닝을 검토했다. 이를 처음부터4B가 전 지표 최고였다고 설명하지 않는다. v4 오답 중 과잉보류 Qwen352/962=36.6%, Gemma32/908=3.5%. Qwen 실제로 답한 문항의 정확도77%는 선택 편향이 있어 전체 정확도로 쓰지 않는다. L4 vLLM P32/U32 30초 단회 RPS4B9.13/8B6.10/14B3.33은 이전 Qwen3 계열, 최종 Instruct w4a16 직접 측정이 아니다. 품질 및 지연 SLO를 적용한 보장 수용량도 아니다.</a:t>
            </a:r>
          </a:p>
          <a:p>
            <a:endParaRPr/>
          </a:p>
          <a:p>
            <a:r>
              <a:t>근거</a:t>
            </a:r>
          </a:p>
          <a:p>
            <a:r>
              <a:t>C:/Ureka/ureca_project2/LLM_Test/model_test_v2/try1/results/all_summary.md</a:t>
            </a:r>
          </a:p>
          <a:p>
            <a:r>
              <a:t>C:/Ureka/ureca_project2/LLM_Test/model_test_v2/try2/results/all_summary.md</a:t>
            </a:r>
          </a:p>
          <a:p>
            <a:r>
              <a:t>C:/Ureka/ureca_project2/LLM_Test/model_test_v3/try1/results/all_summary.md</a:t>
            </a:r>
          </a:p>
          <a:p>
            <a:r>
              <a:t>C:/Ureka/ureca_project2/LLM_Test/model_test_v3/try1/results/summary/model_selection.md</a:t>
            </a:r>
          </a:p>
          <a:p>
            <a:r>
              <a:t>C:/Ureka/ureca_project2/LLM_Test/model_test_v4/try1/results/summary/brief_report.md</a:t>
            </a:r>
          </a:p>
          <a:p>
            <a:r>
              <a:t>C:/Ureka/ureca_project2/LLM_Test/model_test_v4/try1/results/summary/tuning_target_decision.md</a:t>
            </a:r>
          </a:p>
          <a:p>
            <a:r>
              <a:t>C:/Ureka/ureca_project2/LLM_Test/servingtest/l4/reports/L4_MULTIMODEL_RESULTS_20261006.md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619931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(38초)</a:t>
            </a:r>
          </a:p>
          <a:p>
            <a:r>
              <a:t>전체 정답률은Gemma가2.1%포인트높았지만,오답의종류를다시봤습니다. Qwen오답의36.6%는답할수있는내용을보류한경우였고,352건중255건은환각도없었습니다. 실제로답한문항에서는정답률과계산형정답률이더높았습니다. 반대로답이없는670문항에서Gemma는오답18.4%,환각31.9%로Qwen보다높았고,답변가능으로출력한경우에도환각률이18.3%였습니다. 그래서보류안정성과프롬프트교정가능성을보고Qwen을튜닝대상으로정했습니다.</a:t>
            </a:r>
          </a:p>
          <a:p>
            <a:endParaRPr/>
          </a:p>
          <a:p>
            <a:r>
              <a:t>비교 조건과 해석</a:t>
            </a:r>
          </a:p>
          <a:p>
            <a:r>
              <a:t>주요근거=tuning_target_decision.md1-1·1-2. RT제외Gemma2598/Qwen2600,전체정답률65.05%/63.0%. 과잉보류32/908=3.5%,352/962=36.6%;그중환각없음15/255. 기대ANSWER이며본문도ANSWER인선택표본정답922/1319=69.9%,839/1090=77.0%;계산CE/UI/AR정답188/392=48.0%,156/281=55.5%. 답한표본은모델별로다르므로전체정답률또는보류를답변으로바꿨을때의예상정답률이아님. 기대보류계열830건(ABSTAIN670/CONFLICT90/OUT_OF_SCOPE70)정답660/724=79.5%/87.2%. 기대ABSTAIN670건오답123/71=18.4%/10.6%,환각214/143=31.9%/21.3%. 출력라벨ANSWER환각240/1313=18.3%,48/577=8.3%;본문ANSWER기준환각과구분. 정답과환각은독립이므로두비율을더하지않는다. 계산오적용은환각과별개일수있다. Qwen계산형답변환각62/281=22.1%로Gemma66/392=16.8%보다높은위험도남음. 따라서Gemma의보류를전혀통제할수없다거나Qwen이모든영역에서더안전하다는결론은아님. 계산사례는결정문1-5의원자료이며현재화면에서는예시를삭제하고약점만요약했다. 1-3의근거→보류→본문연결,1-4의불필요한되묻기는관측된교정가설근거. 이후개선효과는다음프롬프트슬라이드의같은표본으로검증해야함. v3/v4의환각률차이를튜닝효과로연결하지않는다.</a:t>
            </a:r>
          </a:p>
          <a:p>
            <a:endParaRPr/>
          </a:p>
          <a:p>
            <a:r>
              <a:t>근거</a:t>
            </a:r>
          </a:p>
          <a:p>
            <a:r>
              <a:t>C:/Ureka/ureca_project2/LLM_Test/model_test_v4/try1/results/summary/tuning_target_decision.md</a:t>
            </a:r>
          </a:p>
          <a:p>
            <a:r>
              <a:t>C:/Ureka/ureca_project2/LLM_Test/presentation_work/revision_20261026_pink/selection_metrics.json</a:t>
            </a:r>
          </a:p>
          <a:p>
            <a:r>
              <a:t>C:/Ureka/ureca_project2/LLM_Test/presentation_work/revision_20261026_pink/derive_selection_metrics.py</a:t>
            </a:r>
          </a:p>
          <a:p>
            <a:r>
              <a:t>C:/Ureka/ureca_project2/LLM_Test/presentation_work/evidence_20261026/gemma_v3_v4_and_status.json</a:t>
            </a:r>
          </a:p>
          <a:p>
            <a:endParaRPr/>
          </a:p>
          <a:p>
            <a:r>
              <a:t>Gemma의버전간비교해석</a:t>
            </a:r>
          </a:p>
          <a:p>
            <a:r>
              <a:t>자료부족3유형은SR/HR/EC이며v3 85/300=28.3%,v4 600/2598=23.1%다. 유형비중은낮아졌으나공통12유형에서v4의유형별환각률을v3비중으로가중해도약25.0%이므로,50.3→24.1감소를문항비중만의효과로설명할수없다. 유형내문항·FAQ,생성프롬프트·출력스키마,판정모델·상세루브릭이함께바뀌었다. 화면의설명도비중과문항·보류지침변화를함께명시한다. 계산능력문제를단독인과로확정한비교실험이아니며동일v4내모델비교를선정근거로사용한다.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274119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(29초)</a:t>
            </a:r>
          </a:p>
          <a:p>
            <a:r>
              <a:t>기본프롬프트의Instruct도OFF최종개선안보다정확했고상태판단과근거선택도개선됐습니다. Q8과품질차이는뚜렷하지않았지만시간과용량이늘어Q4를택했습니다. 다만Instruct에서는기존에쉽게고칠수있던과잉보류가이미많이줄었습니다. 그래서후속고도화는정답률상승보다환각을줄이는방향에집중했습니다.</a:t>
            </a:r>
          </a:p>
          <a:p>
            <a:endParaRPr/>
          </a:p>
          <a:p>
            <a:r>
              <a:t>비교 조건과 해석</a:t>
            </a:r>
          </a:p>
          <a:p>
            <a:r>
              <a:t>공통404건은 OFF 초안254정답96환각, t1c313/99, GemmaQ4 283/120, GemmaQAT290/172, InstructQ4 344/93, InstructQ8 354/90. GemmaQAT HR-0163 미채점1건을 제외했다. t1c와Instruct만 비교한405건=314/99 vs345/93, 정확도+7.65%p(p=.00117), 환각 차이 유의하지 않음(p=.645). NC·MC는 OFF 오답을 집중한 표본으로 전체 정확도의 대표 표본이 아니다. 미측정895건을 OFF 기준선 유지한 t1c 합성1,300건 정확도66.77%,환각23.08%는 실측이 아니므로 본문 표에 넣지 않았다. Q4/Q8 1,300건 정답77.5/78.8 환각26.2/26.5 p=.22/.85. 평균응답2.61/3.49초·파일2.5/4.3GB는 T4 순차측정이고 Q4와Q8의 동시성 직접 비교가 아니다. 4bit가 동시 서빙 여유에 유리할 것으로 고려한 판단과 실측을 구분한다. Instruct의 답먼저 키 순서와 모델·프롬프트·로컬/EC2 환경 차이가 섞여 순수 모델 단독 효과는 아니다.</a:t>
            </a:r>
          </a:p>
          <a:p>
            <a:endParaRPr/>
          </a:p>
          <a:p>
            <a:r>
              <a:t>근거</a:t>
            </a:r>
          </a:p>
          <a:p>
            <a:r>
              <a:t>C:/Ureka/ureca_project2/LLM_Test/presentation_work/revision_20261026_pink/model_comparison_metrics.json</a:t>
            </a:r>
          </a:p>
          <a:p>
            <a:r>
              <a:t>C:/Ureka/ureca_project2/LLM_Test/presentation_work/revision_20261026_pink/derive_model_comparison.py</a:t>
            </a:r>
          </a:p>
          <a:p>
            <a:r>
              <a:t>C:/Ureka/ureca_project2/LLM_Test/scripts/docgen/judge_report.js</a:t>
            </a:r>
          </a:p>
          <a:p>
            <a:r>
              <a:t>C:/Ureka/ureca_project2/LLM_Test/presentation_work/evidence_20261026/off_tuned_vs_instruct.json</a:t>
            </a:r>
          </a:p>
          <a:p>
            <a:r>
              <a:t>C:/Ureka/ureca_project2/LLM_Test/model_test_v5/try1/results/summary/quantization_decision.md</a:t>
            </a:r>
          </a:p>
          <a:p>
            <a:r>
              <a:t>C:/Ureka/ureca_project2/LLM_Test/model_test_v5/try1/results/summary/cause_breakdown.md</a:t>
            </a:r>
          </a:p>
          <a:p>
            <a:endParaRPr/>
          </a:p>
          <a:p>
            <a:r>
              <a:t>최신 정의</a:t>
            </a:r>
          </a:p>
          <a:p>
            <a:r>
              <a:t>화면은Gemma Q4_K_M기존모델을제외한5행이다. OFF와Instruct Q4_K_M에기존을붙인것은기존시험결과재사용을뜻한다. 상태판단은출력status와기대상태의엄격일치(정답과독립)로404건분모, 근거선택은evidence_ids에정답근거문서만하나이상인용한비율이며205건분모다. 공통404건에서상태정답252/313/315/357/370,근거정답80/101/191/180/185(표행순)다. n1300별도오답분석에서OFF의과잉보류는185/491=37.7%,Instruct Q4는18/293=6.1%,환각동반오답은32.6%에서64.2%였다. 사라진것은주로과잉보류를풀어정답을쉽게늘릴교정여지이며전체튜닝가능성이없어졌다는실증결론은아니다. 후속900건에서정답703→698,환각184→122를관측해환각감소중심방향으로정리한다.</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52465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프롬프트로 가장 크게 줄인 것은 환각과 불필요한 되묻기입니다. 같은900문항에서 환각은184건에서122건, 되묻기는126건에서1건으로 줄었습니다. 50자 제한으로 생긴 누락을 되돌리고, 중복된 고지 지시를 한곳으로 모았습니다. 다만 전체 정확도 상승은 확인되지 않았고, FAQ번호와 반복 표현은 여전히 남아 다음 출력 구조 개선으로 이어졌습니다.</a:t>
            </a:r>
          </a:p>
          <a:p>
            <a:endParaRPr/>
          </a:p>
          <a:p>
            <a:r>
              <a:t>비교 조건과 해석</a:t>
            </a:r>
          </a:p>
          <a:p>
            <a:r>
              <a:t>base→i4 정답703→698/900 p=.73988. 환각184→122=−6.89%p 상대−33.7%, McNemar p=.00000168. asks126→1. FAQID147→77. 반복303→234는 문서의4범주(불가문장이중화/따라서재진술/문장재진술/질문복사) 코드집계이며 단순동일문장반복 규칙은900건모두0이다. 다음slot슬라이드의 반복고지81→0 또는 문장2gram재진술22→22와 같은 지표·표본이 아니므로 234→0으로 이어붙이지 않는다. 현재 백엔드는 파생slot프롬프트를 쓰며13.56%는 전체최종파이프라인환각률이 아니다.</a:t>
            </a:r>
          </a:p>
          <a:p>
            <a:endParaRPr/>
          </a:p>
          <a:p>
            <a:r>
              <a:t>근거</a:t>
            </a:r>
          </a:p>
          <a:p>
            <a:r>
              <a:t>C:/Ureka/ureca_project2/LLM_Test/prompts_test_v7/try1/results/llm_judge/pv7-try1_variant_compare_vs_v4_base.md</a:t>
            </a:r>
          </a:p>
          <a:p>
            <a:r>
              <a:t>C:/Ureka/ureca_project2/LLM_Test/prompts_test_v7/try1/results/summary/failure_analysis.md</a:t>
            </a:r>
          </a:p>
          <a:p>
            <a:r>
              <a:t>C:/Ureka/ureca_project2/LLM_Test/prompts_test_v7/SETUP.md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934574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여러질문을나누고생략된대상을복원하기위해판정모델을도입했습니다. 분리나멀티턴표지가없는질문은원문검색을먼저시도합니다. 질문분리100건전체에서필요한FAQ를모두찾은문항은판정없이69건에서판정적용84건이됐습니다. 의도별FAQ적중은161개에서182개,질문개수는90건에서맞았습니다. 이는답변정확도가아니라검색과분리성능입니다.</a:t>
            </a:r>
          </a:p>
          <a:p>
            <a:endParaRPr/>
          </a:p>
          <a:p>
            <a:r>
              <a:t>비교 조건과 해석</a:t>
            </a:r>
          </a:p>
          <a:p>
            <a:r>
              <a:t>별도 질문분리100건·정답의도201개. final/split/split-analysis.json의 원문·old·search 저장검색 결과에서 재집계. 모든 의도 정답 FAQ 검색=69/81/84, 의도별 FAQ 적중=161/181/182; 기준 top3·score&gt;=.75. 질문 개수 일치=초기81/개선90. 문서의 2차 재설계 현재 운영 프롬프트와 같은 결과다. 질문·gold는 AI 생성, 사람 검수 전이고 단회 실행. 전체 기능평가200건(이력 없음141/있음59)과 별도 제작100건이므로 같은300건 전후 비교로 합산하지 않는다. 기존41건은200건에서 이력59건 중 정답FAQ가 지정된41건만 추린 초기진단이었다. 그 수치를 전체 테스트로 해석하면 안 되므로 본문에서 별도100건 전체 결과로 교체했다. 원문 검색은 저장 벡터검색 기준선이며 구버전 전체API 실측이 아니다. 초기/분류기/slot의 종단 정답·환각 완전공통4단계 자료는 없고 분류기는 실제 호출 생략 수를 다음 장에서 제시한다.</a:t>
            </a:r>
          </a:p>
          <a:p>
            <a:endParaRPr/>
          </a:p>
          <a:p>
            <a:r>
              <a:t>근거</a:t>
            </a:r>
          </a:p>
          <a:p>
            <a:r>
              <a:t>C:/Ureka/ureca_project2/BackEnd/docs/질문분리_멀티턴_테스트_보고서.md</a:t>
            </a:r>
          </a:p>
          <a:p>
            <a:r>
              <a:t>C:/Ureka/ureca_project2/eval_205_multiturn/docs-evaluation/2026-10-16-split/final/split/split-analysis.json</a:t>
            </a:r>
          </a:p>
          <a:p>
            <a:r>
              <a:t>C:/Ureka/ureca_project2/LLM_Test/presentation_work/revision_20261026_pink/feedback_metrics.json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42343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(30초)</a:t>
            </a:r>
          </a:p>
          <a:p>
            <a:r>
              <a:t>판정모델이검색어를잘만들어도뜻을바꾸면답변이오염될수있습니다. 그래서검색어는검색에만쓰고답변에는원문과원문조각을줬습니다. 선정한전파사례는8건에서3건으로줄었지만이를전체환각감소율로쓰지는않았습니다. 분류기는실제390건중174건의판정호출을생략했고,기본단건은50건중49건이판정없이끝났습니다.</a:t>
            </a:r>
          </a:p>
          <a:p>
            <a:endParaRPr/>
          </a:p>
          <a:p>
            <a:r>
              <a:t>비교 조건과 해석</a:t>
            </a:r>
          </a:p>
          <a:p>
            <a:r>
              <a:t>원문/keep100건근거맞힘76/20일부/4틀림동일:원문전달이항상정답률을높인실험은아니고의미변형전파를피하려는설계다. 초기HANDOFF의선정전파사례8→3은반복실행·독립Judge의정량환각률이아니다. 가드300출력에서9개(명령6부정3)실제변형·관측오탐0,검증세트튜닝및미탐한계. 이전답변오류주입8건중2~3건전파되어이력도멀티턴에만제공. 분류기초기200평가이력없는141중66생략,이력59중4원문검색종료로합계70/200=35%는경로분석수치. 최종390trace실측은planner_called216,ORIGINAL_SEARCH_FIRST174;SA50중1호출49생략. 항상1회판정하면390회라는설계기준과대비한절감이며상태모델/도구/출력재호출등전체LLM호출은아니다. 현재네단계전체동일종단정답률자료는없다.</a:t>
            </a:r>
          </a:p>
          <a:p>
            <a:endParaRPr/>
          </a:p>
          <a:p>
            <a:r>
              <a:t>근거</a:t>
            </a:r>
          </a:p>
          <a:p>
            <a:r>
              <a:t>C:/Ureka/ureca_project2/BackEnd/docs/질문분리_멀티턴_테스트_보고서.md</a:t>
            </a:r>
          </a:p>
          <a:p>
            <a:r>
              <a:t>C:/Ureka/ureca_project2/eval_205_multiturn/docs-evaluation/2026-10-15-keep-search/HANDOFF.md</a:t>
            </a:r>
          </a:p>
          <a:p>
            <a:r>
              <a:t>C:/Ureka/ureca_project2/LLM_Test/presentation_work/evidence_20261026/recomputed_metrics.json</a:t>
            </a:r>
          </a:p>
          <a:p>
            <a:r>
              <a:t>C:/Ureka/ureca_project2/LLM_Test/presentation_work/revision_20261026_pink/slide_metrics.json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572774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(31초)</a:t>
            </a:r>
          </a:p>
          <a:p>
            <a:r>
              <a:t>프롬프트만으로남았던고지문제는출력단위를바꿔제어했습니다. 질문별칸에서답할수있는본문만남기고보류안내는코드가붙입니다. 공통337문항에서FAQ번호노출은17,3,0건이고반복고지는81,12,0건입니다. 하지만일반문장재진술은single과slot이모두22건으로남았습니다. 이개선은전체정답이나환각의일괄개선과구분해야합니다.</a:t>
            </a:r>
          </a:p>
          <a:p>
            <a:endParaRPr/>
          </a:p>
          <a:p>
            <a:r>
              <a:t>비교 조건과 해석</a:t>
            </a:r>
          </a:p>
          <a:p>
            <a:r>
              <a:t>single_v1/sub_v4/slot_v4세모드의공통Judge337문항. 정답276/257/270,환각44/30/33. Native표는모두같은337ID. 모든390건의FAQID17/3/0·반복고지81/12/0과동일. 반복고지는기존case_scores.leak.notice_sentences길이&gt;=2로집계하여FAQ인용문장제외. 일반재진술은문장최소12개2gram·작은쪽집합대비중복60%이상인쌍이있는응답수이며새보조지표. 모든반복표현이나프롬프트900건303→234와직접비교하지않는다. 최종사용자본문의반복고지는single81/sub70/slot2로코드안내도포함하므로모델본문0과다르다. 전체390건모델·코드중복고지sub67→slot1. sub실행오류LLM00512→slotCHAT0211(LLM0050). single도오류1이므로single대비오류개선아님. sub/slot공통339정답259→272 p=.0596;환각30→33 p=.743. single/slot공통350정답284→278 p=.418,환각44→36 p=.302. 품질향상통계적입증없음. 후속feat277가드는같은390에서정답률71.35/환각12.92로달라져이390slot실험을현재배포전체성능이라고하지않는다.</a:t>
            </a:r>
          </a:p>
          <a:p>
            <a:endParaRPr/>
          </a:p>
          <a:p>
            <a:r>
              <a:t>근거</a:t>
            </a:r>
          </a:p>
          <a:p>
            <a:r>
              <a:t>C:/Ureka/ureca_project2/LLM_Test/presentation_work/revision_20261026_pink/derive_slide_metrics.py</a:t>
            </a:r>
          </a:p>
          <a:p>
            <a:r>
              <a:t>C:/Ureka/ureca_project2/LLM_Test/presentation_work/revision_20261026_pink/slide_metrics.json</a:t>
            </a:r>
          </a:p>
          <a:p>
            <a:r>
              <a:t>C:/Ureka/ureca_project2/LLM_Test/pipeline_test_v4/try2/results/all_summary.md</a:t>
            </a:r>
          </a:p>
          <a:p>
            <a:r>
              <a:t>C:/Ureka/ureca_project2/LLM_Test/pipeline_test_v1/try1/results/interim_summary.md</a:t>
            </a:r>
          </a:p>
          <a:p>
            <a:r>
              <a:t>C:/Ureka/ureca_project2/LLM_Test/pipeline_test_v5/try1/results/all_summary.md</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441594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발표 메모 (24초)</a:t>
            </a:r>
          </a:p>
          <a:p>
            <a:r>
              <a:t>스케줄러는팀전체기능을주기와역할로묶었습니다. 예약이나요금일정에맞춰알림을보내고,사용량이한도에도달하면안내합니다. FAQ랭킹과미응답그룹이름도정기적으로갱신합니다. 이외에기간이지난데이터정리,관리자검토작업,비동기처리와상담복구를주기적으로실행합니다.</a:t>
            </a:r>
          </a:p>
          <a:p>
            <a:endParaRPr/>
          </a:p>
          <a:p>
            <a:r>
              <a:t>비교 조건과 해석</a:t>
            </a:r>
          </a:p>
          <a:p>
            <a:r>
              <a:t>예약24/6/1h,납부기한0~3일·연체1~30일미납액&gt;0,로밍시작/종료D1/D0,약정할부D30/D7/D1,데이터80/100단계중복방지. 보관정리질문원문과연결3개월뒤익명화·집계행3년,로그예약알림주로3개월·구독청구5년등프로젝트정책이며법률적합성주장아님. ShedLock최소10분최대30분·1분간격최대3회재시도·하위부터삭제. FAQ랭킹20분창top5·최소10회·2일기준·급상승비율5. 미응답이름5분간격batch10·최근질문10·20분예산. 검토매분은예약시점확인,기본DBenabledfalse·interval1440분·관리자5~43200분설정;매분LLM분석아님. Outboxbatch20최대5재시도base10초. 상담5초maintainSessions/recoverPending와별도문장색인,검토worker2초·alert5초,금칙어캐시5초,취소구독15초,적체지표초기30초후5분. app.role별예약/worker분리조건존재. 실제활성화및운영성공률미조회.</a:t>
            </a:r>
          </a:p>
          <a:p>
            <a:endParaRPr/>
          </a:p>
          <a:p>
            <a:r>
              <a:t>근거</a:t>
            </a:r>
          </a:p>
          <a:p>
            <a:r>
              <a:t>C:/Ureka/ureca_project2/BackEnd/src/main/resources/application.yml</a:t>
            </a:r>
          </a:p>
          <a:p>
            <a:r>
              <a:t>C:/Ureka/ureca_project2/BackEnd/src/main/java/com/ubot/retention/scheduler/DataRetentionScheduler.java</a:t>
            </a:r>
          </a:p>
          <a:p>
            <a:r>
              <a:t>C:/Ureka/ureca_project2/BackEnd/src/main/resources/db/migration/R__purge_expired_data.sql</a:t>
            </a:r>
          </a:p>
          <a:p>
            <a:r>
              <a:t>C:/Ureka/ureca_project2/LLM_Test/presentation_work/evidence_20261026/evidence_review.json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48155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00000"/>
            <a:ext cx="9000000" cy="400000"/>
          </a:xfrm>
          <a:prstGeom prst="rect">
            <a:avLst/>
          </a:prstGeom>
          <a:noFill/>
        </p:spPr>
        <p:txBody>
          <a:bodyPr wrap="square" lIns="0" tIns="0" rIns="0" bIns="0" anchor="ctr">
            <a:spAutoFit/>
          </a:bodyPr>
          <a:lstStyle/>
          <a:p>
            <a:pPr lvl="0" algn="l">
              <a:defRPr/>
            </a:pPr>
            <a:r>
              <a:rPr sz="1600" b="1">
                <a:solidFill>
                  <a:schemeClr val="accent1"/>
                </a:solidFill>
              </a:rPr>
              <a:t>PART 02</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팀 구성 및 역할</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01</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sp>
        <p:nvSpPr>
          <p:cNvPr id="36"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팀 구성 및 역할</a:t>
            </a:r>
          </a:p>
        </p:txBody>
      </p:sp>
      <p:sp>
        <p:nvSpPr>
          <p:cNvPr id="39"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팀 구성과 역할</a:t>
            </a:r>
          </a:p>
        </p:txBody>
      </p:sp>
      <p:sp>
        <p:nvSpPr>
          <p:cNvPr id="40"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파트별로 나눠 협업한 팀 구성과 담당 역할</a:t>
            </a:r>
          </a:p>
        </p:txBody>
      </p:sp>
      <p:sp>
        <p:nvSpPr>
          <p:cNvPr id="41"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42"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02</a:t>
            </a:r>
            <a:endParaRPr sz="1300" b="0">
              <a:solidFill>
                <a:schemeClr val="accent3"/>
              </a:solidFill>
            </a:endParaRPr>
          </a:p>
        </p:txBody>
      </p:sp>
      <p:sp>
        <p:nvSpPr>
          <p:cNvPr id="7" name="Embedding 팀 헤더"/>
          <p:cNvSpPr txBox="1"/>
          <p:nvPr/>
        </p:nvSpPr>
        <p:spPr>
          <a:xfrm>
            <a:off x="628650" y="2098800"/>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Embedding 팀</a:t>
            </a:r>
            <a:endParaRPr lang="en-US" sz="1800"/>
          </a:p>
        </p:txBody>
      </p:sp>
      <p:sp>
        <p:nvSpPr>
          <p:cNvPr id="8" name="임진우 카드"/>
          <p:cNvSpPr/>
          <p:nvPr/>
        </p:nvSpPr>
        <p:spPr>
          <a:xfrm>
            <a:off x="62865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9" name="임진우 이름"/>
          <p:cNvSpPr txBox="1"/>
          <p:nvPr/>
        </p:nvSpPr>
        <p:spPr>
          <a:xfrm>
            <a:off x="81153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임진우</a:t>
            </a:r>
            <a:endParaRPr lang="en-US" sz="2000"/>
          </a:p>
        </p:txBody>
      </p:sp>
      <p:sp>
        <p:nvSpPr>
          <p:cNvPr id="10" name="임진우 역할"/>
          <p:cNvSpPr txBox="1"/>
          <p:nvPr/>
        </p:nvSpPr>
        <p:spPr>
          <a:xfrm>
            <a:off x="811530" y="3122928"/>
            <a:ext cx="2577465" cy="1216152"/>
          </a:xfrm>
          <a:prstGeom prst="rect">
            <a:avLst/>
          </a:prstGeom>
          <a:noFill/>
          <a:ln/>
        </p:spPr>
        <p:txBody>
          <a:bodyPr wrap="square" lIns="0" tIns="0" rIns="0" bIns="0" anchor="t"/>
          <a:lstStyle/>
          <a:p>
            <a:pPr marL="342900" lvl="0" indent="-342900">
              <a:spcAft>
                <a:spcPts val="400"/>
              </a:spcAft>
              <a:buSzPct val="100000"/>
              <a:buChar char="•"/>
              <a:defRPr/>
            </a:pPr>
            <a:r>
              <a:rPr lang="en-US" sz="1100">
                <a:solidFill>
                  <a:schemeClr val="tx1"/>
                </a:solidFill>
              </a:rPr>
              <a:t>FAQ 유사표현, 문장 유사도 검사 파이프라인 구현</a:t>
            </a:r>
          </a:p>
          <a:p>
            <a:pPr marL="342900" lvl="0" indent="-342900">
              <a:spcAft>
                <a:spcPts val="400"/>
              </a:spcAft>
              <a:buSzPct val="100000"/>
              <a:buChar char="•"/>
              <a:defRPr/>
            </a:pPr>
            <a:r>
              <a:rPr lang="en-US" sz="1100">
                <a:solidFill>
                  <a:schemeClr val="tx1"/>
                </a:solidFill>
              </a:rPr>
              <a:t>관리자 FAQ 모니터링 구현</a:t>
            </a:r>
          </a:p>
          <a:p>
            <a:pPr marL="342900" lvl="0" indent="-342900">
              <a:spcAft>
                <a:spcPts val="400"/>
              </a:spcAft>
              <a:buSzPct val="100000"/>
              <a:buChar char="•"/>
              <a:defRPr/>
            </a:pPr>
            <a:r>
              <a:rPr lang="en-US" sz="1100">
                <a:solidFill>
                  <a:schemeClr val="tx1"/>
                </a:solidFill>
              </a:rPr>
              <a:t>실시간 랭킹 시스템 구현</a:t>
            </a:r>
            <a:endParaRPr lang="en-US" sz="1100"/>
          </a:p>
        </p:txBody>
      </p:sp>
      <p:sp>
        <p:nvSpPr>
          <p:cNvPr id="11" name="유민하 카드"/>
          <p:cNvSpPr/>
          <p:nvPr/>
        </p:nvSpPr>
        <p:spPr>
          <a:xfrm>
            <a:off x="380047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2" name="유민하 이름"/>
          <p:cNvSpPr txBox="1"/>
          <p:nvPr/>
        </p:nvSpPr>
        <p:spPr>
          <a:xfrm>
            <a:off x="398335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유민하</a:t>
            </a:r>
            <a:endParaRPr lang="en-US" sz="2000"/>
          </a:p>
        </p:txBody>
      </p:sp>
      <p:sp>
        <p:nvSpPr>
          <p:cNvPr id="13" name="유민하 역할"/>
          <p:cNvSpPr txBox="1"/>
          <p:nvPr/>
        </p:nvSpPr>
        <p:spPr>
          <a:xfrm>
            <a:off x="3983355" y="3122928"/>
            <a:ext cx="2577465" cy="1216152"/>
          </a:xfrm>
          <a:prstGeom prst="rect">
            <a:avLst/>
          </a:prstGeom>
          <a:noFill/>
          <a:ln/>
        </p:spPr>
        <p:txBody>
          <a:bodyPr wrap="square" lIns="0" tIns="0" rIns="0" bIns="0" anchor="t"/>
          <a:lstStyle/>
          <a:p>
            <a:pPr marL="0" lvl="0" indent="0">
              <a:buNone/>
              <a:defRPr/>
            </a:pPr>
            <a:endParaRPr lang="en-US" sz="1400"/>
          </a:p>
        </p:txBody>
      </p:sp>
      <p:sp>
        <p:nvSpPr>
          <p:cNvPr id="14" name="전송흔 카드"/>
          <p:cNvSpPr/>
          <p:nvPr/>
        </p:nvSpPr>
        <p:spPr>
          <a:xfrm>
            <a:off x="6972300"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5" name="전송흔 이름"/>
          <p:cNvSpPr txBox="1"/>
          <p:nvPr/>
        </p:nvSpPr>
        <p:spPr>
          <a:xfrm>
            <a:off x="7155180"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전송흔</a:t>
            </a:r>
            <a:endParaRPr lang="en-US" sz="2000"/>
          </a:p>
        </p:txBody>
      </p:sp>
      <p:sp>
        <p:nvSpPr>
          <p:cNvPr id="16" name="전송흔 역할"/>
          <p:cNvSpPr txBox="1"/>
          <p:nvPr/>
        </p:nvSpPr>
        <p:spPr>
          <a:xfrm>
            <a:off x="7155180" y="3122928"/>
            <a:ext cx="2577465" cy="1216152"/>
          </a:xfrm>
          <a:prstGeom prst="rect">
            <a:avLst/>
          </a:prstGeom>
          <a:noFill/>
          <a:ln/>
        </p:spPr>
        <p:txBody>
          <a:bodyPr wrap="square" lIns="0" tIns="0" rIns="0" bIns="0" anchor="t"/>
          <a:lstStyle/>
          <a:p>
            <a:pPr marL="0" lvl="0" indent="0">
              <a:buNone/>
              <a:defRPr/>
            </a:pPr>
            <a:endParaRPr lang="en-US" sz="1400"/>
          </a:p>
        </p:txBody>
      </p:sp>
      <p:sp>
        <p:nvSpPr>
          <p:cNvPr id="17" name="이재훈 카드"/>
          <p:cNvSpPr/>
          <p:nvPr/>
        </p:nvSpPr>
        <p:spPr>
          <a:xfrm>
            <a:off x="10144125" y="2574288"/>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18" name="이재훈 이름"/>
          <p:cNvSpPr txBox="1"/>
          <p:nvPr/>
        </p:nvSpPr>
        <p:spPr>
          <a:xfrm>
            <a:off x="10327005" y="2684016"/>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이재훈</a:t>
            </a:r>
            <a:endParaRPr lang="en-US" sz="2000"/>
          </a:p>
        </p:txBody>
      </p:sp>
      <p:sp>
        <p:nvSpPr>
          <p:cNvPr id="19" name="이재훈 역할"/>
          <p:cNvSpPr txBox="1"/>
          <p:nvPr/>
        </p:nvSpPr>
        <p:spPr>
          <a:xfrm>
            <a:off x="10327005" y="3122928"/>
            <a:ext cx="2577465" cy="1216152"/>
          </a:xfrm>
          <a:prstGeom prst="rect">
            <a:avLst/>
          </a:prstGeom>
          <a:noFill/>
          <a:ln/>
        </p:spPr>
        <p:txBody>
          <a:bodyPr wrap="square" lIns="0" tIns="0" rIns="0" bIns="0" anchor="t"/>
          <a:lstStyle/>
          <a:p>
            <a:pPr marL="0" lvl="0" indent="0">
              <a:buNone/>
              <a:defRPr/>
            </a:pPr>
            <a:endParaRPr lang="en-US" sz="1400"/>
          </a:p>
        </p:txBody>
      </p:sp>
      <p:sp>
        <p:nvSpPr>
          <p:cNvPr id="20" name="LLM 팀 헤더"/>
          <p:cNvSpPr txBox="1"/>
          <p:nvPr/>
        </p:nvSpPr>
        <p:spPr>
          <a:xfrm>
            <a:off x="628650" y="4558536"/>
            <a:ext cx="12458700" cy="384048"/>
          </a:xfrm>
          <a:prstGeom prst="rect">
            <a:avLst/>
          </a:prstGeom>
          <a:solidFill>
            <a:schemeClr val="tx2"/>
          </a:solidFill>
          <a:ln/>
        </p:spPr>
        <p:txBody>
          <a:bodyPr wrap="square" lIns="177800" tIns="0" rIns="0" bIns="0" anchor="ctr"/>
          <a:lstStyle/>
          <a:p>
            <a:pPr marL="0" lvl="0" indent="0">
              <a:buNone/>
              <a:defRPr/>
            </a:pPr>
            <a:r>
              <a:rPr lang="en-US" sz="1800" b="1">
                <a:solidFill>
                  <a:schemeClr val="bg1"/>
                </a:solidFill>
              </a:rPr>
              <a:t>LLM 팀</a:t>
            </a:r>
            <a:endParaRPr lang="en-US" sz="1800"/>
          </a:p>
        </p:txBody>
      </p:sp>
      <p:sp>
        <p:nvSpPr>
          <p:cNvPr id="21" name="임재민 카드"/>
          <p:cNvSpPr/>
          <p:nvPr/>
        </p:nvSpPr>
        <p:spPr>
          <a:xfrm>
            <a:off x="62865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2" name="임재민 이름"/>
          <p:cNvSpPr txBox="1"/>
          <p:nvPr/>
        </p:nvSpPr>
        <p:spPr>
          <a:xfrm>
            <a:off x="81153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임재민</a:t>
            </a:r>
            <a:endParaRPr lang="en-US" sz="2000"/>
          </a:p>
        </p:txBody>
      </p:sp>
      <p:sp>
        <p:nvSpPr>
          <p:cNvPr id="23" name="임재민 역할"/>
          <p:cNvSpPr txBox="1"/>
          <p:nvPr/>
        </p:nvSpPr>
        <p:spPr>
          <a:xfrm>
            <a:off x="811530" y="5582664"/>
            <a:ext cx="2577465" cy="1216152"/>
          </a:xfrm>
          <a:prstGeom prst="rect">
            <a:avLst/>
          </a:prstGeom>
          <a:noFill/>
          <a:ln/>
        </p:spPr>
        <p:txBody>
          <a:bodyPr wrap="square" lIns="0" tIns="0" rIns="0" bIns="0" anchor="t"/>
          <a:lstStyle/>
          <a:p>
            <a:pPr marL="0" lvl="0" indent="0">
              <a:buNone/>
              <a:defRPr/>
            </a:pPr>
            <a:endParaRPr lang="en-US" sz="1400"/>
          </a:p>
        </p:txBody>
      </p:sp>
      <p:sp>
        <p:nvSpPr>
          <p:cNvPr id="24" name="이승지 카드"/>
          <p:cNvSpPr/>
          <p:nvPr/>
        </p:nvSpPr>
        <p:spPr>
          <a:xfrm>
            <a:off x="380047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5" name="이승지 이름"/>
          <p:cNvSpPr txBox="1"/>
          <p:nvPr/>
        </p:nvSpPr>
        <p:spPr>
          <a:xfrm>
            <a:off x="398335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이승지</a:t>
            </a:r>
            <a:endParaRPr lang="en-US" sz="2000"/>
          </a:p>
        </p:txBody>
      </p:sp>
      <p:sp>
        <p:nvSpPr>
          <p:cNvPr id="26" name="이승지 역할"/>
          <p:cNvSpPr txBox="1"/>
          <p:nvPr/>
        </p:nvSpPr>
        <p:spPr>
          <a:xfrm>
            <a:off x="3983355" y="5582664"/>
            <a:ext cx="2577465" cy="1216152"/>
          </a:xfrm>
          <a:prstGeom prst="rect">
            <a:avLst/>
          </a:prstGeom>
          <a:noFill/>
          <a:ln/>
        </p:spPr>
        <p:txBody>
          <a:bodyPr wrap="square" lIns="0" tIns="0" rIns="0" bIns="0" anchor="t"/>
          <a:lstStyle/>
          <a:p>
            <a:pPr marL="0" lvl="0" indent="0">
              <a:buNone/>
              <a:defRPr/>
            </a:pPr>
            <a:endParaRPr lang="en-US" sz="1400"/>
          </a:p>
        </p:txBody>
      </p:sp>
      <p:sp>
        <p:nvSpPr>
          <p:cNvPr id="27" name="조현빈 카드"/>
          <p:cNvSpPr/>
          <p:nvPr/>
        </p:nvSpPr>
        <p:spPr>
          <a:xfrm>
            <a:off x="6972300"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28" name="조현빈 이름"/>
          <p:cNvSpPr txBox="1"/>
          <p:nvPr/>
        </p:nvSpPr>
        <p:spPr>
          <a:xfrm>
            <a:off x="7155180"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조현빈</a:t>
            </a:r>
            <a:endParaRPr lang="en-US" sz="2000"/>
          </a:p>
        </p:txBody>
      </p:sp>
      <p:sp>
        <p:nvSpPr>
          <p:cNvPr id="29" name="조현빈 역할"/>
          <p:cNvSpPr txBox="1"/>
          <p:nvPr/>
        </p:nvSpPr>
        <p:spPr>
          <a:xfrm>
            <a:off x="7155180" y="5582664"/>
            <a:ext cx="2577465" cy="1216152"/>
          </a:xfrm>
          <a:prstGeom prst="rect">
            <a:avLst/>
          </a:prstGeom>
          <a:noFill/>
          <a:ln/>
        </p:spPr>
        <p:txBody>
          <a:bodyPr wrap="square" lIns="0" tIns="0" rIns="0" bIns="0" anchor="t"/>
          <a:lstStyle/>
          <a:p>
            <a:pPr marL="0" lvl="0" indent="0">
              <a:buNone/>
              <a:defRPr/>
            </a:pPr>
            <a:endParaRPr lang="en-US" sz="1400"/>
          </a:p>
        </p:txBody>
      </p:sp>
      <p:sp>
        <p:nvSpPr>
          <p:cNvPr id="30" name="지창민 카드"/>
          <p:cNvSpPr/>
          <p:nvPr/>
        </p:nvSpPr>
        <p:spPr>
          <a:xfrm>
            <a:off x="10144125" y="5034024"/>
            <a:ext cx="2943225" cy="1874520"/>
          </a:xfrm>
          <a:prstGeom prst="rect">
            <a:avLst/>
          </a:prstGeom>
          <a:solidFill>
            <a:schemeClr val="bg1"/>
          </a:solidFill>
          <a:ln w="9525">
            <a:solidFill>
              <a:schemeClr val="accent2"/>
            </a:solidFill>
            <a:prstDash val="solid"/>
          </a:ln>
        </p:spPr>
        <p:txBody>
          <a:bodyPr anchor="ctr"/>
          <a:lstStyle/>
          <a:p>
            <a:pPr lvl="0" algn="ctr">
              <a:defRPr/>
            </a:pPr>
            <a:endParaRPr lang="ko-KR" altLang="en-US"/>
          </a:p>
        </p:txBody>
      </p:sp>
      <p:sp>
        <p:nvSpPr>
          <p:cNvPr id="31" name="지창민 이름"/>
          <p:cNvSpPr txBox="1"/>
          <p:nvPr/>
        </p:nvSpPr>
        <p:spPr>
          <a:xfrm>
            <a:off x="10327005" y="5143752"/>
            <a:ext cx="2577465" cy="365760"/>
          </a:xfrm>
          <a:prstGeom prst="rect">
            <a:avLst/>
          </a:prstGeom>
          <a:noFill/>
          <a:ln/>
        </p:spPr>
        <p:txBody>
          <a:bodyPr wrap="square" lIns="0" tIns="0" rIns="0" bIns="0" anchor="ctr"/>
          <a:lstStyle/>
          <a:p>
            <a:pPr marL="0" lvl="0" indent="0">
              <a:buNone/>
              <a:defRPr/>
            </a:pPr>
            <a:r>
              <a:rPr lang="en-US" sz="2000" b="1">
                <a:solidFill>
                  <a:schemeClr val="accent1"/>
                </a:solidFill>
              </a:rPr>
              <a:t>지창민</a:t>
            </a:r>
            <a:endParaRPr lang="en-US" sz="2000"/>
          </a:p>
        </p:txBody>
      </p:sp>
      <p:sp>
        <p:nvSpPr>
          <p:cNvPr id="32" name="지창민 역할"/>
          <p:cNvSpPr txBox="1"/>
          <p:nvPr/>
        </p:nvSpPr>
        <p:spPr>
          <a:xfrm>
            <a:off x="10327005" y="5582664"/>
            <a:ext cx="2577465" cy="1216152"/>
          </a:xfrm>
          <a:prstGeom prst="rect">
            <a:avLst/>
          </a:prstGeom>
          <a:noFill/>
          <a:ln/>
        </p:spPr>
        <p:txBody>
          <a:bodyPr wrap="square" lIns="0" tIns="0" rIns="0" bIns="0" anchor="t"/>
          <a:lstStyle/>
          <a:p>
            <a:pPr marL="0" lvl="0" indent="0">
              <a:buNone/>
              <a:defRPr/>
            </a:pPr>
            <a:endParaRPr lang="en-US" sz="1400"/>
          </a:p>
        </p:txBody>
      </p:sp>
      <p:sp>
        <p:nvSpPr>
          <p:cNvPr id="33" name="임진우 역할"/>
          <p:cNvSpPr txBox="1"/>
          <p:nvPr/>
        </p:nvSpPr>
        <p:spPr>
          <a:xfrm>
            <a:off x="3983355"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DB 총괄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미응답 질문 묶기·FAQ 등록 후 자동 재검증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Outbox 기반 미응답 비동기 저장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백엔드·프론트 보안 고도화</a:t>
            </a:r>
          </a:p>
        </p:txBody>
      </p:sp>
      <p:sp>
        <p:nvSpPr>
          <p:cNvPr id="34" name="임진우 역할"/>
          <p:cNvSpPr txBox="1"/>
          <p:nvPr/>
        </p:nvSpPr>
        <p:spPr>
          <a:xfrm>
            <a:off x="7155180"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비동기 AI 채팅 및 장애 복구 시스템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LLM·Embedding 모델 서빙 환경 구축 및 성능 최적화</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서비스 운영 모니터링 및 AWS CI/CD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자동화 구축</a:t>
            </a:r>
          </a:p>
          <a:p>
            <a:pPr marL="342900" lvl="0" indent="-342900" algn="l" defTabSz="914400" rtl="0" eaLnBrk="1" latinLnBrk="0" hangingPunct="1">
              <a:lnSpc>
                <a:spcPct val="100000"/>
              </a:lnSpc>
              <a:spcBef>
                <a:spcPts val="0"/>
              </a:spcBef>
              <a:spcAft>
                <a:spcPts val="400"/>
              </a:spcAft>
              <a:buSzPct val="100000"/>
              <a:buChar char="•"/>
              <a:defRPr/>
            </a:pPr>
            <a:r>
              <a:rPr kumimoji="0" lang="en-US" sz="1000" b="0" i="0" u="none" strike="noStrike" kern="1200" cap="none" spc="0" normalizeH="0" baseline="0">
                <a:solidFill>
                  <a:srgbClr val="17171A"/>
                </a:solidFill>
                <a:latin typeface="맑은 고딕"/>
                <a:ea typeface="맑은 고딕"/>
                <a:cs typeface="맑은 고딕"/>
              </a:rPr>
              <a:t>상담사 연결, 메시지 유사도 검사 및 </a:t>
            </a:r>
            <a:br>
              <a:rPr kumimoji="0" lang="ko-KR" altLang="en-US" sz="1000" b="0" i="0" u="none" strike="noStrike" kern="1200" cap="none" spc="0" normalizeH="0" baseline="0">
                <a:solidFill>
                  <a:srgbClr val="17171A"/>
                </a:solidFill>
                <a:latin typeface="맑은 고딕"/>
                <a:ea typeface="맑은 고딕"/>
                <a:cs typeface="맑은 고딕"/>
              </a:rPr>
            </a:br>
            <a:r>
              <a:rPr kumimoji="0" lang="en-US" sz="1000" b="0" i="0" u="none" strike="noStrike" kern="1200" cap="none" spc="0" normalizeH="0" baseline="0">
                <a:solidFill>
                  <a:srgbClr val="17171A"/>
                </a:solidFill>
                <a:latin typeface="맑은 고딕"/>
                <a:ea typeface="맑은 고딕"/>
                <a:cs typeface="맑은 고딕"/>
              </a:rPr>
              <a:t>상담 이력 관리 시스템 구현</a:t>
            </a:r>
          </a:p>
        </p:txBody>
      </p:sp>
      <p:sp>
        <p:nvSpPr>
          <p:cNvPr id="35" name="임진우 역할"/>
          <p:cNvSpPr txBox="1"/>
          <p:nvPr/>
        </p:nvSpPr>
        <p:spPr>
          <a:xfrm>
            <a:off x="10327006" y="3122928"/>
            <a:ext cx="2577465" cy="1216152"/>
          </a:xfrm>
          <a:prstGeom prst="rect">
            <a:avLst/>
          </a:prstGeom>
          <a:noFill/>
          <a:ln/>
        </p:spPr>
        <p:txBody>
          <a:bodyPr wrap="square" lIns="0" tIns="0" rIns="0" bIns="0" anchor="t"/>
          <a:lstStyle/>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임베딩 모델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챗봇 임계값 선정</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의도 별 재답변 구현</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공지/오류 배너 및 목록 조회, 관리</a:t>
            </a:r>
          </a:p>
          <a:p>
            <a:pPr marL="342900" lvl="0" indent="-342900" algn="l" defTabSz="914400" rtl="0" eaLnBrk="1" latinLnBrk="0" hangingPunct="1">
              <a:lnSpc>
                <a:spcPct val="100000"/>
              </a:lnSpc>
              <a:spcBef>
                <a:spcPts val="0"/>
              </a:spcBef>
              <a:spcAft>
                <a:spcPts val="400"/>
              </a:spcAft>
              <a:buSzPct val="100000"/>
              <a:buChar char="•"/>
              <a:defRPr/>
            </a:pPr>
            <a:r>
              <a:rPr kumimoji="0" lang="en-US" sz="1100" b="0" i="0" u="none" strike="noStrike" kern="1200" cap="none" spc="0" normalizeH="0" baseline="0">
                <a:solidFill>
                  <a:srgbClr val="17171A"/>
                </a:solidFill>
                <a:latin typeface="맑은 고딕"/>
                <a:ea typeface="맑은 고딕"/>
                <a:cs typeface="맑은 고딕"/>
              </a:rPr>
              <a:t>사용자 알림 구현</a:t>
            </a: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3</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절차 및 방법</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03</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1"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프로젝트 일정</a:t>
            </a:r>
          </a:p>
        </p:txBody>
      </p:sp>
      <p:sp>
        <p:nvSpPr>
          <p:cNvPr id="52"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2026.09.09 ~ 2026.10.25  ·  3개 차수로 진행</a:t>
            </a:r>
          </a:p>
        </p:txBody>
      </p:sp>
      <p:sp>
        <p:nvSpPr>
          <p:cNvPr id="53"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54"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04</a:t>
            </a:r>
            <a:endParaRPr sz="1300" b="0">
              <a:solidFill>
                <a:schemeClr val="accent3"/>
              </a:solidFill>
            </a:endParaRPr>
          </a:p>
        </p:txBody>
      </p:sp>
      <p:cxnSp>
        <p:nvCxnSpPr>
          <p:cNvPr id="7" name="09/09 가이드"/>
          <p:cNvCxnSpPr/>
          <p:nvPr/>
        </p:nvCxnSpPr>
        <p:spPr>
          <a:xfrm>
            <a:off x="270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8" name="09/28 가이드"/>
          <p:cNvCxnSpPr/>
          <p:nvPr/>
        </p:nvCxnSpPr>
        <p:spPr>
          <a:xfrm>
            <a:off x="6933695"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9" name="10/14 가이드"/>
          <p:cNvCxnSpPr/>
          <p:nvPr/>
        </p:nvCxnSpPr>
        <p:spPr>
          <a:xfrm>
            <a:off x="10498913"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0" name="10/25 가이드"/>
          <p:cNvCxnSpPr/>
          <p:nvPr/>
        </p:nvCxnSpPr>
        <p:spPr>
          <a:xfrm>
            <a:off x="12950000" y="2650000"/>
            <a:ext cx="0" cy="4190000"/>
          </a:xfrm>
          <a:prstGeom prst="line">
            <a:avLst/>
          </a:prstGeom>
          <a:ln w="9525">
            <a:solidFill>
              <a:schemeClr val="accent2"/>
            </a:solidFill>
            <a:prstDash val="dash"/>
          </a:ln>
        </p:spPr>
        <p:style>
          <a:lnRef idx="2">
            <a:schemeClr val="accent1"/>
          </a:lnRef>
          <a:fillRef idx="0">
            <a:schemeClr val="accent1"/>
          </a:fillRef>
          <a:effectRef idx="1">
            <a:schemeClr val="accent1"/>
          </a:effectRef>
          <a:fontRef idx="minor">
            <a:schemeClr val="tx1"/>
          </a:fontRef>
        </p:style>
      </p:cxnSp>
      <p:cxnSp>
        <p:nvCxnSpPr>
          <p:cNvPr id="11" name="타임라인"/>
          <p:cNvCxnSpPr/>
          <p:nvPr/>
        </p:nvCxnSpPr>
        <p:spPr>
          <a:xfrm>
            <a:off x="2700000" y="2650000"/>
            <a:ext cx="10400000" cy="0"/>
          </a:xfrm>
          <a:prstGeom prst="line">
            <a:avLst/>
          </a:prstGeom>
          <a:ln w="31750">
            <a:solidFill>
              <a:schemeClr val="accent2"/>
            </a:solidFill>
            <a:prstDash val="dash"/>
          </a:ln>
        </p:spPr>
        <p:style>
          <a:lnRef idx="2">
            <a:schemeClr val="accent1"/>
          </a:lnRef>
          <a:fillRef idx="0">
            <a:schemeClr val="accent1"/>
          </a:fillRef>
          <a:effectRef idx="1">
            <a:schemeClr val="accent1"/>
          </a:effectRef>
          <a:fontRef idx="minor">
            <a:schemeClr val="tx1"/>
          </a:fontRef>
        </p:style>
      </p:cxnSp>
      <p:sp>
        <p:nvSpPr>
          <p:cNvPr id="12" name="09/09 점"/>
          <p:cNvSpPr/>
          <p:nvPr/>
        </p:nvSpPr>
        <p:spPr>
          <a:xfrm>
            <a:off x="260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09/09 날짜"/>
          <p:cNvSpPr txBox="1"/>
          <p:nvPr/>
        </p:nvSpPr>
        <p:spPr>
          <a:xfrm>
            <a:off x="210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09/09</a:t>
            </a:r>
          </a:p>
        </p:txBody>
      </p:sp>
      <p:sp>
        <p:nvSpPr>
          <p:cNvPr id="14" name="09/28 점"/>
          <p:cNvSpPr/>
          <p:nvPr/>
        </p:nvSpPr>
        <p:spPr>
          <a:xfrm>
            <a:off x="6833695"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09/28 날짜"/>
          <p:cNvSpPr txBox="1"/>
          <p:nvPr/>
        </p:nvSpPr>
        <p:spPr>
          <a:xfrm>
            <a:off x="6333695" y="2130000"/>
            <a:ext cx="1200000" cy="340000"/>
          </a:xfrm>
          <a:prstGeom prst="rect">
            <a:avLst/>
          </a:prstGeom>
          <a:noFill/>
        </p:spPr>
        <p:txBody>
          <a:bodyPr wrap="square" lIns="0" tIns="0" rIns="0" bIns="0" anchor="ctr">
            <a:spAutoFit/>
          </a:bodyPr>
          <a:lstStyle/>
          <a:p>
            <a:pPr lvl="0" algn="ctr">
              <a:defRPr/>
            </a:pPr>
            <a:r>
              <a:rPr sz="1800" b="1">
                <a:solidFill>
                  <a:schemeClr val="tx1"/>
                </a:solidFill>
              </a:rPr>
              <a:t>09/28</a:t>
            </a:r>
          </a:p>
        </p:txBody>
      </p:sp>
      <p:sp>
        <p:nvSpPr>
          <p:cNvPr id="16" name="10/14 점"/>
          <p:cNvSpPr/>
          <p:nvPr/>
        </p:nvSpPr>
        <p:spPr>
          <a:xfrm>
            <a:off x="10398913"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10/14 날짜"/>
          <p:cNvSpPr txBox="1"/>
          <p:nvPr/>
        </p:nvSpPr>
        <p:spPr>
          <a:xfrm>
            <a:off x="9898913"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10/14</a:t>
            </a:r>
          </a:p>
        </p:txBody>
      </p:sp>
      <p:sp>
        <p:nvSpPr>
          <p:cNvPr id="18" name="10/25 점"/>
          <p:cNvSpPr/>
          <p:nvPr/>
        </p:nvSpPr>
        <p:spPr>
          <a:xfrm>
            <a:off x="12850000" y="2550000"/>
            <a:ext cx="200000" cy="2000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9" name="10/25 날짜"/>
          <p:cNvSpPr txBox="1"/>
          <p:nvPr/>
        </p:nvSpPr>
        <p:spPr>
          <a:xfrm>
            <a:off x="12350000" y="2130000"/>
            <a:ext cx="1200000" cy="340000"/>
          </a:xfrm>
          <a:prstGeom prst="rect">
            <a:avLst/>
          </a:prstGeom>
          <a:noFill/>
        </p:spPr>
        <p:txBody>
          <a:bodyPr wrap="square" lIns="0" tIns="0" rIns="0" bIns="0" anchor="ctr">
            <a:spAutoFit/>
          </a:bodyPr>
          <a:lstStyle/>
          <a:p>
            <a:pPr lvl="0" algn="ctr">
              <a:defRPr/>
            </a:pPr>
            <a:r>
              <a:rPr sz="1800" b="1">
                <a:solidFill>
                  <a:schemeClr val="tx1"/>
                </a:solidFill>
              </a:rPr>
              <a:t>10/25</a:t>
            </a:r>
          </a:p>
        </p:txBody>
      </p:sp>
      <p:sp>
        <p:nvSpPr>
          <p:cNvPr id="20" name="1차 구간"/>
          <p:cNvSpPr txBox="1"/>
          <p:nvPr/>
        </p:nvSpPr>
        <p:spPr>
          <a:xfrm>
            <a:off x="2760000" y="2800000"/>
            <a:ext cx="4113695" cy="450000"/>
          </a:xfrm>
          <a:prstGeom prst="rect">
            <a:avLst/>
          </a:prstGeom>
          <a:noFill/>
        </p:spPr>
        <p:txBody>
          <a:bodyPr wrap="square" lIns="0" tIns="0" rIns="0" bIns="0" anchor="ctr">
            <a:spAutoFit/>
          </a:bodyPr>
          <a:lstStyle/>
          <a:p>
            <a:pPr lvl="0" algn="ctr">
              <a:defRPr/>
            </a:pPr>
            <a:r>
              <a:rPr sz="1200" b="1">
                <a:solidFill>
                  <a:schemeClr val="accent1"/>
                </a:solidFill>
              </a:rPr>
              <a:t>1차 · 기반 구축 및 기본 CRUD</a:t>
            </a:r>
          </a:p>
        </p:txBody>
      </p:sp>
      <p:sp>
        <p:nvSpPr>
          <p:cNvPr id="21" name="2차 구간"/>
          <p:cNvSpPr txBox="1"/>
          <p:nvPr/>
        </p:nvSpPr>
        <p:spPr>
          <a:xfrm>
            <a:off x="6993695" y="2800000"/>
            <a:ext cx="3445218" cy="450000"/>
          </a:xfrm>
          <a:prstGeom prst="rect">
            <a:avLst/>
          </a:prstGeom>
          <a:noFill/>
        </p:spPr>
        <p:txBody>
          <a:bodyPr wrap="square" lIns="0" tIns="0" rIns="0" bIns="0" anchor="ctr">
            <a:spAutoFit/>
          </a:bodyPr>
          <a:lstStyle/>
          <a:p>
            <a:pPr lvl="0" algn="ctr">
              <a:defRPr/>
            </a:pPr>
            <a:r>
              <a:rPr sz="1200" b="1">
                <a:solidFill>
                  <a:schemeClr val="accent1"/>
                </a:solidFill>
              </a:rPr>
              <a:t>2차 · 핵심 서비스 기능</a:t>
            </a:r>
          </a:p>
        </p:txBody>
      </p:sp>
      <p:sp>
        <p:nvSpPr>
          <p:cNvPr id="22" name="3차 구간"/>
          <p:cNvSpPr txBox="1"/>
          <p:nvPr/>
        </p:nvSpPr>
        <p:spPr>
          <a:xfrm>
            <a:off x="10558913" y="2800000"/>
            <a:ext cx="2331087" cy="450000"/>
          </a:xfrm>
          <a:prstGeom prst="rect">
            <a:avLst/>
          </a:prstGeom>
          <a:noFill/>
        </p:spPr>
        <p:txBody>
          <a:bodyPr wrap="square" lIns="0" tIns="0" rIns="0" bIns="0" anchor="ctr">
            <a:spAutoFit/>
          </a:bodyPr>
          <a:lstStyle/>
          <a:p>
            <a:pPr lvl="0" algn="ctr">
              <a:defRPr/>
            </a:pPr>
            <a:r>
              <a:rPr sz="1200" b="1">
                <a:solidFill>
                  <a:schemeClr val="accent1"/>
                </a:solidFill>
              </a:rPr>
              <a:t>3차 · 고도화, AI 품질, 운영 안정화</a:t>
            </a:r>
          </a:p>
        </p:txBody>
      </p:sp>
      <p:sp>
        <p:nvSpPr>
          <p:cNvPr id="23" name="기획·설계 행 이름"/>
          <p:cNvSpPr txBox="1"/>
          <p:nvPr/>
        </p:nvSpPr>
        <p:spPr>
          <a:xfrm>
            <a:off x="628650" y="3300000"/>
            <a:ext cx="1900000" cy="620000"/>
          </a:xfrm>
          <a:prstGeom prst="rect">
            <a:avLst/>
          </a:prstGeom>
          <a:noFill/>
        </p:spPr>
        <p:txBody>
          <a:bodyPr wrap="square" lIns="0" tIns="0" rIns="0" bIns="0" anchor="ctr">
            <a:spAutoFit/>
          </a:bodyPr>
          <a:lstStyle/>
          <a:p>
            <a:pPr lvl="0" algn="l">
              <a:defRPr/>
            </a:pPr>
            <a:r>
              <a:rPr sz="1600" b="1">
                <a:solidFill>
                  <a:schemeClr val="accent1"/>
                </a:solidFill>
              </a:rPr>
              <a:t>기획·설계</a:t>
            </a:r>
          </a:p>
        </p:txBody>
      </p:sp>
      <p:sp>
        <p:nvSpPr>
          <p:cNvPr id="24" name="기획·MVP 정의 박스"/>
          <p:cNvSpPr/>
          <p:nvPr/>
        </p:nvSpPr>
        <p:spPr>
          <a:xfrm>
            <a:off x="2700000" y="3300000"/>
            <a:ext cx="1114130"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기획·MVP 정의</a:t>
            </a:r>
          </a:p>
        </p:txBody>
      </p:sp>
      <p:sp>
        <p:nvSpPr>
          <p:cNvPr id="25" name="아키텍처·ERD 설계 박스"/>
          <p:cNvSpPr/>
          <p:nvPr/>
        </p:nvSpPr>
        <p:spPr>
          <a:xfrm>
            <a:off x="3814130" y="3300000"/>
            <a:ext cx="89130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아키텍처·ERD 설계</a:t>
            </a:r>
          </a:p>
        </p:txBody>
      </p:sp>
      <p:sp>
        <p:nvSpPr>
          <p:cNvPr id="26" name="AI (LLM·임베딩) 행 이름"/>
          <p:cNvSpPr txBox="1"/>
          <p:nvPr/>
        </p:nvSpPr>
        <p:spPr>
          <a:xfrm>
            <a:off x="628650" y="4030000"/>
            <a:ext cx="1900000" cy="620000"/>
          </a:xfrm>
          <a:prstGeom prst="rect">
            <a:avLst/>
          </a:prstGeom>
          <a:noFill/>
        </p:spPr>
        <p:txBody>
          <a:bodyPr wrap="square" lIns="0" tIns="0" rIns="0" bIns="0" anchor="ctr">
            <a:spAutoFit/>
          </a:bodyPr>
          <a:lstStyle/>
          <a:p>
            <a:pPr lvl="0" algn="l">
              <a:defRPr/>
            </a:pPr>
            <a:r>
              <a:rPr sz="1600" b="1">
                <a:solidFill>
                  <a:schemeClr val="accent1"/>
                </a:solidFill>
              </a:rPr>
              <a:t>AI (LLM·임베딩)</a:t>
            </a:r>
          </a:p>
        </p:txBody>
      </p:sp>
      <p:cxnSp>
        <p:nvCxnSpPr>
          <p:cNvPr id="27" name="AI (LLM·임베딩) 구분선"/>
          <p:cNvCxnSpPr/>
          <p:nvPr/>
        </p:nvCxnSpPr>
        <p:spPr>
          <a:xfrm>
            <a:off x="628650" y="397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28" name="모델 조사·비교 검증 박스"/>
          <p:cNvSpPr/>
          <p:nvPr/>
        </p:nvSpPr>
        <p:spPr>
          <a:xfrm>
            <a:off x="2922826" y="403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 조사·비교 검증</a:t>
            </a:r>
          </a:p>
        </p:txBody>
      </p:sp>
      <p:sp>
        <p:nvSpPr>
          <p:cNvPr id="29" name="모델·프롬프트 선정, 챗봇 연동 박스"/>
          <p:cNvSpPr/>
          <p:nvPr/>
        </p:nvSpPr>
        <p:spPr>
          <a:xfrm>
            <a:off x="5373913" y="4030000"/>
            <a:ext cx="1559782"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모델·프롬프트 선정, 챗봇 연동</a:t>
            </a:r>
          </a:p>
        </p:txBody>
      </p:sp>
      <p:sp>
        <p:nvSpPr>
          <p:cNvPr id="30" name="의도 분기·RAG 파이프라인 박스"/>
          <p:cNvSpPr/>
          <p:nvPr/>
        </p:nvSpPr>
        <p:spPr>
          <a:xfrm>
            <a:off x="6933695" y="4030000"/>
            <a:ext cx="356521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의도 분기·RAG 파이프라인</a:t>
            </a:r>
          </a:p>
        </p:txBody>
      </p:sp>
      <p:sp>
        <p:nvSpPr>
          <p:cNvPr id="31" name="응답 품질 고도화 박스"/>
          <p:cNvSpPr/>
          <p:nvPr/>
        </p:nvSpPr>
        <p:spPr>
          <a:xfrm>
            <a:off x="10498913" y="4030000"/>
            <a:ext cx="2005434"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응답 품질 고도화</a:t>
            </a:r>
          </a:p>
        </p:txBody>
      </p:sp>
      <p:sp>
        <p:nvSpPr>
          <p:cNvPr id="32" name="백엔드·서비스 행 이름"/>
          <p:cNvSpPr txBox="1"/>
          <p:nvPr/>
        </p:nvSpPr>
        <p:spPr>
          <a:xfrm>
            <a:off x="628650" y="4760000"/>
            <a:ext cx="1900000" cy="620000"/>
          </a:xfrm>
          <a:prstGeom prst="rect">
            <a:avLst/>
          </a:prstGeom>
          <a:noFill/>
        </p:spPr>
        <p:txBody>
          <a:bodyPr wrap="square" lIns="0" tIns="0" rIns="0" bIns="0" anchor="ctr">
            <a:spAutoFit/>
          </a:bodyPr>
          <a:lstStyle/>
          <a:p>
            <a:pPr lvl="0" algn="l">
              <a:defRPr/>
            </a:pPr>
            <a:r>
              <a:rPr sz="1600" b="1">
                <a:solidFill>
                  <a:schemeClr val="accent1"/>
                </a:solidFill>
              </a:rPr>
              <a:t>백엔드·서비스</a:t>
            </a:r>
          </a:p>
        </p:txBody>
      </p:sp>
      <p:cxnSp>
        <p:nvCxnSpPr>
          <p:cNvPr id="33" name="백엔드·서비스 구분선"/>
          <p:cNvCxnSpPr/>
          <p:nvPr/>
        </p:nvCxnSpPr>
        <p:spPr>
          <a:xfrm>
            <a:off x="628650" y="470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34" name="기본 API·채팅 시스템 박스"/>
          <p:cNvSpPr/>
          <p:nvPr/>
        </p:nvSpPr>
        <p:spPr>
          <a:xfrm>
            <a:off x="4036956"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기본 API·채팅 시스템</a:t>
            </a:r>
          </a:p>
        </p:txBody>
      </p:sp>
      <p:sp>
        <p:nvSpPr>
          <p:cNvPr id="35" name="미응답·검색어·금칙어 박스"/>
          <p:cNvSpPr/>
          <p:nvPr/>
        </p:nvSpPr>
        <p:spPr>
          <a:xfrm>
            <a:off x="6933695" y="476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미응답·검색어·금칙어</a:t>
            </a:r>
          </a:p>
        </p:txBody>
      </p:sp>
      <p:sp>
        <p:nvSpPr>
          <p:cNvPr id="36" name="예약·공지·알림 박스"/>
          <p:cNvSpPr/>
          <p:nvPr/>
        </p:nvSpPr>
        <p:spPr>
          <a:xfrm>
            <a:off x="8716304" y="4760000"/>
            <a:ext cx="289673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예약·공지·알림</a:t>
            </a:r>
          </a:p>
        </p:txBody>
      </p:sp>
      <p:sp>
        <p:nvSpPr>
          <p:cNvPr id="37" name="사용자 정보·상품·지도 박스"/>
          <p:cNvSpPr/>
          <p:nvPr/>
        </p:nvSpPr>
        <p:spPr>
          <a:xfrm>
            <a:off x="11613043" y="4760000"/>
            <a:ext cx="133695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사용자 정보·상품·지도</a:t>
            </a:r>
          </a:p>
        </p:txBody>
      </p:sp>
      <p:sp>
        <p:nvSpPr>
          <p:cNvPr id="38" name="인프라·배포 행 이름"/>
          <p:cNvSpPr txBox="1"/>
          <p:nvPr/>
        </p:nvSpPr>
        <p:spPr>
          <a:xfrm>
            <a:off x="628650" y="5490000"/>
            <a:ext cx="1900000" cy="620000"/>
          </a:xfrm>
          <a:prstGeom prst="rect">
            <a:avLst/>
          </a:prstGeom>
          <a:noFill/>
        </p:spPr>
        <p:txBody>
          <a:bodyPr wrap="square" lIns="0" tIns="0" rIns="0" bIns="0" anchor="ctr">
            <a:spAutoFit/>
          </a:bodyPr>
          <a:lstStyle/>
          <a:p>
            <a:pPr lvl="0" algn="l">
              <a:defRPr/>
            </a:pPr>
            <a:r>
              <a:rPr sz="1600" b="1">
                <a:solidFill>
                  <a:schemeClr val="accent1"/>
                </a:solidFill>
              </a:rPr>
              <a:t>인프라·배포</a:t>
            </a:r>
          </a:p>
        </p:txBody>
      </p:sp>
      <p:cxnSp>
        <p:nvCxnSpPr>
          <p:cNvPr id="39" name="인프라·배포 구분선"/>
          <p:cNvCxnSpPr/>
          <p:nvPr/>
        </p:nvCxnSpPr>
        <p:spPr>
          <a:xfrm>
            <a:off x="628650" y="543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0" name="개발 환경·배포 서버 구축 박스"/>
          <p:cNvSpPr/>
          <p:nvPr/>
        </p:nvSpPr>
        <p:spPr>
          <a:xfrm>
            <a:off x="3814130" y="5490000"/>
            <a:ext cx="3119565"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개발 환경·배포 서버 구축</a:t>
            </a:r>
          </a:p>
        </p:txBody>
      </p:sp>
      <p:sp>
        <p:nvSpPr>
          <p:cNvPr id="41" name="GPU 모델 서빙·성능 측정 박스"/>
          <p:cNvSpPr/>
          <p:nvPr/>
        </p:nvSpPr>
        <p:spPr>
          <a:xfrm>
            <a:off x="8716304" y="549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GPU 모델 서빙·성능 측정</a:t>
            </a:r>
          </a:p>
        </p:txBody>
      </p:sp>
      <p:sp>
        <p:nvSpPr>
          <p:cNvPr id="42" name="서버 분리·운영 배포 박스"/>
          <p:cNvSpPr/>
          <p:nvPr/>
        </p:nvSpPr>
        <p:spPr>
          <a:xfrm>
            <a:off x="10498913" y="5490000"/>
            <a:ext cx="2451087"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서버 분리·운영 배포</a:t>
            </a:r>
          </a:p>
        </p:txBody>
      </p:sp>
      <p:sp>
        <p:nvSpPr>
          <p:cNvPr id="43" name="품질·운영 행 이름"/>
          <p:cNvSpPr txBox="1"/>
          <p:nvPr/>
        </p:nvSpPr>
        <p:spPr>
          <a:xfrm>
            <a:off x="628650" y="6220000"/>
            <a:ext cx="1900000" cy="620000"/>
          </a:xfrm>
          <a:prstGeom prst="rect">
            <a:avLst/>
          </a:prstGeom>
          <a:noFill/>
        </p:spPr>
        <p:txBody>
          <a:bodyPr wrap="square" lIns="0" tIns="0" rIns="0" bIns="0" anchor="ctr">
            <a:spAutoFit/>
          </a:bodyPr>
          <a:lstStyle/>
          <a:p>
            <a:pPr lvl="0" algn="l">
              <a:defRPr/>
            </a:pPr>
            <a:r>
              <a:rPr sz="1600" b="1">
                <a:solidFill>
                  <a:schemeClr val="accent1"/>
                </a:solidFill>
              </a:rPr>
              <a:t>품질·운영</a:t>
            </a:r>
          </a:p>
        </p:txBody>
      </p:sp>
      <p:cxnSp>
        <p:nvCxnSpPr>
          <p:cNvPr id="44" name="품질·운영 구분선"/>
          <p:cNvCxnSpPr/>
          <p:nvPr/>
        </p:nvCxnSpPr>
        <p:spPr>
          <a:xfrm>
            <a:off x="628650" y="6165000"/>
            <a:ext cx="12458700" cy="0"/>
          </a:xfrm>
          <a:prstGeom prst="line">
            <a:avLst/>
          </a:prstGeom>
          <a:ln w="6350">
            <a:solidFill>
              <a:schemeClr val="accent2"/>
            </a:solidFill>
          </a:ln>
        </p:spPr>
        <p:style>
          <a:lnRef idx="2">
            <a:schemeClr val="accent1"/>
          </a:lnRef>
          <a:fillRef idx="0">
            <a:schemeClr val="accent1"/>
          </a:fillRef>
          <a:effectRef idx="1">
            <a:schemeClr val="accent1"/>
          </a:effectRef>
          <a:fontRef idx="minor">
            <a:schemeClr val="tx1"/>
          </a:fontRef>
        </p:style>
      </p:cxnSp>
      <p:sp>
        <p:nvSpPr>
          <p:cNvPr id="45" name="보안·운영 모니터링 박스"/>
          <p:cNvSpPr/>
          <p:nvPr/>
        </p:nvSpPr>
        <p:spPr>
          <a:xfrm>
            <a:off x="8716304" y="6220000"/>
            <a:ext cx="178260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보안·운영 모니터링</a:t>
            </a:r>
          </a:p>
        </p:txBody>
      </p:sp>
      <p:sp>
        <p:nvSpPr>
          <p:cNvPr id="46" name="입력·출력 가드 박스"/>
          <p:cNvSpPr/>
          <p:nvPr/>
        </p:nvSpPr>
        <p:spPr>
          <a:xfrm>
            <a:off x="10498913" y="6220000"/>
            <a:ext cx="1782608"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200" b="1">
                <a:solidFill>
                  <a:schemeClr val="bg1"/>
                </a:solidFill>
              </a:rPr>
              <a:t>입력·출력 가드</a:t>
            </a:r>
          </a:p>
        </p:txBody>
      </p:sp>
      <p:sp>
        <p:nvSpPr>
          <p:cNvPr id="47" name="발표·시연 준비 박스"/>
          <p:cNvSpPr/>
          <p:nvPr/>
        </p:nvSpPr>
        <p:spPr>
          <a:xfrm>
            <a:off x="12281521" y="6220000"/>
            <a:ext cx="668479" cy="620000"/>
          </a:xfrm>
          <a:prstGeom prst="roundRect">
            <a:avLst>
              <a:gd name="adj" fmla="val 12000"/>
            </a:avLst>
          </a:prstGeom>
          <a:solidFill>
            <a:schemeClr val="tx2"/>
          </a:solidFill>
          <a:ln w="25400">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45720" tIns="0" rIns="45720" bIns="0" anchor="ctr"/>
          <a:lstStyle/>
          <a:p>
            <a:pPr lvl="0" algn="ctr">
              <a:defRPr/>
            </a:pPr>
            <a:r>
              <a:rPr sz="1000" b="1">
                <a:solidFill>
                  <a:schemeClr val="bg1"/>
                </a:solidFill>
              </a:rPr>
              <a:t>발표·시연 준비</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시스템 아키텍처</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질문 접수와 답변 생성을 나누고, AI 모델은 GPU 서버에 따로 둡니다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05</a:t>
            </a:r>
            <a:endParaRPr sz="1300" b="0">
              <a:solidFill>
                <a:schemeClr val="accent3"/>
              </a:solidFill>
            </a:endParaRPr>
          </a:p>
        </p:txBody>
      </p:sp>
      <p:sp>
        <p:nvSpPr>
          <p:cNvPr id="9" name="Rounded Rectangle 8"/>
          <p:cNvSpPr/>
          <p:nvPr/>
        </p:nvSpPr>
        <p:spPr>
          <a:xfrm>
            <a:off x="630936" y="2057400"/>
            <a:ext cx="141732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291840"/>
            <a:ext cx="1417320" cy="731520"/>
          </a:xfrm>
          <a:prstGeom prst="rect">
            <a:avLst/>
          </a:prstGeom>
          <a:noFill/>
        </p:spPr>
        <p:txBody>
          <a:bodyPr wrap="square" lIns="0" tIns="0" rIns="0" bIns="0" anchor="t">
            <a:spAutoFit/>
          </a:bodyPr>
          <a:lstStyle/>
          <a:p>
            <a:pPr algn="ctr"/>
            <a:r>
              <a:rPr sz="1500" b="1">
                <a:solidFill>
                  <a:srgbClr val="17171A"/>
                </a:solidFill>
              </a:rPr>
              <a:t>사용자</a:t>
            </a:r>
          </a:p>
          <a:p>
            <a:pPr algn="ctr"/>
            <a:r>
              <a:rPr sz="1200" b="0">
                <a:solidFill>
                  <a:srgbClr val="686B72"/>
                </a:solidFill>
              </a:rPr>
              <a:t>브라우저</a:t>
            </a:r>
          </a:p>
        </p:txBody>
      </p:sp>
      <p:sp>
        <p:nvSpPr>
          <p:cNvPr id="11" name="Right Arrow 10"/>
          <p:cNvSpPr/>
          <p:nvPr/>
        </p:nvSpPr>
        <p:spPr>
          <a:xfrm>
            <a:off x="2157984"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2560320" y="2057400"/>
            <a:ext cx="214884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ounded Rectangle 12"/>
          <p:cNvSpPr/>
          <p:nvPr/>
        </p:nvSpPr>
        <p:spPr>
          <a:xfrm>
            <a:off x="2724912"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FE 서버</a:t>
            </a:r>
          </a:p>
        </p:txBody>
      </p:sp>
      <p:sp>
        <p:nvSpPr>
          <p:cNvPr id="14" name="TextBox 13"/>
          <p:cNvSpPr txBox="1"/>
          <p:nvPr/>
        </p:nvSpPr>
        <p:spPr>
          <a:xfrm>
            <a:off x="2724912" y="2697480"/>
            <a:ext cx="1828800" cy="2377440"/>
          </a:xfrm>
          <a:prstGeom prst="rect">
            <a:avLst/>
          </a:prstGeom>
          <a:noFill/>
        </p:spPr>
        <p:txBody>
          <a:bodyPr wrap="square" lIns="0" tIns="0" rIns="0" bIns="0" anchor="t">
            <a:spAutoFit/>
          </a:bodyPr>
          <a:lstStyle/>
          <a:p>
            <a:pPr algn="l"/>
            <a:r>
              <a:rPr sz="1400" b="1">
                <a:solidFill>
                  <a:srgbClr val="17171A"/>
                </a:solidFill>
              </a:rPr>
              <a:t>Nginx</a:t>
            </a:r>
          </a:p>
          <a:p>
            <a:pPr algn="l"/>
            <a:r>
              <a:rPr sz="1200" b="0">
                <a:solidFill>
                  <a:srgbClr val="686B72"/>
                </a:solidFill>
              </a:rPr>
              <a:t>React 정적 파일</a:t>
            </a:r>
          </a:p>
          <a:p>
            <a:pPr algn="l"/>
            <a:endParaRPr sz="1200" b="0">
              <a:solidFill>
                <a:srgbClr val="686B72"/>
              </a:solidFill>
            </a:endParaRPr>
          </a:p>
          <a:p>
            <a:pPr algn="l"/>
            <a:r>
              <a:rPr sz="1400" b="1">
                <a:solidFill>
                  <a:srgbClr val="17171A"/>
                </a:solidFill>
              </a:rPr>
              <a:t>CSP 적용</a:t>
            </a:r>
          </a:p>
          <a:p>
            <a:pPr algn="l"/>
            <a:r>
              <a:rPr sz="1200" b="0">
                <a:solidFill>
                  <a:srgbClr val="686B72"/>
                </a:solidFill>
              </a:rPr>
              <a:t>외부 스크립트 차단</a:t>
            </a:r>
          </a:p>
          <a:p>
            <a:pPr algn="l"/>
            <a:endParaRPr sz="1200" b="0">
              <a:solidFill>
                <a:srgbClr val="686B72"/>
              </a:solidFill>
            </a:endParaRPr>
          </a:p>
          <a:p>
            <a:pPr algn="l"/>
            <a:r>
              <a:rPr sz="1400" b="1">
                <a:solidFill>
                  <a:srgbClr val="17171A"/>
                </a:solidFill>
              </a:rPr>
              <a:t>/api 프록시</a:t>
            </a:r>
          </a:p>
          <a:p>
            <a:pPr algn="l"/>
            <a:r>
              <a:rPr sz="1200" b="0">
                <a:solidFill>
                  <a:srgbClr val="686B72"/>
                </a:solidFill>
              </a:rPr>
              <a:t>BE 서버로 전달</a:t>
            </a:r>
          </a:p>
        </p:txBody>
      </p:sp>
      <p:sp>
        <p:nvSpPr>
          <p:cNvPr id="15" name="Right Arrow 14"/>
          <p:cNvSpPr/>
          <p:nvPr/>
        </p:nvSpPr>
        <p:spPr>
          <a:xfrm>
            <a:off x="4818888"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221224" y="2057400"/>
            <a:ext cx="4114800" cy="324612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Rounded Rectangle 16"/>
          <p:cNvSpPr/>
          <p:nvPr/>
        </p:nvSpPr>
        <p:spPr>
          <a:xfrm>
            <a:off x="5385816" y="2240280"/>
            <a:ext cx="100584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BE 서버</a:t>
            </a:r>
          </a:p>
        </p:txBody>
      </p:sp>
      <p:sp>
        <p:nvSpPr>
          <p:cNvPr id="18" name="TextBox 17"/>
          <p:cNvSpPr txBox="1"/>
          <p:nvPr/>
        </p:nvSpPr>
        <p:spPr>
          <a:xfrm>
            <a:off x="6519672" y="2240280"/>
            <a:ext cx="2651760" cy="274320"/>
          </a:xfrm>
          <a:prstGeom prst="rect">
            <a:avLst/>
          </a:prstGeom>
          <a:noFill/>
        </p:spPr>
        <p:txBody>
          <a:bodyPr wrap="square" lIns="0" tIns="0" rIns="0" bIns="0" anchor="ctr">
            <a:spAutoFit/>
          </a:bodyPr>
          <a:lstStyle/>
          <a:p>
            <a:pPr algn="l"/>
            <a:r>
              <a:rPr sz="1100" b="0">
                <a:solidFill>
                  <a:srgbClr val="686B72"/>
                </a:solidFill>
              </a:rPr>
              <a:t>Nginx · 속도 제한 · 보안 헤더</a:t>
            </a:r>
          </a:p>
        </p:txBody>
      </p:sp>
      <p:sp>
        <p:nvSpPr>
          <p:cNvPr id="19" name="Rounded Rectangle 18"/>
          <p:cNvSpPr/>
          <p:nvPr/>
        </p:nvSpPr>
        <p:spPr>
          <a:xfrm>
            <a:off x="5385816" y="2743200"/>
            <a:ext cx="1691640" cy="132588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495544" y="2862072"/>
            <a:ext cx="1508760" cy="1143000"/>
          </a:xfrm>
          <a:prstGeom prst="rect">
            <a:avLst/>
          </a:prstGeom>
          <a:noFill/>
        </p:spPr>
        <p:txBody>
          <a:bodyPr wrap="square" lIns="0" tIns="0" rIns="0" bIns="0" anchor="t">
            <a:spAutoFit/>
          </a:bodyPr>
          <a:lstStyle/>
          <a:p>
            <a:pPr algn="l"/>
            <a:r>
              <a:rPr sz="1400" b="1">
                <a:solidFill>
                  <a:srgbClr val="17171A"/>
                </a:solidFill>
              </a:rPr>
              <a:t>API 서버</a:t>
            </a:r>
          </a:p>
          <a:p>
            <a:pPr algn="l"/>
            <a:r>
              <a:rPr sz="1200" b="0">
                <a:solidFill>
                  <a:srgbClr val="686B72"/>
                </a:solidFill>
              </a:rPr>
              <a:t>질문 접수</a:t>
            </a:r>
          </a:p>
          <a:p>
            <a:pPr algn="l"/>
            <a:r>
              <a:rPr sz="1200" b="0">
                <a:solidFill>
                  <a:srgbClr val="686B72"/>
                </a:solidFill>
              </a:rPr>
              <a:t>→ 202 + jobId</a:t>
            </a:r>
          </a:p>
        </p:txBody>
      </p:sp>
      <p:sp>
        <p:nvSpPr>
          <p:cNvPr id="21" name="Rounded Rectangle 20"/>
          <p:cNvSpPr/>
          <p:nvPr/>
        </p:nvSpPr>
        <p:spPr>
          <a:xfrm>
            <a:off x="7479792" y="2743200"/>
            <a:ext cx="1691640" cy="1325880"/>
          </a:xfrm>
          <a:prstGeom prst="roundRect">
            <a:avLst>
              <a:gd name="adj" fmla="val 8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7589520" y="2862072"/>
            <a:ext cx="1508760" cy="1143000"/>
          </a:xfrm>
          <a:prstGeom prst="rect">
            <a:avLst/>
          </a:prstGeom>
          <a:noFill/>
        </p:spPr>
        <p:txBody>
          <a:bodyPr wrap="square" lIns="0" tIns="0" rIns="0" bIns="0" anchor="t">
            <a:spAutoFit/>
          </a:bodyPr>
          <a:lstStyle/>
          <a:p>
            <a:pPr algn="l"/>
            <a:r>
              <a:rPr sz="1400" b="1">
                <a:solidFill>
                  <a:srgbClr val="17171A"/>
                </a:solidFill>
              </a:rPr>
              <a:t>AI Worker</a:t>
            </a:r>
          </a:p>
          <a:p>
            <a:pPr algn="l"/>
            <a:r>
              <a:rPr sz="1200" b="0">
                <a:solidFill>
                  <a:srgbClr val="686B72"/>
                </a:solidFill>
              </a:rPr>
              <a:t>답변 생성</a:t>
            </a:r>
          </a:p>
          <a:p>
            <a:pPr algn="l"/>
            <a:r>
              <a:rPr sz="1200" b="0">
                <a:solidFill>
                  <a:srgbClr val="686B72"/>
                </a:solidFill>
              </a:rPr>
              <a:t>검색 · 검증 · LLM</a:t>
            </a:r>
          </a:p>
        </p:txBody>
      </p:sp>
      <p:sp>
        <p:nvSpPr>
          <p:cNvPr id="23" name="Right Arrow 22"/>
          <p:cNvSpPr/>
          <p:nvPr/>
        </p:nvSpPr>
        <p:spPr>
          <a:xfrm>
            <a:off x="7123176" y="3273552"/>
            <a:ext cx="310896" cy="256032"/>
          </a:xfrm>
          <a:prstGeom prst="right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385816" y="4251960"/>
            <a:ext cx="3785615" cy="868680"/>
          </a:xfrm>
          <a:prstGeom prst="roundRect">
            <a:avLst>
              <a:gd name="adj" fmla="val 8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495544" y="4325112"/>
            <a:ext cx="3566160" cy="731520"/>
          </a:xfrm>
          <a:prstGeom prst="rect">
            <a:avLst/>
          </a:prstGeom>
          <a:noFill/>
        </p:spPr>
        <p:txBody>
          <a:bodyPr wrap="square" lIns="0" tIns="0" rIns="0" bIns="0" anchor="ctr">
            <a:spAutoFit/>
          </a:bodyPr>
          <a:lstStyle/>
          <a:p>
            <a:pPr algn="l"/>
            <a:r>
              <a:rPr sz="1300" b="1">
                <a:solidFill>
                  <a:srgbClr val="17171A"/>
                </a:solidFill>
              </a:rPr>
              <a:t>Redis Streams 대기열</a:t>
            </a:r>
          </a:p>
          <a:p>
            <a:pPr algn="l"/>
            <a:r>
              <a:rPr sz="1100" b="0">
                <a:solidFill>
                  <a:srgbClr val="686B72"/>
                </a:solidFill>
              </a:rPr>
              <a:t>API가 작업을 넣고 Worker가 꺼내 처리, 상태 원본은 PostgreSQL</a:t>
            </a:r>
          </a:p>
        </p:txBody>
      </p:sp>
      <p:sp>
        <p:nvSpPr>
          <p:cNvPr id="26" name="Right Arrow 25"/>
          <p:cNvSpPr/>
          <p:nvPr/>
        </p:nvSpPr>
        <p:spPr>
          <a:xfrm>
            <a:off x="9445752" y="3543300"/>
            <a:ext cx="292608" cy="274320"/>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9848088" y="205740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Rounded Rectangle 27"/>
          <p:cNvSpPr/>
          <p:nvPr/>
        </p:nvSpPr>
        <p:spPr>
          <a:xfrm>
            <a:off x="10012680" y="2240280"/>
            <a:ext cx="1188720" cy="274320"/>
          </a:xfrm>
          <a:prstGeom prst="roundRect">
            <a:avLst>
              <a:gd name="adj" fmla="val 50000"/>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State 서버</a:t>
            </a:r>
          </a:p>
        </p:txBody>
      </p:sp>
      <p:sp>
        <p:nvSpPr>
          <p:cNvPr id="29" name="TextBox 28"/>
          <p:cNvSpPr txBox="1"/>
          <p:nvPr/>
        </p:nvSpPr>
        <p:spPr>
          <a:xfrm>
            <a:off x="10012680" y="2651760"/>
            <a:ext cx="2926080" cy="822960"/>
          </a:xfrm>
          <a:prstGeom prst="rect">
            <a:avLst/>
          </a:prstGeom>
          <a:noFill/>
        </p:spPr>
        <p:txBody>
          <a:bodyPr wrap="square" lIns="0" tIns="0" rIns="0" bIns="0" anchor="t">
            <a:spAutoFit/>
          </a:bodyPr>
          <a:lstStyle/>
          <a:p>
            <a:pPr algn="l"/>
            <a:r>
              <a:rPr sz="1400" b="1">
                <a:solidFill>
                  <a:srgbClr val="17171A"/>
                </a:solidFill>
              </a:rPr>
              <a:t>PostgreSQL</a:t>
            </a:r>
          </a:p>
          <a:p>
            <a:pPr algn="l"/>
            <a:r>
              <a:rPr sz="1200" b="0">
                <a:solidFill>
                  <a:srgbClr val="686B72"/>
                </a:solidFill>
              </a:rPr>
              <a:t>pgvector · PostGIS · Redis</a:t>
            </a:r>
          </a:p>
        </p:txBody>
      </p:sp>
      <p:sp>
        <p:nvSpPr>
          <p:cNvPr id="30" name="Rounded Rectangle 29"/>
          <p:cNvSpPr/>
          <p:nvPr/>
        </p:nvSpPr>
        <p:spPr>
          <a:xfrm>
            <a:off x="9848088" y="3794760"/>
            <a:ext cx="3236976" cy="15087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Rounded Rectangle 30"/>
          <p:cNvSpPr/>
          <p:nvPr/>
        </p:nvSpPr>
        <p:spPr>
          <a:xfrm>
            <a:off x="10012680" y="3977639"/>
            <a:ext cx="1188720" cy="274320"/>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GPU 서버</a:t>
            </a:r>
          </a:p>
        </p:txBody>
      </p:sp>
      <p:sp>
        <p:nvSpPr>
          <p:cNvPr id="32" name="TextBox 31"/>
          <p:cNvSpPr txBox="1"/>
          <p:nvPr/>
        </p:nvSpPr>
        <p:spPr>
          <a:xfrm>
            <a:off x="11311128" y="3977639"/>
            <a:ext cx="1645920" cy="274320"/>
          </a:xfrm>
          <a:prstGeom prst="rect">
            <a:avLst/>
          </a:prstGeom>
          <a:noFill/>
        </p:spPr>
        <p:txBody>
          <a:bodyPr wrap="square" lIns="0" tIns="0" rIns="0" bIns="0" anchor="ctr">
            <a:spAutoFit/>
          </a:bodyPr>
          <a:lstStyle/>
          <a:p>
            <a:pPr algn="l"/>
            <a:r>
              <a:rPr sz="1100" b="0">
                <a:solidFill>
                  <a:srgbClr val="686B72"/>
                </a:solidFill>
              </a:rPr>
              <a:t>NLB로 분산</a:t>
            </a:r>
          </a:p>
        </p:txBody>
      </p:sp>
      <p:sp>
        <p:nvSpPr>
          <p:cNvPr id="33" name="TextBox 32"/>
          <p:cNvSpPr txBox="1"/>
          <p:nvPr/>
        </p:nvSpPr>
        <p:spPr>
          <a:xfrm>
            <a:off x="10012680" y="4389120"/>
            <a:ext cx="2971800" cy="868680"/>
          </a:xfrm>
          <a:prstGeom prst="rect">
            <a:avLst/>
          </a:prstGeom>
          <a:noFill/>
        </p:spPr>
        <p:txBody>
          <a:bodyPr wrap="square" lIns="0" tIns="0" rIns="0" bIns="0" anchor="t">
            <a:spAutoFit/>
          </a:bodyPr>
          <a:lstStyle/>
          <a:p>
            <a:pPr algn="l"/>
            <a:r>
              <a:rPr sz="1400" b="1">
                <a:solidFill>
                  <a:srgbClr val="17171A"/>
                </a:solidFill>
              </a:rPr>
              <a:t>vLLM 채팅 · 임베딩</a:t>
            </a:r>
          </a:p>
          <a:p>
            <a:pPr algn="l"/>
            <a:r>
              <a:rPr sz="1200" b="0">
                <a:solidFill>
                  <a:srgbClr val="686B72"/>
                </a:solidFill>
              </a:rPr>
              <a:t>Qwen3-4B (4bit) · bge-m3</a:t>
            </a:r>
          </a:p>
          <a:p>
            <a:pPr algn="l"/>
            <a:r>
              <a:rPr sz="1200" b="0">
                <a:solidFill>
                  <a:srgbClr val="686B72"/>
                </a:solidFill>
              </a:rPr>
              <a:t>온디맨드 1대 + 스폿 최대 2대</a:t>
            </a:r>
          </a:p>
        </p:txBody>
      </p:sp>
      <p:sp>
        <p:nvSpPr>
          <p:cNvPr id="34" name="Rounded Rectangle 33"/>
          <p:cNvSpPr/>
          <p:nvPr/>
        </p:nvSpPr>
        <p:spPr>
          <a:xfrm>
            <a:off x="630936"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813815" y="5733288"/>
            <a:ext cx="3602736" cy="685800"/>
          </a:xfrm>
          <a:prstGeom prst="rect">
            <a:avLst/>
          </a:prstGeom>
          <a:noFill/>
        </p:spPr>
        <p:txBody>
          <a:bodyPr wrap="square" lIns="0" tIns="0" rIns="0" bIns="0" anchor="ctr">
            <a:spAutoFit/>
          </a:bodyPr>
          <a:lstStyle/>
          <a:p>
            <a:pPr algn="l"/>
            <a:r>
              <a:rPr sz="1300" b="1">
                <a:solidFill>
                  <a:srgbClr val="D91370"/>
                </a:solidFill>
              </a:rPr>
              <a:t>CI/CD</a:t>
            </a:r>
          </a:p>
          <a:p>
            <a:pPr algn="l"/>
            <a:r>
              <a:rPr sz="1200" b="0">
                <a:solidFill>
                  <a:srgbClr val="17171A"/>
                </a:solidFill>
              </a:rPr>
              <a:t>GitHub Actions → ECR → SSM 배포</a:t>
            </a:r>
          </a:p>
        </p:txBody>
      </p:sp>
      <p:sp>
        <p:nvSpPr>
          <p:cNvPr id="36" name="Rounded Rectangle 35"/>
          <p:cNvSpPr/>
          <p:nvPr/>
        </p:nvSpPr>
        <p:spPr>
          <a:xfrm>
            <a:off x="4873752"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5056632" y="5733288"/>
            <a:ext cx="3602736" cy="685800"/>
          </a:xfrm>
          <a:prstGeom prst="rect">
            <a:avLst/>
          </a:prstGeom>
          <a:noFill/>
        </p:spPr>
        <p:txBody>
          <a:bodyPr wrap="square" lIns="0" tIns="0" rIns="0" bIns="0" anchor="ctr">
            <a:spAutoFit/>
          </a:bodyPr>
          <a:lstStyle/>
          <a:p>
            <a:pPr algn="l"/>
            <a:r>
              <a:rPr sz="1300" b="1">
                <a:solidFill>
                  <a:srgbClr val="D91370"/>
                </a:solidFill>
              </a:rPr>
              <a:t>인프라 코드</a:t>
            </a:r>
          </a:p>
          <a:p>
            <a:pPr algn="l"/>
            <a:r>
              <a:rPr sz="1200" b="0">
                <a:solidFill>
                  <a:srgbClr val="17171A"/>
                </a:solidFill>
              </a:rPr>
              <a:t>Terraform으로 네트워크(VPC) · GPU 서버 생성</a:t>
            </a:r>
          </a:p>
        </p:txBody>
      </p:sp>
      <p:sp>
        <p:nvSpPr>
          <p:cNvPr id="38" name="Rounded Rectangle 37"/>
          <p:cNvSpPr/>
          <p:nvPr/>
        </p:nvSpPr>
        <p:spPr>
          <a:xfrm>
            <a:off x="9116567" y="5623559"/>
            <a:ext cx="3968496" cy="8686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9299447" y="5733288"/>
            <a:ext cx="3602736" cy="685800"/>
          </a:xfrm>
          <a:prstGeom prst="rect">
            <a:avLst/>
          </a:prstGeom>
          <a:noFill/>
        </p:spPr>
        <p:txBody>
          <a:bodyPr wrap="square" lIns="0" tIns="0" rIns="0" bIns="0" anchor="ctr">
            <a:spAutoFit/>
          </a:bodyPr>
          <a:lstStyle/>
          <a:p>
            <a:pPr algn="l"/>
            <a:r>
              <a:rPr sz="1300" b="1">
                <a:solidFill>
                  <a:srgbClr val="D91370"/>
                </a:solidFill>
              </a:rPr>
              <a:t>모니터링</a:t>
            </a:r>
          </a:p>
          <a:p>
            <a:pPr algn="l"/>
            <a:r>
              <a:rPr sz="1200" b="0">
                <a:solidFill>
                  <a:srgbClr val="17171A"/>
                </a:solidFill>
              </a:rPr>
              <a:t>Prometheus 수집 + Alertmanager 알림</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하나가 답변이 되기까지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접수 → 대기열 → 검색 → 검증 → 생성, 근거가 없으면 미응답으로 남깁니다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06</a:t>
            </a:r>
            <a:endParaRPr sz="1300" b="0">
              <a:solidFill>
                <a:schemeClr val="accent3"/>
              </a:solidFill>
            </a:endParaRPr>
          </a:p>
        </p:txBody>
      </p:sp>
      <p:sp>
        <p:nvSpPr>
          <p:cNvPr id="9" name="Rounded Rectangle 8"/>
          <p:cNvSpPr/>
          <p:nvPr/>
        </p:nvSpPr>
        <p:spPr>
          <a:xfrm>
            <a:off x="630936" y="2057400"/>
            <a:ext cx="1828800" cy="274320"/>
          </a:xfrm>
          <a:prstGeom prst="roundRect">
            <a:avLst>
              <a:gd name="adj" fmla="val 50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D91370"/>
                </a:solidFill>
              </a:rPr>
              <a:t>API 서버</a:t>
            </a:r>
          </a:p>
        </p:txBody>
      </p:sp>
      <p:sp>
        <p:nvSpPr>
          <p:cNvPr id="10" name="Rounded Rectangle 9"/>
          <p:cNvSpPr/>
          <p:nvPr/>
        </p:nvSpPr>
        <p:spPr>
          <a:xfrm>
            <a:off x="630936"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Oval 10"/>
          <p:cNvSpPr/>
          <p:nvPr/>
        </p:nvSpPr>
        <p:spPr>
          <a:xfrm>
            <a:off x="813815"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1</a:t>
            </a:r>
          </a:p>
        </p:txBody>
      </p:sp>
      <p:sp>
        <p:nvSpPr>
          <p:cNvPr id="12" name="TextBox 11"/>
          <p:cNvSpPr txBox="1"/>
          <p:nvPr/>
        </p:nvSpPr>
        <p:spPr>
          <a:xfrm>
            <a:off x="1289304" y="2651760"/>
            <a:ext cx="1097280" cy="384048"/>
          </a:xfrm>
          <a:prstGeom prst="rect">
            <a:avLst/>
          </a:prstGeom>
          <a:noFill/>
        </p:spPr>
        <p:txBody>
          <a:bodyPr wrap="square" lIns="0" tIns="0" rIns="0" bIns="0" anchor="ctr">
            <a:spAutoFit/>
          </a:bodyPr>
          <a:lstStyle/>
          <a:p>
            <a:pPr algn="l"/>
            <a:r>
              <a:rPr sz="1600" b="1">
                <a:solidFill>
                  <a:srgbClr val="17171A"/>
                </a:solidFill>
              </a:rPr>
              <a:t>접수</a:t>
            </a:r>
          </a:p>
        </p:txBody>
      </p:sp>
      <p:sp>
        <p:nvSpPr>
          <p:cNvPr id="13" name="TextBox 12"/>
          <p:cNvSpPr txBox="1"/>
          <p:nvPr/>
        </p:nvSpPr>
        <p:spPr>
          <a:xfrm>
            <a:off x="813815"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입력 가드 · 금지어</a:t>
            </a:r>
          </a:p>
          <a:p>
            <a:pPr algn="l">
              <a:spcAft>
                <a:spcPts val="500"/>
              </a:spcAft>
            </a:pPr>
            <a:r>
              <a:rPr sz="1200" b="0">
                <a:solidFill>
                  <a:srgbClr val="17171A"/>
                </a:solidFill>
              </a:rPr>
              <a:t>개인정보 마스킹</a:t>
            </a:r>
          </a:p>
          <a:p>
            <a:pPr algn="l">
              <a:spcAft>
                <a:spcPts val="500"/>
              </a:spcAft>
            </a:pPr>
            <a:r>
              <a:rPr sz="1200" b="0">
                <a:solidFill>
                  <a:srgbClr val="17171A"/>
                </a:solidFill>
              </a:rPr>
              <a:t>작업 저장</a:t>
            </a:r>
          </a:p>
          <a:p>
            <a:pPr algn="l">
              <a:spcAft>
                <a:spcPts val="500"/>
              </a:spcAft>
            </a:pPr>
            <a:r>
              <a:rPr sz="1200" b="0">
                <a:solidFill>
                  <a:srgbClr val="17171A"/>
                </a:solidFill>
              </a:rPr>
              <a:t>→ 202 바로 응답</a:t>
            </a:r>
          </a:p>
        </p:txBody>
      </p:sp>
      <p:sp>
        <p:nvSpPr>
          <p:cNvPr id="14" name="Right Arrow 13"/>
          <p:cNvSpPr/>
          <p:nvPr/>
        </p:nvSpPr>
        <p:spPr>
          <a:xfrm>
            <a:off x="2496312"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756001" y="2057400"/>
            <a:ext cx="1828800" cy="274320"/>
          </a:xfrm>
          <a:prstGeom prst="roundRect">
            <a:avLst>
              <a:gd name="adj" fmla="val 50000"/>
            </a:avLst>
          </a:prstGeom>
          <a:solidFill>
            <a:srgbClr val="F6F7F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86B72"/>
                </a:solidFill>
              </a:rPr>
              <a:t>Redis Streams</a:t>
            </a:r>
          </a:p>
        </p:txBody>
      </p:sp>
      <p:sp>
        <p:nvSpPr>
          <p:cNvPr id="16" name="Rounded Rectangle 15"/>
          <p:cNvSpPr/>
          <p:nvPr/>
        </p:nvSpPr>
        <p:spPr>
          <a:xfrm>
            <a:off x="2756001"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2938881"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2</a:t>
            </a:r>
          </a:p>
        </p:txBody>
      </p:sp>
      <p:sp>
        <p:nvSpPr>
          <p:cNvPr id="18" name="TextBox 17"/>
          <p:cNvSpPr txBox="1"/>
          <p:nvPr/>
        </p:nvSpPr>
        <p:spPr>
          <a:xfrm>
            <a:off x="3414369" y="2651760"/>
            <a:ext cx="1097280" cy="384048"/>
          </a:xfrm>
          <a:prstGeom prst="rect">
            <a:avLst/>
          </a:prstGeom>
          <a:noFill/>
        </p:spPr>
        <p:txBody>
          <a:bodyPr wrap="square" lIns="0" tIns="0" rIns="0" bIns="0" anchor="ctr">
            <a:spAutoFit/>
          </a:bodyPr>
          <a:lstStyle/>
          <a:p>
            <a:pPr algn="l"/>
            <a:r>
              <a:rPr sz="1600" b="1">
                <a:solidFill>
                  <a:srgbClr val="17171A"/>
                </a:solidFill>
              </a:rPr>
              <a:t>대기열</a:t>
            </a:r>
          </a:p>
        </p:txBody>
      </p:sp>
      <p:sp>
        <p:nvSpPr>
          <p:cNvPr id="19" name="TextBox 18"/>
          <p:cNvSpPr txBox="1"/>
          <p:nvPr/>
        </p:nvSpPr>
        <p:spPr>
          <a:xfrm>
            <a:off x="2938881"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Worker에 작업 전달</a:t>
            </a:r>
          </a:p>
          <a:p>
            <a:pPr algn="l">
              <a:spcAft>
                <a:spcPts val="500"/>
              </a:spcAft>
            </a:pPr>
            <a:r>
              <a:rPr sz="1200" b="0">
                <a:solidFill>
                  <a:srgbClr val="17171A"/>
                </a:solidFill>
              </a:rPr>
              <a:t>상태 원본은 DB</a:t>
            </a:r>
          </a:p>
        </p:txBody>
      </p:sp>
      <p:sp>
        <p:nvSpPr>
          <p:cNvPr id="20" name="Right Arrow 19"/>
          <p:cNvSpPr/>
          <p:nvPr/>
        </p:nvSpPr>
        <p:spPr>
          <a:xfrm>
            <a:off x="4621377"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881067"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2" name="Rounded Rectangle 21"/>
          <p:cNvSpPr/>
          <p:nvPr/>
        </p:nvSpPr>
        <p:spPr>
          <a:xfrm>
            <a:off x="4881067"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Oval 22"/>
          <p:cNvSpPr/>
          <p:nvPr/>
        </p:nvSpPr>
        <p:spPr>
          <a:xfrm>
            <a:off x="5063947"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3</a:t>
            </a:r>
          </a:p>
        </p:txBody>
      </p:sp>
      <p:sp>
        <p:nvSpPr>
          <p:cNvPr id="24" name="TextBox 23"/>
          <p:cNvSpPr txBox="1"/>
          <p:nvPr/>
        </p:nvSpPr>
        <p:spPr>
          <a:xfrm>
            <a:off x="5539435" y="2651760"/>
            <a:ext cx="1097280" cy="384048"/>
          </a:xfrm>
          <a:prstGeom prst="rect">
            <a:avLst/>
          </a:prstGeom>
          <a:noFill/>
        </p:spPr>
        <p:txBody>
          <a:bodyPr wrap="square" lIns="0" tIns="0" rIns="0" bIns="0" anchor="ctr">
            <a:spAutoFit/>
          </a:bodyPr>
          <a:lstStyle/>
          <a:p>
            <a:pPr algn="l"/>
            <a:r>
              <a:rPr sz="1600" b="1">
                <a:solidFill>
                  <a:srgbClr val="17171A"/>
                </a:solidFill>
              </a:rPr>
              <a:t>검색</a:t>
            </a:r>
          </a:p>
        </p:txBody>
      </p:sp>
      <p:sp>
        <p:nvSpPr>
          <p:cNvPr id="25" name="TextBox 24"/>
          <p:cNvSpPr txBox="1"/>
          <p:nvPr/>
        </p:nvSpPr>
        <p:spPr>
          <a:xfrm>
            <a:off x="5063947"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임베딩</a:t>
            </a:r>
          </a:p>
          <a:p>
            <a:pPr algn="l">
              <a:spcAft>
                <a:spcPts val="500"/>
              </a:spcAft>
            </a:pPr>
            <a:r>
              <a:rPr sz="1200" b="0">
                <a:solidFill>
                  <a:srgbClr val="17171A"/>
                </a:solidFill>
              </a:rPr>
              <a:t>pgvector HNSW</a:t>
            </a:r>
          </a:p>
          <a:p>
            <a:pPr algn="l">
              <a:spcAft>
                <a:spcPts val="500"/>
              </a:spcAft>
            </a:pPr>
            <a:r>
              <a:rPr sz="1200" b="0">
                <a:solidFill>
                  <a:srgbClr val="17171A"/>
                </a:solidFill>
              </a:rPr>
              <a:t>코사인 유사도 검색</a:t>
            </a:r>
          </a:p>
        </p:txBody>
      </p:sp>
      <p:sp>
        <p:nvSpPr>
          <p:cNvPr id="26" name="Right Arrow 25"/>
          <p:cNvSpPr/>
          <p:nvPr/>
        </p:nvSpPr>
        <p:spPr>
          <a:xfrm>
            <a:off x="6746443"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006132"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28" name="Rounded Rectangle 27"/>
          <p:cNvSpPr/>
          <p:nvPr/>
        </p:nvSpPr>
        <p:spPr>
          <a:xfrm>
            <a:off x="7006132"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al 28"/>
          <p:cNvSpPr/>
          <p:nvPr/>
        </p:nvSpPr>
        <p:spPr>
          <a:xfrm>
            <a:off x="7189012"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4</a:t>
            </a:r>
          </a:p>
        </p:txBody>
      </p:sp>
      <p:sp>
        <p:nvSpPr>
          <p:cNvPr id="30" name="TextBox 29"/>
          <p:cNvSpPr txBox="1"/>
          <p:nvPr/>
        </p:nvSpPr>
        <p:spPr>
          <a:xfrm>
            <a:off x="7664500" y="2651760"/>
            <a:ext cx="1097280" cy="384048"/>
          </a:xfrm>
          <a:prstGeom prst="rect">
            <a:avLst/>
          </a:prstGeom>
          <a:noFill/>
        </p:spPr>
        <p:txBody>
          <a:bodyPr wrap="square" lIns="0" tIns="0" rIns="0" bIns="0" anchor="ctr">
            <a:spAutoFit/>
          </a:bodyPr>
          <a:lstStyle/>
          <a:p>
            <a:pPr algn="l"/>
            <a:r>
              <a:rPr sz="1600" b="1">
                <a:solidFill>
                  <a:srgbClr val="17171A"/>
                </a:solidFill>
              </a:rPr>
              <a:t>검증</a:t>
            </a:r>
          </a:p>
        </p:txBody>
      </p:sp>
      <p:sp>
        <p:nvSpPr>
          <p:cNvPr id="31" name="TextBox 30"/>
          <p:cNvSpPr txBox="1"/>
          <p:nvPr/>
        </p:nvSpPr>
        <p:spPr>
          <a:xfrm>
            <a:off x="7189012"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질문 유사도 기준</a:t>
            </a:r>
          </a:p>
          <a:p>
            <a:pPr algn="l">
              <a:spcAft>
                <a:spcPts val="500"/>
              </a:spcAft>
            </a:pPr>
            <a:r>
              <a:rPr sz="1200" b="0">
                <a:solidFill>
                  <a:srgbClr val="17171A"/>
                </a:solidFill>
              </a:rPr>
              <a:t>답변 문장 기준</a:t>
            </a:r>
          </a:p>
          <a:p>
            <a:pPr algn="l">
              <a:spcAft>
                <a:spcPts val="500"/>
              </a:spcAft>
            </a:pPr>
            <a:r>
              <a:rPr sz="1200" b="0">
                <a:solidFill>
                  <a:srgbClr val="17171A"/>
                </a:solidFill>
              </a:rPr>
              <a:t>통과한 FAQ만 사용</a:t>
            </a:r>
          </a:p>
        </p:txBody>
      </p:sp>
      <p:sp>
        <p:nvSpPr>
          <p:cNvPr id="32" name="Right Arrow 31"/>
          <p:cNvSpPr/>
          <p:nvPr/>
        </p:nvSpPr>
        <p:spPr>
          <a:xfrm>
            <a:off x="8871508"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9131198"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34" name="Rounded Rectangle 33"/>
          <p:cNvSpPr/>
          <p:nvPr/>
        </p:nvSpPr>
        <p:spPr>
          <a:xfrm>
            <a:off x="9131198"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p:cNvSpPr/>
          <p:nvPr/>
        </p:nvSpPr>
        <p:spPr>
          <a:xfrm>
            <a:off x="9314078"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5</a:t>
            </a:r>
          </a:p>
        </p:txBody>
      </p:sp>
      <p:sp>
        <p:nvSpPr>
          <p:cNvPr id="36" name="TextBox 35"/>
          <p:cNvSpPr txBox="1"/>
          <p:nvPr/>
        </p:nvSpPr>
        <p:spPr>
          <a:xfrm>
            <a:off x="9789566" y="2651760"/>
            <a:ext cx="1097280" cy="384048"/>
          </a:xfrm>
          <a:prstGeom prst="rect">
            <a:avLst/>
          </a:prstGeom>
          <a:noFill/>
        </p:spPr>
        <p:txBody>
          <a:bodyPr wrap="square" lIns="0" tIns="0" rIns="0" bIns="0" anchor="ctr">
            <a:spAutoFit/>
          </a:bodyPr>
          <a:lstStyle/>
          <a:p>
            <a:pPr algn="l"/>
            <a:r>
              <a:rPr sz="1600" b="1">
                <a:solidFill>
                  <a:srgbClr val="17171A"/>
                </a:solidFill>
              </a:rPr>
              <a:t>생성</a:t>
            </a:r>
          </a:p>
        </p:txBody>
      </p:sp>
      <p:sp>
        <p:nvSpPr>
          <p:cNvPr id="37" name="TextBox 36"/>
          <p:cNvSpPr txBox="1"/>
          <p:nvPr/>
        </p:nvSpPr>
        <p:spPr>
          <a:xfrm>
            <a:off x="9314078"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의도별 자료 수집</a:t>
            </a:r>
          </a:p>
          <a:p>
            <a:pPr algn="l">
              <a:spcAft>
                <a:spcPts val="500"/>
              </a:spcAft>
            </a:pPr>
            <a:r>
              <a:rPr sz="1200" b="0">
                <a:solidFill>
                  <a:srgbClr val="17171A"/>
                </a:solidFill>
              </a:rPr>
              <a:t>FAQ · 매장 · 내 정보</a:t>
            </a:r>
          </a:p>
          <a:p>
            <a:pPr algn="l">
              <a:spcAft>
                <a:spcPts val="500"/>
              </a:spcAft>
            </a:pPr>
            <a:r>
              <a:rPr sz="1200" b="0">
                <a:solidFill>
                  <a:srgbClr val="17171A"/>
                </a:solidFill>
              </a:rPr>
              <a:t>LLM 답변</a:t>
            </a:r>
          </a:p>
          <a:p>
            <a:pPr algn="l">
              <a:spcAft>
                <a:spcPts val="500"/>
              </a:spcAft>
            </a:pPr>
            <a:r>
              <a:rPr sz="1200" b="0">
                <a:solidFill>
                  <a:srgbClr val="17171A"/>
                </a:solidFill>
              </a:rPr>
              <a:t>→ 출력 가드</a:t>
            </a:r>
          </a:p>
        </p:txBody>
      </p:sp>
      <p:sp>
        <p:nvSpPr>
          <p:cNvPr id="38" name="Right Arrow 37"/>
          <p:cNvSpPr/>
          <p:nvPr/>
        </p:nvSpPr>
        <p:spPr>
          <a:xfrm>
            <a:off x="10996574" y="3703320"/>
            <a:ext cx="219456" cy="237744"/>
          </a:xfrm>
          <a:prstGeom prst="rightArrow">
            <a:avLst/>
          </a:prstGeom>
          <a:solidFill>
            <a:srgbClr val="C9CB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11256263" y="2057400"/>
            <a:ext cx="1828800" cy="274320"/>
          </a:xfrm>
          <a:prstGeom prst="roundRect">
            <a:avLst>
              <a:gd name="adj" fmla="val 50000"/>
            </a:avLst>
          </a:prstGeom>
          <a:solidFill>
            <a:srgbClr val="F1EEF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6F55DD"/>
                </a:solidFill>
              </a:rPr>
              <a:t>AI Worker</a:t>
            </a:r>
          </a:p>
        </p:txBody>
      </p:sp>
      <p:sp>
        <p:nvSpPr>
          <p:cNvPr id="40" name="Rounded Rectangle 39"/>
          <p:cNvSpPr/>
          <p:nvPr/>
        </p:nvSpPr>
        <p:spPr>
          <a:xfrm>
            <a:off x="11256263" y="2468880"/>
            <a:ext cx="1828800" cy="224028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Oval 40"/>
          <p:cNvSpPr/>
          <p:nvPr/>
        </p:nvSpPr>
        <p:spPr>
          <a:xfrm>
            <a:off x="11439143" y="2651760"/>
            <a:ext cx="384048" cy="384048"/>
          </a:xfrm>
          <a:prstGeom prst="ellipse">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rPr>
              <a:t>6</a:t>
            </a:r>
          </a:p>
        </p:txBody>
      </p:sp>
      <p:sp>
        <p:nvSpPr>
          <p:cNvPr id="42" name="TextBox 41"/>
          <p:cNvSpPr txBox="1"/>
          <p:nvPr/>
        </p:nvSpPr>
        <p:spPr>
          <a:xfrm>
            <a:off x="11914632" y="2651760"/>
            <a:ext cx="1097280" cy="384048"/>
          </a:xfrm>
          <a:prstGeom prst="rect">
            <a:avLst/>
          </a:prstGeom>
          <a:noFill/>
        </p:spPr>
        <p:txBody>
          <a:bodyPr wrap="square" lIns="0" tIns="0" rIns="0" bIns="0" anchor="ctr">
            <a:spAutoFit/>
          </a:bodyPr>
          <a:lstStyle/>
          <a:p>
            <a:pPr algn="l"/>
            <a:r>
              <a:rPr sz="1600" b="1">
                <a:solidFill>
                  <a:srgbClr val="17171A"/>
                </a:solidFill>
              </a:rPr>
              <a:t>완료</a:t>
            </a:r>
          </a:p>
        </p:txBody>
      </p:sp>
      <p:sp>
        <p:nvSpPr>
          <p:cNvPr id="43" name="TextBox 42"/>
          <p:cNvSpPr txBox="1"/>
          <p:nvPr/>
        </p:nvSpPr>
        <p:spPr>
          <a:xfrm>
            <a:off x="11439143" y="3246120"/>
            <a:ext cx="1508760" cy="1828800"/>
          </a:xfrm>
          <a:prstGeom prst="rect">
            <a:avLst/>
          </a:prstGeom>
          <a:noFill/>
        </p:spPr>
        <p:txBody>
          <a:bodyPr wrap="square" lIns="0" tIns="0" rIns="0" bIns="0" anchor="t">
            <a:spAutoFit/>
          </a:bodyPr>
          <a:lstStyle/>
          <a:p>
            <a:pPr algn="l">
              <a:spcAft>
                <a:spcPts val="500"/>
              </a:spcAft>
            </a:pPr>
            <a:r>
              <a:rPr sz="1200" b="0">
                <a:solidFill>
                  <a:srgbClr val="17171A"/>
                </a:solidFill>
              </a:rPr>
              <a:t>작업 · 시도 · 로그</a:t>
            </a:r>
          </a:p>
          <a:p>
            <a:pPr algn="l">
              <a:spcAft>
                <a:spcPts val="500"/>
              </a:spcAft>
            </a:pPr>
            <a:r>
              <a:rPr sz="1200" b="0">
                <a:solidFill>
                  <a:srgbClr val="17171A"/>
                </a:solidFill>
              </a:rPr>
              <a:t>한 번에 기록</a:t>
            </a:r>
          </a:p>
          <a:p>
            <a:pPr algn="l">
              <a:spcAft>
                <a:spcPts val="500"/>
              </a:spcAft>
            </a:pPr>
            <a:r>
              <a:rPr sz="1200" b="0">
                <a:solidFill>
                  <a:srgbClr val="17171A"/>
                </a:solidFill>
              </a:rPr>
              <a:t>화면은 jobId로 조회</a:t>
            </a:r>
          </a:p>
        </p:txBody>
      </p:sp>
      <p:sp>
        <p:nvSpPr>
          <p:cNvPr id="44" name="Down Arrow 43"/>
          <p:cNvSpPr/>
          <p:nvPr/>
        </p:nvSpPr>
        <p:spPr>
          <a:xfrm>
            <a:off x="7801660" y="4800600"/>
            <a:ext cx="237744" cy="274320"/>
          </a:xfrm>
          <a:prstGeom prst="downArrow">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6731812" y="5148072"/>
            <a:ext cx="2377440" cy="329184"/>
          </a:xfrm>
          <a:prstGeom prst="roundRect">
            <a:avLst>
              <a:gd name="adj" fmla="val 50000"/>
            </a:avLst>
          </a:prstGeom>
          <a:solidFill>
            <a:srgbClr val="F7258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rPr>
              <a:t>근거 없음 → 미응답 질문 저장</a:t>
            </a:r>
          </a:p>
        </p:txBody>
      </p:sp>
      <p:sp>
        <p:nvSpPr>
          <p:cNvPr id="46" name="Rounded Rectangle 45"/>
          <p:cNvSpPr/>
          <p:nvPr/>
        </p:nvSpPr>
        <p:spPr>
          <a:xfrm>
            <a:off x="630936" y="5852160"/>
            <a:ext cx="6949440" cy="777240"/>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822960" y="5852160"/>
            <a:ext cx="6675120" cy="777240"/>
          </a:xfrm>
          <a:prstGeom prst="rect">
            <a:avLst/>
          </a:prstGeom>
          <a:noFill/>
        </p:spPr>
        <p:txBody>
          <a:bodyPr wrap="square" lIns="0" tIns="0" rIns="0" bIns="0" anchor="ctr">
            <a:spAutoFit/>
          </a:bodyPr>
          <a:lstStyle/>
          <a:p>
            <a:pPr algn="l"/>
            <a:r>
              <a:rPr sz="1300" b="1">
                <a:solidFill>
                  <a:srgbClr val="17171A"/>
                </a:solidFill>
              </a:rPr>
              <a:t>같은 작업 메시지가 두 번 와도 결과는 한 번만 기록</a:t>
            </a:r>
          </a:p>
          <a:p>
            <a:pPr algn="l"/>
            <a:r>
              <a:rPr sz="1200" b="0">
                <a:solidFill>
                  <a:srgbClr val="686B72"/>
                </a:solidFill>
              </a:rPr>
              <a:t>Worker가 죽었다 살아나도 답변이 중복되거나 사라지지 않습니다</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프로젝트 수행 절차 및 방법</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데이터베이스 설계 (ERD)</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팀 전체 스키마를 한 곳에서 관리하고, 모든 변경을 마이그레이션으로 남겼습니다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07</a:t>
            </a:r>
            <a:endParaRPr sz="1300" b="0">
              <a:solidFill>
                <a:schemeClr val="accent3"/>
              </a:solidFill>
            </a:endParaRPr>
          </a:p>
        </p:txBody>
      </p:sp>
      <p:sp>
        <p:nvSpPr>
          <p:cNvPr id="9" name="ERD 이미지 자리"/>
          <p:cNvSpPr/>
          <p:nvPr/>
        </p:nvSpPr>
        <p:spPr>
          <a:xfrm>
            <a:off x="630936" y="2057400"/>
            <a:ext cx="6400800" cy="4160520"/>
          </a:xfrm>
          <a:prstGeom prst="roundRect">
            <a:avLst>
              <a:gd name="adj" fmla="val 8000"/>
            </a:avLst>
          </a:prstGeom>
          <a:solidFill>
            <a:srgbClr val="FFFFFF"/>
          </a:solidFill>
          <a:ln w="12700">
            <a:solidFill>
              <a:srgbClr val="C9CBD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0936" y="3794760"/>
            <a:ext cx="6400800" cy="731520"/>
          </a:xfrm>
          <a:prstGeom prst="rect">
            <a:avLst/>
          </a:prstGeom>
          <a:noFill/>
        </p:spPr>
        <p:txBody>
          <a:bodyPr wrap="square" lIns="0" tIns="0" rIns="0" bIns="0" anchor="t">
            <a:spAutoFit/>
          </a:bodyPr>
          <a:lstStyle/>
          <a:p>
            <a:pPr algn="ctr"/>
            <a:r>
              <a:rPr sz="1600" b="1">
                <a:solidFill>
                  <a:srgbClr val="686B72"/>
                </a:solidFill>
              </a:rPr>
              <a:t>ERD 이미지 자리</a:t>
            </a:r>
          </a:p>
          <a:p>
            <a:pPr algn="ctr"/>
            <a:r>
              <a:rPr sz="1200" b="0">
                <a:solidFill>
                  <a:srgbClr val="686B72"/>
                </a:solidFill>
              </a:rPr>
              <a:t>ERD Designer에서 V52 기준으로 내보내 넣기</a:t>
            </a:r>
          </a:p>
        </p:txBody>
      </p:sp>
      <p:sp>
        <p:nvSpPr>
          <p:cNvPr id="11" name="TextBox 10"/>
          <p:cNvSpPr txBox="1"/>
          <p:nvPr/>
        </p:nvSpPr>
        <p:spPr>
          <a:xfrm>
            <a:off x="630936" y="6355080"/>
            <a:ext cx="6400800" cy="548640"/>
          </a:xfrm>
          <a:prstGeom prst="rect">
            <a:avLst/>
          </a:prstGeom>
          <a:noFill/>
        </p:spPr>
        <p:txBody>
          <a:bodyPr wrap="square" lIns="0" tIns="0" rIns="0" bIns="0" anchor="t">
            <a:spAutoFit/>
          </a:bodyPr>
          <a:lstStyle/>
          <a:p>
            <a:pPr algn="l"/>
            <a:r>
              <a:rPr sz="1100" b="0">
                <a:solidFill>
                  <a:srgbClr val="686B72"/>
                </a:solidFill>
              </a:rPr>
              <a:t>영역 13개: 임베딩 · 미응답 · FAQ · 챗봇 대화 · 회원·인증 · 매장·예약 · 운영 정책 · 상품 · 가입·요금 · 문의·이벤트 · 상담사 상담 · 가드 리뷰 · 급상승 질문</a:t>
            </a:r>
          </a:p>
        </p:txBody>
      </p:sp>
      <p:sp>
        <p:nvSpPr>
          <p:cNvPr id="12" name="Rounded Rectangle 11"/>
          <p:cNvSpPr/>
          <p:nvPr/>
        </p:nvSpPr>
        <p:spPr>
          <a:xfrm>
            <a:off x="7306056"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7306056" y="2176272"/>
            <a:ext cx="1307592" cy="548640"/>
          </a:xfrm>
          <a:prstGeom prst="rect">
            <a:avLst/>
          </a:prstGeom>
          <a:noFill/>
        </p:spPr>
        <p:txBody>
          <a:bodyPr wrap="square" lIns="0" tIns="0" rIns="0" bIns="0" anchor="ctr">
            <a:spAutoFit/>
          </a:bodyPr>
          <a:lstStyle/>
          <a:p>
            <a:pPr algn="ctr"/>
            <a:r>
              <a:rPr sz="2600" b="1">
                <a:solidFill>
                  <a:srgbClr val="F72585"/>
                </a:solidFill>
              </a:rPr>
              <a:t>69</a:t>
            </a:r>
          </a:p>
        </p:txBody>
      </p:sp>
      <p:sp>
        <p:nvSpPr>
          <p:cNvPr id="14" name="TextBox 13"/>
          <p:cNvSpPr txBox="1"/>
          <p:nvPr/>
        </p:nvSpPr>
        <p:spPr>
          <a:xfrm>
            <a:off x="7306056" y="2743200"/>
            <a:ext cx="1307592" cy="274320"/>
          </a:xfrm>
          <a:prstGeom prst="rect">
            <a:avLst/>
          </a:prstGeom>
          <a:noFill/>
        </p:spPr>
        <p:txBody>
          <a:bodyPr wrap="square" lIns="0" tIns="0" rIns="0" bIns="0" anchor="t">
            <a:spAutoFit/>
          </a:bodyPr>
          <a:lstStyle/>
          <a:p>
            <a:pPr algn="ctr"/>
            <a:r>
              <a:rPr sz="1100" b="0">
                <a:solidFill>
                  <a:srgbClr val="686B72"/>
                </a:solidFill>
              </a:rPr>
              <a:t>테이블</a:t>
            </a:r>
          </a:p>
        </p:txBody>
      </p:sp>
      <p:sp>
        <p:nvSpPr>
          <p:cNvPr id="15" name="Rounded Rectangle 14"/>
          <p:cNvSpPr/>
          <p:nvPr/>
        </p:nvSpPr>
        <p:spPr>
          <a:xfrm>
            <a:off x="8796528"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8796528" y="2176272"/>
            <a:ext cx="1307592" cy="548640"/>
          </a:xfrm>
          <a:prstGeom prst="rect">
            <a:avLst/>
          </a:prstGeom>
          <a:noFill/>
        </p:spPr>
        <p:txBody>
          <a:bodyPr wrap="square" lIns="0" tIns="0" rIns="0" bIns="0" anchor="ctr">
            <a:spAutoFit/>
          </a:bodyPr>
          <a:lstStyle/>
          <a:p>
            <a:pPr algn="ctr"/>
            <a:r>
              <a:rPr sz="2600" b="1">
                <a:solidFill>
                  <a:srgbClr val="F72585"/>
                </a:solidFill>
              </a:rPr>
              <a:t>646</a:t>
            </a:r>
          </a:p>
        </p:txBody>
      </p:sp>
      <p:sp>
        <p:nvSpPr>
          <p:cNvPr id="17" name="TextBox 16"/>
          <p:cNvSpPr txBox="1"/>
          <p:nvPr/>
        </p:nvSpPr>
        <p:spPr>
          <a:xfrm>
            <a:off x="8796528" y="2743200"/>
            <a:ext cx="1307592" cy="274320"/>
          </a:xfrm>
          <a:prstGeom prst="rect">
            <a:avLst/>
          </a:prstGeom>
          <a:noFill/>
        </p:spPr>
        <p:txBody>
          <a:bodyPr wrap="square" lIns="0" tIns="0" rIns="0" bIns="0" anchor="t">
            <a:spAutoFit/>
          </a:bodyPr>
          <a:lstStyle/>
          <a:p>
            <a:pPr algn="ctr"/>
            <a:r>
              <a:rPr sz="1100" b="0">
                <a:solidFill>
                  <a:srgbClr val="686B72"/>
                </a:solidFill>
              </a:rPr>
              <a:t>컬럼</a:t>
            </a:r>
          </a:p>
        </p:txBody>
      </p:sp>
      <p:sp>
        <p:nvSpPr>
          <p:cNvPr id="18" name="Rounded Rectangle 17"/>
          <p:cNvSpPr/>
          <p:nvPr/>
        </p:nvSpPr>
        <p:spPr>
          <a:xfrm>
            <a:off x="10287000"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0287000" y="2176272"/>
            <a:ext cx="1307592" cy="548640"/>
          </a:xfrm>
          <a:prstGeom prst="rect">
            <a:avLst/>
          </a:prstGeom>
          <a:noFill/>
        </p:spPr>
        <p:txBody>
          <a:bodyPr wrap="square" lIns="0" tIns="0" rIns="0" bIns="0" anchor="ctr">
            <a:spAutoFit/>
          </a:bodyPr>
          <a:lstStyle/>
          <a:p>
            <a:pPr algn="ctr"/>
            <a:r>
              <a:rPr sz="2600" b="1">
                <a:solidFill>
                  <a:srgbClr val="F72585"/>
                </a:solidFill>
              </a:rPr>
              <a:t>110</a:t>
            </a:r>
          </a:p>
        </p:txBody>
      </p:sp>
      <p:sp>
        <p:nvSpPr>
          <p:cNvPr id="20" name="TextBox 19"/>
          <p:cNvSpPr txBox="1"/>
          <p:nvPr/>
        </p:nvSpPr>
        <p:spPr>
          <a:xfrm>
            <a:off x="10287000" y="2743200"/>
            <a:ext cx="1307592" cy="274320"/>
          </a:xfrm>
          <a:prstGeom prst="rect">
            <a:avLst/>
          </a:prstGeom>
          <a:noFill/>
        </p:spPr>
        <p:txBody>
          <a:bodyPr wrap="square" lIns="0" tIns="0" rIns="0" bIns="0" anchor="t">
            <a:spAutoFit/>
          </a:bodyPr>
          <a:lstStyle/>
          <a:p>
            <a:pPr algn="ctr"/>
            <a:r>
              <a:rPr sz="1100" b="0">
                <a:solidFill>
                  <a:srgbClr val="686B72"/>
                </a:solidFill>
              </a:rPr>
              <a:t>관계 (FK)</a:t>
            </a:r>
          </a:p>
        </p:txBody>
      </p:sp>
      <p:sp>
        <p:nvSpPr>
          <p:cNvPr id="21" name="Rounded Rectangle 20"/>
          <p:cNvSpPr/>
          <p:nvPr/>
        </p:nvSpPr>
        <p:spPr>
          <a:xfrm>
            <a:off x="11777472" y="2057400"/>
            <a:ext cx="1307592" cy="105156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1777472" y="2176272"/>
            <a:ext cx="1307592" cy="548640"/>
          </a:xfrm>
          <a:prstGeom prst="rect">
            <a:avLst/>
          </a:prstGeom>
          <a:noFill/>
        </p:spPr>
        <p:txBody>
          <a:bodyPr wrap="square" lIns="0" tIns="0" rIns="0" bIns="0" anchor="ctr">
            <a:spAutoFit/>
          </a:bodyPr>
          <a:lstStyle/>
          <a:p>
            <a:pPr algn="ctr"/>
            <a:r>
              <a:rPr sz="2600" b="1">
                <a:solidFill>
                  <a:srgbClr val="F72585"/>
                </a:solidFill>
              </a:rPr>
              <a:t>V52</a:t>
            </a:r>
          </a:p>
        </p:txBody>
      </p:sp>
      <p:sp>
        <p:nvSpPr>
          <p:cNvPr id="23" name="TextBox 22"/>
          <p:cNvSpPr txBox="1"/>
          <p:nvPr/>
        </p:nvSpPr>
        <p:spPr>
          <a:xfrm>
            <a:off x="11777472" y="2743200"/>
            <a:ext cx="1307592" cy="274320"/>
          </a:xfrm>
          <a:prstGeom prst="rect">
            <a:avLst/>
          </a:prstGeom>
          <a:noFill/>
        </p:spPr>
        <p:txBody>
          <a:bodyPr wrap="square" lIns="0" tIns="0" rIns="0" bIns="0" anchor="t">
            <a:spAutoFit/>
          </a:bodyPr>
          <a:lstStyle/>
          <a:p>
            <a:pPr algn="ctr"/>
            <a:r>
              <a:rPr sz="1100" b="0">
                <a:solidFill>
                  <a:srgbClr val="686B72"/>
                </a:solidFill>
              </a:rPr>
              <a:t>마이그레이션</a:t>
            </a:r>
          </a:p>
        </p:txBody>
      </p:sp>
      <p:graphicFrame>
        <p:nvGraphicFramePr>
          <p:cNvPr id="24" name="Table 23"/>
          <p:cNvGraphicFramePr>
            <a:graphicFrameLocks noGrp="1"/>
          </p:cNvGraphicFramePr>
          <p:nvPr/>
        </p:nvGraphicFramePr>
        <p:xfrm>
          <a:off x="7306056" y="3337560"/>
          <a:ext cx="5779008" cy="2880360"/>
        </p:xfrm>
        <a:graphic>
          <a:graphicData uri="http://schemas.openxmlformats.org/drawingml/2006/table">
            <a:tbl>
              <a:tblPr>
                <a:tableStyleId>{5C22544A-7EE6-4342-B048-85BDC9FD1C3A}</a:tableStyleId>
              </a:tblPr>
              <a:tblGrid>
                <a:gridCol w="1234440">
                  <a:extLst>
                    <a:ext uri="{9D8B030D-6E8A-4147-A177-3AD203B41FA5}">
                      <a16:colId xmlns:a16="http://schemas.microsoft.com/office/drawing/2014/main" val="20000"/>
                    </a:ext>
                  </a:extLst>
                </a:gridCol>
                <a:gridCol w="4544568">
                  <a:extLst>
                    <a:ext uri="{9D8B030D-6E8A-4147-A177-3AD203B41FA5}">
                      <a16:colId xmlns:a16="http://schemas.microsoft.com/office/drawing/2014/main" val="20001"/>
                    </a:ext>
                  </a:extLst>
                </a:gridCol>
              </a:tblGrid>
              <a:tr h="411480">
                <a:tc>
                  <a:txBody>
                    <a:bodyPr/>
                    <a:lstStyle/>
                    <a:p>
                      <a:r>
                        <a:rPr sz="1200" b="1">
                          <a:solidFill>
                            <a:srgbClr val="FFFFFF"/>
                          </a:solidFill>
                        </a:rPr>
                        <a:t>규칙</a:t>
                      </a:r>
                    </a:p>
                  </a:txBody>
                  <a:tcPr marL="109728" marR="109728" anchor="ctr">
                    <a:solidFill>
                      <a:srgbClr val="17171A"/>
                    </a:solidFill>
                  </a:tcPr>
                </a:tc>
                <a:tc>
                  <a:txBody>
                    <a:bodyPr/>
                    <a:lstStyle/>
                    <a:p>
                      <a:r>
                        <a:rPr sz="1200" b="1">
                          <a:solidFill>
                            <a:srgbClr val="FFFFFF"/>
                          </a:solidFill>
                        </a:rPr>
                        <a:t>내용</a:t>
                      </a:r>
                    </a:p>
                  </a:txBody>
                  <a:tcPr marL="109728" marR="109728" anchor="ctr">
                    <a:solidFill>
                      <a:srgbClr val="17171A"/>
                    </a:solidFill>
                  </a:tcPr>
                </a:tc>
                <a:extLst>
                  <a:ext uri="{0D108BD9-81ED-4DB2-BD59-A6C34878D82A}">
                    <a16:rowId xmlns:a16="http://schemas.microsoft.com/office/drawing/2014/main" val="10000"/>
                  </a:ext>
                </a:extLst>
              </a:tr>
              <a:tr h="411480">
                <a:tc>
                  <a:txBody>
                    <a:bodyPr/>
                    <a:lstStyle/>
                    <a:p>
                      <a:r>
                        <a:rPr sz="1200" b="1">
                          <a:solidFill>
                            <a:srgbClr val="D91370"/>
                          </a:solidFill>
                        </a:rPr>
                        <a:t>PK</a:t>
                      </a:r>
                    </a:p>
                  </a:txBody>
                  <a:tcPr marL="109728" marR="109728" anchor="ctr">
                    <a:solidFill>
                      <a:srgbClr val="FFFFFF"/>
                    </a:solidFill>
                  </a:tcPr>
                </a:tc>
                <a:tc>
                  <a:txBody>
                    <a:bodyPr/>
                    <a:lstStyle/>
                    <a:p>
                      <a:r>
                        <a:rPr sz="1200">
                          <a:solidFill>
                            <a:srgbClr val="17171A"/>
                          </a:solidFill>
                        </a:rPr>
                        <a:t>BIGINT 내부 키 + 외부 노출은 UUID</a:t>
                      </a:r>
                    </a:p>
                  </a:txBody>
                  <a:tcPr marL="109728" marR="109728" anchor="ctr">
                    <a:solidFill>
                      <a:srgbClr val="FFFFFF"/>
                    </a:solidFill>
                  </a:tcPr>
                </a:tc>
                <a:extLst>
                  <a:ext uri="{0D108BD9-81ED-4DB2-BD59-A6C34878D82A}">
                    <a16:rowId xmlns:a16="http://schemas.microsoft.com/office/drawing/2014/main" val="10001"/>
                  </a:ext>
                </a:extLst>
              </a:tr>
              <a:tr h="411480">
                <a:tc>
                  <a:txBody>
                    <a:bodyPr/>
                    <a:lstStyle/>
                    <a:p>
                      <a:r>
                        <a:rPr sz="1200" b="1">
                          <a:solidFill>
                            <a:srgbClr val="D91370"/>
                          </a:solidFill>
                        </a:rPr>
                        <a:t>삭제</a:t>
                      </a:r>
                    </a:p>
                  </a:txBody>
                  <a:tcPr marL="109728" marR="109728" anchor="ctr">
                    <a:solidFill>
                      <a:srgbClr val="F6F7F8"/>
                    </a:solidFill>
                  </a:tcPr>
                </a:tc>
                <a:tc>
                  <a:txBody>
                    <a:bodyPr/>
                    <a:lstStyle/>
                    <a:p>
                      <a:r>
                        <a:rPr sz="1200">
                          <a:solidFill>
                            <a:srgbClr val="17171A"/>
                          </a:solidFill>
                        </a:rPr>
                        <a:t>soft delete 후 보관 기간 지나면 물리 삭제</a:t>
                      </a:r>
                    </a:p>
                  </a:txBody>
                  <a:tcPr marL="109728" marR="109728" anchor="ctr">
                    <a:solidFill>
                      <a:srgbClr val="F6F7F8"/>
                    </a:solidFill>
                  </a:tcPr>
                </a:tc>
                <a:extLst>
                  <a:ext uri="{0D108BD9-81ED-4DB2-BD59-A6C34878D82A}">
                    <a16:rowId xmlns:a16="http://schemas.microsoft.com/office/drawing/2014/main" val="10002"/>
                  </a:ext>
                </a:extLst>
              </a:tr>
              <a:tr h="411480">
                <a:tc>
                  <a:txBody>
                    <a:bodyPr/>
                    <a:lstStyle/>
                    <a:p>
                      <a:r>
                        <a:rPr sz="1200" b="1">
                          <a:solidFill>
                            <a:srgbClr val="D91370"/>
                          </a:solidFill>
                        </a:rPr>
                        <a:t>Enum</a:t>
                      </a:r>
                    </a:p>
                  </a:txBody>
                  <a:tcPr marL="109728" marR="109728" anchor="ctr">
                    <a:solidFill>
                      <a:srgbClr val="FFFFFF"/>
                    </a:solidFill>
                  </a:tcPr>
                </a:tc>
                <a:tc>
                  <a:txBody>
                    <a:bodyPr/>
                    <a:lstStyle/>
                    <a:p>
                      <a:r>
                        <a:rPr sz="1200">
                          <a:solidFill>
                            <a:srgbClr val="17171A"/>
                          </a:solidFill>
                        </a:rPr>
                        <a:t>VARCHAR + CHECK로 잘못된 값 차단</a:t>
                      </a:r>
                    </a:p>
                  </a:txBody>
                  <a:tcPr marL="109728" marR="109728" anchor="ctr">
                    <a:solidFill>
                      <a:srgbClr val="FFFFFF"/>
                    </a:solidFill>
                  </a:tcPr>
                </a:tc>
                <a:extLst>
                  <a:ext uri="{0D108BD9-81ED-4DB2-BD59-A6C34878D82A}">
                    <a16:rowId xmlns:a16="http://schemas.microsoft.com/office/drawing/2014/main" val="10003"/>
                  </a:ext>
                </a:extLst>
              </a:tr>
              <a:tr h="411480">
                <a:tc>
                  <a:txBody>
                    <a:bodyPr/>
                    <a:lstStyle/>
                    <a:p>
                      <a:r>
                        <a:rPr sz="1200" b="1">
                          <a:solidFill>
                            <a:srgbClr val="D91370"/>
                          </a:solidFill>
                        </a:rPr>
                        <a:t>벡터</a:t>
                      </a:r>
                    </a:p>
                  </a:txBody>
                  <a:tcPr marL="109728" marR="109728" anchor="ctr">
                    <a:solidFill>
                      <a:srgbClr val="F6F7F8"/>
                    </a:solidFill>
                  </a:tcPr>
                </a:tc>
                <a:tc>
                  <a:txBody>
                    <a:bodyPr/>
                    <a:lstStyle/>
                    <a:p>
                      <a:r>
                        <a:rPr sz="1200">
                          <a:solidFill>
                            <a:srgbClr val="17171A"/>
                          </a:solidFill>
                        </a:rPr>
                        <a:t>vector(1024) · HNSW · 코사인</a:t>
                      </a:r>
                    </a:p>
                  </a:txBody>
                  <a:tcPr marL="109728" marR="109728" anchor="ctr">
                    <a:solidFill>
                      <a:srgbClr val="F6F7F8"/>
                    </a:solidFill>
                  </a:tcPr>
                </a:tc>
                <a:extLst>
                  <a:ext uri="{0D108BD9-81ED-4DB2-BD59-A6C34878D82A}">
                    <a16:rowId xmlns:a16="http://schemas.microsoft.com/office/drawing/2014/main" val="10004"/>
                  </a:ext>
                </a:extLst>
              </a:tr>
              <a:tr h="411480">
                <a:tc>
                  <a:txBody>
                    <a:bodyPr/>
                    <a:lstStyle/>
                    <a:p>
                      <a:r>
                        <a:rPr sz="1200" b="1">
                          <a:solidFill>
                            <a:srgbClr val="D91370"/>
                          </a:solidFill>
                        </a:rPr>
                        <a:t>임베딩</a:t>
                      </a:r>
                    </a:p>
                  </a:txBody>
                  <a:tcPr marL="109728" marR="109728" anchor="ctr">
                    <a:solidFill>
                      <a:srgbClr val="FFFFFF"/>
                    </a:solidFill>
                  </a:tcPr>
                </a:tc>
                <a:tc>
                  <a:txBody>
                    <a:bodyPr/>
                    <a:lstStyle/>
                    <a:p>
                      <a:r>
                        <a:rPr sz="1200">
                          <a:solidFill>
                            <a:srgbClr val="17171A"/>
                          </a:solidFill>
                        </a:rPr>
                        <a:t>모델별 Profile 분리 (교체 대비)</a:t>
                      </a:r>
                    </a:p>
                  </a:txBody>
                  <a:tcPr marL="109728" marR="109728" anchor="ctr">
                    <a:solidFill>
                      <a:srgbClr val="FFFFFF"/>
                    </a:solidFill>
                  </a:tcPr>
                </a:tc>
                <a:extLst>
                  <a:ext uri="{0D108BD9-81ED-4DB2-BD59-A6C34878D82A}">
                    <a16:rowId xmlns:a16="http://schemas.microsoft.com/office/drawing/2014/main" val="10005"/>
                  </a:ext>
                </a:extLst>
              </a:tr>
              <a:tr h="411480">
                <a:tc>
                  <a:txBody>
                    <a:bodyPr/>
                    <a:lstStyle/>
                    <a:p>
                      <a:r>
                        <a:rPr sz="1200" b="1">
                          <a:solidFill>
                            <a:srgbClr val="D91370"/>
                          </a:solidFill>
                        </a:rPr>
                        <a:t>중복 방지</a:t>
                      </a:r>
                    </a:p>
                  </a:txBody>
                  <a:tcPr marL="109728" marR="109728" anchor="ctr">
                    <a:solidFill>
                      <a:srgbClr val="F6F7F8"/>
                    </a:solidFill>
                  </a:tcPr>
                </a:tc>
                <a:tc>
                  <a:txBody>
                    <a:bodyPr/>
                    <a:lstStyle/>
                    <a:p>
                      <a:r>
                        <a:rPr sz="1200">
                          <a:solidFill>
                            <a:srgbClr val="17171A"/>
                          </a:solidFill>
                        </a:rPr>
                        <a:t>조건부 UNIQUE 인덱스 18개</a:t>
                      </a:r>
                    </a:p>
                  </a:txBody>
                  <a:tcPr marL="109728" marR="109728" anchor="ctr">
                    <a:solidFill>
                      <a:srgbClr val="F6F7F8"/>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rgbClr val="17171A"/>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5" name="항목 번호"/>
          <p:cNvSpPr txBox="1"/>
          <p:nvPr/>
        </p:nvSpPr>
        <p:spPr>
          <a:xfrm>
            <a:off x="628650" y="2466975"/>
            <a:ext cx="9000000" cy="247650"/>
          </a:xfrm>
          <a:prstGeom prst="rect">
            <a:avLst/>
          </a:prstGeom>
          <a:noFill/>
        </p:spPr>
        <p:txBody>
          <a:bodyPr wrap="square" lIns="0" tIns="0" rIns="0" bIns="0" anchor="ctr">
            <a:spAutoFit/>
          </a:bodyPr>
          <a:lstStyle/>
          <a:p>
            <a:pPr lvl="0" algn="l">
              <a:defRPr/>
            </a:pPr>
            <a:r>
              <a:rPr sz="1600" b="1">
                <a:solidFill>
                  <a:schemeClr val="accent1"/>
                </a:solidFill>
              </a:rPr>
              <a:t>PART 0</a:t>
            </a:r>
            <a:r>
              <a:rPr lang="en-US" altLang="ko-KR" sz="1600" b="1">
                <a:solidFill>
                  <a:schemeClr val="accent1"/>
                </a:solidFill>
              </a:rPr>
              <a:t>4</a:t>
            </a:r>
          </a:p>
        </p:txBody>
      </p:sp>
      <p:sp>
        <p:nvSpPr>
          <p:cNvPr id="6" name="항목 제목"/>
          <p:cNvSpPr txBox="1"/>
          <p:nvPr/>
        </p:nvSpPr>
        <p:spPr>
          <a:xfrm>
            <a:off x="628650" y="3286125"/>
            <a:ext cx="12000000" cy="819150"/>
          </a:xfrm>
          <a:prstGeom prst="rect">
            <a:avLst/>
          </a:prstGeom>
          <a:noFill/>
        </p:spPr>
        <p:txBody>
          <a:bodyPr wrap="square" lIns="0" tIns="0" rIns="0" bIns="0" anchor="ctr">
            <a:spAutoFit/>
          </a:bodyPr>
          <a:lstStyle/>
          <a:p>
            <a:pPr lvl="0" algn="l">
              <a:defRPr/>
            </a:pPr>
            <a:r>
              <a:rPr lang="ko-KR" altLang="en-US" sz="5400" b="1">
                <a:solidFill>
                  <a:srgbClr val="FFFFFF"/>
                </a:solidFill>
              </a:rPr>
              <a:t>프로젝트 수행 경과</a:t>
            </a:r>
            <a:endParaRPr lang="ko-KR" altLang="en-US" sz="5400" b="1">
              <a:solidFill>
                <a:schemeClr val="tx2"/>
              </a:solidFill>
            </a:endParaRPr>
          </a:p>
        </p:txBody>
      </p:sp>
      <p:sp>
        <p:nvSpPr>
          <p:cNvPr id="8"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9"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08</a:t>
            </a:r>
            <a:endParaRPr sz="1300" b="0">
              <a:solidFill>
                <a:schemeClr val="accent3"/>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dsp="http://schemas.microsoft.com/office/drawing/2008/diagram" xmlns:dgm="http://schemas.openxmlformats.org/drawingml/2006/diagram" xmlns:c="http://schemas.openxmlformats.org/drawingml/2006/chart"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wn-text-1">
            <a:extLst>
              <a:ext uri="{FF2B5EF4-FFF2-40B4-BE49-F238E27FC236}">
                <a16:creationId xmlns:a16="http://schemas.microsoft.com/office/drawing/2014/main" id="{DB3822FF-C1E3-4B4E-8A56-C862A11438DF}"/>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
            <a:extLst>
              <a:ext uri="{FF2B5EF4-FFF2-40B4-BE49-F238E27FC236}">
                <a16:creationId xmlns:a16="http://schemas.microsoft.com/office/drawing/2014/main" id="{1F6915BD-10E4-4C32-877E-506B8DD4A7F7}"/>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14B OFF 1차 선정과 4B 튜닝 검토</a:t>
            </a:r>
          </a:p>
        </p:txBody>
      </p:sp>
      <p:sp>
        <p:nvSpPr>
          <p:cNvPr id="3" name="own-text-3">
            <a:extLst>
              <a:ext uri="{FF2B5EF4-FFF2-40B4-BE49-F238E27FC236}">
                <a16:creationId xmlns:a16="http://schemas.microsoft.com/office/drawing/2014/main" id="{97E6F84E-80A8-41FA-BA84-74351769393F}"/>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소형 모델의 단독 통과가 어려웠던 엄격한 품질·보류 기준에서, 후속 튜닝과 코드 교정을 검토</a:t>
            </a:r>
          </a:p>
        </p:txBody>
      </p:sp>
      <p:sp>
        <p:nvSpPr>
          <p:cNvPr id="4" name="own-text-4">
            <a:extLst>
              <a:ext uri="{FF2B5EF4-FFF2-40B4-BE49-F238E27FC236}">
                <a16:creationId xmlns:a16="http://schemas.microsoft.com/office/drawing/2014/main" id="{4A434F07-8613-4EFC-82EF-2491CDA33C11}"/>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5">
            <a:extLst>
              <a:ext uri="{FF2B5EF4-FFF2-40B4-BE49-F238E27FC236}">
                <a16:creationId xmlns:a16="http://schemas.microsoft.com/office/drawing/2014/main" id="{E9B1C137-AAFE-487A-B456-9E46AD0F9635}"/>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09</a:t>
            </a:r>
            <a:endParaRPr sz="1300" b="0">
              <a:solidFill>
                <a:srgbClr val="686B72"/>
              </a:solidFill>
              <a:latin typeface="맑은 고딕"/>
              <a:ea typeface="맑은 고딕"/>
              <a:cs typeface="맑은 고딕"/>
            </a:endParaRPr>
          </a:p>
        </p:txBody>
      </p:sp>
      <p:sp>
        <p:nvSpPr>
          <p:cNvPr id="6" name="own-text-6">
            <a:extLst>
              <a:ext uri="{FF2B5EF4-FFF2-40B4-BE49-F238E27FC236}">
                <a16:creationId xmlns:a16="http://schemas.microsoft.com/office/drawing/2014/main" id="{4E6B8F36-0E57-49A0-9385-8B2425C835CC}"/>
              </a:ext>
            </a:extLst>
          </p:cNvPr>
          <p:cNvSpPr>
            <a:spLocks noGrp="1"/>
          </p:cNvSpPr>
          <p:nvPr/>
        </p:nvSpPr>
        <p:spPr>
          <a:xfrm>
            <a:off x="628650" y="6515100"/>
            <a:ext cx="12458700" cy="457200"/>
          </a:xfrm>
          <a:prstGeom prst="rect">
            <a:avLst/>
          </a:prstGeom>
          <a:noFill/>
          <a:ln w="0">
            <a:noFill/>
          </a:ln>
        </p:spPr>
        <p:txBody>
          <a:bodyPr wrap="square" lIns="0" tIns="0" rIns="0" bIns="0" anchor="t">
            <a:noAutofit/>
          </a:bodyPr>
          <a:lstStyle>
            <a:defPPr algn="l">
              <a:defRPr sz="1350" b="0">
                <a:solidFill>
                  <a:srgbClr val="686B72"/>
                </a:solidFill>
                <a:latin typeface="맑은 고딕"/>
                <a:ea typeface="맑은 고딕"/>
                <a:cs typeface="맑은 고딕"/>
              </a:defRPr>
            </a:defPPr>
            <a:lvl1pPr algn="l">
              <a:defRPr sz="1350" b="0">
                <a:solidFill>
                  <a:srgbClr val="686B72"/>
                </a:solidFill>
                <a:latin typeface="맑은 고딕"/>
                <a:ea typeface="맑은 고딕"/>
                <a:cs typeface="맑은 고딕"/>
              </a:defRPr>
            </a:lvl1pPr>
            <a:lvl2pPr algn="l">
              <a:defRPr sz="1350" b="0">
                <a:solidFill>
                  <a:srgbClr val="686B72"/>
                </a:solidFill>
                <a:latin typeface="맑은 고딕"/>
                <a:ea typeface="맑은 고딕"/>
                <a:cs typeface="맑은 고딕"/>
              </a:defRPr>
            </a:lvl2pPr>
            <a:lvl3pPr algn="l">
              <a:defRPr sz="1350" b="0">
                <a:solidFill>
                  <a:srgbClr val="686B72"/>
                </a:solidFill>
                <a:latin typeface="맑은 고딕"/>
                <a:ea typeface="맑은 고딕"/>
                <a:cs typeface="맑은 고딕"/>
              </a:defRPr>
            </a:lvl3pPr>
            <a:lvl4pPr algn="l">
              <a:defRPr sz="1350" b="0">
                <a:solidFill>
                  <a:srgbClr val="686B72"/>
                </a:solidFill>
                <a:latin typeface="맑은 고딕"/>
                <a:ea typeface="맑은 고딕"/>
                <a:cs typeface="맑은 고딕"/>
              </a:defRPr>
            </a:lvl4pPr>
            <a:lvl5pPr algn="l">
              <a:defRPr sz="1350" b="0">
                <a:solidFill>
                  <a:srgbClr val="686B72"/>
                </a:solidFill>
                <a:latin typeface="맑은 고딕"/>
                <a:ea typeface="맑은 고딕"/>
                <a:cs typeface="맑은 고딕"/>
              </a:defRPr>
            </a:lvl5pPr>
            <a:lvl6pPr algn="l">
              <a:defRPr sz="1350" b="0">
                <a:solidFill>
                  <a:srgbClr val="686B72"/>
                </a:solidFill>
                <a:latin typeface="맑은 고딕"/>
                <a:ea typeface="맑은 고딕"/>
                <a:cs typeface="맑은 고딕"/>
              </a:defRPr>
            </a:lvl6pPr>
            <a:lvl7pPr algn="l">
              <a:defRPr sz="1350" b="0">
                <a:solidFill>
                  <a:srgbClr val="686B72"/>
                </a:solidFill>
                <a:latin typeface="맑은 고딕"/>
                <a:ea typeface="맑은 고딕"/>
                <a:cs typeface="맑은 고딕"/>
              </a:defRPr>
            </a:lvl7pPr>
            <a:lvl8pPr algn="l">
              <a:defRPr sz="1350" b="0">
                <a:solidFill>
                  <a:srgbClr val="686B72"/>
                </a:solidFill>
                <a:latin typeface="맑은 고딕"/>
                <a:ea typeface="맑은 고딕"/>
                <a:cs typeface="맑은 고딕"/>
              </a:defRPr>
            </a:lvl8pPr>
            <a:lvl9pPr algn="l">
              <a:defRPr sz="1350" b="0">
                <a:solidFill>
                  <a:srgbClr val="686B72"/>
                </a:solidFill>
                <a:latin typeface="맑은 고딕"/>
                <a:ea typeface="맑은 고딕"/>
                <a:cs typeface="맑은 고딕"/>
              </a:defRPr>
            </a:lvl9pPr>
          </a:lstStyle>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시험: 단일·유사·다중 FAQ, 개인화·조건·예외, 근거 부재·충돌, 멀티턴, 공격·범위 밖, API(13유형)</a:t>
            </a:r>
          </a:p>
          <a:p>
            <a:pPr algn="l">
              <a:defRPr sz="1350" b="0">
                <a:solidFill>
                  <a:srgbClr val="686B72"/>
                </a:solidFill>
                <a:latin typeface="맑은 고딕"/>
                <a:ea typeface="맑은 고딕"/>
                <a:cs typeface="맑은 고딕"/>
              </a:defRPr>
            </a:pPr>
            <a:r>
              <a:rPr sz="1350" b="0">
                <a:solidFill>
                  <a:srgbClr val="686B72"/>
                </a:solidFill>
                <a:latin typeface="맑은 고딕"/>
                <a:ea typeface="맑은 고딕"/>
                <a:cs typeface="맑은 고딕"/>
              </a:rPr>
              <a:t>평가: 필수 사실·조건·답변 가능 여부를 만족하면 정답, 근거 밖 내용은 환각. 형식·일관성·지연·메모리·동시성도 고려.</a:t>
            </a:r>
          </a:p>
        </p:txBody>
      </p:sp>
      <p:graphicFrame>
        <p:nvGraphicFramePr>
          <p:cNvPr id="7" name="표 6">
            <a:extLst>
              <a:ext uri="{FF2B5EF4-FFF2-40B4-BE49-F238E27FC236}">
                <a16:creationId xmlns:a16="http://schemas.microsoft.com/office/drawing/2014/main" id="{74FF68C0-AA94-4D96-9AFE-C450136C4C43}"/>
              </a:ext>
            </a:extLst>
          </p:cNvPr>
          <p:cNvGraphicFramePr/>
          <p:nvPr/>
        </p:nvGraphicFramePr>
        <p:xfrm>
          <a:off x="628650" y="2076450"/>
          <a:ext cx="7239000" cy="3886200"/>
        </p:xfrm>
        <a:graphic>
          <a:graphicData uri="http://schemas.openxmlformats.org/drawingml/2006/table">
            <a:tbl>
              <a:tblPr/>
              <a:tblGrid>
                <a:gridCol w="2028825">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952500">
                  <a:extLst>
                    <a:ext uri="{9D8B030D-6E8A-4147-A177-3AD203B41FA5}">
                      <a16:colId xmlns:a16="http://schemas.microsoft.com/office/drawing/2014/main" val="20002"/>
                    </a:ext>
                  </a:extLst>
                </a:gridCol>
                <a:gridCol w="952500">
                  <a:extLst>
                    <a:ext uri="{9D8B030D-6E8A-4147-A177-3AD203B41FA5}">
                      <a16:colId xmlns:a16="http://schemas.microsoft.com/office/drawing/2014/main" val="20003"/>
                    </a:ext>
                  </a:extLst>
                </a:gridCol>
                <a:gridCol w="2352675">
                  <a:extLst>
                    <a:ext uri="{9D8B030D-6E8A-4147-A177-3AD203B41FA5}">
                      <a16:colId xmlns:a16="http://schemas.microsoft.com/office/drawing/2014/main" val="20004"/>
                    </a:ext>
                  </a:extLst>
                </a:gridCol>
              </a:tblGrid>
              <a:tr h="323850">
                <a:tc>
                  <a:txBody>
                    <a:bodyPr/>
                    <a:lstStyle/>
                    <a:p>
                      <a:r>
                        <a:rPr sz="1373"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P95(초)</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373" b="1">
                          <a:solidFill>
                            <a:srgbClr val="FFFFFF"/>
                          </a:solidFill>
                          <a:latin typeface="맑은 고딕"/>
                          <a:ea typeface="맑은 고딕"/>
                          <a:cs typeface="맑은 고딕"/>
                        </a:rPr>
                        <a:t>제외·후순위 근거</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23850">
                <a:tc>
                  <a:txBody>
                    <a:bodyPr/>
                    <a:lstStyle/>
                    <a:p>
                      <a:r>
                        <a:rPr sz="1373" b="0">
                          <a:solidFill>
                            <a:srgbClr val="17171A"/>
                          </a:solidFill>
                          <a:latin typeface="맑은 고딕"/>
                          <a:ea typeface="맑은 고딕"/>
                          <a:cs typeface="맑은 고딕"/>
                        </a:rPr>
                        <a:t>Qwen3 1.7B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56.7%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1.43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23850">
                <a:tc>
                  <a:txBody>
                    <a:bodyPr/>
                    <a:lstStyle/>
                    <a:p>
                      <a:r>
                        <a:rPr sz="1373" b="1">
                          <a:solidFill>
                            <a:srgbClr val="F72585"/>
                          </a:solidFill>
                          <a:latin typeface="맑은 고딕"/>
                          <a:ea typeface="맑은 고딕"/>
                          <a:cs typeface="맑은 고딕"/>
                        </a:rPr>
                        <a:t>Gemma3 4B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31.3%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50.3%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2.78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4B 튜닝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323850">
                <a:tc>
                  <a:txBody>
                    <a:bodyPr/>
                    <a:lstStyle/>
                    <a:p>
                      <a:r>
                        <a:rPr sz="1373" b="1">
                          <a:solidFill>
                            <a:srgbClr val="F72585"/>
                          </a:solidFill>
                          <a:latin typeface="맑은 고딕"/>
                          <a:ea typeface="맑은 고딕"/>
                          <a:cs typeface="맑은 고딕"/>
                        </a:rPr>
                        <a:t>Qwen3 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2.92</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4B 튜닝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323850">
                <a:tc>
                  <a:txBody>
                    <a:bodyPr/>
                    <a:lstStyle/>
                    <a:p>
                      <a:r>
                        <a:rPr sz="1373" b="0">
                          <a:solidFill>
                            <a:srgbClr val="17171A"/>
                          </a:solidFill>
                          <a:latin typeface="맑은 고딕"/>
                          <a:ea typeface="맑은 고딕"/>
                          <a:cs typeface="맑은 고딕"/>
                        </a:rPr>
                        <a:t>EXAONE 7.8B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37.3%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53.3%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5.65</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보류 88건 실패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323850">
                <a:tc>
                  <a:txBody>
                    <a:bodyPr/>
                    <a:lstStyle/>
                    <a:p>
                      <a:r>
                        <a:rPr sz="1373" b="0">
                          <a:solidFill>
                            <a:srgbClr val="17171A"/>
                          </a:solidFill>
                          <a:latin typeface="맑은 고딕"/>
                          <a:ea typeface="맑은 고딕"/>
                          <a:cs typeface="맑은 고딕"/>
                        </a:rPr>
                        <a:t>Qwen3 8B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26.0%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4.53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튜닝 후 확장 후보</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323850">
                <a:tc>
                  <a:txBody>
                    <a:bodyPr/>
                    <a:lstStyle/>
                    <a:p>
                      <a:r>
                        <a:rPr sz="1373" b="0">
                          <a:solidFill>
                            <a:srgbClr val="17171A"/>
                          </a:solidFill>
                          <a:latin typeface="맑은 고딕"/>
                          <a:ea typeface="맑은 고딕"/>
                          <a:cs typeface="맑은 고딕"/>
                        </a:rPr>
                        <a:t>Gemma3 12B</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64.0%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21.3%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7.28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373" b="0">
                          <a:solidFill>
                            <a:srgbClr val="17171A"/>
                          </a:solidFill>
                          <a:latin typeface="맑은 고딕"/>
                          <a:ea typeface="맑은 고딕"/>
                          <a:cs typeface="맑은 고딕"/>
                        </a:rPr>
                        <a:t>크기·조건 판단</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323850">
                <a:tc>
                  <a:txBody>
                    <a:bodyPr/>
                    <a:lstStyle/>
                    <a:p>
                      <a:r>
                        <a:rPr sz="1373" b="1">
                          <a:solidFill>
                            <a:srgbClr val="F72585"/>
                          </a:solidFill>
                          <a:latin typeface="맑은 고딕"/>
                          <a:ea typeface="맑은 고딕"/>
                          <a:cs typeface="맑은 고딕"/>
                        </a:rPr>
                        <a:t>Qwen3 14B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70.7%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23.7%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8.11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373" b="1">
                          <a:solidFill>
                            <a:srgbClr val="F72585"/>
                          </a:solidFill>
                          <a:latin typeface="맑은 고딕"/>
                          <a:ea typeface="맑은 고딕"/>
                          <a:cs typeface="맑은 고딕"/>
                        </a:rPr>
                        <a:t>1차 MVP 선정</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7"/>
                  </a:ext>
                </a:extLst>
              </a:tr>
              <a:tr h="323850">
                <a:tc>
                  <a:txBody>
                    <a:bodyPr/>
                    <a:lstStyle/>
                    <a:p>
                      <a:r>
                        <a:rPr sz="1373" b="0">
                          <a:solidFill>
                            <a:srgbClr val="17171A"/>
                          </a:solidFill>
                          <a:latin typeface="맑은 고딕"/>
                          <a:ea typeface="맑은 고딕"/>
                          <a:cs typeface="맑은 고딕"/>
                        </a:rPr>
                        <a:t>Qwen3 1.7B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39.0%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43.0%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5.04</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내용 품질 부족</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08"/>
                  </a:ext>
                </a:extLst>
              </a:tr>
              <a:tr h="323850">
                <a:tc>
                  <a:txBody>
                    <a:bodyPr/>
                    <a:lstStyle/>
                    <a:p>
                      <a:r>
                        <a:rPr sz="1373" b="0">
                          <a:solidFill>
                            <a:srgbClr val="17171A"/>
                          </a:solidFill>
                          <a:latin typeface="맑은 고딕"/>
                          <a:ea typeface="맑은 고딕"/>
                          <a:cs typeface="맑은 고딕"/>
                        </a:rPr>
                        <a:t>Qwen3 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72.3%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13.7%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47.62</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품질 우수·지연 큼</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09"/>
                  </a:ext>
                </a:extLst>
              </a:tr>
              <a:tr h="323850">
                <a:tc>
                  <a:txBody>
                    <a:bodyPr/>
                    <a:lstStyle/>
                    <a:p>
                      <a:r>
                        <a:rPr sz="1373" b="0">
                          <a:solidFill>
                            <a:srgbClr val="17171A"/>
                          </a:solidFill>
                          <a:latin typeface="맑은 고딕"/>
                          <a:ea typeface="맑은 고딕"/>
                          <a:cs typeface="맑은 고딕"/>
                        </a:rPr>
                        <a:t>Qwen3 8B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59.7%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26.8%</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18.33</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품질·지연 검토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10"/>
                  </a:ext>
                </a:extLst>
              </a:tr>
              <a:tr h="323850">
                <a:tc>
                  <a:txBody>
                    <a:bodyPr/>
                    <a:lstStyle/>
                    <a:p>
                      <a:r>
                        <a:rPr sz="1373" b="0">
                          <a:solidFill>
                            <a:srgbClr val="17171A"/>
                          </a:solidFill>
                          <a:latin typeface="맑은 고딕"/>
                          <a:ea typeface="맑은 고딕"/>
                          <a:cs typeface="맑은 고딕"/>
                        </a:rPr>
                        <a:t>Qwen3 14B ON</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75.6%</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24.7%</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28.49</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tc>
                  <a:txBody>
                    <a:bodyPr/>
                    <a:lstStyle/>
                    <a:p>
                      <a:r>
                        <a:rPr sz="1373" b="0">
                          <a:solidFill>
                            <a:srgbClr val="17171A"/>
                          </a:solidFill>
                          <a:latin typeface="맑은 고딕"/>
                          <a:ea typeface="맑은 고딕"/>
                          <a:cs typeface="맑은 고딕"/>
                        </a:rPr>
                        <a:t>품질 우수·지연 큼</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1F2F4"/>
                    </a:solidFill>
                  </a:tcPr>
                </a:tc>
                <a:extLst>
                  <a:ext uri="{0D108BD9-81ED-4DB2-BD59-A6C34878D82A}">
                    <a16:rowId xmlns:a16="http://schemas.microsoft.com/office/drawing/2014/main" val="10011"/>
                  </a:ext>
                </a:extLst>
              </a:tr>
            </a:tbl>
          </a:graphicData>
        </a:graphic>
      </p:graphicFrame>
      <p:sp>
        <p:nvSpPr>
          <p:cNvPr id="8" name="own-text-7">
            <a:extLst>
              <a:ext uri="{FF2B5EF4-FFF2-40B4-BE49-F238E27FC236}">
                <a16:creationId xmlns:a16="http://schemas.microsoft.com/office/drawing/2014/main" id="{F3D68A16-7DC0-4FEA-861C-FAC14CFB3ABB}"/>
              </a:ext>
            </a:extLst>
          </p:cNvPr>
          <p:cNvSpPr>
            <a:spLocks noGrp="1"/>
          </p:cNvSpPr>
          <p:nvPr/>
        </p:nvSpPr>
        <p:spPr>
          <a:xfrm>
            <a:off x="628650" y="6057900"/>
            <a:ext cx="7239000" cy="428625"/>
          </a:xfrm>
          <a:prstGeom prst="rect">
            <a:avLst/>
          </a:prstGeom>
          <a:noFill/>
          <a:ln w="0">
            <a:noFill/>
          </a:ln>
        </p:spPr>
        <p:txBody>
          <a:bodyPr wrap="square" lIns="0" tIns="0" rIns="0" bIns="0" anchor="t">
            <a:noAutofit/>
          </a:bodyPr>
          <a:lstStyle>
            <a:defPPr algn="l">
              <a:defRPr sz="1252" b="0">
                <a:solidFill>
                  <a:srgbClr val="686B72"/>
                </a:solidFill>
                <a:latin typeface="맑은 고딕"/>
                <a:ea typeface="맑은 고딕"/>
                <a:cs typeface="맑은 고딕"/>
              </a:defRPr>
            </a:defPPr>
            <a:lvl1pPr algn="l">
              <a:defRPr sz="1252" b="0">
                <a:solidFill>
                  <a:srgbClr val="686B72"/>
                </a:solidFill>
                <a:latin typeface="맑은 고딕"/>
                <a:ea typeface="맑은 고딕"/>
                <a:cs typeface="맑은 고딕"/>
              </a:defRPr>
            </a:lvl1pPr>
            <a:lvl2pPr algn="l">
              <a:defRPr sz="1252" b="0">
                <a:solidFill>
                  <a:srgbClr val="686B72"/>
                </a:solidFill>
                <a:latin typeface="맑은 고딕"/>
                <a:ea typeface="맑은 고딕"/>
                <a:cs typeface="맑은 고딕"/>
              </a:defRPr>
            </a:lvl2pPr>
            <a:lvl3pPr algn="l">
              <a:defRPr sz="1252" b="0">
                <a:solidFill>
                  <a:srgbClr val="686B72"/>
                </a:solidFill>
                <a:latin typeface="맑은 고딕"/>
                <a:ea typeface="맑은 고딕"/>
                <a:cs typeface="맑은 고딕"/>
              </a:defRPr>
            </a:lvl3pPr>
            <a:lvl4pPr algn="l">
              <a:defRPr sz="1252" b="0">
                <a:solidFill>
                  <a:srgbClr val="686B72"/>
                </a:solidFill>
                <a:latin typeface="맑은 고딕"/>
                <a:ea typeface="맑은 고딕"/>
                <a:cs typeface="맑은 고딕"/>
              </a:defRPr>
            </a:lvl4pPr>
            <a:lvl5pPr algn="l">
              <a:defRPr sz="1252" b="0">
                <a:solidFill>
                  <a:srgbClr val="686B72"/>
                </a:solidFill>
                <a:latin typeface="맑은 고딕"/>
                <a:ea typeface="맑은 고딕"/>
                <a:cs typeface="맑은 고딕"/>
              </a:defRPr>
            </a:lvl5pPr>
            <a:lvl6pPr algn="l">
              <a:defRPr sz="1252" b="0">
                <a:solidFill>
                  <a:srgbClr val="686B72"/>
                </a:solidFill>
                <a:latin typeface="맑은 고딕"/>
                <a:ea typeface="맑은 고딕"/>
                <a:cs typeface="맑은 고딕"/>
              </a:defRPr>
            </a:lvl6pPr>
            <a:lvl7pPr algn="l">
              <a:defRPr sz="1252" b="0">
                <a:solidFill>
                  <a:srgbClr val="686B72"/>
                </a:solidFill>
                <a:latin typeface="맑은 고딕"/>
                <a:ea typeface="맑은 고딕"/>
                <a:cs typeface="맑은 고딕"/>
              </a:defRPr>
            </a:lvl7pPr>
            <a:lvl8pPr algn="l">
              <a:defRPr sz="1252" b="0">
                <a:solidFill>
                  <a:srgbClr val="686B72"/>
                </a:solidFill>
                <a:latin typeface="맑은 고딕"/>
                <a:ea typeface="맑은 고딕"/>
                <a:cs typeface="맑은 고딕"/>
              </a:defRPr>
            </a:lvl8pPr>
            <a:lvl9pPr algn="l">
              <a:defRPr sz="1252" b="0">
                <a:solidFill>
                  <a:srgbClr val="686B72"/>
                </a:solidFill>
                <a:latin typeface="맑은 고딕"/>
                <a:ea typeface="맑은 고딕"/>
                <a:cs typeface="맑은 고딕"/>
              </a:defRPr>
            </a:lvl9pPr>
          </a:lstStyle>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앞서 Qwen 0.6B·Gemma 270M/1B·EXAONE 2.4B는 형식·내용 문제로 제외</a:t>
            </a:r>
          </a:p>
          <a:p>
            <a:pPr algn="l">
              <a:defRPr sz="1252" b="0">
                <a:solidFill>
                  <a:srgbClr val="686B72"/>
                </a:solidFill>
                <a:latin typeface="맑은 고딕"/>
                <a:ea typeface="맑은 고딕"/>
                <a:cs typeface="맑은 고딕"/>
              </a:defRPr>
            </a:pPr>
            <a:r>
              <a:rPr sz="1252" b="0">
                <a:solidFill>
                  <a:srgbClr val="686B72"/>
                </a:solidFill>
                <a:latin typeface="맑은 고딕"/>
                <a:ea typeface="맑은 고딕"/>
                <a:cs typeface="맑은 고딕"/>
              </a:rPr>
              <a:t>해당 후보는 전수 정답률·환각률 평가가 없어 표에 넣지 않음</a:t>
            </a:r>
          </a:p>
        </p:txBody>
      </p:sp>
      <p:sp>
        <p:nvSpPr>
          <p:cNvPr id="9" name="own-text-8">
            <a:extLst>
              <a:ext uri="{FF2B5EF4-FFF2-40B4-BE49-F238E27FC236}">
                <a16:creationId xmlns:a16="http://schemas.microsoft.com/office/drawing/2014/main" id="{5D94C49D-9C7F-4BB8-991F-FD1AB399188F}"/>
              </a:ext>
            </a:extLst>
          </p:cNvPr>
          <p:cNvSpPr>
            <a:spLocks noGrp="1"/>
          </p:cNvSpPr>
          <p:nvPr/>
        </p:nvSpPr>
        <p:spPr>
          <a:xfrm>
            <a:off x="8248650" y="2076450"/>
            <a:ext cx="4857750" cy="58102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품질 기준으로 14B OFF를 1차 선정</a:t>
            </a:r>
          </a:p>
        </p:txBody>
      </p:sp>
      <p:graphicFrame>
        <p:nvGraphicFramePr>
          <p:cNvPr id="10" name="Chart">
            <a:extLst>
              <a:ext uri="{FF2B5EF4-FFF2-40B4-BE49-F238E27FC236}">
                <a16:creationId xmlns:a16="http://schemas.microsoft.com/office/drawing/2014/main" id="{0117E184-AAF1-46D3-BBA5-80D5387A4997}"/>
              </a:ext>
            </a:extLst>
          </p:cNvPr>
          <p:cNvGraphicFramePr/>
          <p:nvPr/>
        </p:nvGraphicFramePr>
        <p:xfrm>
          <a:off x="8248650" y="2771775"/>
          <a:ext cx="4857750" cy="2457450"/>
        </p:xfrm>
        <a:graphic>
          <a:graphicData uri="http://schemas.openxmlformats.org/drawingml/2006/chart">
            <c:chart xmlns:c="http://schemas.openxmlformats.org/drawingml/2006/chart" xmlns:r="http://schemas.openxmlformats.org/officeDocument/2006/relationships" r:id="rId3"/>
          </a:graphicData>
        </a:graphic>
      </p:graphicFrame>
      <p:sp>
        <p:nvSpPr>
          <p:cNvPr id="11" name="own-text-9">
            <a:extLst>
              <a:ext uri="{FF2B5EF4-FFF2-40B4-BE49-F238E27FC236}">
                <a16:creationId xmlns:a16="http://schemas.microsoft.com/office/drawing/2014/main" id="{30E4C914-3AC4-4DB6-B2D5-23D924115445}"/>
              </a:ext>
            </a:extLst>
          </p:cNvPr>
          <p:cNvSpPr>
            <a:spLocks noGrp="1"/>
          </p:cNvSpPr>
          <p:nvPr/>
        </p:nvSpPr>
        <p:spPr>
          <a:xfrm>
            <a:off x="8248650" y="5391150"/>
            <a:ext cx="4857750" cy="514350"/>
          </a:xfrm>
          <a:prstGeom prst="rect">
            <a:avLst/>
          </a:prstGeom>
          <a:noFill/>
          <a:ln w="0">
            <a:noFill/>
          </a:ln>
        </p:spPr>
        <p:txBody>
          <a:bodyPr wrap="square" lIns="0" tIns="0" rIns="0" bIns="0" anchor="t">
            <a:noAutofit/>
          </a:bodyPr>
          <a:lstStyle>
            <a:defPPr algn="l">
              <a:defRPr sz="1395" b="0">
                <a:solidFill>
                  <a:srgbClr val="686B72"/>
                </a:solidFill>
                <a:latin typeface="맑은 고딕"/>
                <a:ea typeface="맑은 고딕"/>
                <a:cs typeface="맑은 고딕"/>
              </a:defRPr>
            </a:defPPr>
            <a:lvl1pPr algn="l">
              <a:defRPr sz="1395" b="0">
                <a:solidFill>
                  <a:srgbClr val="686B72"/>
                </a:solidFill>
                <a:latin typeface="맑은 고딕"/>
                <a:ea typeface="맑은 고딕"/>
                <a:cs typeface="맑은 고딕"/>
              </a:defRPr>
            </a:lvl1pPr>
            <a:lvl2pPr algn="l">
              <a:defRPr sz="1395" b="0">
                <a:solidFill>
                  <a:srgbClr val="686B72"/>
                </a:solidFill>
                <a:latin typeface="맑은 고딕"/>
                <a:ea typeface="맑은 고딕"/>
                <a:cs typeface="맑은 고딕"/>
              </a:defRPr>
            </a:lvl2pPr>
            <a:lvl3pPr algn="l">
              <a:defRPr sz="1395" b="0">
                <a:solidFill>
                  <a:srgbClr val="686B72"/>
                </a:solidFill>
                <a:latin typeface="맑은 고딕"/>
                <a:ea typeface="맑은 고딕"/>
                <a:cs typeface="맑은 고딕"/>
              </a:defRPr>
            </a:lvl3pPr>
            <a:lvl4pPr algn="l">
              <a:defRPr sz="1395" b="0">
                <a:solidFill>
                  <a:srgbClr val="686B72"/>
                </a:solidFill>
                <a:latin typeface="맑은 고딕"/>
                <a:ea typeface="맑은 고딕"/>
                <a:cs typeface="맑은 고딕"/>
              </a:defRPr>
            </a:lvl4pPr>
            <a:lvl5pPr algn="l">
              <a:defRPr sz="1395" b="0">
                <a:solidFill>
                  <a:srgbClr val="686B72"/>
                </a:solidFill>
                <a:latin typeface="맑은 고딕"/>
                <a:ea typeface="맑은 고딕"/>
                <a:cs typeface="맑은 고딕"/>
              </a:defRPr>
            </a:lvl5pPr>
            <a:lvl6pPr algn="l">
              <a:defRPr sz="1395" b="0">
                <a:solidFill>
                  <a:srgbClr val="686B72"/>
                </a:solidFill>
                <a:latin typeface="맑은 고딕"/>
                <a:ea typeface="맑은 고딕"/>
                <a:cs typeface="맑은 고딕"/>
              </a:defRPr>
            </a:lvl6pPr>
            <a:lvl7pPr algn="l">
              <a:defRPr sz="1395" b="0">
                <a:solidFill>
                  <a:srgbClr val="686B72"/>
                </a:solidFill>
                <a:latin typeface="맑은 고딕"/>
                <a:ea typeface="맑은 고딕"/>
                <a:cs typeface="맑은 고딕"/>
              </a:defRPr>
            </a:lvl7pPr>
            <a:lvl8pPr algn="l">
              <a:defRPr sz="1395" b="0">
                <a:solidFill>
                  <a:srgbClr val="686B72"/>
                </a:solidFill>
                <a:latin typeface="맑은 고딕"/>
                <a:ea typeface="맑은 고딕"/>
                <a:cs typeface="맑은 고딕"/>
              </a:defRPr>
            </a:lvl8pPr>
            <a:lvl9pPr algn="l">
              <a:defRPr sz="1395" b="0">
                <a:solidFill>
                  <a:srgbClr val="686B72"/>
                </a:solidFill>
                <a:latin typeface="맑은 고딕"/>
                <a:ea typeface="맑은 고딕"/>
                <a:cs typeface="맑은 고딕"/>
              </a:defRPr>
            </a:lvl9pPr>
          </a:lstStyle>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동시 32명, 초당 완료 요청 수</a:t>
            </a:r>
          </a:p>
          <a:p>
            <a:pPr algn="l">
              <a:defRPr sz="1395" b="0">
                <a:solidFill>
                  <a:srgbClr val="686B72"/>
                </a:solidFill>
                <a:latin typeface="맑은 고딕"/>
                <a:ea typeface="맑은 고딕"/>
                <a:cs typeface="맑은 고딕"/>
              </a:defRPr>
            </a:pPr>
            <a:r>
              <a:rPr sz="1395" b="0">
                <a:solidFill>
                  <a:srgbClr val="686B72"/>
                </a:solidFill>
                <a:latin typeface="맑은 고딕"/>
                <a:ea typeface="맑은 고딕"/>
                <a:cs typeface="맑은 고딕"/>
              </a:rPr>
              <a:t>L4·30초 시험·이전 Qwen3 계열</a:t>
            </a:r>
          </a:p>
        </p:txBody>
      </p:sp>
      <p:sp>
        <p:nvSpPr>
          <p:cNvPr id="12" name="own-text-10">
            <a:extLst>
              <a:ext uri="{FF2B5EF4-FFF2-40B4-BE49-F238E27FC236}">
                <a16:creationId xmlns:a16="http://schemas.microsoft.com/office/drawing/2014/main" id="{3A4D7884-32BA-4D1A-B6CE-6F64F3FA44A5}"/>
              </a:ext>
            </a:extLst>
          </p:cNvPr>
          <p:cNvSpPr>
            <a:spLocks noGrp="1"/>
          </p:cNvSpPr>
          <p:nvPr/>
        </p:nvSpPr>
        <p:spPr>
          <a:xfrm>
            <a:off x="8248650" y="5962650"/>
            <a:ext cx="4857750" cy="590550"/>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동시 서빙 부담을 줄이기 위해</a:t>
            </a:r>
          </a:p>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4B 모델의 튜닝 가능성을 재검토</a:t>
            </a:r>
          </a:p>
        </p:txBody>
      </p:sp>
    </p:spTree>
    <p:extLst>
      <p:ext uri="{BB962C8B-B14F-4D97-AF65-F5344CB8AC3E}">
        <p14:creationId xmlns:p14="http://schemas.microsoft.com/office/powerpoint/2010/main" val="32827221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wn-text-11">
            <a:extLst>
              <a:ext uri="{FF2B5EF4-FFF2-40B4-BE49-F238E27FC236}">
                <a16:creationId xmlns:a16="http://schemas.microsoft.com/office/drawing/2014/main" id="{E3A9B5CB-4F4C-4093-AB5D-AF9B39334BE6}"/>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12">
            <a:extLst>
              <a:ext uri="{FF2B5EF4-FFF2-40B4-BE49-F238E27FC236}">
                <a16:creationId xmlns:a16="http://schemas.microsoft.com/office/drawing/2014/main" id="{99473990-B5D5-4A65-97BB-43EED7623789}"/>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Gemma와 Qwen, 4B 튜닝 대상 선정</a:t>
            </a:r>
          </a:p>
        </p:txBody>
      </p:sp>
      <p:sp>
        <p:nvSpPr>
          <p:cNvPr id="3" name="own-text-13">
            <a:extLst>
              <a:ext uri="{FF2B5EF4-FFF2-40B4-BE49-F238E27FC236}">
                <a16:creationId xmlns:a16="http://schemas.microsoft.com/office/drawing/2014/main" id="{F39A3133-70B5-46AD-BA3D-B1C26A1A0115}"/>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같은 v4 조건에서 보류 안정성·오답 유형·프롬프트 교정 가능성을 비교</a:t>
            </a:r>
          </a:p>
        </p:txBody>
      </p:sp>
      <p:sp>
        <p:nvSpPr>
          <p:cNvPr id="4" name="own-text-14">
            <a:extLst>
              <a:ext uri="{FF2B5EF4-FFF2-40B4-BE49-F238E27FC236}">
                <a16:creationId xmlns:a16="http://schemas.microsoft.com/office/drawing/2014/main" id="{E68BBC57-D5A5-409F-92FD-A4A3F761A610}"/>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15">
            <a:extLst>
              <a:ext uri="{FF2B5EF4-FFF2-40B4-BE49-F238E27FC236}">
                <a16:creationId xmlns:a16="http://schemas.microsoft.com/office/drawing/2014/main" id="{BBD7DCC0-D320-4F30-84A2-3ADF8CA02DE6}"/>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10</a:t>
            </a:r>
            <a:endParaRPr sz="1300" b="0">
              <a:solidFill>
                <a:srgbClr val="686B72"/>
              </a:solidFill>
              <a:latin typeface="맑은 고딕"/>
              <a:ea typeface="맑은 고딕"/>
              <a:cs typeface="맑은 고딕"/>
            </a:endParaRPr>
          </a:p>
        </p:txBody>
      </p:sp>
      <p:sp>
        <p:nvSpPr>
          <p:cNvPr id="6" name="own-text-16">
            <a:extLst>
              <a:ext uri="{FF2B5EF4-FFF2-40B4-BE49-F238E27FC236}">
                <a16:creationId xmlns:a16="http://schemas.microsoft.com/office/drawing/2014/main" id="{C0F72AF1-25E5-4B91-B436-BB89980CF887}"/>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답변·계산 정답률은 실제 답한 표본으로 선택 편향 포함. 보류 정답 830건은 자료 부족·충돌·범위 밖 문항.</a:t>
            </a:r>
          </a:p>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답이 없는 문항은 두 모델 공통 670건. 답변 가능 출력은 모델 상태값 기준. 정답과 환각은 별도 판정.</a:t>
            </a:r>
          </a:p>
        </p:txBody>
      </p:sp>
      <p:graphicFrame>
        <p:nvGraphicFramePr>
          <p:cNvPr id="7" name="표 6">
            <a:extLst>
              <a:ext uri="{FF2B5EF4-FFF2-40B4-BE49-F238E27FC236}">
                <a16:creationId xmlns:a16="http://schemas.microsoft.com/office/drawing/2014/main" id="{31EE4500-E799-4E84-8CA8-A12258DB69F7}"/>
              </a:ext>
            </a:extLst>
          </p:cNvPr>
          <p:cNvGraphicFramePr/>
          <p:nvPr/>
        </p:nvGraphicFramePr>
        <p:xfrm>
          <a:off x="628650" y="2076450"/>
          <a:ext cx="8001000" cy="3619500"/>
        </p:xfrm>
        <a:graphic>
          <a:graphicData uri="http://schemas.openxmlformats.org/drawingml/2006/table">
            <a:tbl>
              <a:tblPr/>
              <a:tblGrid>
                <a:gridCol w="4724400">
                  <a:extLst>
                    <a:ext uri="{9D8B030D-6E8A-4147-A177-3AD203B41FA5}">
                      <a16:colId xmlns:a16="http://schemas.microsoft.com/office/drawing/2014/main" val="20000"/>
                    </a:ext>
                  </a:extLst>
                </a:gridCol>
                <a:gridCol w="1638300">
                  <a:extLst>
                    <a:ext uri="{9D8B030D-6E8A-4147-A177-3AD203B41FA5}">
                      <a16:colId xmlns:a16="http://schemas.microsoft.com/office/drawing/2014/main" val="20001"/>
                    </a:ext>
                  </a:extLst>
                </a:gridCol>
                <a:gridCol w="1638300">
                  <a:extLst>
                    <a:ext uri="{9D8B030D-6E8A-4147-A177-3AD203B41FA5}">
                      <a16:colId xmlns:a16="http://schemas.microsoft.com/office/drawing/2014/main" val="20002"/>
                    </a:ext>
                  </a:extLst>
                </a:gridCol>
              </a:tblGrid>
              <a:tr h="452438">
                <a:tc>
                  <a:txBody>
                    <a:bodyPr/>
                    <a:lstStyle/>
                    <a:p>
                      <a:r>
                        <a:rPr sz="1598" b="1">
                          <a:solidFill>
                            <a:srgbClr val="FFFFFF"/>
                          </a:solidFill>
                          <a:latin typeface="맑은 고딕"/>
                          <a:ea typeface="맑은 고딕"/>
                          <a:cs typeface="맑은 고딕"/>
                        </a:rPr>
                        <a:t>v4 기준선 비교</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Gemma3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Qwen3 OFF</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52438">
                <a:tc>
                  <a:txBody>
                    <a:bodyPr/>
                    <a:lstStyle/>
                    <a:p>
                      <a:r>
                        <a:rPr sz="1598" b="1">
                          <a:solidFill>
                            <a:srgbClr val="F72585"/>
                          </a:solidFill>
                          <a:latin typeface="맑은 고딕"/>
                          <a:ea typeface="맑은 고딕"/>
                          <a:cs typeface="맑은 고딕"/>
                        </a:rPr>
                        <a:t>오답 중 답할 수 있는데 보류</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36.6%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452438">
                <a:tc>
                  <a:txBody>
                    <a:bodyPr/>
                    <a:lstStyle/>
                    <a:p>
                      <a:r>
                        <a:rPr sz="1598" b="1">
                          <a:solidFill>
                            <a:srgbClr val="F72585"/>
                          </a:solidFill>
                          <a:latin typeface="맑은 고딕"/>
                          <a:ea typeface="맑은 고딕"/>
                          <a:cs typeface="맑은 고딕"/>
                        </a:rPr>
                        <a:t>답변했을 때의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77.0%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452438">
                <a:tc>
                  <a:txBody>
                    <a:bodyPr/>
                    <a:lstStyle/>
                    <a:p>
                      <a:r>
                        <a:rPr sz="1598" b="0">
                          <a:solidFill>
                            <a:srgbClr val="17171A"/>
                          </a:solidFill>
                          <a:latin typeface="맑은 고딕"/>
                          <a:ea typeface="맑은 고딕"/>
                          <a:cs typeface="맑은 고딕"/>
                        </a:rPr>
                        <a:t>계산형 답변의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55.5%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52438">
                <a:tc>
                  <a:txBody>
                    <a:bodyPr/>
                    <a:lstStyle/>
                    <a:p>
                      <a:r>
                        <a:rPr sz="1598" b="0">
                          <a:solidFill>
                            <a:srgbClr val="17171A"/>
                          </a:solidFill>
                          <a:latin typeface="맑은 고딕"/>
                          <a:ea typeface="맑은 고딕"/>
                          <a:cs typeface="맑은 고딕"/>
                        </a:rPr>
                        <a:t>보류가 정답인 문항의 정답률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79.5%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87.2%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52438">
                <a:tc>
                  <a:txBody>
                    <a:bodyPr/>
                    <a:lstStyle/>
                    <a:p>
                      <a:r>
                        <a:rPr sz="1598" b="0">
                          <a:solidFill>
                            <a:srgbClr val="17171A"/>
                          </a:solidFill>
                          <a:latin typeface="맑은 고딕"/>
                          <a:ea typeface="맑은 고딕"/>
                          <a:cs typeface="맑은 고딕"/>
                        </a:rPr>
                        <a:t>답이 없는 문항의 오답률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10.6%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52438">
                <a:tc>
                  <a:txBody>
                    <a:bodyPr/>
                    <a:lstStyle/>
                    <a:p>
                      <a:r>
                        <a:rPr sz="1598" b="0">
                          <a:solidFill>
                            <a:srgbClr val="17171A"/>
                          </a:solidFill>
                          <a:latin typeface="맑은 고딕"/>
                          <a:ea typeface="맑은 고딕"/>
                          <a:cs typeface="맑은 고딕"/>
                        </a:rPr>
                        <a:t>답이 없는 문항의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52438">
                <a:tc>
                  <a:txBody>
                    <a:bodyPr/>
                    <a:lstStyle/>
                    <a:p>
                      <a:r>
                        <a:rPr sz="1598" b="0">
                          <a:solidFill>
                            <a:srgbClr val="17171A"/>
                          </a:solidFill>
                          <a:latin typeface="맑은 고딕"/>
                          <a:ea typeface="맑은 고딕"/>
                          <a:cs typeface="맑은 고딕"/>
                        </a:rPr>
                        <a:t>답변 가능 출력의 환각률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8.3%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bl>
          </a:graphicData>
        </a:graphic>
      </p:graphicFrame>
      <p:sp>
        <p:nvSpPr>
          <p:cNvPr id="8" name="own-text-17">
            <a:extLst>
              <a:ext uri="{FF2B5EF4-FFF2-40B4-BE49-F238E27FC236}">
                <a16:creationId xmlns:a16="http://schemas.microsoft.com/office/drawing/2014/main" id="{54C910EF-00B2-4A05-9B71-F9681A63779F}"/>
              </a:ext>
            </a:extLst>
          </p:cNvPr>
          <p:cNvSpPr>
            <a:spLocks noGrp="1"/>
          </p:cNvSpPr>
          <p:nvPr/>
        </p:nvSpPr>
        <p:spPr>
          <a:xfrm>
            <a:off x="9086850" y="2076450"/>
            <a:ext cx="4000500" cy="333375"/>
          </a:xfrm>
          <a:prstGeom prst="rect">
            <a:avLst/>
          </a:prstGeom>
          <a:noFill/>
          <a:ln w="0">
            <a:noFill/>
          </a:ln>
        </p:spPr>
        <p:txBody>
          <a:bodyPr wrap="square" lIns="0" tIns="0" rIns="0" bIns="0" anchor="t">
            <a:noAutofit/>
          </a:bodyPr>
          <a:lstStyle>
            <a:defPPr algn="l">
              <a:defRPr sz="1748" b="1">
                <a:solidFill>
                  <a:srgbClr val="17171A"/>
                </a:solidFill>
                <a:latin typeface="맑은 고딕"/>
                <a:ea typeface="맑은 고딕"/>
                <a:cs typeface="맑은 고딕"/>
              </a:defRPr>
            </a:defPPr>
            <a:lvl1pPr algn="l">
              <a:defRPr sz="1748" b="1">
                <a:solidFill>
                  <a:srgbClr val="17171A"/>
                </a:solidFill>
                <a:latin typeface="맑은 고딕"/>
                <a:ea typeface="맑은 고딕"/>
                <a:cs typeface="맑은 고딕"/>
              </a:defRPr>
            </a:lvl1pPr>
            <a:lvl2pPr algn="l">
              <a:defRPr sz="1748" b="1">
                <a:solidFill>
                  <a:srgbClr val="17171A"/>
                </a:solidFill>
                <a:latin typeface="맑은 고딕"/>
                <a:ea typeface="맑은 고딕"/>
                <a:cs typeface="맑은 고딕"/>
              </a:defRPr>
            </a:lvl2pPr>
            <a:lvl3pPr algn="l">
              <a:defRPr sz="1748" b="1">
                <a:solidFill>
                  <a:srgbClr val="17171A"/>
                </a:solidFill>
                <a:latin typeface="맑은 고딕"/>
                <a:ea typeface="맑은 고딕"/>
                <a:cs typeface="맑은 고딕"/>
              </a:defRPr>
            </a:lvl3pPr>
            <a:lvl4pPr algn="l">
              <a:defRPr sz="1748" b="1">
                <a:solidFill>
                  <a:srgbClr val="17171A"/>
                </a:solidFill>
                <a:latin typeface="맑은 고딕"/>
                <a:ea typeface="맑은 고딕"/>
                <a:cs typeface="맑은 고딕"/>
              </a:defRPr>
            </a:lvl4pPr>
            <a:lvl5pPr algn="l">
              <a:defRPr sz="1748" b="1">
                <a:solidFill>
                  <a:srgbClr val="17171A"/>
                </a:solidFill>
                <a:latin typeface="맑은 고딕"/>
                <a:ea typeface="맑은 고딕"/>
                <a:cs typeface="맑은 고딕"/>
              </a:defRPr>
            </a:lvl5pPr>
            <a:lvl6pPr algn="l">
              <a:defRPr sz="1748" b="1">
                <a:solidFill>
                  <a:srgbClr val="17171A"/>
                </a:solidFill>
                <a:latin typeface="맑은 고딕"/>
                <a:ea typeface="맑은 고딕"/>
                <a:cs typeface="맑은 고딕"/>
              </a:defRPr>
            </a:lvl6pPr>
            <a:lvl7pPr algn="l">
              <a:defRPr sz="1748" b="1">
                <a:solidFill>
                  <a:srgbClr val="17171A"/>
                </a:solidFill>
                <a:latin typeface="맑은 고딕"/>
                <a:ea typeface="맑은 고딕"/>
                <a:cs typeface="맑은 고딕"/>
              </a:defRPr>
            </a:lvl7pPr>
            <a:lvl8pPr algn="l">
              <a:defRPr sz="1748" b="1">
                <a:solidFill>
                  <a:srgbClr val="17171A"/>
                </a:solidFill>
                <a:latin typeface="맑은 고딕"/>
                <a:ea typeface="맑은 고딕"/>
                <a:cs typeface="맑은 고딕"/>
              </a:defRPr>
            </a:lvl8pPr>
            <a:lvl9pPr algn="l">
              <a:defRPr sz="1748" b="1">
                <a:solidFill>
                  <a:srgbClr val="17171A"/>
                </a:solidFill>
                <a:latin typeface="맑은 고딕"/>
                <a:ea typeface="맑은 고딕"/>
                <a:cs typeface="맑은 고딕"/>
              </a:defRPr>
            </a:lvl9pPr>
          </a:lstStyle>
          <a:p>
            <a:pPr algn="l">
              <a:defRPr sz="1748" b="1">
                <a:solidFill>
                  <a:srgbClr val="17171A"/>
                </a:solidFill>
                <a:latin typeface="맑은 고딕"/>
                <a:ea typeface="맑은 고딕"/>
                <a:cs typeface="맑은 고딕"/>
              </a:defRPr>
            </a:pPr>
            <a:r>
              <a:rPr sz="1748" b="1">
                <a:solidFill>
                  <a:srgbClr val="17171A"/>
                </a:solidFill>
                <a:latin typeface="맑은 고딕"/>
                <a:ea typeface="맑은 고딕"/>
                <a:cs typeface="맑은 고딕"/>
              </a:rPr>
              <a:t>4B 후보 재평가 (약 2,600건)</a:t>
            </a:r>
          </a:p>
        </p:txBody>
      </p:sp>
      <p:graphicFrame>
        <p:nvGraphicFramePr>
          <p:cNvPr id="9" name="표 8">
            <a:extLst>
              <a:ext uri="{FF2B5EF4-FFF2-40B4-BE49-F238E27FC236}">
                <a16:creationId xmlns:a16="http://schemas.microsoft.com/office/drawing/2014/main" id="{61082EBA-208C-4D44-8663-0F0DD8B583C8}"/>
              </a:ext>
            </a:extLst>
          </p:cNvPr>
          <p:cNvGraphicFramePr/>
          <p:nvPr/>
        </p:nvGraphicFramePr>
        <p:xfrm>
          <a:off x="9086850" y="2514600"/>
          <a:ext cx="4000500" cy="1066800"/>
        </p:xfrm>
        <a:graphic>
          <a:graphicData uri="http://schemas.openxmlformats.org/drawingml/2006/table">
            <a:tbl>
              <a:tblPr/>
              <a:tblGrid>
                <a:gridCol w="1847850">
                  <a:extLst>
                    <a:ext uri="{9D8B030D-6E8A-4147-A177-3AD203B41FA5}">
                      <a16:colId xmlns:a16="http://schemas.microsoft.com/office/drawing/2014/main" val="20000"/>
                    </a:ext>
                  </a:extLst>
                </a:gridCol>
                <a:gridCol w="1076325">
                  <a:extLst>
                    <a:ext uri="{9D8B030D-6E8A-4147-A177-3AD203B41FA5}">
                      <a16:colId xmlns:a16="http://schemas.microsoft.com/office/drawing/2014/main" val="20001"/>
                    </a:ext>
                  </a:extLst>
                </a:gridCol>
                <a:gridCol w="1076325">
                  <a:extLst>
                    <a:ext uri="{9D8B030D-6E8A-4147-A177-3AD203B41FA5}">
                      <a16:colId xmlns:a16="http://schemas.microsoft.com/office/drawing/2014/main" val="20002"/>
                    </a:ext>
                  </a:extLst>
                </a:gridCol>
              </a:tblGrid>
              <a:tr h="355600">
                <a:tc>
                  <a:txBody>
                    <a:bodyPr/>
                    <a:lstStyle/>
                    <a:p>
                      <a:r>
                        <a:rPr sz="1448" b="1">
                          <a:solidFill>
                            <a:srgbClr val="FFFFFF"/>
                          </a:solidFill>
                          <a:latin typeface="맑은 고딕"/>
                          <a:ea typeface="맑은 고딕"/>
                          <a:cs typeface="맑은 고딕"/>
                        </a:rPr>
                        <a:t>모델</a:t>
                      </a:r>
                    </a:p>
                  </a:txBody>
                  <a:tcPr marL="95250" marR="76200" marT="38100" marB="381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정답률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448" b="1">
                          <a:solidFill>
                            <a:srgbClr val="FFFFFF"/>
                          </a:solidFill>
                          <a:latin typeface="맑은 고딕"/>
                          <a:ea typeface="맑은 고딕"/>
                          <a:cs typeface="맑은 고딕"/>
                        </a:rPr>
                        <a:t>환각률</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55600">
                <a:tc>
                  <a:txBody>
                    <a:bodyPr/>
                    <a:lstStyle/>
                    <a:p>
                      <a:r>
                        <a:rPr sz="1448" b="0">
                          <a:solidFill>
                            <a:srgbClr val="17171A"/>
                          </a:solidFill>
                          <a:latin typeface="맑은 고딕"/>
                          <a:ea typeface="맑은 고딕"/>
                          <a:cs typeface="맑은 고딕"/>
                        </a:rPr>
                        <a:t>Gemma3</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65.1%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448" b="0">
                          <a:solidFill>
                            <a:srgbClr val="17171A"/>
                          </a:solidFill>
                          <a:latin typeface="맑은 고딕"/>
                          <a:ea typeface="맑은 고딕"/>
                          <a:cs typeface="맑은 고딕"/>
                        </a:rPr>
                        <a:t>24.1%</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355600">
                <a:tc>
                  <a:txBody>
                    <a:bodyPr/>
                    <a:lstStyle/>
                    <a:p>
                      <a:r>
                        <a:rPr sz="1448" b="1">
                          <a:solidFill>
                            <a:srgbClr val="F72585"/>
                          </a:solidFill>
                          <a:latin typeface="맑은 고딕"/>
                          <a:ea typeface="맑은 고딕"/>
                          <a:cs typeface="맑은 고딕"/>
                        </a:rPr>
                        <a:t>Qwen3 OFF</a:t>
                      </a:r>
                    </a:p>
                  </a:txBody>
                  <a:tcPr marL="95250" marR="76200" marT="38100" marB="381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63.0%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448" b="1">
                          <a:solidFill>
                            <a:srgbClr val="F72585"/>
                          </a:solidFill>
                          <a:latin typeface="맑은 고딕"/>
                          <a:ea typeface="맑은 고딕"/>
                          <a:cs typeface="맑은 고딕"/>
                        </a:rPr>
                        <a:t>22.0%</a:t>
                      </a:r>
                    </a:p>
                  </a:txBody>
                  <a:tcPr marL="95250" marR="76200" marT="38100" marB="381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bl>
          </a:graphicData>
        </a:graphic>
      </p:graphicFrame>
      <p:sp>
        <p:nvSpPr>
          <p:cNvPr id="10" name="own-text-18">
            <a:extLst>
              <a:ext uri="{FF2B5EF4-FFF2-40B4-BE49-F238E27FC236}">
                <a16:creationId xmlns:a16="http://schemas.microsoft.com/office/drawing/2014/main" id="{1BD4044E-68DA-4E53-A9E2-775A8EC3255C}"/>
              </a:ext>
            </a:extLst>
          </p:cNvPr>
          <p:cNvSpPr>
            <a:spLocks noGrp="1"/>
          </p:cNvSpPr>
          <p:nvPr/>
        </p:nvSpPr>
        <p:spPr>
          <a:xfrm>
            <a:off x="9086850" y="3800475"/>
            <a:ext cx="4000500" cy="314325"/>
          </a:xfrm>
          <a:prstGeom prst="rect">
            <a:avLst/>
          </a:prstGeom>
          <a:noFill/>
          <a:ln w="0">
            <a:noFill/>
          </a:ln>
        </p:spPr>
        <p:txBody>
          <a:bodyPr wrap="square" lIns="0" tIns="0" rIns="0" bIns="0" anchor="t">
            <a:noAutofit/>
          </a:bodyPr>
          <a:lstStyle>
            <a:defPPr algn="l">
              <a:defRPr sz="1748" b="1">
                <a:solidFill>
                  <a:srgbClr val="17171A"/>
                </a:solidFill>
                <a:latin typeface="맑은 고딕"/>
                <a:ea typeface="맑은 고딕"/>
                <a:cs typeface="맑은 고딕"/>
              </a:defRPr>
            </a:defPPr>
            <a:lvl1pPr algn="l">
              <a:defRPr sz="1748" b="1">
                <a:solidFill>
                  <a:srgbClr val="17171A"/>
                </a:solidFill>
                <a:latin typeface="맑은 고딕"/>
                <a:ea typeface="맑은 고딕"/>
                <a:cs typeface="맑은 고딕"/>
              </a:defRPr>
            </a:lvl1pPr>
            <a:lvl2pPr algn="l">
              <a:defRPr sz="1748" b="1">
                <a:solidFill>
                  <a:srgbClr val="17171A"/>
                </a:solidFill>
                <a:latin typeface="맑은 고딕"/>
                <a:ea typeface="맑은 고딕"/>
                <a:cs typeface="맑은 고딕"/>
              </a:defRPr>
            </a:lvl2pPr>
            <a:lvl3pPr algn="l">
              <a:defRPr sz="1748" b="1">
                <a:solidFill>
                  <a:srgbClr val="17171A"/>
                </a:solidFill>
                <a:latin typeface="맑은 고딕"/>
                <a:ea typeface="맑은 고딕"/>
                <a:cs typeface="맑은 고딕"/>
              </a:defRPr>
            </a:lvl3pPr>
            <a:lvl4pPr algn="l">
              <a:defRPr sz="1748" b="1">
                <a:solidFill>
                  <a:srgbClr val="17171A"/>
                </a:solidFill>
                <a:latin typeface="맑은 고딕"/>
                <a:ea typeface="맑은 고딕"/>
                <a:cs typeface="맑은 고딕"/>
              </a:defRPr>
            </a:lvl4pPr>
            <a:lvl5pPr algn="l">
              <a:defRPr sz="1748" b="1">
                <a:solidFill>
                  <a:srgbClr val="17171A"/>
                </a:solidFill>
                <a:latin typeface="맑은 고딕"/>
                <a:ea typeface="맑은 고딕"/>
                <a:cs typeface="맑은 고딕"/>
              </a:defRPr>
            </a:lvl5pPr>
            <a:lvl6pPr algn="l">
              <a:defRPr sz="1748" b="1">
                <a:solidFill>
                  <a:srgbClr val="17171A"/>
                </a:solidFill>
                <a:latin typeface="맑은 고딕"/>
                <a:ea typeface="맑은 고딕"/>
                <a:cs typeface="맑은 고딕"/>
              </a:defRPr>
            </a:lvl6pPr>
            <a:lvl7pPr algn="l">
              <a:defRPr sz="1748" b="1">
                <a:solidFill>
                  <a:srgbClr val="17171A"/>
                </a:solidFill>
                <a:latin typeface="맑은 고딕"/>
                <a:ea typeface="맑은 고딕"/>
                <a:cs typeface="맑은 고딕"/>
              </a:defRPr>
            </a:lvl7pPr>
            <a:lvl8pPr algn="l">
              <a:defRPr sz="1748" b="1">
                <a:solidFill>
                  <a:srgbClr val="17171A"/>
                </a:solidFill>
                <a:latin typeface="맑은 고딕"/>
                <a:ea typeface="맑은 고딕"/>
                <a:cs typeface="맑은 고딕"/>
              </a:defRPr>
            </a:lvl8pPr>
            <a:lvl9pPr algn="l">
              <a:defRPr sz="1748" b="1">
                <a:solidFill>
                  <a:srgbClr val="17171A"/>
                </a:solidFill>
                <a:latin typeface="맑은 고딕"/>
                <a:ea typeface="맑은 고딕"/>
                <a:cs typeface="맑은 고딕"/>
              </a:defRPr>
            </a:lvl9pPr>
          </a:lstStyle>
          <a:p>
            <a:pPr algn="l">
              <a:defRPr sz="1748" b="1">
                <a:solidFill>
                  <a:srgbClr val="17171A"/>
                </a:solidFill>
                <a:latin typeface="맑은 고딕"/>
                <a:ea typeface="맑은 고딕"/>
                <a:cs typeface="맑은 고딕"/>
              </a:defRPr>
            </a:pPr>
            <a:r>
              <a:rPr sz="1748" b="1">
                <a:solidFill>
                  <a:srgbClr val="17171A"/>
                </a:solidFill>
                <a:latin typeface="맑은 고딕"/>
                <a:ea typeface="맑은 고딕"/>
                <a:cs typeface="맑은 고딕"/>
              </a:rPr>
              <a:t>Gemma의 약점</a:t>
            </a:r>
          </a:p>
        </p:txBody>
      </p:sp>
      <p:sp>
        <p:nvSpPr>
          <p:cNvPr id="11" name="own-text-19">
            <a:extLst>
              <a:ext uri="{FF2B5EF4-FFF2-40B4-BE49-F238E27FC236}">
                <a16:creationId xmlns:a16="http://schemas.microsoft.com/office/drawing/2014/main" id="{975BA8C9-8749-44CB-9A0A-CF5F76877659}"/>
              </a:ext>
            </a:extLst>
          </p:cNvPr>
          <p:cNvSpPr>
            <a:spLocks noGrp="1"/>
          </p:cNvSpPr>
          <p:nvPr/>
        </p:nvSpPr>
        <p:spPr>
          <a:xfrm>
            <a:off x="9086850" y="4248150"/>
            <a:ext cx="4000500" cy="990600"/>
          </a:xfrm>
          <a:prstGeom prst="rect">
            <a:avLst/>
          </a:prstGeom>
          <a:noFill/>
          <a:ln w="0">
            <a:noFill/>
          </a:ln>
        </p:spPr>
        <p:txBody>
          <a:bodyPr wrap="square" lIns="0" tIns="0" rIns="0" bIns="0" anchor="t">
            <a:noAutofit/>
          </a:bodyPr>
          <a:lstStyle>
            <a:defPPr algn="l">
              <a:defRPr sz="1448" b="0">
                <a:solidFill>
                  <a:srgbClr val="686B72"/>
                </a:solidFill>
                <a:latin typeface="맑은 고딕"/>
                <a:ea typeface="맑은 고딕"/>
                <a:cs typeface="맑은 고딕"/>
              </a:defRPr>
            </a:defPPr>
            <a:lvl1pPr algn="l">
              <a:defRPr sz="1448" b="0">
                <a:solidFill>
                  <a:srgbClr val="686B72"/>
                </a:solidFill>
                <a:latin typeface="맑은 고딕"/>
                <a:ea typeface="맑은 고딕"/>
                <a:cs typeface="맑은 고딕"/>
              </a:defRPr>
            </a:lvl1pPr>
            <a:lvl2pPr algn="l">
              <a:defRPr sz="1448" b="0">
                <a:solidFill>
                  <a:srgbClr val="686B72"/>
                </a:solidFill>
                <a:latin typeface="맑은 고딕"/>
                <a:ea typeface="맑은 고딕"/>
                <a:cs typeface="맑은 고딕"/>
              </a:defRPr>
            </a:lvl2pPr>
            <a:lvl3pPr algn="l">
              <a:defRPr sz="1448" b="0">
                <a:solidFill>
                  <a:srgbClr val="686B72"/>
                </a:solidFill>
                <a:latin typeface="맑은 고딕"/>
                <a:ea typeface="맑은 고딕"/>
                <a:cs typeface="맑은 고딕"/>
              </a:defRPr>
            </a:lvl3pPr>
            <a:lvl4pPr algn="l">
              <a:defRPr sz="1448" b="0">
                <a:solidFill>
                  <a:srgbClr val="686B72"/>
                </a:solidFill>
                <a:latin typeface="맑은 고딕"/>
                <a:ea typeface="맑은 고딕"/>
                <a:cs typeface="맑은 고딕"/>
              </a:defRPr>
            </a:lvl4pPr>
            <a:lvl5pPr algn="l">
              <a:defRPr sz="1448" b="0">
                <a:solidFill>
                  <a:srgbClr val="686B72"/>
                </a:solidFill>
                <a:latin typeface="맑은 고딕"/>
                <a:ea typeface="맑은 고딕"/>
                <a:cs typeface="맑은 고딕"/>
              </a:defRPr>
            </a:lvl5pPr>
            <a:lvl6pPr algn="l">
              <a:defRPr sz="1448" b="0">
                <a:solidFill>
                  <a:srgbClr val="686B72"/>
                </a:solidFill>
                <a:latin typeface="맑은 고딕"/>
                <a:ea typeface="맑은 고딕"/>
                <a:cs typeface="맑은 고딕"/>
              </a:defRPr>
            </a:lvl6pPr>
            <a:lvl7pPr algn="l">
              <a:defRPr sz="1448" b="0">
                <a:solidFill>
                  <a:srgbClr val="686B72"/>
                </a:solidFill>
                <a:latin typeface="맑은 고딕"/>
                <a:ea typeface="맑은 고딕"/>
                <a:cs typeface="맑은 고딕"/>
              </a:defRPr>
            </a:lvl7pPr>
            <a:lvl8pPr algn="l">
              <a:defRPr sz="1448" b="0">
                <a:solidFill>
                  <a:srgbClr val="686B72"/>
                </a:solidFill>
                <a:latin typeface="맑은 고딕"/>
                <a:ea typeface="맑은 고딕"/>
                <a:cs typeface="맑은 고딕"/>
              </a:defRPr>
            </a:lvl8pPr>
            <a:lvl9pPr algn="l">
              <a:defRPr sz="1448" b="0">
                <a:solidFill>
                  <a:srgbClr val="686B72"/>
                </a:solidFill>
                <a:latin typeface="맑은 고딕"/>
                <a:ea typeface="맑은 고딕"/>
                <a:cs typeface="맑은 고딕"/>
              </a:defRPr>
            </a:lvl9pPr>
          </a:lstStyle>
          <a:p>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계산 오적용·답 없는 문항의 오답·환각</a:t>
            </a:r>
          </a:p>
          <a:p>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자료 부족 3유형 비중 28.3%→23.1%</a:t>
            </a:r>
          </a:p>
          <a:p>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문항·보류 지침도 바뀐 시험에서</a:t>
            </a:r>
          </a:p>
          <a:p>
            <a:pPr algn="l">
              <a:defRPr sz="1448" b="0">
                <a:solidFill>
                  <a:srgbClr val="686B72"/>
                </a:solidFill>
                <a:latin typeface="맑은 고딕"/>
                <a:ea typeface="맑은 고딕"/>
                <a:cs typeface="맑은 고딕"/>
              </a:defRPr>
            </a:pPr>
            <a:r>
              <a:rPr sz="1448" b="0">
                <a:solidFill>
                  <a:srgbClr val="686B72"/>
                </a:solidFill>
                <a:latin typeface="맑은 고딕"/>
                <a:ea typeface="맑은 고딕"/>
                <a:cs typeface="맑은 고딕"/>
              </a:rPr>
              <a:t>전체 환각률 50.3%→24.1%</a:t>
            </a:r>
          </a:p>
        </p:txBody>
      </p:sp>
      <p:sp>
        <p:nvSpPr>
          <p:cNvPr id="12" name="own-text-20">
            <a:extLst>
              <a:ext uri="{FF2B5EF4-FFF2-40B4-BE49-F238E27FC236}">
                <a16:creationId xmlns:a16="http://schemas.microsoft.com/office/drawing/2014/main" id="{DA85D808-992C-4DD0-9057-5C829BA1E72D}"/>
              </a:ext>
            </a:extLst>
          </p:cNvPr>
          <p:cNvSpPr>
            <a:spLocks noGrp="1"/>
          </p:cNvSpPr>
          <p:nvPr/>
        </p:nvSpPr>
        <p:spPr>
          <a:xfrm>
            <a:off x="9086850" y="5419725"/>
            <a:ext cx="4000500" cy="314325"/>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Qwen의 프롬프트 교정 여지</a:t>
            </a:r>
          </a:p>
        </p:txBody>
      </p:sp>
      <p:sp>
        <p:nvSpPr>
          <p:cNvPr id="13" name="own-text-21">
            <a:extLst>
              <a:ext uri="{FF2B5EF4-FFF2-40B4-BE49-F238E27FC236}">
                <a16:creationId xmlns:a16="http://schemas.microsoft.com/office/drawing/2014/main" id="{BF64F4BE-1723-4E15-A285-541EAD754B34}"/>
              </a:ext>
            </a:extLst>
          </p:cNvPr>
          <p:cNvSpPr>
            <a:spLocks noGrp="1"/>
          </p:cNvSpPr>
          <p:nvPr/>
        </p:nvSpPr>
        <p:spPr>
          <a:xfrm>
            <a:off x="9086850" y="5848350"/>
            <a:ext cx="4000500" cy="714375"/>
          </a:xfrm>
          <a:prstGeom prst="rect">
            <a:avLst/>
          </a:prstGeom>
          <a:noFill/>
          <a:ln w="0">
            <a:noFill/>
          </a:ln>
        </p:spPr>
        <p:txBody>
          <a:bodyPr wrap="square" lIns="0" tIns="0" rIns="0" bIns="0" anchor="t">
            <a:noAutofit/>
          </a:bodyPr>
          <a:lstStyle>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과잉 보류 352건 중 255건은 환각 없음</a:t>
            </a:r>
          </a:p>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근거 우선 선택·과도한 되묻기가</a:t>
            </a:r>
          </a:p>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답변을 막는 구조를 확인</a:t>
            </a:r>
          </a:p>
        </p:txBody>
      </p:sp>
      <p:sp>
        <p:nvSpPr>
          <p:cNvPr id="14" name="own-text-22">
            <a:extLst>
              <a:ext uri="{FF2B5EF4-FFF2-40B4-BE49-F238E27FC236}">
                <a16:creationId xmlns:a16="http://schemas.microsoft.com/office/drawing/2014/main" id="{1A46C279-4F91-461D-8B24-17A1DDC3F6F6}"/>
              </a:ext>
            </a:extLst>
          </p:cNvPr>
          <p:cNvSpPr>
            <a:spLocks noGrp="1"/>
          </p:cNvSpPr>
          <p:nvPr/>
        </p:nvSpPr>
        <p:spPr>
          <a:xfrm>
            <a:off x="628650" y="5886450"/>
            <a:ext cx="8001000" cy="6858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전체 정답률 2.1%p 차이보다</a:t>
            </a:r>
          </a:p>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보류 안정성과 교정 가능성을 우선</a:t>
            </a:r>
          </a:p>
        </p:txBody>
      </p:sp>
    </p:spTree>
    <p:extLst>
      <p:ext uri="{BB962C8B-B14F-4D97-AF65-F5344CB8AC3E}">
        <p14:creationId xmlns:p14="http://schemas.microsoft.com/office/powerpoint/2010/main" val="880547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wn-text-23">
            <a:extLst>
              <a:ext uri="{FF2B5EF4-FFF2-40B4-BE49-F238E27FC236}">
                <a16:creationId xmlns:a16="http://schemas.microsoft.com/office/drawing/2014/main" id="{72AF99D3-A97F-4FC9-80D2-A6508594CDB2}"/>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모델 선정</a:t>
            </a:r>
          </a:p>
        </p:txBody>
      </p:sp>
      <p:sp>
        <p:nvSpPr>
          <p:cNvPr id="2" name="own-text-24">
            <a:extLst>
              <a:ext uri="{FF2B5EF4-FFF2-40B4-BE49-F238E27FC236}">
                <a16:creationId xmlns:a16="http://schemas.microsoft.com/office/drawing/2014/main" id="{33C80DB8-72E6-4163-9240-C7E7D9D6CA6D}"/>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2차 모델 비교와 Instruct Q4 선정</a:t>
            </a:r>
          </a:p>
        </p:txBody>
      </p:sp>
      <p:sp>
        <p:nvSpPr>
          <p:cNvPr id="3" name="own-text-25">
            <a:extLst>
              <a:ext uri="{FF2B5EF4-FFF2-40B4-BE49-F238E27FC236}">
                <a16:creationId xmlns:a16="http://schemas.microsoft.com/office/drawing/2014/main" id="{90A938FE-08A4-47B1-B6EE-5884C157AD31}"/>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기본 프롬프트의 Instruct도 OFF 개선안보다 정확했고, 상태 판단과 근거 선택도 개선</a:t>
            </a:r>
          </a:p>
        </p:txBody>
      </p:sp>
      <p:sp>
        <p:nvSpPr>
          <p:cNvPr id="4" name="own-text-26">
            <a:extLst>
              <a:ext uri="{FF2B5EF4-FFF2-40B4-BE49-F238E27FC236}">
                <a16:creationId xmlns:a16="http://schemas.microsoft.com/office/drawing/2014/main" id="{76BB61A9-F334-4727-812A-DC96ED39EB2E}"/>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27">
            <a:extLst>
              <a:ext uri="{FF2B5EF4-FFF2-40B4-BE49-F238E27FC236}">
                <a16:creationId xmlns:a16="http://schemas.microsoft.com/office/drawing/2014/main" id="{36728324-9986-4FD9-BF9F-7778AFEEBDFF}"/>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11</a:t>
            </a:r>
            <a:endParaRPr sz="1300" b="0">
              <a:solidFill>
                <a:srgbClr val="686B72"/>
              </a:solidFill>
              <a:latin typeface="맑은 고딕"/>
              <a:ea typeface="맑은 고딕"/>
              <a:cs typeface="맑은 고딕"/>
            </a:endParaRPr>
          </a:p>
        </p:txBody>
      </p:sp>
      <p:sp>
        <p:nvSpPr>
          <p:cNvPr id="6" name="own-text-28">
            <a:extLst>
              <a:ext uri="{FF2B5EF4-FFF2-40B4-BE49-F238E27FC236}">
                <a16:creationId xmlns:a16="http://schemas.microsoft.com/office/drawing/2014/main" id="{4972AA7C-1C45-456A-AE73-9502226AFFA6}"/>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404건(오답 집중 표본 포함). 상태는 기대 동작의 엄격 일치, 근거는 정답 문서만 1개 이상 인용한 비율(대상 205건).</a:t>
            </a:r>
          </a:p>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하단 Q4·Q8 품질·자원 및 오답 원인 비교는 별도 1,300문항 기준.</a:t>
            </a:r>
          </a:p>
        </p:txBody>
      </p:sp>
      <p:graphicFrame>
        <p:nvGraphicFramePr>
          <p:cNvPr id="7" name="표 6">
            <a:extLst>
              <a:ext uri="{FF2B5EF4-FFF2-40B4-BE49-F238E27FC236}">
                <a16:creationId xmlns:a16="http://schemas.microsoft.com/office/drawing/2014/main" id="{D2843786-0DE7-4D98-BC75-14B9E75FCA3A}"/>
              </a:ext>
            </a:extLst>
          </p:cNvPr>
          <p:cNvGraphicFramePr/>
          <p:nvPr/>
        </p:nvGraphicFramePr>
        <p:xfrm>
          <a:off x="628650" y="2076450"/>
          <a:ext cx="12458700" cy="2476500"/>
        </p:xfrm>
        <a:graphic>
          <a:graphicData uri="http://schemas.openxmlformats.org/drawingml/2006/table">
            <a:tbl>
              <a:tblPr/>
              <a:tblGrid>
                <a:gridCol w="476250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gridCol w="1809750">
                  <a:extLst>
                    <a:ext uri="{9D8B030D-6E8A-4147-A177-3AD203B41FA5}">
                      <a16:colId xmlns:a16="http://schemas.microsoft.com/office/drawing/2014/main" val="20002"/>
                    </a:ext>
                  </a:extLst>
                </a:gridCol>
                <a:gridCol w="2038350">
                  <a:extLst>
                    <a:ext uri="{9D8B030D-6E8A-4147-A177-3AD203B41FA5}">
                      <a16:colId xmlns:a16="http://schemas.microsoft.com/office/drawing/2014/main" val="20003"/>
                    </a:ext>
                  </a:extLst>
                </a:gridCol>
                <a:gridCol w="2038350">
                  <a:extLst>
                    <a:ext uri="{9D8B030D-6E8A-4147-A177-3AD203B41FA5}">
                      <a16:colId xmlns:a16="http://schemas.microsoft.com/office/drawing/2014/main" val="20004"/>
                    </a:ext>
                  </a:extLst>
                </a:gridCol>
              </a:tblGrid>
              <a:tr h="412750">
                <a:tc>
                  <a:txBody>
                    <a:bodyPr/>
                    <a:lstStyle/>
                    <a:p>
                      <a:r>
                        <a:rPr sz="1523" b="1">
                          <a:solidFill>
                            <a:srgbClr val="FFFFFF"/>
                          </a:solidFill>
                          <a:latin typeface="맑은 고딕"/>
                          <a:ea typeface="맑은 고딕"/>
                          <a:cs typeface="맑은 고딕"/>
                        </a:rPr>
                        <a:t>모델·프롬프트</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23" b="1">
                          <a:solidFill>
                            <a:srgbClr val="FFFFFF"/>
                          </a:solidFill>
                          <a:latin typeface="맑은 고딕"/>
                          <a:ea typeface="맑은 고딕"/>
                          <a:cs typeface="맑은 고딕"/>
                        </a:rPr>
                        <a:t>정답률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23" b="1">
                          <a:solidFill>
                            <a:srgbClr val="FFFFFF"/>
                          </a:solidFill>
                          <a:latin typeface="맑은 고딕"/>
                          <a:ea typeface="맑은 고딕"/>
                          <a:cs typeface="맑은 고딕"/>
                        </a:rPr>
                        <a:t>환각률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23" b="1">
                          <a:solidFill>
                            <a:srgbClr val="FFFFFF"/>
                          </a:solidFill>
                          <a:latin typeface="맑은 고딕"/>
                          <a:ea typeface="맑은 고딕"/>
                          <a:cs typeface="맑은 고딕"/>
                        </a:rPr>
                        <a:t>상태 판단</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23" b="1">
                          <a:solidFill>
                            <a:srgbClr val="FFFFFF"/>
                          </a:solidFill>
                          <a:latin typeface="맑은 고딕"/>
                          <a:ea typeface="맑은 고딕"/>
                          <a:cs typeface="맑은 고딕"/>
                        </a:rPr>
                        <a:t>근거 선택</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12750">
                <a:tc>
                  <a:txBody>
                    <a:bodyPr/>
                    <a:lstStyle/>
                    <a:p>
                      <a:r>
                        <a:rPr sz="1523" b="0">
                          <a:solidFill>
                            <a:srgbClr val="17171A"/>
                          </a:solidFill>
                          <a:latin typeface="맑은 고딕"/>
                          <a:ea typeface="맑은 고딕"/>
                          <a:cs typeface="맑은 고딕"/>
                        </a:rPr>
                        <a:t>Qwen3 4B OFF · 기존</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62.9%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23.8%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62.4%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12750">
                <a:tc>
                  <a:txBody>
                    <a:bodyPr/>
                    <a:lstStyle/>
                    <a:p>
                      <a:r>
                        <a:rPr sz="1523" b="0">
                          <a:solidFill>
                            <a:srgbClr val="17171A"/>
                          </a:solidFill>
                          <a:latin typeface="맑은 고딕"/>
                          <a:ea typeface="맑은 고딕"/>
                          <a:cs typeface="맑은 고딕"/>
                        </a:rPr>
                        <a:t>Qwen3 4B OFF · 프롬프트 개선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77.5%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24.5%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77.5%</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49.3%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12750">
                <a:tc>
                  <a:txBody>
                    <a:bodyPr/>
                    <a:lstStyle/>
                    <a:p>
                      <a:r>
                        <a:rPr sz="1523" b="0">
                          <a:solidFill>
                            <a:srgbClr val="17171A"/>
                          </a:solidFill>
                          <a:latin typeface="맑은 고딕"/>
                          <a:ea typeface="맑은 고딕"/>
                          <a:cs typeface="맑은 고딕"/>
                        </a:rPr>
                        <a:t>Gemma3 4B · QAT</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71.8%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42.6%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78.0%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93.2%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12750">
                <a:tc>
                  <a:txBody>
                    <a:bodyPr/>
                    <a:lstStyle/>
                    <a:p>
                      <a:r>
                        <a:rPr sz="1523" b="1">
                          <a:solidFill>
                            <a:srgbClr val="F72585"/>
                          </a:solidFill>
                          <a:latin typeface="맑은 고딕"/>
                          <a:ea typeface="맑은 고딕"/>
                          <a:cs typeface="맑은 고딕"/>
                        </a:rPr>
                        <a:t>Qwen3 4B Instruct Q4_K_M · 기존</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23" b="1">
                          <a:solidFill>
                            <a:srgbClr val="F72585"/>
                          </a:solidFill>
                          <a:latin typeface="맑은 고딕"/>
                          <a:ea typeface="맑은 고딕"/>
                          <a:cs typeface="맑은 고딕"/>
                        </a:rPr>
                        <a:t>85.1%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23" b="1">
                          <a:solidFill>
                            <a:srgbClr val="F72585"/>
                          </a:solidFill>
                          <a:latin typeface="맑은 고딕"/>
                          <a:ea typeface="맑은 고딕"/>
                          <a:cs typeface="맑은 고딕"/>
                        </a:rPr>
                        <a:t>23.0%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23" b="1">
                          <a:solidFill>
                            <a:srgbClr val="F72585"/>
                          </a:solidFill>
                          <a:latin typeface="맑은 고딕"/>
                          <a:ea typeface="맑은 고딕"/>
                          <a:cs typeface="맑은 고딕"/>
                        </a:rPr>
                        <a:t>88.4%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23" b="1">
                          <a:solidFill>
                            <a:srgbClr val="F72585"/>
                          </a:solidFill>
                          <a:latin typeface="맑은 고딕"/>
                          <a:ea typeface="맑은 고딕"/>
                          <a:cs typeface="맑은 고딕"/>
                        </a:rPr>
                        <a:t>87.8%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12750">
                <a:tc>
                  <a:txBody>
                    <a:bodyPr/>
                    <a:lstStyle/>
                    <a:p>
                      <a:r>
                        <a:rPr sz="1523" b="0">
                          <a:solidFill>
                            <a:srgbClr val="17171A"/>
                          </a:solidFill>
                          <a:latin typeface="맑은 고딕"/>
                          <a:ea typeface="맑은 고딕"/>
                          <a:cs typeface="맑은 고딕"/>
                        </a:rPr>
                        <a:t>Qwen3 4B Instruct · Q8</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87.6%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22.3%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91.6%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23" b="0">
                          <a:solidFill>
                            <a:srgbClr val="17171A"/>
                          </a:solidFill>
                          <a:latin typeface="맑은 고딕"/>
                          <a:ea typeface="맑은 고딕"/>
                          <a:cs typeface="맑은 고딕"/>
                        </a:rPr>
                        <a:t>90.2%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 name="own-text-29">
            <a:extLst>
              <a:ext uri="{FF2B5EF4-FFF2-40B4-BE49-F238E27FC236}">
                <a16:creationId xmlns:a16="http://schemas.microsoft.com/office/drawing/2014/main" id="{77A12FD8-DCAD-4DBF-9EFD-624F9D7330BC}"/>
              </a:ext>
            </a:extLst>
          </p:cNvPr>
          <p:cNvSpPr>
            <a:spLocks noGrp="1"/>
          </p:cNvSpPr>
          <p:nvPr/>
        </p:nvSpPr>
        <p:spPr>
          <a:xfrm>
            <a:off x="628650" y="4876800"/>
            <a:ext cx="6000750" cy="333375"/>
          </a:xfrm>
          <a:prstGeom prst="rect">
            <a:avLst/>
          </a:prstGeom>
          <a:noFill/>
          <a:ln w="0">
            <a:noFill/>
          </a:ln>
        </p:spPr>
        <p:txBody>
          <a:bodyPr wrap="square" lIns="0" tIns="0" rIns="0" bIns="0" anchor="t">
            <a:noAutofit/>
          </a:bodyPr>
          <a:lstStyle>
            <a:defPPr algn="l">
              <a:defRPr sz="1800" b="1">
                <a:solidFill>
                  <a:srgbClr val="17171A"/>
                </a:solidFill>
                <a:latin typeface="맑은 고딕"/>
                <a:ea typeface="맑은 고딕"/>
                <a:cs typeface="맑은 고딕"/>
              </a:defRPr>
            </a:defPPr>
            <a:lvl1pPr algn="l">
              <a:defRPr sz="1800" b="1">
                <a:solidFill>
                  <a:srgbClr val="17171A"/>
                </a:solidFill>
                <a:latin typeface="맑은 고딕"/>
                <a:ea typeface="맑은 고딕"/>
                <a:cs typeface="맑은 고딕"/>
              </a:defRPr>
            </a:lvl1pPr>
            <a:lvl2pPr algn="l">
              <a:defRPr sz="1800" b="1">
                <a:solidFill>
                  <a:srgbClr val="17171A"/>
                </a:solidFill>
                <a:latin typeface="맑은 고딕"/>
                <a:ea typeface="맑은 고딕"/>
                <a:cs typeface="맑은 고딕"/>
              </a:defRPr>
            </a:lvl2pPr>
            <a:lvl3pPr algn="l">
              <a:defRPr sz="1800" b="1">
                <a:solidFill>
                  <a:srgbClr val="17171A"/>
                </a:solidFill>
                <a:latin typeface="맑은 고딕"/>
                <a:ea typeface="맑은 고딕"/>
                <a:cs typeface="맑은 고딕"/>
              </a:defRPr>
            </a:lvl3pPr>
            <a:lvl4pPr algn="l">
              <a:defRPr sz="1800" b="1">
                <a:solidFill>
                  <a:srgbClr val="17171A"/>
                </a:solidFill>
                <a:latin typeface="맑은 고딕"/>
                <a:ea typeface="맑은 고딕"/>
                <a:cs typeface="맑은 고딕"/>
              </a:defRPr>
            </a:lvl4pPr>
            <a:lvl5pPr algn="l">
              <a:defRPr sz="1800" b="1">
                <a:solidFill>
                  <a:srgbClr val="17171A"/>
                </a:solidFill>
                <a:latin typeface="맑은 고딕"/>
                <a:ea typeface="맑은 고딕"/>
                <a:cs typeface="맑은 고딕"/>
              </a:defRPr>
            </a:lvl5pPr>
            <a:lvl6pPr algn="l">
              <a:defRPr sz="1800" b="1">
                <a:solidFill>
                  <a:srgbClr val="17171A"/>
                </a:solidFill>
                <a:latin typeface="맑은 고딕"/>
                <a:ea typeface="맑은 고딕"/>
                <a:cs typeface="맑은 고딕"/>
              </a:defRPr>
            </a:lvl6pPr>
            <a:lvl7pPr algn="l">
              <a:defRPr sz="1800" b="1">
                <a:solidFill>
                  <a:srgbClr val="17171A"/>
                </a:solidFill>
                <a:latin typeface="맑은 고딕"/>
                <a:ea typeface="맑은 고딕"/>
                <a:cs typeface="맑은 고딕"/>
              </a:defRPr>
            </a:lvl7pPr>
            <a:lvl8pPr algn="l">
              <a:defRPr sz="1800" b="1">
                <a:solidFill>
                  <a:srgbClr val="17171A"/>
                </a:solidFill>
                <a:latin typeface="맑은 고딕"/>
                <a:ea typeface="맑은 고딕"/>
                <a:cs typeface="맑은 고딕"/>
              </a:defRPr>
            </a:lvl8pPr>
            <a:lvl9pPr algn="l">
              <a:defRPr sz="1800" b="1">
                <a:solidFill>
                  <a:srgbClr val="17171A"/>
                </a:solidFill>
                <a:latin typeface="맑은 고딕"/>
                <a:ea typeface="맑은 고딕"/>
                <a:cs typeface="맑은 고딕"/>
              </a:defRPr>
            </a:lvl9pPr>
          </a:lstStyle>
          <a:p>
            <a:pPr algn="l">
              <a:defRPr sz="1800" b="1">
                <a:solidFill>
                  <a:srgbClr val="17171A"/>
                </a:solidFill>
                <a:latin typeface="맑은 고딕"/>
                <a:ea typeface="맑은 고딕"/>
                <a:cs typeface="맑은 고딕"/>
              </a:defRPr>
            </a:pPr>
            <a:r>
              <a:rPr sz="1800" b="1">
                <a:solidFill>
                  <a:srgbClr val="17171A"/>
                </a:solidFill>
                <a:latin typeface="맑은 고딕"/>
                <a:ea typeface="맑은 고딕"/>
                <a:cs typeface="맑은 고딕"/>
              </a:rPr>
              <a:t>Q4와 Q8의 품질·자원 비교</a:t>
            </a:r>
          </a:p>
        </p:txBody>
      </p:sp>
      <p:sp>
        <p:nvSpPr>
          <p:cNvPr id="9" name="own-text-30">
            <a:extLst>
              <a:ext uri="{FF2B5EF4-FFF2-40B4-BE49-F238E27FC236}">
                <a16:creationId xmlns:a16="http://schemas.microsoft.com/office/drawing/2014/main" id="{66DAF7C6-D0A0-4E90-94C9-10F18F4DB241}"/>
              </a:ext>
            </a:extLst>
          </p:cNvPr>
          <p:cNvSpPr>
            <a:spLocks noGrp="1"/>
          </p:cNvSpPr>
          <p:nvPr/>
        </p:nvSpPr>
        <p:spPr>
          <a:xfrm>
            <a:off x="628650" y="5295900"/>
            <a:ext cx="6000750" cy="590550"/>
          </a:xfrm>
          <a:prstGeom prst="rect">
            <a:avLst/>
          </a:prstGeom>
          <a:noFill/>
          <a:ln w="0">
            <a:noFill/>
          </a:ln>
        </p:spPr>
        <p:txBody>
          <a:bodyPr wrap="square" lIns="0" tIns="0" rIns="0" bIns="0" anchor="t">
            <a:noAutofit/>
          </a:bodyPr>
          <a:lstStyle>
            <a:defPPr algn="l">
              <a:defRPr sz="1748" b="0">
                <a:solidFill>
                  <a:srgbClr val="17171A"/>
                </a:solidFill>
                <a:latin typeface="맑은 고딕"/>
                <a:ea typeface="맑은 고딕"/>
                <a:cs typeface="맑은 고딕"/>
              </a:defRPr>
            </a:defPPr>
            <a:lvl1pPr algn="l">
              <a:defRPr sz="1748" b="0">
                <a:solidFill>
                  <a:srgbClr val="17171A"/>
                </a:solidFill>
                <a:latin typeface="맑은 고딕"/>
                <a:ea typeface="맑은 고딕"/>
                <a:cs typeface="맑은 고딕"/>
              </a:defRPr>
            </a:lvl1pPr>
            <a:lvl2pPr algn="l">
              <a:defRPr sz="1748" b="0">
                <a:solidFill>
                  <a:srgbClr val="17171A"/>
                </a:solidFill>
                <a:latin typeface="맑은 고딕"/>
                <a:ea typeface="맑은 고딕"/>
                <a:cs typeface="맑은 고딕"/>
              </a:defRPr>
            </a:lvl2pPr>
            <a:lvl3pPr algn="l">
              <a:defRPr sz="1748" b="0">
                <a:solidFill>
                  <a:srgbClr val="17171A"/>
                </a:solidFill>
                <a:latin typeface="맑은 고딕"/>
                <a:ea typeface="맑은 고딕"/>
                <a:cs typeface="맑은 고딕"/>
              </a:defRPr>
            </a:lvl3pPr>
            <a:lvl4pPr algn="l">
              <a:defRPr sz="1748" b="0">
                <a:solidFill>
                  <a:srgbClr val="17171A"/>
                </a:solidFill>
                <a:latin typeface="맑은 고딕"/>
                <a:ea typeface="맑은 고딕"/>
                <a:cs typeface="맑은 고딕"/>
              </a:defRPr>
            </a:lvl4pPr>
            <a:lvl5pPr algn="l">
              <a:defRPr sz="1748" b="0">
                <a:solidFill>
                  <a:srgbClr val="17171A"/>
                </a:solidFill>
                <a:latin typeface="맑은 고딕"/>
                <a:ea typeface="맑은 고딕"/>
                <a:cs typeface="맑은 고딕"/>
              </a:defRPr>
            </a:lvl5pPr>
            <a:lvl6pPr algn="l">
              <a:defRPr sz="1748" b="0">
                <a:solidFill>
                  <a:srgbClr val="17171A"/>
                </a:solidFill>
                <a:latin typeface="맑은 고딕"/>
                <a:ea typeface="맑은 고딕"/>
                <a:cs typeface="맑은 고딕"/>
              </a:defRPr>
            </a:lvl6pPr>
            <a:lvl7pPr algn="l">
              <a:defRPr sz="1748" b="0">
                <a:solidFill>
                  <a:srgbClr val="17171A"/>
                </a:solidFill>
                <a:latin typeface="맑은 고딕"/>
                <a:ea typeface="맑은 고딕"/>
                <a:cs typeface="맑은 고딕"/>
              </a:defRPr>
            </a:lvl7pPr>
            <a:lvl8pPr algn="l">
              <a:defRPr sz="1748" b="0">
                <a:solidFill>
                  <a:srgbClr val="17171A"/>
                </a:solidFill>
                <a:latin typeface="맑은 고딕"/>
                <a:ea typeface="맑은 고딕"/>
                <a:cs typeface="맑은 고딕"/>
              </a:defRPr>
            </a:lvl8pPr>
            <a:lvl9pPr algn="l">
              <a:defRPr sz="1748" b="0">
                <a:solidFill>
                  <a:srgbClr val="17171A"/>
                </a:solidFill>
                <a:latin typeface="맑은 고딕"/>
                <a:ea typeface="맑은 고딕"/>
                <a:cs typeface="맑은 고딕"/>
              </a:defRPr>
            </a:lvl9pPr>
          </a:lstStyle>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정답률 77.5% / 78.8%</a:t>
            </a:r>
          </a:p>
          <a:p>
            <a:pPr algn="l">
              <a:defRPr sz="1748" b="0">
                <a:solidFill>
                  <a:srgbClr val="17171A"/>
                </a:solidFill>
                <a:latin typeface="맑은 고딕"/>
                <a:ea typeface="맑은 고딕"/>
                <a:cs typeface="맑은 고딕"/>
              </a:defRPr>
            </a:pPr>
            <a:r>
              <a:rPr sz="1748" b="0">
                <a:solidFill>
                  <a:srgbClr val="17171A"/>
                </a:solidFill>
                <a:latin typeface="맑은 고딕"/>
                <a:ea typeface="맑은 고딕"/>
                <a:cs typeface="맑은 고딕"/>
              </a:rPr>
              <a:t>환각률 26.2% / 26.5%</a:t>
            </a:r>
          </a:p>
        </p:txBody>
      </p:sp>
      <p:sp>
        <p:nvSpPr>
          <p:cNvPr id="10" name="own-text-31">
            <a:extLst>
              <a:ext uri="{FF2B5EF4-FFF2-40B4-BE49-F238E27FC236}">
                <a16:creationId xmlns:a16="http://schemas.microsoft.com/office/drawing/2014/main" id="{C7040938-0077-4F1C-90B2-F0559E9E7DDF}"/>
              </a:ext>
            </a:extLst>
          </p:cNvPr>
          <p:cNvSpPr>
            <a:spLocks noGrp="1"/>
          </p:cNvSpPr>
          <p:nvPr/>
        </p:nvSpPr>
        <p:spPr>
          <a:xfrm>
            <a:off x="628650" y="5981700"/>
            <a:ext cx="6000750" cy="523875"/>
          </a:xfrm>
          <a:prstGeom prst="rect">
            <a:avLst/>
          </a:prstGeom>
          <a:noFill/>
          <a:ln w="0">
            <a:noFill/>
          </a:ln>
        </p:spPr>
        <p:txBody>
          <a:bodyPr wrap="square" lIns="0" tIns="0" rIns="0" bIns="0" anchor="t">
            <a:noAutofit/>
          </a:bodyPr>
          <a:lstStyle>
            <a:defPPr algn="l">
              <a:defRPr sz="1523" b="0">
                <a:solidFill>
                  <a:srgbClr val="686B72"/>
                </a:solidFill>
                <a:latin typeface="맑은 고딕"/>
                <a:ea typeface="맑은 고딕"/>
                <a:cs typeface="맑은 고딕"/>
              </a:defRPr>
            </a:defPPr>
            <a:lvl1pPr algn="l">
              <a:defRPr sz="1523" b="0">
                <a:solidFill>
                  <a:srgbClr val="686B72"/>
                </a:solidFill>
                <a:latin typeface="맑은 고딕"/>
                <a:ea typeface="맑은 고딕"/>
                <a:cs typeface="맑은 고딕"/>
              </a:defRPr>
            </a:lvl1pPr>
            <a:lvl2pPr algn="l">
              <a:defRPr sz="1523" b="0">
                <a:solidFill>
                  <a:srgbClr val="686B72"/>
                </a:solidFill>
                <a:latin typeface="맑은 고딕"/>
                <a:ea typeface="맑은 고딕"/>
                <a:cs typeface="맑은 고딕"/>
              </a:defRPr>
            </a:lvl2pPr>
            <a:lvl3pPr algn="l">
              <a:defRPr sz="1523" b="0">
                <a:solidFill>
                  <a:srgbClr val="686B72"/>
                </a:solidFill>
                <a:latin typeface="맑은 고딕"/>
                <a:ea typeface="맑은 고딕"/>
                <a:cs typeface="맑은 고딕"/>
              </a:defRPr>
            </a:lvl3pPr>
            <a:lvl4pPr algn="l">
              <a:defRPr sz="1523" b="0">
                <a:solidFill>
                  <a:srgbClr val="686B72"/>
                </a:solidFill>
                <a:latin typeface="맑은 고딕"/>
                <a:ea typeface="맑은 고딕"/>
                <a:cs typeface="맑은 고딕"/>
              </a:defRPr>
            </a:lvl4pPr>
            <a:lvl5pPr algn="l">
              <a:defRPr sz="1523" b="0">
                <a:solidFill>
                  <a:srgbClr val="686B72"/>
                </a:solidFill>
                <a:latin typeface="맑은 고딕"/>
                <a:ea typeface="맑은 고딕"/>
                <a:cs typeface="맑은 고딕"/>
              </a:defRPr>
            </a:lvl5pPr>
            <a:lvl6pPr algn="l">
              <a:defRPr sz="1523" b="0">
                <a:solidFill>
                  <a:srgbClr val="686B72"/>
                </a:solidFill>
                <a:latin typeface="맑은 고딕"/>
                <a:ea typeface="맑은 고딕"/>
                <a:cs typeface="맑은 고딕"/>
              </a:defRPr>
            </a:lvl6pPr>
            <a:lvl7pPr algn="l">
              <a:defRPr sz="1523" b="0">
                <a:solidFill>
                  <a:srgbClr val="686B72"/>
                </a:solidFill>
                <a:latin typeface="맑은 고딕"/>
                <a:ea typeface="맑은 고딕"/>
                <a:cs typeface="맑은 고딕"/>
              </a:defRPr>
            </a:lvl7pPr>
            <a:lvl8pPr algn="l">
              <a:defRPr sz="1523" b="0">
                <a:solidFill>
                  <a:srgbClr val="686B72"/>
                </a:solidFill>
                <a:latin typeface="맑은 고딕"/>
                <a:ea typeface="맑은 고딕"/>
                <a:cs typeface="맑은 고딕"/>
              </a:defRPr>
            </a:lvl8pPr>
            <a:lvl9pPr algn="l">
              <a:defRPr sz="1523" b="0">
                <a:solidFill>
                  <a:srgbClr val="686B72"/>
                </a:solidFill>
                <a:latin typeface="맑은 고딕"/>
                <a:ea typeface="맑은 고딕"/>
                <a:cs typeface="맑은 고딕"/>
              </a:defRPr>
            </a:lvl9pPr>
          </a:lstStyle>
          <a:p>
            <a:pPr algn="l">
              <a:defRPr sz="1523" b="0">
                <a:solidFill>
                  <a:srgbClr val="686B72"/>
                </a:solidFill>
                <a:latin typeface="맑은 고딕"/>
                <a:ea typeface="맑은 고딕"/>
                <a:cs typeface="맑은 고딕"/>
              </a:defRPr>
            </a:pPr>
            <a:r>
              <a:rPr sz="1523" b="0">
                <a:solidFill>
                  <a:srgbClr val="686B72"/>
                </a:solidFill>
                <a:latin typeface="맑은 고딕"/>
                <a:ea typeface="맑은 고딕"/>
                <a:cs typeface="맑은 고딕"/>
              </a:rPr>
              <a:t>평균 응답 2.61초 / 3.49초·가중치 2.5GB / 4.3GB</a:t>
            </a:r>
          </a:p>
          <a:p>
            <a:pPr algn="l">
              <a:defRPr sz="1523" b="0">
                <a:solidFill>
                  <a:srgbClr val="686B72"/>
                </a:solidFill>
                <a:latin typeface="맑은 고딕"/>
                <a:ea typeface="맑은 고딕"/>
                <a:cs typeface="맑은 고딕"/>
              </a:defRPr>
            </a:pPr>
            <a:r>
              <a:rPr sz="1523" b="0">
                <a:solidFill>
                  <a:srgbClr val="686B72"/>
                </a:solidFill>
                <a:latin typeface="맑은 고딕"/>
                <a:ea typeface="맑은 고딕"/>
                <a:cs typeface="맑은 고딕"/>
              </a:rPr>
              <a:t>품질 차이가 뚜렷하지 않아 동시 서빙 여유를 고려</a:t>
            </a:r>
          </a:p>
        </p:txBody>
      </p:sp>
      <p:sp>
        <p:nvSpPr>
          <p:cNvPr id="11" name="own-text-32">
            <a:extLst>
              <a:ext uri="{FF2B5EF4-FFF2-40B4-BE49-F238E27FC236}">
                <a16:creationId xmlns:a16="http://schemas.microsoft.com/office/drawing/2014/main" id="{1147DDDD-B925-4733-A6ED-C243FBBC9CD8}"/>
              </a:ext>
            </a:extLst>
          </p:cNvPr>
          <p:cNvSpPr>
            <a:spLocks noGrp="1"/>
          </p:cNvSpPr>
          <p:nvPr/>
        </p:nvSpPr>
        <p:spPr>
          <a:xfrm>
            <a:off x="7086600" y="4876800"/>
            <a:ext cx="6000750" cy="333375"/>
          </a:xfrm>
          <a:prstGeom prst="rect">
            <a:avLst/>
          </a:prstGeom>
          <a:noFill/>
          <a:ln w="0">
            <a:noFill/>
          </a:ln>
        </p:spPr>
        <p:txBody>
          <a:bodyPr wrap="square" lIns="0" tIns="0" rIns="0" bIns="0" anchor="t">
            <a:noAutofit/>
          </a:bodyPr>
          <a:lstStyle>
            <a:defPPr algn="l">
              <a:defRPr sz="1800" b="1">
                <a:solidFill>
                  <a:srgbClr val="F72585"/>
                </a:solidFill>
                <a:latin typeface="맑은 고딕"/>
                <a:ea typeface="맑은 고딕"/>
                <a:cs typeface="맑은 고딕"/>
              </a:defRPr>
            </a:defPPr>
            <a:lvl1pPr algn="l">
              <a:defRPr sz="1800" b="1">
                <a:solidFill>
                  <a:srgbClr val="F72585"/>
                </a:solidFill>
                <a:latin typeface="맑은 고딕"/>
                <a:ea typeface="맑은 고딕"/>
                <a:cs typeface="맑은 고딕"/>
              </a:defRPr>
            </a:lvl1pPr>
            <a:lvl2pPr algn="l">
              <a:defRPr sz="1800" b="1">
                <a:solidFill>
                  <a:srgbClr val="F72585"/>
                </a:solidFill>
                <a:latin typeface="맑은 고딕"/>
                <a:ea typeface="맑은 고딕"/>
                <a:cs typeface="맑은 고딕"/>
              </a:defRPr>
            </a:lvl2pPr>
            <a:lvl3pPr algn="l">
              <a:defRPr sz="1800" b="1">
                <a:solidFill>
                  <a:srgbClr val="F72585"/>
                </a:solidFill>
                <a:latin typeface="맑은 고딕"/>
                <a:ea typeface="맑은 고딕"/>
                <a:cs typeface="맑은 고딕"/>
              </a:defRPr>
            </a:lvl3pPr>
            <a:lvl4pPr algn="l">
              <a:defRPr sz="1800" b="1">
                <a:solidFill>
                  <a:srgbClr val="F72585"/>
                </a:solidFill>
                <a:latin typeface="맑은 고딕"/>
                <a:ea typeface="맑은 고딕"/>
                <a:cs typeface="맑은 고딕"/>
              </a:defRPr>
            </a:lvl4pPr>
            <a:lvl5pPr algn="l">
              <a:defRPr sz="1800" b="1">
                <a:solidFill>
                  <a:srgbClr val="F72585"/>
                </a:solidFill>
                <a:latin typeface="맑은 고딕"/>
                <a:ea typeface="맑은 고딕"/>
                <a:cs typeface="맑은 고딕"/>
              </a:defRPr>
            </a:lvl5pPr>
            <a:lvl6pPr algn="l">
              <a:defRPr sz="1800" b="1">
                <a:solidFill>
                  <a:srgbClr val="F72585"/>
                </a:solidFill>
                <a:latin typeface="맑은 고딕"/>
                <a:ea typeface="맑은 고딕"/>
                <a:cs typeface="맑은 고딕"/>
              </a:defRPr>
            </a:lvl6pPr>
            <a:lvl7pPr algn="l">
              <a:defRPr sz="1800" b="1">
                <a:solidFill>
                  <a:srgbClr val="F72585"/>
                </a:solidFill>
                <a:latin typeface="맑은 고딕"/>
                <a:ea typeface="맑은 고딕"/>
                <a:cs typeface="맑은 고딕"/>
              </a:defRPr>
            </a:lvl7pPr>
            <a:lvl8pPr algn="l">
              <a:defRPr sz="1800" b="1">
                <a:solidFill>
                  <a:srgbClr val="F72585"/>
                </a:solidFill>
                <a:latin typeface="맑은 고딕"/>
                <a:ea typeface="맑은 고딕"/>
                <a:cs typeface="맑은 고딕"/>
              </a:defRPr>
            </a:lvl8pPr>
            <a:lvl9pPr algn="l">
              <a:defRPr sz="1800" b="1">
                <a:solidFill>
                  <a:srgbClr val="F72585"/>
                </a:solidFill>
                <a:latin typeface="맑은 고딕"/>
                <a:ea typeface="맑은 고딕"/>
                <a:cs typeface="맑은 고딕"/>
              </a:defRPr>
            </a:lvl9pPr>
          </a:lstStyle>
          <a:p>
            <a:pPr algn="l">
              <a:defRPr sz="1800" b="1">
                <a:solidFill>
                  <a:srgbClr val="F72585"/>
                </a:solidFill>
                <a:latin typeface="맑은 고딕"/>
                <a:ea typeface="맑은 고딕"/>
                <a:cs typeface="맑은 고딕"/>
              </a:defRPr>
            </a:pPr>
            <a:r>
              <a:rPr sz="1800" b="1">
                <a:solidFill>
                  <a:srgbClr val="F72585"/>
                </a:solidFill>
                <a:latin typeface="맑은 고딕"/>
                <a:ea typeface="맑은 고딕"/>
                <a:cs typeface="맑은 고딕"/>
              </a:rPr>
              <a:t>Instruct 고도화의 한계와 방향</a:t>
            </a:r>
          </a:p>
        </p:txBody>
      </p:sp>
      <p:sp>
        <p:nvSpPr>
          <p:cNvPr id="12" name="own-text-33">
            <a:extLst>
              <a:ext uri="{FF2B5EF4-FFF2-40B4-BE49-F238E27FC236}">
                <a16:creationId xmlns:a16="http://schemas.microsoft.com/office/drawing/2014/main" id="{807D1509-3D4B-4D57-B4F8-A88A7F0DD75B}"/>
              </a:ext>
            </a:extLst>
          </p:cNvPr>
          <p:cNvSpPr>
            <a:spLocks noGrp="1"/>
          </p:cNvSpPr>
          <p:nvPr/>
        </p:nvSpPr>
        <p:spPr>
          <a:xfrm>
            <a:off x="7086600" y="5295900"/>
            <a:ext cx="6000750" cy="5905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오답 중 과잉 보류 37.7%에서 6.1%로 감소</a:t>
            </a:r>
          </a:p>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보류만 풀어 정답을 늘릴 교정 여지가 줄어듦</a:t>
            </a:r>
          </a:p>
        </p:txBody>
      </p:sp>
      <p:sp>
        <p:nvSpPr>
          <p:cNvPr id="13" name="own-text-34">
            <a:extLst>
              <a:ext uri="{FF2B5EF4-FFF2-40B4-BE49-F238E27FC236}">
                <a16:creationId xmlns:a16="http://schemas.microsoft.com/office/drawing/2014/main" id="{4E2ED71F-624B-49A7-ADDC-785E8AF2D90F}"/>
              </a:ext>
            </a:extLst>
          </p:cNvPr>
          <p:cNvSpPr>
            <a:spLocks noGrp="1"/>
          </p:cNvSpPr>
          <p:nvPr/>
        </p:nvSpPr>
        <p:spPr>
          <a:xfrm>
            <a:off x="7086600" y="6076950"/>
            <a:ext cx="6000750" cy="361950"/>
          </a:xfrm>
          <a:prstGeom prst="rect">
            <a:avLst/>
          </a:prstGeom>
          <a:noFill/>
          <a:ln w="0">
            <a:noFill/>
          </a:ln>
        </p:spPr>
        <p:txBody>
          <a:bodyPr wrap="square" lIns="0" tIns="0" rIns="0" bIns="0" anchor="t">
            <a:noAutofit/>
          </a:bodyPr>
          <a:lstStyle>
            <a:defPPr algn="l">
              <a:defRPr sz="1898" b="1">
                <a:solidFill>
                  <a:srgbClr val="F72585"/>
                </a:solidFill>
                <a:latin typeface="맑은 고딕"/>
                <a:ea typeface="맑은 고딕"/>
                <a:cs typeface="맑은 고딕"/>
              </a:defRPr>
            </a:defPPr>
            <a:lvl1pPr algn="l">
              <a:defRPr sz="1898" b="1">
                <a:solidFill>
                  <a:srgbClr val="F72585"/>
                </a:solidFill>
                <a:latin typeface="맑은 고딕"/>
                <a:ea typeface="맑은 고딕"/>
                <a:cs typeface="맑은 고딕"/>
              </a:defRPr>
            </a:lvl1pPr>
            <a:lvl2pPr algn="l">
              <a:defRPr sz="1898" b="1">
                <a:solidFill>
                  <a:srgbClr val="F72585"/>
                </a:solidFill>
                <a:latin typeface="맑은 고딕"/>
                <a:ea typeface="맑은 고딕"/>
                <a:cs typeface="맑은 고딕"/>
              </a:defRPr>
            </a:lvl2pPr>
            <a:lvl3pPr algn="l">
              <a:defRPr sz="1898" b="1">
                <a:solidFill>
                  <a:srgbClr val="F72585"/>
                </a:solidFill>
                <a:latin typeface="맑은 고딕"/>
                <a:ea typeface="맑은 고딕"/>
                <a:cs typeface="맑은 고딕"/>
              </a:defRPr>
            </a:lvl3pPr>
            <a:lvl4pPr algn="l">
              <a:defRPr sz="1898" b="1">
                <a:solidFill>
                  <a:srgbClr val="F72585"/>
                </a:solidFill>
                <a:latin typeface="맑은 고딕"/>
                <a:ea typeface="맑은 고딕"/>
                <a:cs typeface="맑은 고딕"/>
              </a:defRPr>
            </a:lvl4pPr>
            <a:lvl5pPr algn="l">
              <a:defRPr sz="1898" b="1">
                <a:solidFill>
                  <a:srgbClr val="F72585"/>
                </a:solidFill>
                <a:latin typeface="맑은 고딕"/>
                <a:ea typeface="맑은 고딕"/>
                <a:cs typeface="맑은 고딕"/>
              </a:defRPr>
            </a:lvl5pPr>
            <a:lvl6pPr algn="l">
              <a:defRPr sz="1898" b="1">
                <a:solidFill>
                  <a:srgbClr val="F72585"/>
                </a:solidFill>
                <a:latin typeface="맑은 고딕"/>
                <a:ea typeface="맑은 고딕"/>
                <a:cs typeface="맑은 고딕"/>
              </a:defRPr>
            </a:lvl6pPr>
            <a:lvl7pPr algn="l">
              <a:defRPr sz="1898" b="1">
                <a:solidFill>
                  <a:srgbClr val="F72585"/>
                </a:solidFill>
                <a:latin typeface="맑은 고딕"/>
                <a:ea typeface="맑은 고딕"/>
                <a:cs typeface="맑은 고딕"/>
              </a:defRPr>
            </a:lvl7pPr>
            <a:lvl8pPr algn="l">
              <a:defRPr sz="1898" b="1">
                <a:solidFill>
                  <a:srgbClr val="F72585"/>
                </a:solidFill>
                <a:latin typeface="맑은 고딕"/>
                <a:ea typeface="맑은 고딕"/>
                <a:cs typeface="맑은 고딕"/>
              </a:defRPr>
            </a:lvl8pPr>
            <a:lvl9pPr algn="l">
              <a:defRPr sz="1898" b="1">
                <a:solidFill>
                  <a:srgbClr val="F72585"/>
                </a:solidFill>
                <a:latin typeface="맑은 고딕"/>
                <a:ea typeface="맑은 고딕"/>
                <a:cs typeface="맑은 고딕"/>
              </a:defRPr>
            </a:lvl9pPr>
          </a:lstStyle>
          <a:p>
            <a:pPr algn="l">
              <a:defRPr sz="1898" b="1">
                <a:solidFill>
                  <a:srgbClr val="F72585"/>
                </a:solidFill>
                <a:latin typeface="맑은 고딕"/>
                <a:ea typeface="맑은 고딕"/>
                <a:cs typeface="맑은 고딕"/>
              </a:defRPr>
            </a:pPr>
            <a:r>
              <a:rPr sz="1898" b="1">
                <a:solidFill>
                  <a:srgbClr val="F72585"/>
                </a:solidFill>
                <a:latin typeface="맑은 고딕"/>
                <a:ea typeface="맑은 고딕"/>
                <a:cs typeface="맑은 고딕"/>
              </a:rPr>
              <a:t>정답률 상승보다 환각 감소에 집중</a:t>
            </a:r>
          </a:p>
        </p:txBody>
      </p:sp>
    </p:spTree>
    <p:extLst>
      <p:ext uri="{BB962C8B-B14F-4D97-AF65-F5344CB8AC3E}">
        <p14:creationId xmlns:p14="http://schemas.microsoft.com/office/powerpoint/2010/main" val="25521916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wn-text-35">
            <a:extLst>
              <a:ext uri="{FF2B5EF4-FFF2-40B4-BE49-F238E27FC236}">
                <a16:creationId xmlns:a16="http://schemas.microsoft.com/office/drawing/2014/main" id="{E84C9089-3F66-4E39-8137-D80E1DD92898}"/>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프롬프트</a:t>
            </a:r>
          </a:p>
        </p:txBody>
      </p:sp>
      <p:sp>
        <p:nvSpPr>
          <p:cNvPr id="2" name="own-text-36">
            <a:extLst>
              <a:ext uri="{FF2B5EF4-FFF2-40B4-BE49-F238E27FC236}">
                <a16:creationId xmlns:a16="http://schemas.microsoft.com/office/drawing/2014/main" id="{63F9CC92-DD4F-4BD4-846E-971D97FCE488}"/>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프롬프트 개선으로 환각과 되묻기 감소</a:t>
            </a:r>
          </a:p>
        </p:txBody>
      </p:sp>
      <p:sp>
        <p:nvSpPr>
          <p:cNvPr id="3" name="own-text-37">
            <a:extLst>
              <a:ext uri="{FF2B5EF4-FFF2-40B4-BE49-F238E27FC236}">
                <a16:creationId xmlns:a16="http://schemas.microsoft.com/office/drawing/2014/main" id="{4DBC51E8-0ECF-443E-8B29-217633A6B6AF}"/>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Qwen3 4B Instruct Q4, 동일 900문항의 기본 프롬프트와 개선 프롬프트 비교</a:t>
            </a:r>
          </a:p>
        </p:txBody>
      </p:sp>
      <p:sp>
        <p:nvSpPr>
          <p:cNvPr id="4" name="own-text-38">
            <a:extLst>
              <a:ext uri="{FF2B5EF4-FFF2-40B4-BE49-F238E27FC236}">
                <a16:creationId xmlns:a16="http://schemas.microsoft.com/office/drawing/2014/main" id="{E22E5AD3-AAD5-45A1-9BFE-B4890C285632}"/>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39">
            <a:extLst>
              <a:ext uri="{FF2B5EF4-FFF2-40B4-BE49-F238E27FC236}">
                <a16:creationId xmlns:a16="http://schemas.microsoft.com/office/drawing/2014/main" id="{F5BD1123-07BE-4367-A0D2-1965A8141046}"/>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12</a:t>
            </a:r>
            <a:endParaRPr sz="1300" b="0">
              <a:solidFill>
                <a:srgbClr val="686B72"/>
              </a:solidFill>
              <a:latin typeface="맑은 고딕"/>
              <a:ea typeface="맑은 고딕"/>
              <a:cs typeface="맑은 고딕"/>
            </a:endParaRPr>
          </a:p>
        </p:txBody>
      </p:sp>
      <p:sp>
        <p:nvSpPr>
          <p:cNvPr id="6" name="own-text-40">
            <a:extLst>
              <a:ext uri="{FF2B5EF4-FFF2-40B4-BE49-F238E27FC236}">
                <a16:creationId xmlns:a16="http://schemas.microsoft.com/office/drawing/2014/main" id="{19DCD057-D07D-4D61-9042-3C03142647B2}"/>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정답 수는 늘지 않았고, 무관 FAQ 유형은 94/100에서 82/100으로 하락. 기본·개선 프롬프트의 같은 900문항 비교.</a:t>
            </a:r>
          </a:p>
        </p:txBody>
      </p:sp>
      <p:sp>
        <p:nvSpPr>
          <p:cNvPr id="7" name="own-text-41">
            <a:extLst>
              <a:ext uri="{FF2B5EF4-FFF2-40B4-BE49-F238E27FC236}">
                <a16:creationId xmlns:a16="http://schemas.microsoft.com/office/drawing/2014/main" id="{666A1AF4-208B-41CA-9FE8-ADC6B3E73452}"/>
              </a:ext>
            </a:extLst>
          </p:cNvPr>
          <p:cNvSpPr>
            <a:spLocks noGrp="1"/>
          </p:cNvSpPr>
          <p:nvPr/>
        </p:nvSpPr>
        <p:spPr>
          <a:xfrm>
            <a:off x="628650" y="2076450"/>
            <a:ext cx="5715000" cy="304800"/>
          </a:xfrm>
          <a:prstGeom prst="rect">
            <a:avLst/>
          </a:prstGeom>
          <a:noFill/>
          <a:ln w="0">
            <a:noFill/>
          </a:ln>
        </p:spPr>
        <p:txBody>
          <a:bodyPr wrap="square" lIns="0" tIns="0" rIns="0" bIns="0" anchor="t">
            <a:noAutofit/>
          </a:bodyPr>
          <a:lstStyle>
            <a:defPPr algn="l">
              <a:defRPr sz="1748" b="1">
                <a:solidFill>
                  <a:srgbClr val="686B72"/>
                </a:solidFill>
                <a:latin typeface="맑은 고딕"/>
                <a:ea typeface="맑은 고딕"/>
                <a:cs typeface="맑은 고딕"/>
              </a:defRPr>
            </a:defPPr>
            <a:lvl1pPr algn="l">
              <a:defRPr sz="1748" b="1">
                <a:solidFill>
                  <a:srgbClr val="686B72"/>
                </a:solidFill>
                <a:latin typeface="맑은 고딕"/>
                <a:ea typeface="맑은 고딕"/>
                <a:cs typeface="맑은 고딕"/>
              </a:defRPr>
            </a:lvl1pPr>
            <a:lvl2pPr algn="l">
              <a:defRPr sz="1748" b="1">
                <a:solidFill>
                  <a:srgbClr val="686B72"/>
                </a:solidFill>
                <a:latin typeface="맑은 고딕"/>
                <a:ea typeface="맑은 고딕"/>
                <a:cs typeface="맑은 고딕"/>
              </a:defRPr>
            </a:lvl2pPr>
            <a:lvl3pPr algn="l">
              <a:defRPr sz="1748" b="1">
                <a:solidFill>
                  <a:srgbClr val="686B72"/>
                </a:solidFill>
                <a:latin typeface="맑은 고딕"/>
                <a:ea typeface="맑은 고딕"/>
                <a:cs typeface="맑은 고딕"/>
              </a:defRPr>
            </a:lvl3pPr>
            <a:lvl4pPr algn="l">
              <a:defRPr sz="1748" b="1">
                <a:solidFill>
                  <a:srgbClr val="686B72"/>
                </a:solidFill>
                <a:latin typeface="맑은 고딕"/>
                <a:ea typeface="맑은 고딕"/>
                <a:cs typeface="맑은 고딕"/>
              </a:defRPr>
            </a:lvl4pPr>
            <a:lvl5pPr algn="l">
              <a:defRPr sz="1748" b="1">
                <a:solidFill>
                  <a:srgbClr val="686B72"/>
                </a:solidFill>
                <a:latin typeface="맑은 고딕"/>
                <a:ea typeface="맑은 고딕"/>
                <a:cs typeface="맑은 고딕"/>
              </a:defRPr>
            </a:lvl5pPr>
            <a:lvl6pPr algn="l">
              <a:defRPr sz="1748" b="1">
                <a:solidFill>
                  <a:srgbClr val="686B72"/>
                </a:solidFill>
                <a:latin typeface="맑은 고딕"/>
                <a:ea typeface="맑은 고딕"/>
                <a:cs typeface="맑은 고딕"/>
              </a:defRPr>
            </a:lvl6pPr>
            <a:lvl7pPr algn="l">
              <a:defRPr sz="1748" b="1">
                <a:solidFill>
                  <a:srgbClr val="686B72"/>
                </a:solidFill>
                <a:latin typeface="맑은 고딕"/>
                <a:ea typeface="맑은 고딕"/>
                <a:cs typeface="맑은 고딕"/>
              </a:defRPr>
            </a:lvl7pPr>
            <a:lvl8pPr algn="l">
              <a:defRPr sz="1748" b="1">
                <a:solidFill>
                  <a:srgbClr val="686B72"/>
                </a:solidFill>
                <a:latin typeface="맑은 고딕"/>
                <a:ea typeface="맑은 고딕"/>
                <a:cs typeface="맑은 고딕"/>
              </a:defRPr>
            </a:lvl8pPr>
            <a:lvl9pPr algn="l">
              <a:defRPr sz="1748" b="1">
                <a:solidFill>
                  <a:srgbClr val="686B72"/>
                </a:solidFill>
                <a:latin typeface="맑은 고딕"/>
                <a:ea typeface="맑은 고딕"/>
                <a:cs typeface="맑은 고딕"/>
              </a:defRPr>
            </a:lvl9pPr>
          </a:lstStyle>
          <a:p>
            <a:pPr algn="l">
              <a:defRPr sz="1748" b="1">
                <a:solidFill>
                  <a:srgbClr val="686B72"/>
                </a:solidFill>
                <a:latin typeface="맑은 고딕"/>
                <a:ea typeface="맑은 고딕"/>
                <a:cs typeface="맑은 고딕"/>
              </a:defRPr>
            </a:pPr>
            <a:r>
              <a:rPr sz="1748" b="1">
                <a:solidFill>
                  <a:srgbClr val="686B72"/>
                </a:solidFill>
                <a:latin typeface="맑은 고딕"/>
                <a:ea typeface="맑은 고딕"/>
                <a:cs typeface="맑은 고딕"/>
              </a:rPr>
              <a:t>환각·되묻기 발생률 (%)</a:t>
            </a:r>
          </a:p>
        </p:txBody>
      </p:sp>
      <p:graphicFrame>
        <p:nvGraphicFramePr>
          <p:cNvPr id="8" name="Chart">
            <a:extLst>
              <a:ext uri="{FF2B5EF4-FFF2-40B4-BE49-F238E27FC236}">
                <a16:creationId xmlns:a16="http://schemas.microsoft.com/office/drawing/2014/main" id="{EC25E36F-CC43-4322-A75D-4E7118C2ECF6}"/>
              </a:ext>
            </a:extLst>
          </p:cNvPr>
          <p:cNvGraphicFramePr/>
          <p:nvPr/>
        </p:nvGraphicFramePr>
        <p:xfrm>
          <a:off x="628650" y="2543175"/>
          <a:ext cx="5753100" cy="2952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표 8">
            <a:extLst>
              <a:ext uri="{FF2B5EF4-FFF2-40B4-BE49-F238E27FC236}">
                <a16:creationId xmlns:a16="http://schemas.microsoft.com/office/drawing/2014/main" id="{173BCB43-5553-48BE-8427-7414094A3241}"/>
              </a:ext>
            </a:extLst>
          </p:cNvPr>
          <p:cNvGraphicFramePr/>
          <p:nvPr/>
        </p:nvGraphicFramePr>
        <p:xfrm>
          <a:off x="6953250" y="2076450"/>
          <a:ext cx="6134100" cy="3429000"/>
        </p:xfrm>
        <a:graphic>
          <a:graphicData uri="http://schemas.openxmlformats.org/drawingml/2006/table">
            <a:tbl>
              <a:tblPr/>
              <a:tblGrid>
                <a:gridCol w="27051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571500">
                <a:tc>
                  <a:txBody>
                    <a:bodyPr/>
                    <a:lstStyle/>
                    <a:p>
                      <a:r>
                        <a:rPr sz="1800" b="1">
                          <a:solidFill>
                            <a:srgbClr val="FFFFFF"/>
                          </a:solidFill>
                          <a:latin typeface="맑은 고딕"/>
                          <a:ea typeface="맑은 고딕"/>
                          <a:cs typeface="맑은 고딕"/>
                        </a:rPr>
                        <a:t>동일 900문항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기본</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800" b="1">
                          <a:solidFill>
                            <a:srgbClr val="FFFFFF"/>
                          </a:solidFill>
                          <a:latin typeface="맑은 고딕"/>
                          <a:ea typeface="맑은 고딕"/>
                          <a:cs typeface="맑은 고딕"/>
                        </a:rPr>
                        <a:t>개선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571500">
                <a:tc>
                  <a:txBody>
                    <a:bodyPr/>
                    <a:lstStyle/>
                    <a:p>
                      <a:r>
                        <a:rPr sz="1800"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698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571500">
                <a:tc>
                  <a:txBody>
                    <a:bodyPr/>
                    <a:lstStyle/>
                    <a:p>
                      <a:r>
                        <a:rPr sz="1800" b="1">
                          <a:solidFill>
                            <a:srgbClr val="F72585"/>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184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571500">
                <a:tc>
                  <a:txBody>
                    <a:bodyPr/>
                    <a:lstStyle/>
                    <a:p>
                      <a:r>
                        <a:rPr sz="1800" b="1">
                          <a:solidFill>
                            <a:srgbClr val="F72585"/>
                          </a:solidFill>
                          <a:latin typeface="맑은 고딕"/>
                          <a:ea typeface="맑은 고딕"/>
                          <a:cs typeface="맑은 고딕"/>
                        </a:rPr>
                        <a:t>되묻기</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126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800" b="1">
                          <a:solidFill>
                            <a:srgbClr val="F72585"/>
                          </a:solidFill>
                          <a:latin typeface="맑은 고딕"/>
                          <a:ea typeface="맑은 고딕"/>
                          <a:cs typeface="맑은 고딕"/>
                        </a:rPr>
                        <a:t>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571500">
                <a:tc>
                  <a:txBody>
                    <a:bodyPr/>
                    <a:lstStyle/>
                    <a:p>
                      <a:r>
                        <a:rPr sz="1800" b="0">
                          <a:solidFill>
                            <a:srgbClr val="17171A"/>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147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77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571500">
                <a:tc>
                  <a:txBody>
                    <a:bodyPr/>
                    <a:lstStyle/>
                    <a:p>
                      <a:r>
                        <a:rPr sz="1800" b="0">
                          <a:solidFill>
                            <a:srgbClr val="17171A"/>
                          </a:solidFill>
                          <a:latin typeface="맑은 고딕"/>
                          <a:ea typeface="맑은 고딕"/>
                          <a:cs typeface="맑은 고딕"/>
                        </a:rPr>
                        <a:t>반복 표현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303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800" b="0">
                          <a:solidFill>
                            <a:srgbClr val="17171A"/>
                          </a:solidFill>
                          <a:latin typeface="맑은 고딕"/>
                          <a:ea typeface="맑은 고딕"/>
                          <a:cs typeface="맑은 고딕"/>
                        </a:rPr>
                        <a:t>234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0" name="own-text-42">
            <a:extLst>
              <a:ext uri="{FF2B5EF4-FFF2-40B4-BE49-F238E27FC236}">
                <a16:creationId xmlns:a16="http://schemas.microsoft.com/office/drawing/2014/main" id="{D89091D9-E034-46CF-B015-07D7A7B2C8A2}"/>
              </a:ext>
            </a:extLst>
          </p:cNvPr>
          <p:cNvSpPr>
            <a:spLocks noGrp="1"/>
          </p:cNvSpPr>
          <p:nvPr/>
        </p:nvSpPr>
        <p:spPr>
          <a:xfrm>
            <a:off x="628650" y="5772150"/>
            <a:ext cx="5810250" cy="409575"/>
          </a:xfrm>
          <a:prstGeom prst="rect">
            <a:avLst/>
          </a:prstGeom>
          <a:noFill/>
          <a:ln w="0">
            <a:noFill/>
          </a:ln>
        </p:spPr>
        <p:txBody>
          <a:bodyPr wrap="square" lIns="0" tIns="0" rIns="0" bIns="0" anchor="t">
            <a:noAutofit/>
          </a:bodyPr>
          <a:lstStyle>
            <a:defPPr algn="l">
              <a:defRPr sz="2603" b="1">
                <a:solidFill>
                  <a:srgbClr val="F72585"/>
                </a:solidFill>
                <a:latin typeface="맑은 고딕"/>
                <a:ea typeface="맑은 고딕"/>
                <a:cs typeface="맑은 고딕"/>
              </a:defRPr>
            </a:defPPr>
            <a:lvl1pPr algn="l">
              <a:defRPr sz="2603" b="1">
                <a:solidFill>
                  <a:srgbClr val="F72585"/>
                </a:solidFill>
                <a:latin typeface="맑은 고딕"/>
                <a:ea typeface="맑은 고딕"/>
                <a:cs typeface="맑은 고딕"/>
              </a:defRPr>
            </a:lvl1pPr>
            <a:lvl2pPr algn="l">
              <a:defRPr sz="2603" b="1">
                <a:solidFill>
                  <a:srgbClr val="F72585"/>
                </a:solidFill>
                <a:latin typeface="맑은 고딕"/>
                <a:ea typeface="맑은 고딕"/>
                <a:cs typeface="맑은 고딕"/>
              </a:defRPr>
            </a:lvl2pPr>
            <a:lvl3pPr algn="l">
              <a:defRPr sz="2603" b="1">
                <a:solidFill>
                  <a:srgbClr val="F72585"/>
                </a:solidFill>
                <a:latin typeface="맑은 고딕"/>
                <a:ea typeface="맑은 고딕"/>
                <a:cs typeface="맑은 고딕"/>
              </a:defRPr>
            </a:lvl3pPr>
            <a:lvl4pPr algn="l">
              <a:defRPr sz="2603" b="1">
                <a:solidFill>
                  <a:srgbClr val="F72585"/>
                </a:solidFill>
                <a:latin typeface="맑은 고딕"/>
                <a:ea typeface="맑은 고딕"/>
                <a:cs typeface="맑은 고딕"/>
              </a:defRPr>
            </a:lvl4pPr>
            <a:lvl5pPr algn="l">
              <a:defRPr sz="2603" b="1">
                <a:solidFill>
                  <a:srgbClr val="F72585"/>
                </a:solidFill>
                <a:latin typeface="맑은 고딕"/>
                <a:ea typeface="맑은 고딕"/>
                <a:cs typeface="맑은 고딕"/>
              </a:defRPr>
            </a:lvl5pPr>
            <a:lvl6pPr algn="l">
              <a:defRPr sz="2603" b="1">
                <a:solidFill>
                  <a:srgbClr val="F72585"/>
                </a:solidFill>
                <a:latin typeface="맑은 고딕"/>
                <a:ea typeface="맑은 고딕"/>
                <a:cs typeface="맑은 고딕"/>
              </a:defRPr>
            </a:lvl6pPr>
            <a:lvl7pPr algn="l">
              <a:defRPr sz="2603" b="1">
                <a:solidFill>
                  <a:srgbClr val="F72585"/>
                </a:solidFill>
                <a:latin typeface="맑은 고딕"/>
                <a:ea typeface="맑은 고딕"/>
                <a:cs typeface="맑은 고딕"/>
              </a:defRPr>
            </a:lvl7pPr>
            <a:lvl8pPr algn="l">
              <a:defRPr sz="2603" b="1">
                <a:solidFill>
                  <a:srgbClr val="F72585"/>
                </a:solidFill>
                <a:latin typeface="맑은 고딕"/>
                <a:ea typeface="맑은 고딕"/>
                <a:cs typeface="맑은 고딕"/>
              </a:defRPr>
            </a:lvl8pPr>
            <a:lvl9pPr algn="l">
              <a:defRPr sz="2603" b="1">
                <a:solidFill>
                  <a:srgbClr val="F72585"/>
                </a:solidFill>
                <a:latin typeface="맑은 고딕"/>
                <a:ea typeface="맑은 고딕"/>
                <a:cs typeface="맑은 고딕"/>
              </a:defRPr>
            </a:lvl9pPr>
          </a:lstStyle>
          <a:p>
            <a:pPr algn="l">
              <a:defRPr sz="2603" b="1">
                <a:solidFill>
                  <a:srgbClr val="F72585"/>
                </a:solidFill>
                <a:latin typeface="맑은 고딕"/>
                <a:ea typeface="맑은 고딕"/>
                <a:cs typeface="맑은 고딕"/>
              </a:defRPr>
            </a:pPr>
            <a:r>
              <a:rPr sz="2603" b="1">
                <a:solidFill>
                  <a:srgbClr val="F72585"/>
                </a:solidFill>
                <a:latin typeface="맑은 고딕"/>
                <a:ea typeface="맑은 고딕"/>
                <a:cs typeface="맑은 고딕"/>
              </a:rPr>
              <a:t>환각 6.89%p 감소</a:t>
            </a:r>
          </a:p>
        </p:txBody>
      </p:sp>
      <p:sp>
        <p:nvSpPr>
          <p:cNvPr id="11" name="own-text-43">
            <a:extLst>
              <a:ext uri="{FF2B5EF4-FFF2-40B4-BE49-F238E27FC236}">
                <a16:creationId xmlns:a16="http://schemas.microsoft.com/office/drawing/2014/main" id="{CD6000A0-987C-4174-88E6-E9E1C5B0E1EA}"/>
              </a:ext>
            </a:extLst>
          </p:cNvPr>
          <p:cNvSpPr>
            <a:spLocks noGrp="1"/>
          </p:cNvSpPr>
          <p:nvPr/>
        </p:nvSpPr>
        <p:spPr>
          <a:xfrm>
            <a:off x="6953250" y="5800725"/>
            <a:ext cx="6134100" cy="619125"/>
          </a:xfrm>
          <a:prstGeom prst="rect">
            <a:avLst/>
          </a:prstGeom>
          <a:noFill/>
          <a:ln w="0">
            <a:noFill/>
          </a:ln>
        </p:spPr>
        <p:txBody>
          <a:bodyPr wrap="square" lIns="0" tIns="0" rIns="0" bIns="0" anchor="t">
            <a:noAutofit/>
          </a:bodyPr>
          <a:lstStyle>
            <a:defPPr algn="l">
              <a:defRPr sz="1898" b="1">
                <a:solidFill>
                  <a:srgbClr val="17171A"/>
                </a:solidFill>
                <a:latin typeface="맑은 고딕"/>
                <a:ea typeface="맑은 고딕"/>
                <a:cs typeface="맑은 고딕"/>
              </a:defRPr>
            </a:defPPr>
            <a:lvl1pPr algn="l">
              <a:defRPr sz="1898" b="1">
                <a:solidFill>
                  <a:srgbClr val="17171A"/>
                </a:solidFill>
                <a:latin typeface="맑은 고딕"/>
                <a:ea typeface="맑은 고딕"/>
                <a:cs typeface="맑은 고딕"/>
              </a:defRPr>
            </a:lvl1pPr>
            <a:lvl2pPr algn="l">
              <a:defRPr sz="1898" b="1">
                <a:solidFill>
                  <a:srgbClr val="17171A"/>
                </a:solidFill>
                <a:latin typeface="맑은 고딕"/>
                <a:ea typeface="맑은 고딕"/>
                <a:cs typeface="맑은 고딕"/>
              </a:defRPr>
            </a:lvl2pPr>
            <a:lvl3pPr algn="l">
              <a:defRPr sz="1898" b="1">
                <a:solidFill>
                  <a:srgbClr val="17171A"/>
                </a:solidFill>
                <a:latin typeface="맑은 고딕"/>
                <a:ea typeface="맑은 고딕"/>
                <a:cs typeface="맑은 고딕"/>
              </a:defRPr>
            </a:lvl3pPr>
            <a:lvl4pPr algn="l">
              <a:defRPr sz="1898" b="1">
                <a:solidFill>
                  <a:srgbClr val="17171A"/>
                </a:solidFill>
                <a:latin typeface="맑은 고딕"/>
                <a:ea typeface="맑은 고딕"/>
                <a:cs typeface="맑은 고딕"/>
              </a:defRPr>
            </a:lvl4pPr>
            <a:lvl5pPr algn="l">
              <a:defRPr sz="1898" b="1">
                <a:solidFill>
                  <a:srgbClr val="17171A"/>
                </a:solidFill>
                <a:latin typeface="맑은 고딕"/>
                <a:ea typeface="맑은 고딕"/>
                <a:cs typeface="맑은 고딕"/>
              </a:defRPr>
            </a:lvl5pPr>
            <a:lvl6pPr algn="l">
              <a:defRPr sz="1898" b="1">
                <a:solidFill>
                  <a:srgbClr val="17171A"/>
                </a:solidFill>
                <a:latin typeface="맑은 고딕"/>
                <a:ea typeface="맑은 고딕"/>
                <a:cs typeface="맑은 고딕"/>
              </a:defRPr>
            </a:lvl6pPr>
            <a:lvl7pPr algn="l">
              <a:defRPr sz="1898" b="1">
                <a:solidFill>
                  <a:srgbClr val="17171A"/>
                </a:solidFill>
                <a:latin typeface="맑은 고딕"/>
                <a:ea typeface="맑은 고딕"/>
                <a:cs typeface="맑은 고딕"/>
              </a:defRPr>
            </a:lvl7pPr>
            <a:lvl8pPr algn="l">
              <a:defRPr sz="1898" b="1">
                <a:solidFill>
                  <a:srgbClr val="17171A"/>
                </a:solidFill>
                <a:latin typeface="맑은 고딕"/>
                <a:ea typeface="맑은 고딕"/>
                <a:cs typeface="맑은 고딕"/>
              </a:defRPr>
            </a:lvl8pPr>
            <a:lvl9pPr algn="l">
              <a:defRPr sz="1898" b="1">
                <a:solidFill>
                  <a:srgbClr val="17171A"/>
                </a:solidFill>
                <a:latin typeface="맑은 고딕"/>
                <a:ea typeface="맑은 고딕"/>
                <a:cs typeface="맑은 고딕"/>
              </a:defRPr>
            </a:lvl9pPr>
          </a:lstStyle>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필수 조건·최종 값 유지</a:t>
            </a:r>
          </a:p>
          <a:p>
            <a:pPr algn="l">
              <a:defRPr sz="1898" b="1">
                <a:solidFill>
                  <a:srgbClr val="17171A"/>
                </a:solidFill>
                <a:latin typeface="맑은 고딕"/>
                <a:ea typeface="맑은 고딕"/>
                <a:cs typeface="맑은 고딕"/>
              </a:defRPr>
            </a:pPr>
            <a:r>
              <a:rPr sz="1898" b="1">
                <a:solidFill>
                  <a:srgbClr val="17171A"/>
                </a:solidFill>
                <a:latin typeface="맑은 고딕"/>
                <a:ea typeface="맑은 고딕"/>
                <a:cs typeface="맑은 고딕"/>
              </a:rPr>
              <a:t>한계 고지는 한곳에서 한 문장으로</a:t>
            </a:r>
          </a:p>
        </p:txBody>
      </p:sp>
    </p:spTree>
    <p:extLst>
      <p:ext uri="{BB962C8B-B14F-4D97-AF65-F5344CB8AC3E}">
        <p14:creationId xmlns:p14="http://schemas.microsoft.com/office/powerpoint/2010/main" val="3350779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직선 화살표 연결선 22">
            <a:extLst>
              <a:ext uri="{FF2B5EF4-FFF2-40B4-BE49-F238E27FC236}">
                <a16:creationId xmlns:a16="http://schemas.microsoft.com/office/drawing/2014/main" id="{794443DB-FC79-48C0-BE70-C8590E6C80F6}"/>
              </a:ext>
            </a:extLst>
          </p:cNvPr>
          <p:cNvCxnSpPr>
            <a:stCxn id="18" idx="0"/>
            <a:endCxn id="10" idx="2"/>
          </p:cNvCxnSpPr>
          <p:nvPr/>
        </p:nvCxnSpPr>
        <p:spPr>
          <a:xfrm flipV="1">
            <a:off x="9024938" y="2895600"/>
            <a:ext cx="0" cy="704850"/>
          </a:xfrm>
          <a:prstGeom prst="straightConnector1">
            <a:avLst/>
          </a:prstGeom>
          <a:ln w="19050">
            <a:solidFill>
              <a:srgbClr val="F72585"/>
            </a:solidFill>
            <a:prstDash val="solid"/>
            <a:tailEnd type="triangle" w="sm" len="sm"/>
          </a:ln>
        </p:spPr>
      </p:cxnSp>
      <p:cxnSp>
        <p:nvCxnSpPr>
          <p:cNvPr id="22" name="직선 화살표 연결선 21">
            <a:extLst>
              <a:ext uri="{FF2B5EF4-FFF2-40B4-BE49-F238E27FC236}">
                <a16:creationId xmlns:a16="http://schemas.microsoft.com/office/drawing/2014/main" id="{7987B683-ED0A-4C75-8F4E-69F290420F52}"/>
              </a:ext>
            </a:extLst>
          </p:cNvPr>
          <p:cNvCxnSpPr>
            <a:stCxn id="17" idx="3"/>
            <a:endCxn id="18" idx="1"/>
          </p:cNvCxnSpPr>
          <p:nvPr/>
        </p:nvCxnSpPr>
        <p:spPr>
          <a:xfrm>
            <a:off x="7439025" y="3948113"/>
            <a:ext cx="438150" cy="0"/>
          </a:xfrm>
          <a:prstGeom prst="straightConnector1">
            <a:avLst/>
          </a:prstGeom>
          <a:ln w="19050">
            <a:solidFill>
              <a:srgbClr val="F72585"/>
            </a:solidFill>
            <a:prstDash val="solid"/>
            <a:tailEnd type="triangle" w="sm" len="sm"/>
          </a:ln>
        </p:spPr>
      </p:cxnSp>
      <p:cxnSp>
        <p:nvCxnSpPr>
          <p:cNvPr id="21" name="직선 화살표 연결선 20">
            <a:extLst>
              <a:ext uri="{FF2B5EF4-FFF2-40B4-BE49-F238E27FC236}">
                <a16:creationId xmlns:a16="http://schemas.microsoft.com/office/drawing/2014/main" id="{F2BFFA5D-3E53-4E3C-B659-7DDFF013938C}"/>
              </a:ext>
            </a:extLst>
          </p:cNvPr>
          <p:cNvCxnSpPr>
            <a:stCxn id="16" idx="3"/>
            <a:endCxn id="17" idx="1"/>
          </p:cNvCxnSpPr>
          <p:nvPr/>
        </p:nvCxnSpPr>
        <p:spPr>
          <a:xfrm>
            <a:off x="4705350" y="3948113"/>
            <a:ext cx="438150" cy="0"/>
          </a:xfrm>
          <a:prstGeom prst="straightConnector1">
            <a:avLst/>
          </a:prstGeom>
          <a:ln w="19050">
            <a:solidFill>
              <a:srgbClr val="F72585"/>
            </a:solidFill>
            <a:prstDash val="solid"/>
            <a:tailEnd type="triangle" w="sm" len="sm"/>
          </a:ln>
        </p:spPr>
      </p:cxnSp>
      <p:cxnSp>
        <p:nvCxnSpPr>
          <p:cNvPr id="20" name="연결선: 꺾임 19">
            <a:extLst>
              <a:ext uri="{FF2B5EF4-FFF2-40B4-BE49-F238E27FC236}">
                <a16:creationId xmlns:a16="http://schemas.microsoft.com/office/drawing/2014/main" id="{06261EAC-CC34-4BC8-8D3F-43767D6E791B}"/>
              </a:ext>
            </a:extLst>
          </p:cNvPr>
          <p:cNvCxnSpPr>
            <a:stCxn id="9" idx="2"/>
            <a:endCxn id="16" idx="0"/>
          </p:cNvCxnSpPr>
          <p:nvPr/>
        </p:nvCxnSpPr>
        <p:spPr>
          <a:xfrm flipH="1">
            <a:off x="3795713" y="2895600"/>
            <a:ext cx="2495550" cy="704850"/>
          </a:xfrm>
          <a:prstGeom prst="bentConnector4">
            <a:avLst>
              <a:gd name="adj1" fmla="val 0"/>
              <a:gd name="adj2" fmla="val 50000"/>
            </a:avLst>
          </a:prstGeom>
          <a:ln w="19050">
            <a:solidFill>
              <a:srgbClr val="F72585"/>
            </a:solidFill>
            <a:prstDash val="solid"/>
            <a:tailEnd type="triangle" w="sm" len="sm"/>
          </a:ln>
        </p:spPr>
      </p:cxnSp>
      <p:cxnSp>
        <p:nvCxnSpPr>
          <p:cNvPr id="19" name="직선 화살표 연결선 18">
            <a:extLst>
              <a:ext uri="{FF2B5EF4-FFF2-40B4-BE49-F238E27FC236}">
                <a16:creationId xmlns:a16="http://schemas.microsoft.com/office/drawing/2014/main" id="{B356EB3F-20E0-45EC-A0E3-A5B4B556A56C}"/>
              </a:ext>
            </a:extLst>
          </p:cNvPr>
          <p:cNvCxnSpPr>
            <a:stCxn id="8" idx="2"/>
            <a:endCxn id="16" idx="0"/>
          </p:cNvCxnSpPr>
          <p:nvPr/>
        </p:nvCxnSpPr>
        <p:spPr>
          <a:xfrm>
            <a:off x="3795713" y="2895600"/>
            <a:ext cx="0" cy="704850"/>
          </a:xfrm>
          <a:prstGeom prst="straightConnector1">
            <a:avLst/>
          </a:prstGeom>
          <a:ln w="19050">
            <a:solidFill>
              <a:srgbClr val="F72585"/>
            </a:solidFill>
            <a:prstDash val="solid"/>
            <a:tailEnd type="triangle" w="sm" len="sm"/>
          </a:ln>
        </p:spPr>
      </p:cxnSp>
      <p:cxnSp>
        <p:nvCxnSpPr>
          <p:cNvPr id="15" name="직선 화살표 연결선 14">
            <a:extLst>
              <a:ext uri="{FF2B5EF4-FFF2-40B4-BE49-F238E27FC236}">
                <a16:creationId xmlns:a16="http://schemas.microsoft.com/office/drawing/2014/main" id="{40928708-85A2-4028-B150-F3D0F26F7395}"/>
              </a:ext>
            </a:extLst>
          </p:cNvPr>
          <p:cNvCxnSpPr>
            <a:stCxn id="10" idx="3"/>
            <a:endCxn id="11" idx="1"/>
          </p:cNvCxnSpPr>
          <p:nvPr/>
        </p:nvCxnSpPr>
        <p:spPr>
          <a:xfrm>
            <a:off x="10172700" y="2547938"/>
            <a:ext cx="438150" cy="0"/>
          </a:xfrm>
          <a:prstGeom prst="straightConnector1">
            <a:avLst/>
          </a:prstGeom>
          <a:ln w="19050">
            <a:solidFill>
              <a:srgbClr val="F72585"/>
            </a:solidFill>
            <a:prstDash val="solid"/>
            <a:tailEnd type="triangle" w="sm" len="sm"/>
          </a:ln>
        </p:spPr>
      </p:cxnSp>
      <p:cxnSp>
        <p:nvCxnSpPr>
          <p:cNvPr id="14" name="직선 화살표 연결선 13">
            <a:extLst>
              <a:ext uri="{FF2B5EF4-FFF2-40B4-BE49-F238E27FC236}">
                <a16:creationId xmlns:a16="http://schemas.microsoft.com/office/drawing/2014/main" id="{750ECCF3-9DDE-47EC-8542-B1592C828EF1}"/>
              </a:ext>
            </a:extLst>
          </p:cNvPr>
          <p:cNvCxnSpPr>
            <a:stCxn id="9" idx="3"/>
            <a:endCxn id="10" idx="1"/>
          </p:cNvCxnSpPr>
          <p:nvPr/>
        </p:nvCxnSpPr>
        <p:spPr>
          <a:xfrm>
            <a:off x="7439025" y="2547938"/>
            <a:ext cx="438150" cy="0"/>
          </a:xfrm>
          <a:prstGeom prst="straightConnector1">
            <a:avLst/>
          </a:prstGeom>
          <a:ln w="19050">
            <a:solidFill>
              <a:srgbClr val="F72585"/>
            </a:solidFill>
            <a:prstDash val="solid"/>
            <a:tailEnd type="triangle" w="sm" len="sm"/>
          </a:ln>
        </p:spPr>
      </p:cxnSp>
      <p:cxnSp>
        <p:nvCxnSpPr>
          <p:cNvPr id="13" name="직선 화살표 연결선 12">
            <a:extLst>
              <a:ext uri="{FF2B5EF4-FFF2-40B4-BE49-F238E27FC236}">
                <a16:creationId xmlns:a16="http://schemas.microsoft.com/office/drawing/2014/main" id="{AF9EFA88-00D8-4087-A8DB-852680AABD39}"/>
              </a:ext>
            </a:extLst>
          </p:cNvPr>
          <p:cNvCxnSpPr>
            <a:stCxn id="8" idx="3"/>
            <a:endCxn id="9" idx="1"/>
          </p:cNvCxnSpPr>
          <p:nvPr/>
        </p:nvCxnSpPr>
        <p:spPr>
          <a:xfrm>
            <a:off x="4705350" y="2547938"/>
            <a:ext cx="438150" cy="0"/>
          </a:xfrm>
          <a:prstGeom prst="straightConnector1">
            <a:avLst/>
          </a:prstGeom>
          <a:ln w="19050">
            <a:solidFill>
              <a:srgbClr val="F72585"/>
            </a:solidFill>
            <a:prstDash val="solid"/>
            <a:tailEnd type="triangle" w="sm" len="sm"/>
          </a:ln>
        </p:spPr>
      </p:cxnSp>
      <p:cxnSp>
        <p:nvCxnSpPr>
          <p:cNvPr id="12" name="직선 화살표 연결선 11">
            <a:extLst>
              <a:ext uri="{FF2B5EF4-FFF2-40B4-BE49-F238E27FC236}">
                <a16:creationId xmlns:a16="http://schemas.microsoft.com/office/drawing/2014/main" id="{A6E93B08-1A79-4DE0-A389-CBC8C0557E9B}"/>
              </a:ext>
            </a:extLst>
          </p:cNvPr>
          <p:cNvCxnSpPr>
            <a:stCxn id="7" idx="3"/>
            <a:endCxn id="8" idx="1"/>
          </p:cNvCxnSpPr>
          <p:nvPr/>
        </p:nvCxnSpPr>
        <p:spPr>
          <a:xfrm>
            <a:off x="2447925" y="2547938"/>
            <a:ext cx="438150" cy="0"/>
          </a:xfrm>
          <a:prstGeom prst="straightConnector1">
            <a:avLst/>
          </a:prstGeom>
          <a:ln w="19050">
            <a:solidFill>
              <a:srgbClr val="F72585"/>
            </a:solidFill>
            <a:prstDash val="solid"/>
            <a:tailEnd type="triangle" w="sm" len="sm"/>
          </a:ln>
        </p:spPr>
      </p:cxnSp>
      <p:sp>
        <p:nvSpPr>
          <p:cNvPr id="27" name="own-text-44">
            <a:extLst>
              <a:ext uri="{FF2B5EF4-FFF2-40B4-BE49-F238E27FC236}">
                <a16:creationId xmlns:a16="http://schemas.microsoft.com/office/drawing/2014/main" id="{542400D9-BCC8-4AFF-A6AB-EC808C8E252B}"/>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45">
            <a:extLst>
              <a:ext uri="{FF2B5EF4-FFF2-40B4-BE49-F238E27FC236}">
                <a16:creationId xmlns:a16="http://schemas.microsoft.com/office/drawing/2014/main" id="{2A30D761-9CD5-4301-98DE-10C2B0C476E5}"/>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판정 LLM 파이프라인과 검색 효과</a:t>
            </a:r>
          </a:p>
        </p:txBody>
      </p:sp>
      <p:sp>
        <p:nvSpPr>
          <p:cNvPr id="3" name="own-text-46">
            <a:extLst>
              <a:ext uri="{FF2B5EF4-FFF2-40B4-BE49-F238E27FC236}">
                <a16:creationId xmlns:a16="http://schemas.microsoft.com/office/drawing/2014/main" id="{5592AB7C-A11D-4D73-9DCB-129E9A54B046}"/>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분류기로 필요한 질문을 고르고, 판정 검색어는 코드 검사 후 FAQ 검색에 사용</a:t>
            </a:r>
          </a:p>
        </p:txBody>
      </p:sp>
      <p:sp>
        <p:nvSpPr>
          <p:cNvPr id="4" name="own-text-47">
            <a:extLst>
              <a:ext uri="{FF2B5EF4-FFF2-40B4-BE49-F238E27FC236}">
                <a16:creationId xmlns:a16="http://schemas.microsoft.com/office/drawing/2014/main" id="{BBA0DD9A-7729-42B5-8B31-116940009C29}"/>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48">
            <a:extLst>
              <a:ext uri="{FF2B5EF4-FFF2-40B4-BE49-F238E27FC236}">
                <a16:creationId xmlns:a16="http://schemas.microsoft.com/office/drawing/2014/main" id="{D159B958-B93C-48F5-BB9A-7078B0A49464}"/>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13</a:t>
            </a:r>
            <a:endParaRPr sz="1300" b="0">
              <a:solidFill>
                <a:srgbClr val="686B72"/>
              </a:solidFill>
              <a:latin typeface="맑은 고딕"/>
              <a:ea typeface="맑은 고딕"/>
              <a:cs typeface="맑은 고딕"/>
            </a:endParaRPr>
          </a:p>
        </p:txBody>
      </p:sp>
      <p:sp>
        <p:nvSpPr>
          <p:cNvPr id="6" name="own-text-49">
            <a:extLst>
              <a:ext uri="{FF2B5EF4-FFF2-40B4-BE49-F238E27FC236}">
                <a16:creationId xmlns:a16="http://schemas.microsoft.com/office/drawing/2014/main" id="{735136E7-2BF7-4BC3-BE46-0FF6FC7D9476}"/>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전체 기능 평가 200건과 별도 질문 분리 100건을 시험. 아래는 질문 분리 100건 전체의 같은 질문·정답 FAQ 비교.</a:t>
            </a:r>
          </a:p>
        </p:txBody>
      </p:sp>
      <p:sp>
        <p:nvSpPr>
          <p:cNvPr id="7" name="pipeline-50">
            <a:extLst>
              <a:ext uri="{FF2B5EF4-FFF2-40B4-BE49-F238E27FC236}">
                <a16:creationId xmlns:a16="http://schemas.microsoft.com/office/drawing/2014/main" id="{A3FBC1EF-C55E-470C-884D-843C00518DA0}"/>
              </a:ext>
            </a:extLst>
          </p:cNvPr>
          <p:cNvSpPr>
            <a:spLocks noGrp="1"/>
          </p:cNvSpPr>
          <p:nvPr/>
        </p:nvSpPr>
        <p:spPr>
          <a:xfrm>
            <a:off x="628650" y="2200275"/>
            <a:ext cx="181927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8" name="pipeline-51">
            <a:extLst>
              <a:ext uri="{FF2B5EF4-FFF2-40B4-BE49-F238E27FC236}">
                <a16:creationId xmlns:a16="http://schemas.microsoft.com/office/drawing/2014/main" id="{FB46BFCC-D8E4-4314-B09F-9A6C422A9DD3}"/>
              </a:ext>
            </a:extLst>
          </p:cNvPr>
          <p:cNvSpPr>
            <a:spLocks noGrp="1"/>
          </p:cNvSpPr>
          <p:nvPr/>
        </p:nvSpPr>
        <p:spPr>
          <a:xfrm>
            <a:off x="2886075" y="2200275"/>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분류기</a:t>
            </a:r>
          </a:p>
        </p:txBody>
      </p:sp>
      <p:sp>
        <p:nvSpPr>
          <p:cNvPr id="9" name="pipeline-52">
            <a:extLst>
              <a:ext uri="{FF2B5EF4-FFF2-40B4-BE49-F238E27FC236}">
                <a16:creationId xmlns:a16="http://schemas.microsoft.com/office/drawing/2014/main" id="{C480241A-4BC7-40BC-BD06-C4F06E0306AE}"/>
              </a:ext>
            </a:extLst>
          </p:cNvPr>
          <p:cNvSpPr>
            <a:spLocks noGrp="1"/>
          </p:cNvSpPr>
          <p:nvPr/>
        </p:nvSpPr>
        <p:spPr>
          <a:xfrm>
            <a:off x="5143500"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원문 우선 검색</a:t>
            </a:r>
          </a:p>
        </p:txBody>
      </p:sp>
      <p:sp>
        <p:nvSpPr>
          <p:cNvPr id="10" name="pipeline-53">
            <a:extLst>
              <a:ext uri="{FF2B5EF4-FFF2-40B4-BE49-F238E27FC236}">
                <a16:creationId xmlns:a16="http://schemas.microsoft.com/office/drawing/2014/main" id="{5E2869BB-CE7A-4980-A8F4-24724AC552B8}"/>
              </a:ext>
            </a:extLst>
          </p:cNvPr>
          <p:cNvSpPr>
            <a:spLocks noGrp="1"/>
          </p:cNvSpPr>
          <p:nvPr/>
        </p:nvSpPr>
        <p:spPr>
          <a:xfrm>
            <a:off x="7877175" y="2200275"/>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FAQ·문장 검사</a:t>
            </a:r>
          </a:p>
        </p:txBody>
      </p:sp>
      <p:sp>
        <p:nvSpPr>
          <p:cNvPr id="11" name="pipeline-54">
            <a:extLst>
              <a:ext uri="{FF2B5EF4-FFF2-40B4-BE49-F238E27FC236}">
                <a16:creationId xmlns:a16="http://schemas.microsoft.com/office/drawing/2014/main" id="{917D78EF-0F87-4D41-AD3C-97AE9E67A863}"/>
              </a:ext>
            </a:extLst>
          </p:cNvPr>
          <p:cNvSpPr>
            <a:spLocks noGrp="1"/>
          </p:cNvSpPr>
          <p:nvPr/>
        </p:nvSpPr>
        <p:spPr>
          <a:xfrm>
            <a:off x="10610850" y="2200275"/>
            <a:ext cx="2476500" cy="69532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6" name="pipeline-55">
            <a:extLst>
              <a:ext uri="{FF2B5EF4-FFF2-40B4-BE49-F238E27FC236}">
                <a16:creationId xmlns:a16="http://schemas.microsoft.com/office/drawing/2014/main" id="{B3540CDC-8CFD-4C33-8188-EF1452437710}"/>
              </a:ext>
            </a:extLst>
          </p:cNvPr>
          <p:cNvSpPr>
            <a:spLocks noGrp="1"/>
          </p:cNvSpPr>
          <p:nvPr/>
        </p:nvSpPr>
        <p:spPr>
          <a:xfrm>
            <a:off x="2886075" y="3600450"/>
            <a:ext cx="1819275" cy="695325"/>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판정 LLM</a:t>
            </a:r>
          </a:p>
        </p:txBody>
      </p:sp>
      <p:sp>
        <p:nvSpPr>
          <p:cNvPr id="17" name="pipeline-56">
            <a:extLst>
              <a:ext uri="{FF2B5EF4-FFF2-40B4-BE49-F238E27FC236}">
                <a16:creationId xmlns:a16="http://schemas.microsoft.com/office/drawing/2014/main" id="{C16F4B94-6735-40EF-ABB6-999F30E90455}"/>
              </a:ext>
            </a:extLst>
          </p:cNvPr>
          <p:cNvSpPr>
            <a:spLocks noGrp="1"/>
          </p:cNvSpPr>
          <p:nvPr/>
        </p:nvSpPr>
        <p:spPr>
          <a:xfrm>
            <a:off x="5143500"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검색어 변형 검사</a:t>
            </a:r>
          </a:p>
        </p:txBody>
      </p:sp>
      <p:sp>
        <p:nvSpPr>
          <p:cNvPr id="18" name="pipeline-57">
            <a:extLst>
              <a:ext uri="{FF2B5EF4-FFF2-40B4-BE49-F238E27FC236}">
                <a16:creationId xmlns:a16="http://schemas.microsoft.com/office/drawing/2014/main" id="{BDD026E1-5327-4F34-8990-354AD061A966}"/>
              </a:ext>
            </a:extLst>
          </p:cNvPr>
          <p:cNvSpPr>
            <a:spLocks noGrp="1"/>
          </p:cNvSpPr>
          <p:nvPr/>
        </p:nvSpPr>
        <p:spPr>
          <a:xfrm>
            <a:off x="7877175" y="3600450"/>
            <a:ext cx="2295525" cy="69532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하위 질문별 검색</a:t>
            </a:r>
          </a:p>
        </p:txBody>
      </p:sp>
      <p:sp>
        <p:nvSpPr>
          <p:cNvPr id="24" name="own-text-58">
            <a:extLst>
              <a:ext uri="{FF2B5EF4-FFF2-40B4-BE49-F238E27FC236}">
                <a16:creationId xmlns:a16="http://schemas.microsoft.com/office/drawing/2014/main" id="{B0B083FC-6596-4729-B482-080AAE3B1CB9}"/>
              </a:ext>
            </a:extLst>
          </p:cNvPr>
          <p:cNvSpPr>
            <a:spLocks noGrp="1"/>
          </p:cNvSpPr>
          <p:nvPr/>
        </p:nvSpPr>
        <p:spPr>
          <a:xfrm>
            <a:off x="628650" y="3571875"/>
            <a:ext cx="2047875"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분리·멀티턴 표지</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또는 첫 검색 실패</a:t>
            </a:r>
          </a:p>
        </p:txBody>
      </p:sp>
      <p:sp>
        <p:nvSpPr>
          <p:cNvPr id="25" name="own-text-59">
            <a:extLst>
              <a:ext uri="{FF2B5EF4-FFF2-40B4-BE49-F238E27FC236}">
                <a16:creationId xmlns:a16="http://schemas.microsoft.com/office/drawing/2014/main" id="{20CCC935-87B5-4AD6-B8A3-E080DA27D015}"/>
              </a:ext>
            </a:extLst>
          </p:cNvPr>
          <p:cNvSpPr>
            <a:spLocks noGrp="1"/>
          </p:cNvSpPr>
          <p:nvPr/>
        </p:nvSpPr>
        <p:spPr>
          <a:xfrm>
            <a:off x="10610850" y="3571875"/>
            <a:ext cx="2476500" cy="695325"/>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질문 원문·원문 조각과</a:t>
            </a:r>
          </a:p>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통과한 자료를 전달</a:t>
            </a:r>
          </a:p>
        </p:txBody>
      </p:sp>
      <p:graphicFrame>
        <p:nvGraphicFramePr>
          <p:cNvPr id="26" name="표 25">
            <a:extLst>
              <a:ext uri="{FF2B5EF4-FFF2-40B4-BE49-F238E27FC236}">
                <a16:creationId xmlns:a16="http://schemas.microsoft.com/office/drawing/2014/main" id="{C6D723C7-6424-4493-9395-472705CDBDCE}"/>
              </a:ext>
            </a:extLst>
          </p:cNvPr>
          <p:cNvGraphicFramePr/>
          <p:nvPr/>
        </p:nvGraphicFramePr>
        <p:xfrm>
          <a:off x="628650" y="4886325"/>
          <a:ext cx="12458700" cy="1571625"/>
        </p:xfrm>
        <a:graphic>
          <a:graphicData uri="http://schemas.openxmlformats.org/drawingml/2006/table">
            <a:tbl>
              <a:tblPr/>
              <a:tblGrid>
                <a:gridCol w="48387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392906">
                <a:tc>
                  <a:txBody>
                    <a:bodyPr/>
                    <a:lstStyle/>
                    <a:p>
                      <a:r>
                        <a:rPr sz="1598" b="1">
                          <a:solidFill>
                            <a:srgbClr val="FFFFFF"/>
                          </a:solidFill>
                          <a:latin typeface="맑은 고딕"/>
                          <a:ea typeface="맑은 고딕"/>
                          <a:cs typeface="맑은 고딕"/>
                        </a:rPr>
                        <a:t>질문 분리 전체 100건</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 없이 검색</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개선 판정</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392906">
                <a:tc>
                  <a:txBody>
                    <a:bodyPr/>
                    <a:lstStyle/>
                    <a:p>
                      <a:r>
                        <a:rPr sz="1598" b="1">
                          <a:solidFill>
                            <a:srgbClr val="F72585"/>
                          </a:solidFill>
                          <a:latin typeface="맑은 고딕"/>
                          <a:ea typeface="맑은 고딕"/>
                          <a:cs typeface="맑은 고딕"/>
                        </a:rPr>
                        <a:t>모든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69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84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1"/>
                  </a:ext>
                </a:extLst>
              </a:tr>
              <a:tr h="392906">
                <a:tc>
                  <a:txBody>
                    <a:bodyPr/>
                    <a:lstStyle/>
                    <a:p>
                      <a:r>
                        <a:rPr sz="1598" b="0">
                          <a:solidFill>
                            <a:srgbClr val="17171A"/>
                          </a:solidFill>
                          <a:latin typeface="맑은 고딕"/>
                          <a:ea typeface="맑은 고딕"/>
                          <a:cs typeface="맑은 고딕"/>
                        </a:rPr>
                        <a:t>의도별 정답 FAQ 검색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161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182 / 201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392906">
                <a:tc>
                  <a:txBody>
                    <a:bodyPr/>
                    <a:lstStyle/>
                    <a:p>
                      <a:r>
                        <a:rPr sz="1598" b="1">
                          <a:solidFill>
                            <a:srgbClr val="F72585"/>
                          </a:solidFill>
                          <a:latin typeface="맑은 고딕"/>
                          <a:ea typeface="맑은 고딕"/>
                          <a:cs typeface="맑은 고딕"/>
                        </a:rPr>
                        <a:t>질문 개수 맞게 나눔</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90 / 100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55451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직선 화살표 연결선 9">
            <a:extLst>
              <a:ext uri="{FF2B5EF4-FFF2-40B4-BE49-F238E27FC236}">
                <a16:creationId xmlns:a16="http://schemas.microsoft.com/office/drawing/2014/main" id="{530AE1B0-3E3D-4E1D-9B56-817F5257A9ED}"/>
              </a:ext>
            </a:extLst>
          </p:cNvPr>
          <p:cNvCxnSpPr>
            <a:stCxn id="8" idx="3"/>
            <a:endCxn id="9" idx="1"/>
          </p:cNvCxnSpPr>
          <p:nvPr/>
        </p:nvCxnSpPr>
        <p:spPr>
          <a:xfrm>
            <a:off x="2914650" y="3043238"/>
            <a:ext cx="1143000" cy="0"/>
          </a:xfrm>
          <a:prstGeom prst="straightConnector1">
            <a:avLst/>
          </a:prstGeom>
          <a:ln w="19050">
            <a:solidFill>
              <a:srgbClr val="F72585"/>
            </a:solidFill>
            <a:prstDash val="solid"/>
            <a:tailEnd type="triangle" w="sm" len="sm"/>
          </a:ln>
        </p:spPr>
      </p:cxnSp>
      <p:sp>
        <p:nvSpPr>
          <p:cNvPr id="19" name="own-text-60">
            <a:extLst>
              <a:ext uri="{FF2B5EF4-FFF2-40B4-BE49-F238E27FC236}">
                <a16:creationId xmlns:a16="http://schemas.microsoft.com/office/drawing/2014/main" id="{3F2FBDB9-64A1-4DF2-8DB6-A4356112C977}"/>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61">
            <a:extLst>
              <a:ext uri="{FF2B5EF4-FFF2-40B4-BE49-F238E27FC236}">
                <a16:creationId xmlns:a16="http://schemas.microsoft.com/office/drawing/2014/main" id="{1E803A09-4540-43B8-911B-24FBBF13153E}"/>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원문 보존과 분류기로 줄인 호출</a:t>
            </a:r>
          </a:p>
        </p:txBody>
      </p:sp>
      <p:sp>
        <p:nvSpPr>
          <p:cNvPr id="3" name="own-text-62">
            <a:extLst>
              <a:ext uri="{FF2B5EF4-FFF2-40B4-BE49-F238E27FC236}">
                <a16:creationId xmlns:a16="http://schemas.microsoft.com/office/drawing/2014/main" id="{137E0FBB-9555-47A5-94A7-86D7F510F6B9}"/>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재작성 오류의 답변 전파를 줄이고, 명확한 단건 질문은 판정 LLM을 생략</a:t>
            </a:r>
          </a:p>
        </p:txBody>
      </p:sp>
      <p:sp>
        <p:nvSpPr>
          <p:cNvPr id="4" name="own-text-63">
            <a:extLst>
              <a:ext uri="{FF2B5EF4-FFF2-40B4-BE49-F238E27FC236}">
                <a16:creationId xmlns:a16="http://schemas.microsoft.com/office/drawing/2014/main" id="{19CB6D8B-D911-4B10-8251-37F3EFBDB826}"/>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64">
            <a:extLst>
              <a:ext uri="{FF2B5EF4-FFF2-40B4-BE49-F238E27FC236}">
                <a16:creationId xmlns:a16="http://schemas.microsoft.com/office/drawing/2014/main" id="{EAC7430D-DCA1-469D-A702-51DE6839B2ED}"/>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14</a:t>
            </a:r>
            <a:endParaRPr sz="1300" b="0">
              <a:solidFill>
                <a:srgbClr val="686B72"/>
              </a:solidFill>
              <a:latin typeface="맑은 고딕"/>
              <a:ea typeface="맑은 고딕"/>
              <a:cs typeface="맑은 고딕"/>
            </a:endParaRPr>
          </a:p>
        </p:txBody>
      </p:sp>
      <p:sp>
        <p:nvSpPr>
          <p:cNvPr id="6" name="own-text-65">
            <a:extLst>
              <a:ext uri="{FF2B5EF4-FFF2-40B4-BE49-F238E27FC236}">
                <a16:creationId xmlns:a16="http://schemas.microsoft.com/office/drawing/2014/main" id="{BEFCDEBE-3CF1-4F7F-A64E-395293D35C7A}"/>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변형 전파 8건·3건은 선정 사례의 수동 검토. 가드 9건은 300개 출력의 탐지 사례이며 전수 환각 감소율이 아님.</a:t>
            </a:r>
          </a:p>
        </p:txBody>
      </p:sp>
      <p:sp>
        <p:nvSpPr>
          <p:cNvPr id="7" name="own-text-66">
            <a:extLst>
              <a:ext uri="{FF2B5EF4-FFF2-40B4-BE49-F238E27FC236}">
                <a16:creationId xmlns:a16="http://schemas.microsoft.com/office/drawing/2014/main" id="{17F7BA47-1B97-4818-A1A9-329B29A2BA42}"/>
              </a:ext>
            </a:extLst>
          </p:cNvPr>
          <p:cNvSpPr>
            <a:spLocks noGrp="1"/>
          </p:cNvSpPr>
          <p:nvPr/>
        </p:nvSpPr>
        <p:spPr>
          <a:xfrm>
            <a:off x="62865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답변에는 사용자 원문·원문 조각</a:t>
            </a:r>
          </a:p>
        </p:txBody>
      </p:sp>
      <p:sp>
        <p:nvSpPr>
          <p:cNvPr id="8" name="pipeline-67">
            <a:extLst>
              <a:ext uri="{FF2B5EF4-FFF2-40B4-BE49-F238E27FC236}">
                <a16:creationId xmlns:a16="http://schemas.microsoft.com/office/drawing/2014/main" id="{0AFCD9E1-60BF-4D26-BC1C-3398664DA11D}"/>
              </a:ext>
            </a:extLst>
          </p:cNvPr>
          <p:cNvSpPr>
            <a:spLocks noGrp="1"/>
          </p:cNvSpPr>
          <p:nvPr/>
        </p:nvSpPr>
        <p:spPr>
          <a:xfrm>
            <a:off x="628650" y="2686050"/>
            <a:ext cx="2286000" cy="714375"/>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사용자 원문</a:t>
            </a:r>
          </a:p>
        </p:txBody>
      </p:sp>
      <p:sp>
        <p:nvSpPr>
          <p:cNvPr id="9" name="pipeline-68">
            <a:extLst>
              <a:ext uri="{FF2B5EF4-FFF2-40B4-BE49-F238E27FC236}">
                <a16:creationId xmlns:a16="http://schemas.microsoft.com/office/drawing/2014/main" id="{02CA5854-E3E9-4CFC-AAC5-E467DF678DA7}"/>
              </a:ext>
            </a:extLst>
          </p:cNvPr>
          <p:cNvSpPr>
            <a:spLocks noGrp="1"/>
          </p:cNvSpPr>
          <p:nvPr/>
        </p:nvSpPr>
        <p:spPr>
          <a:xfrm>
            <a:off x="4057650" y="2686050"/>
            <a:ext cx="2381250" cy="714375"/>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725" b="1">
                <a:solidFill>
                  <a:srgbClr val="FFFFFF"/>
                </a:solidFill>
                <a:latin typeface="맑은 고딕"/>
                <a:ea typeface="맑은 고딕"/>
                <a:cs typeface="맑은 고딕"/>
              </a:defRPr>
            </a:defPPr>
            <a:lvl1pPr algn="ctr">
              <a:defRPr sz="1725" b="1">
                <a:solidFill>
                  <a:srgbClr val="FFFFFF"/>
                </a:solidFill>
                <a:latin typeface="맑은 고딕"/>
                <a:ea typeface="맑은 고딕"/>
                <a:cs typeface="맑은 고딕"/>
              </a:defRPr>
            </a:lvl1pPr>
            <a:lvl2pPr algn="ctr">
              <a:defRPr sz="1725" b="1">
                <a:solidFill>
                  <a:srgbClr val="FFFFFF"/>
                </a:solidFill>
                <a:latin typeface="맑은 고딕"/>
                <a:ea typeface="맑은 고딕"/>
                <a:cs typeface="맑은 고딕"/>
              </a:defRPr>
            </a:lvl2pPr>
            <a:lvl3pPr algn="ctr">
              <a:defRPr sz="1725" b="1">
                <a:solidFill>
                  <a:srgbClr val="FFFFFF"/>
                </a:solidFill>
                <a:latin typeface="맑은 고딕"/>
                <a:ea typeface="맑은 고딕"/>
                <a:cs typeface="맑은 고딕"/>
              </a:defRPr>
            </a:lvl3pPr>
            <a:lvl4pPr algn="ctr">
              <a:defRPr sz="1725" b="1">
                <a:solidFill>
                  <a:srgbClr val="FFFFFF"/>
                </a:solidFill>
                <a:latin typeface="맑은 고딕"/>
                <a:ea typeface="맑은 고딕"/>
                <a:cs typeface="맑은 고딕"/>
              </a:defRPr>
            </a:lvl4pPr>
            <a:lvl5pPr algn="ctr">
              <a:defRPr sz="1725" b="1">
                <a:solidFill>
                  <a:srgbClr val="FFFFFF"/>
                </a:solidFill>
                <a:latin typeface="맑은 고딕"/>
                <a:ea typeface="맑은 고딕"/>
                <a:cs typeface="맑은 고딕"/>
              </a:defRPr>
            </a:lvl5pPr>
            <a:lvl6pPr algn="ctr">
              <a:defRPr sz="1725" b="1">
                <a:solidFill>
                  <a:srgbClr val="FFFFFF"/>
                </a:solidFill>
                <a:latin typeface="맑은 고딕"/>
                <a:ea typeface="맑은 고딕"/>
                <a:cs typeface="맑은 고딕"/>
              </a:defRPr>
            </a:lvl6pPr>
            <a:lvl7pPr algn="ctr">
              <a:defRPr sz="1725" b="1">
                <a:solidFill>
                  <a:srgbClr val="FFFFFF"/>
                </a:solidFill>
                <a:latin typeface="맑은 고딕"/>
                <a:ea typeface="맑은 고딕"/>
                <a:cs typeface="맑은 고딕"/>
              </a:defRPr>
            </a:lvl7pPr>
            <a:lvl8pPr algn="ctr">
              <a:defRPr sz="1725" b="1">
                <a:solidFill>
                  <a:srgbClr val="FFFFFF"/>
                </a:solidFill>
                <a:latin typeface="맑은 고딕"/>
                <a:ea typeface="맑은 고딕"/>
                <a:cs typeface="맑은 고딕"/>
              </a:defRPr>
            </a:lvl8pPr>
            <a:lvl9pPr algn="ctr">
              <a:defRPr sz="1725" b="1">
                <a:solidFill>
                  <a:srgbClr val="FFFFFF"/>
                </a:solidFill>
                <a:latin typeface="맑은 고딕"/>
                <a:ea typeface="맑은 고딕"/>
                <a:cs typeface="맑은 고딕"/>
              </a:defRPr>
            </a:lvl9pPr>
          </a:lstStyle>
          <a:p>
            <a:pPr algn="ctr">
              <a:defRPr sz="1725" b="1">
                <a:solidFill>
                  <a:srgbClr val="FFFFFF"/>
                </a:solidFill>
                <a:latin typeface="맑은 고딕"/>
                <a:ea typeface="맑은 고딕"/>
                <a:cs typeface="맑은 고딕"/>
              </a:defRPr>
            </a:pPr>
            <a:r>
              <a:rPr sz="1725" b="1">
                <a:solidFill>
                  <a:srgbClr val="FFFFFF"/>
                </a:solidFill>
                <a:latin typeface="맑은 고딕"/>
                <a:ea typeface="맑은 고딕"/>
                <a:cs typeface="맑은 고딕"/>
              </a:rPr>
              <a:t>답변 LLM</a:t>
            </a:r>
          </a:p>
        </p:txBody>
      </p:sp>
      <p:sp>
        <p:nvSpPr>
          <p:cNvPr id="11" name="own-text-69">
            <a:extLst>
              <a:ext uri="{FF2B5EF4-FFF2-40B4-BE49-F238E27FC236}">
                <a16:creationId xmlns:a16="http://schemas.microsoft.com/office/drawing/2014/main" id="{DEE7670C-CEB7-4F05-96A1-2D7D157BA317}"/>
              </a:ext>
            </a:extLst>
          </p:cNvPr>
          <p:cNvSpPr>
            <a:spLocks noGrp="1"/>
          </p:cNvSpPr>
          <p:nvPr/>
        </p:nvSpPr>
        <p:spPr>
          <a:xfrm>
            <a:off x="628650" y="3648075"/>
            <a:ext cx="5810250" cy="352425"/>
          </a:xfrm>
          <a:prstGeom prst="rect">
            <a:avLst/>
          </a:prstGeom>
          <a:noFill/>
          <a:ln w="0">
            <a:noFill/>
          </a:ln>
        </p:spPr>
        <p:txBody>
          <a:bodyPr wrap="square" lIns="0" tIns="0" rIns="0" bIns="0" anchor="t">
            <a:noAutofit/>
          </a:bodyPr>
          <a:lstStyle>
            <a:defPPr algn="l">
              <a:defRPr sz="1748" b="1">
                <a:solidFill>
                  <a:srgbClr val="F72585"/>
                </a:solidFill>
                <a:latin typeface="맑은 고딕"/>
                <a:ea typeface="맑은 고딕"/>
                <a:cs typeface="맑은 고딕"/>
              </a:defRPr>
            </a:defPPr>
            <a:lvl1pPr algn="l">
              <a:defRPr sz="1748" b="1">
                <a:solidFill>
                  <a:srgbClr val="F72585"/>
                </a:solidFill>
                <a:latin typeface="맑은 고딕"/>
                <a:ea typeface="맑은 고딕"/>
                <a:cs typeface="맑은 고딕"/>
              </a:defRPr>
            </a:lvl1pPr>
            <a:lvl2pPr algn="l">
              <a:defRPr sz="1748" b="1">
                <a:solidFill>
                  <a:srgbClr val="F72585"/>
                </a:solidFill>
                <a:latin typeface="맑은 고딕"/>
                <a:ea typeface="맑은 고딕"/>
                <a:cs typeface="맑은 고딕"/>
              </a:defRPr>
            </a:lvl2pPr>
            <a:lvl3pPr algn="l">
              <a:defRPr sz="1748" b="1">
                <a:solidFill>
                  <a:srgbClr val="F72585"/>
                </a:solidFill>
                <a:latin typeface="맑은 고딕"/>
                <a:ea typeface="맑은 고딕"/>
                <a:cs typeface="맑은 고딕"/>
              </a:defRPr>
            </a:lvl3pPr>
            <a:lvl4pPr algn="l">
              <a:defRPr sz="1748" b="1">
                <a:solidFill>
                  <a:srgbClr val="F72585"/>
                </a:solidFill>
                <a:latin typeface="맑은 고딕"/>
                <a:ea typeface="맑은 고딕"/>
                <a:cs typeface="맑은 고딕"/>
              </a:defRPr>
            </a:lvl4pPr>
            <a:lvl5pPr algn="l">
              <a:defRPr sz="1748" b="1">
                <a:solidFill>
                  <a:srgbClr val="F72585"/>
                </a:solidFill>
                <a:latin typeface="맑은 고딕"/>
                <a:ea typeface="맑은 고딕"/>
                <a:cs typeface="맑은 고딕"/>
              </a:defRPr>
            </a:lvl5pPr>
            <a:lvl6pPr algn="l">
              <a:defRPr sz="1748" b="1">
                <a:solidFill>
                  <a:srgbClr val="F72585"/>
                </a:solidFill>
                <a:latin typeface="맑은 고딕"/>
                <a:ea typeface="맑은 고딕"/>
                <a:cs typeface="맑은 고딕"/>
              </a:defRPr>
            </a:lvl6pPr>
            <a:lvl7pPr algn="l">
              <a:defRPr sz="1748" b="1">
                <a:solidFill>
                  <a:srgbClr val="F72585"/>
                </a:solidFill>
                <a:latin typeface="맑은 고딕"/>
                <a:ea typeface="맑은 고딕"/>
                <a:cs typeface="맑은 고딕"/>
              </a:defRPr>
            </a:lvl7pPr>
            <a:lvl8pPr algn="l">
              <a:defRPr sz="1748" b="1">
                <a:solidFill>
                  <a:srgbClr val="F72585"/>
                </a:solidFill>
                <a:latin typeface="맑은 고딕"/>
                <a:ea typeface="맑은 고딕"/>
                <a:cs typeface="맑은 고딕"/>
              </a:defRPr>
            </a:lvl8pPr>
            <a:lvl9pPr algn="l">
              <a:defRPr sz="1748" b="1">
                <a:solidFill>
                  <a:srgbClr val="F72585"/>
                </a:solidFill>
                <a:latin typeface="맑은 고딕"/>
                <a:ea typeface="맑은 고딕"/>
                <a:cs typeface="맑은 고딕"/>
              </a:defRPr>
            </a:lvl9pPr>
          </a:lstStyle>
          <a:p>
            <a:pPr algn="l">
              <a:defRPr sz="1748" b="1">
                <a:solidFill>
                  <a:srgbClr val="F72585"/>
                </a:solidFill>
                <a:latin typeface="맑은 고딕"/>
                <a:ea typeface="맑은 고딕"/>
                <a:cs typeface="맑은 고딕"/>
              </a:defRPr>
            </a:pPr>
            <a:r>
              <a:rPr sz="1748" b="1">
                <a:solidFill>
                  <a:srgbClr val="F72585"/>
                </a:solidFill>
                <a:latin typeface="맑은 고딕"/>
                <a:ea typeface="맑은 고딕"/>
                <a:cs typeface="맑은 고딕"/>
              </a:rPr>
              <a:t>가공한 검색어는 FAQ 검색에만 사용</a:t>
            </a:r>
          </a:p>
        </p:txBody>
      </p:sp>
      <p:sp>
        <p:nvSpPr>
          <p:cNvPr id="12" name="own-text-70">
            <a:extLst>
              <a:ext uri="{FF2B5EF4-FFF2-40B4-BE49-F238E27FC236}">
                <a16:creationId xmlns:a16="http://schemas.microsoft.com/office/drawing/2014/main" id="{0EBCB81C-C15F-4961-9219-9E894223419C}"/>
              </a:ext>
            </a:extLst>
          </p:cNvPr>
          <p:cNvSpPr>
            <a:spLocks noGrp="1"/>
          </p:cNvSpPr>
          <p:nvPr/>
        </p:nvSpPr>
        <p:spPr>
          <a:xfrm>
            <a:off x="628650" y="4229100"/>
            <a:ext cx="5810250" cy="304800"/>
          </a:xfrm>
          <a:prstGeom prst="rect">
            <a:avLst/>
          </a:prstGeom>
          <a:noFill/>
          <a:ln w="0">
            <a:noFill/>
          </a:ln>
        </p:spPr>
        <p:txBody>
          <a:bodyPr wrap="square" lIns="0" tIns="0" rIns="0" bIns="0" anchor="t">
            <a:noAutofit/>
          </a:bodyPr>
          <a:lstStyle>
            <a:defPPr algn="l">
              <a:defRPr sz="1598" b="0">
                <a:solidFill>
                  <a:srgbClr val="686B72"/>
                </a:solidFill>
                <a:latin typeface="맑은 고딕"/>
                <a:ea typeface="맑은 고딕"/>
                <a:cs typeface="맑은 고딕"/>
              </a:defRPr>
            </a:defPPr>
            <a:lvl1pPr algn="l">
              <a:defRPr sz="1598" b="0">
                <a:solidFill>
                  <a:srgbClr val="686B72"/>
                </a:solidFill>
                <a:latin typeface="맑은 고딕"/>
                <a:ea typeface="맑은 고딕"/>
                <a:cs typeface="맑은 고딕"/>
              </a:defRPr>
            </a:lvl1pPr>
            <a:lvl2pPr algn="l">
              <a:defRPr sz="1598" b="0">
                <a:solidFill>
                  <a:srgbClr val="686B72"/>
                </a:solidFill>
                <a:latin typeface="맑은 고딕"/>
                <a:ea typeface="맑은 고딕"/>
                <a:cs typeface="맑은 고딕"/>
              </a:defRPr>
            </a:lvl2pPr>
            <a:lvl3pPr algn="l">
              <a:defRPr sz="1598" b="0">
                <a:solidFill>
                  <a:srgbClr val="686B72"/>
                </a:solidFill>
                <a:latin typeface="맑은 고딕"/>
                <a:ea typeface="맑은 고딕"/>
                <a:cs typeface="맑은 고딕"/>
              </a:defRPr>
            </a:lvl3pPr>
            <a:lvl4pPr algn="l">
              <a:defRPr sz="1598" b="0">
                <a:solidFill>
                  <a:srgbClr val="686B72"/>
                </a:solidFill>
                <a:latin typeface="맑은 고딕"/>
                <a:ea typeface="맑은 고딕"/>
                <a:cs typeface="맑은 고딕"/>
              </a:defRPr>
            </a:lvl4pPr>
            <a:lvl5pPr algn="l">
              <a:defRPr sz="1598" b="0">
                <a:solidFill>
                  <a:srgbClr val="686B72"/>
                </a:solidFill>
                <a:latin typeface="맑은 고딕"/>
                <a:ea typeface="맑은 고딕"/>
                <a:cs typeface="맑은 고딕"/>
              </a:defRPr>
            </a:lvl5pPr>
            <a:lvl6pPr algn="l">
              <a:defRPr sz="1598" b="0">
                <a:solidFill>
                  <a:srgbClr val="686B72"/>
                </a:solidFill>
                <a:latin typeface="맑은 고딕"/>
                <a:ea typeface="맑은 고딕"/>
                <a:cs typeface="맑은 고딕"/>
              </a:defRPr>
            </a:lvl6pPr>
            <a:lvl7pPr algn="l">
              <a:defRPr sz="1598" b="0">
                <a:solidFill>
                  <a:srgbClr val="686B72"/>
                </a:solidFill>
                <a:latin typeface="맑은 고딕"/>
                <a:ea typeface="맑은 고딕"/>
                <a:cs typeface="맑은 고딕"/>
              </a:defRPr>
            </a:lvl7pPr>
            <a:lvl8pPr algn="l">
              <a:defRPr sz="1598" b="0">
                <a:solidFill>
                  <a:srgbClr val="686B72"/>
                </a:solidFill>
                <a:latin typeface="맑은 고딕"/>
                <a:ea typeface="맑은 고딕"/>
                <a:cs typeface="맑은 고딕"/>
              </a:defRPr>
            </a:lvl8pPr>
            <a:lvl9pPr algn="l">
              <a:defRPr sz="1598" b="0">
                <a:solidFill>
                  <a:srgbClr val="686B72"/>
                </a:solidFill>
                <a:latin typeface="맑은 고딕"/>
                <a:ea typeface="맑은 고딕"/>
                <a:cs typeface="맑은 고딕"/>
              </a:defRPr>
            </a:lvl9pPr>
          </a:lstStyle>
          <a:p>
            <a:pPr algn="l">
              <a:defRPr sz="1598" b="0">
                <a:solidFill>
                  <a:srgbClr val="686B72"/>
                </a:solidFill>
                <a:latin typeface="맑은 고딕"/>
                <a:ea typeface="맑은 고딕"/>
                <a:cs typeface="맑은 고딕"/>
              </a:defRPr>
            </a:pPr>
            <a:r>
              <a:rPr sz="1598" b="0">
                <a:solidFill>
                  <a:srgbClr val="686B72"/>
                </a:solidFill>
                <a:latin typeface="맑은 고딕"/>
                <a:ea typeface="맑은 고딕"/>
                <a:cs typeface="맑은 고딕"/>
              </a:rPr>
              <a:t>변형이 답변에 전파된 선정 사례</a:t>
            </a:r>
          </a:p>
        </p:txBody>
      </p:sp>
      <p:sp>
        <p:nvSpPr>
          <p:cNvPr id="13" name="own-text-71">
            <a:extLst>
              <a:ext uri="{FF2B5EF4-FFF2-40B4-BE49-F238E27FC236}">
                <a16:creationId xmlns:a16="http://schemas.microsoft.com/office/drawing/2014/main" id="{0671396D-FAC9-4B21-90CF-2AB745BFA622}"/>
              </a:ext>
            </a:extLst>
          </p:cNvPr>
          <p:cNvSpPr>
            <a:spLocks noGrp="1"/>
          </p:cNvSpPr>
          <p:nvPr/>
        </p:nvSpPr>
        <p:spPr>
          <a:xfrm>
            <a:off x="628650" y="4629150"/>
            <a:ext cx="5810250" cy="552450"/>
          </a:xfrm>
          <a:prstGeom prst="rect">
            <a:avLst/>
          </a:prstGeom>
          <a:noFill/>
          <a:ln w="0">
            <a:noFill/>
          </a:ln>
        </p:spPr>
        <p:txBody>
          <a:bodyPr wrap="square" lIns="0" tIns="0" rIns="0" bIns="0" anchor="t">
            <a:noAutofit/>
          </a:bodyPr>
          <a:lstStyle>
            <a:defPPr algn="l">
              <a:defRPr sz="3000" b="1">
                <a:solidFill>
                  <a:srgbClr val="F72585"/>
                </a:solidFill>
                <a:latin typeface="맑은 고딕"/>
                <a:ea typeface="맑은 고딕"/>
                <a:cs typeface="맑은 고딕"/>
              </a:defRPr>
            </a:defPPr>
            <a:lvl1pPr algn="l">
              <a:defRPr sz="3000" b="1">
                <a:solidFill>
                  <a:srgbClr val="F72585"/>
                </a:solidFill>
                <a:latin typeface="맑은 고딕"/>
                <a:ea typeface="맑은 고딕"/>
                <a:cs typeface="맑은 고딕"/>
              </a:defRPr>
            </a:lvl1pPr>
            <a:lvl2pPr algn="l">
              <a:defRPr sz="3000" b="1">
                <a:solidFill>
                  <a:srgbClr val="F72585"/>
                </a:solidFill>
                <a:latin typeface="맑은 고딕"/>
                <a:ea typeface="맑은 고딕"/>
                <a:cs typeface="맑은 고딕"/>
              </a:defRPr>
            </a:lvl2pPr>
            <a:lvl3pPr algn="l">
              <a:defRPr sz="3000" b="1">
                <a:solidFill>
                  <a:srgbClr val="F72585"/>
                </a:solidFill>
                <a:latin typeface="맑은 고딕"/>
                <a:ea typeface="맑은 고딕"/>
                <a:cs typeface="맑은 고딕"/>
              </a:defRPr>
            </a:lvl3pPr>
            <a:lvl4pPr algn="l">
              <a:defRPr sz="3000" b="1">
                <a:solidFill>
                  <a:srgbClr val="F72585"/>
                </a:solidFill>
                <a:latin typeface="맑은 고딕"/>
                <a:ea typeface="맑은 고딕"/>
                <a:cs typeface="맑은 고딕"/>
              </a:defRPr>
            </a:lvl4pPr>
            <a:lvl5pPr algn="l">
              <a:defRPr sz="3000" b="1">
                <a:solidFill>
                  <a:srgbClr val="F72585"/>
                </a:solidFill>
                <a:latin typeface="맑은 고딕"/>
                <a:ea typeface="맑은 고딕"/>
                <a:cs typeface="맑은 고딕"/>
              </a:defRPr>
            </a:lvl5pPr>
            <a:lvl6pPr algn="l">
              <a:defRPr sz="3000" b="1">
                <a:solidFill>
                  <a:srgbClr val="F72585"/>
                </a:solidFill>
                <a:latin typeface="맑은 고딕"/>
                <a:ea typeface="맑은 고딕"/>
                <a:cs typeface="맑은 고딕"/>
              </a:defRPr>
            </a:lvl6pPr>
            <a:lvl7pPr algn="l">
              <a:defRPr sz="3000" b="1">
                <a:solidFill>
                  <a:srgbClr val="F72585"/>
                </a:solidFill>
                <a:latin typeface="맑은 고딕"/>
                <a:ea typeface="맑은 고딕"/>
                <a:cs typeface="맑은 고딕"/>
              </a:defRPr>
            </a:lvl7pPr>
            <a:lvl8pPr algn="l">
              <a:defRPr sz="3000" b="1">
                <a:solidFill>
                  <a:srgbClr val="F72585"/>
                </a:solidFill>
                <a:latin typeface="맑은 고딕"/>
                <a:ea typeface="맑은 고딕"/>
                <a:cs typeface="맑은 고딕"/>
              </a:defRPr>
            </a:lvl8pPr>
            <a:lvl9pPr algn="l">
              <a:defRPr sz="3000" b="1">
                <a:solidFill>
                  <a:srgbClr val="F72585"/>
                </a:solidFill>
                <a:latin typeface="맑은 고딕"/>
                <a:ea typeface="맑은 고딕"/>
                <a:cs typeface="맑은 고딕"/>
              </a:defRPr>
            </a:lvl9pPr>
          </a:lstStyle>
          <a:p>
            <a:pPr algn="l">
              <a:defRPr sz="3000" b="1">
                <a:solidFill>
                  <a:srgbClr val="F72585"/>
                </a:solidFill>
                <a:latin typeface="맑은 고딕"/>
                <a:ea typeface="맑은 고딕"/>
                <a:cs typeface="맑은 고딕"/>
              </a:defRPr>
            </a:pPr>
            <a:r>
              <a:rPr sz="3000" b="1">
                <a:solidFill>
                  <a:srgbClr val="F72585"/>
                </a:solidFill>
                <a:latin typeface="맑은 고딕"/>
                <a:ea typeface="맑은 고딕"/>
                <a:cs typeface="맑은 고딕"/>
              </a:rPr>
              <a:t>8건에서 3건</a:t>
            </a:r>
          </a:p>
        </p:txBody>
      </p:sp>
      <p:sp>
        <p:nvSpPr>
          <p:cNvPr id="14" name="own-text-72">
            <a:extLst>
              <a:ext uri="{FF2B5EF4-FFF2-40B4-BE49-F238E27FC236}">
                <a16:creationId xmlns:a16="http://schemas.microsoft.com/office/drawing/2014/main" id="{4D80BABA-AD7A-48A1-A0A6-2BA995C17BD8}"/>
              </a:ext>
            </a:extLst>
          </p:cNvPr>
          <p:cNvSpPr>
            <a:spLocks noGrp="1"/>
          </p:cNvSpPr>
          <p:nvPr/>
        </p:nvSpPr>
        <p:spPr>
          <a:xfrm>
            <a:off x="628650" y="5372100"/>
            <a:ext cx="5810250" cy="704850"/>
          </a:xfrm>
          <a:prstGeom prst="rect">
            <a:avLst/>
          </a:prstGeom>
          <a:noFill/>
          <a:ln w="0">
            <a:noFill/>
          </a:ln>
        </p:spPr>
        <p:txBody>
          <a:bodyPr wrap="square" lIns="0" tIns="0" rIns="0" bIns="0" anchor="t">
            <a:noAutofit/>
          </a:bodyPr>
          <a:lstStyle>
            <a:defPPr algn="l">
              <a:defRPr sz="1598" b="0">
                <a:solidFill>
                  <a:srgbClr val="17171A"/>
                </a:solidFill>
                <a:latin typeface="맑은 고딕"/>
                <a:ea typeface="맑은 고딕"/>
                <a:cs typeface="맑은 고딕"/>
              </a:defRPr>
            </a:defPPr>
            <a:lvl1pPr algn="l">
              <a:defRPr sz="1598" b="0">
                <a:solidFill>
                  <a:srgbClr val="17171A"/>
                </a:solidFill>
                <a:latin typeface="맑은 고딕"/>
                <a:ea typeface="맑은 고딕"/>
                <a:cs typeface="맑은 고딕"/>
              </a:defRPr>
            </a:lvl1pPr>
            <a:lvl2pPr algn="l">
              <a:defRPr sz="1598" b="0">
                <a:solidFill>
                  <a:srgbClr val="17171A"/>
                </a:solidFill>
                <a:latin typeface="맑은 고딕"/>
                <a:ea typeface="맑은 고딕"/>
                <a:cs typeface="맑은 고딕"/>
              </a:defRPr>
            </a:lvl2pPr>
            <a:lvl3pPr algn="l">
              <a:defRPr sz="1598" b="0">
                <a:solidFill>
                  <a:srgbClr val="17171A"/>
                </a:solidFill>
                <a:latin typeface="맑은 고딕"/>
                <a:ea typeface="맑은 고딕"/>
                <a:cs typeface="맑은 고딕"/>
              </a:defRPr>
            </a:lvl3pPr>
            <a:lvl4pPr algn="l">
              <a:defRPr sz="1598" b="0">
                <a:solidFill>
                  <a:srgbClr val="17171A"/>
                </a:solidFill>
                <a:latin typeface="맑은 고딕"/>
                <a:ea typeface="맑은 고딕"/>
                <a:cs typeface="맑은 고딕"/>
              </a:defRPr>
            </a:lvl4pPr>
            <a:lvl5pPr algn="l">
              <a:defRPr sz="1598" b="0">
                <a:solidFill>
                  <a:srgbClr val="17171A"/>
                </a:solidFill>
                <a:latin typeface="맑은 고딕"/>
                <a:ea typeface="맑은 고딕"/>
                <a:cs typeface="맑은 고딕"/>
              </a:defRPr>
            </a:lvl5pPr>
            <a:lvl6pPr algn="l">
              <a:defRPr sz="1598" b="0">
                <a:solidFill>
                  <a:srgbClr val="17171A"/>
                </a:solidFill>
                <a:latin typeface="맑은 고딕"/>
                <a:ea typeface="맑은 고딕"/>
                <a:cs typeface="맑은 고딕"/>
              </a:defRPr>
            </a:lvl6pPr>
            <a:lvl7pPr algn="l">
              <a:defRPr sz="1598" b="0">
                <a:solidFill>
                  <a:srgbClr val="17171A"/>
                </a:solidFill>
                <a:latin typeface="맑은 고딕"/>
                <a:ea typeface="맑은 고딕"/>
                <a:cs typeface="맑은 고딕"/>
              </a:defRPr>
            </a:lvl7pPr>
            <a:lvl8pPr algn="l">
              <a:defRPr sz="1598" b="0">
                <a:solidFill>
                  <a:srgbClr val="17171A"/>
                </a:solidFill>
                <a:latin typeface="맑은 고딕"/>
                <a:ea typeface="맑은 고딕"/>
                <a:cs typeface="맑은 고딕"/>
              </a:defRPr>
            </a:lvl8pPr>
            <a:lvl9pPr algn="l">
              <a:defRPr sz="1598" b="0">
                <a:solidFill>
                  <a:srgbClr val="17171A"/>
                </a:solidFill>
                <a:latin typeface="맑은 고딕"/>
                <a:ea typeface="맑은 고딕"/>
                <a:cs typeface="맑은 고딕"/>
              </a:defRPr>
            </a:lvl9pPr>
          </a:lstStyle>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원문·원문을 보존한 질문 조각 모두 76/100</a:t>
            </a:r>
          </a:p>
          <a:p>
            <a:pPr algn="l">
              <a:defRPr sz="1598" b="0">
                <a:solidFill>
                  <a:srgbClr val="17171A"/>
                </a:solidFill>
                <a:latin typeface="맑은 고딕"/>
                <a:ea typeface="맑은 고딕"/>
                <a:cs typeface="맑은 고딕"/>
              </a:defRPr>
            </a:pPr>
            <a:r>
              <a:rPr sz="1598" b="0">
                <a:solidFill>
                  <a:srgbClr val="17171A"/>
                </a:solidFill>
                <a:latin typeface="맑은 고딕"/>
                <a:ea typeface="맑은 고딕"/>
                <a:cs typeface="맑은 고딕"/>
              </a:rPr>
              <a:t>검색어 검사로 실제 변형 9/300건 탐지</a:t>
            </a:r>
          </a:p>
        </p:txBody>
      </p:sp>
      <p:sp>
        <p:nvSpPr>
          <p:cNvPr id="15" name="own-text-73">
            <a:extLst>
              <a:ext uri="{FF2B5EF4-FFF2-40B4-BE49-F238E27FC236}">
                <a16:creationId xmlns:a16="http://schemas.microsoft.com/office/drawing/2014/main" id="{17B8BFFF-0632-45A3-B30D-AF1DE0CE5D06}"/>
              </a:ext>
            </a:extLst>
          </p:cNvPr>
          <p:cNvSpPr>
            <a:spLocks noGrp="1"/>
          </p:cNvSpPr>
          <p:nvPr/>
        </p:nvSpPr>
        <p:spPr>
          <a:xfrm>
            <a:off x="7086600" y="2105025"/>
            <a:ext cx="6000750" cy="361950"/>
          </a:xfrm>
          <a:prstGeom prst="rect">
            <a:avLst/>
          </a:prstGeom>
          <a:noFill/>
          <a:ln w="0">
            <a:noFill/>
          </a:ln>
        </p:spPr>
        <p:txBody>
          <a:bodyPr wrap="square" lIns="0" tIns="0" rIns="0" bIns="0" anchor="t">
            <a:noAutofit/>
          </a:bodyPr>
          <a:lstStyle>
            <a:defPPr algn="l">
              <a:defRPr sz="2198" b="1">
                <a:solidFill>
                  <a:srgbClr val="17171A"/>
                </a:solidFill>
                <a:latin typeface="맑은 고딕"/>
                <a:ea typeface="맑은 고딕"/>
                <a:cs typeface="맑은 고딕"/>
              </a:defRPr>
            </a:defPPr>
            <a:lvl1pPr algn="l">
              <a:defRPr sz="2198" b="1">
                <a:solidFill>
                  <a:srgbClr val="17171A"/>
                </a:solidFill>
                <a:latin typeface="맑은 고딕"/>
                <a:ea typeface="맑은 고딕"/>
                <a:cs typeface="맑은 고딕"/>
              </a:defRPr>
            </a:lvl1pPr>
            <a:lvl2pPr algn="l">
              <a:defRPr sz="2198" b="1">
                <a:solidFill>
                  <a:srgbClr val="17171A"/>
                </a:solidFill>
                <a:latin typeface="맑은 고딕"/>
                <a:ea typeface="맑은 고딕"/>
                <a:cs typeface="맑은 고딕"/>
              </a:defRPr>
            </a:lvl2pPr>
            <a:lvl3pPr algn="l">
              <a:defRPr sz="2198" b="1">
                <a:solidFill>
                  <a:srgbClr val="17171A"/>
                </a:solidFill>
                <a:latin typeface="맑은 고딕"/>
                <a:ea typeface="맑은 고딕"/>
                <a:cs typeface="맑은 고딕"/>
              </a:defRPr>
            </a:lvl3pPr>
            <a:lvl4pPr algn="l">
              <a:defRPr sz="2198" b="1">
                <a:solidFill>
                  <a:srgbClr val="17171A"/>
                </a:solidFill>
                <a:latin typeface="맑은 고딕"/>
                <a:ea typeface="맑은 고딕"/>
                <a:cs typeface="맑은 고딕"/>
              </a:defRPr>
            </a:lvl4pPr>
            <a:lvl5pPr algn="l">
              <a:defRPr sz="2198" b="1">
                <a:solidFill>
                  <a:srgbClr val="17171A"/>
                </a:solidFill>
                <a:latin typeface="맑은 고딕"/>
                <a:ea typeface="맑은 고딕"/>
                <a:cs typeface="맑은 고딕"/>
              </a:defRPr>
            </a:lvl5pPr>
            <a:lvl6pPr algn="l">
              <a:defRPr sz="2198" b="1">
                <a:solidFill>
                  <a:srgbClr val="17171A"/>
                </a:solidFill>
                <a:latin typeface="맑은 고딕"/>
                <a:ea typeface="맑은 고딕"/>
                <a:cs typeface="맑은 고딕"/>
              </a:defRPr>
            </a:lvl6pPr>
            <a:lvl7pPr algn="l">
              <a:defRPr sz="2198" b="1">
                <a:solidFill>
                  <a:srgbClr val="17171A"/>
                </a:solidFill>
                <a:latin typeface="맑은 고딕"/>
                <a:ea typeface="맑은 고딕"/>
                <a:cs typeface="맑은 고딕"/>
              </a:defRPr>
            </a:lvl7pPr>
            <a:lvl8pPr algn="l">
              <a:defRPr sz="2198" b="1">
                <a:solidFill>
                  <a:srgbClr val="17171A"/>
                </a:solidFill>
                <a:latin typeface="맑은 고딕"/>
                <a:ea typeface="맑은 고딕"/>
                <a:cs typeface="맑은 고딕"/>
              </a:defRPr>
            </a:lvl8pPr>
            <a:lvl9pPr algn="l">
              <a:defRPr sz="2198" b="1">
                <a:solidFill>
                  <a:srgbClr val="17171A"/>
                </a:solidFill>
                <a:latin typeface="맑은 고딕"/>
                <a:ea typeface="맑은 고딕"/>
                <a:cs typeface="맑은 고딕"/>
              </a:defRPr>
            </a:lvl9pPr>
          </a:lstStyle>
          <a:p>
            <a:pPr algn="l">
              <a:defRPr sz="2198" b="1">
                <a:solidFill>
                  <a:srgbClr val="17171A"/>
                </a:solidFill>
                <a:latin typeface="맑은 고딕"/>
                <a:ea typeface="맑은 고딕"/>
                <a:cs typeface="맑은 고딕"/>
              </a:defRPr>
            </a:pPr>
            <a:r>
              <a:rPr sz="2198" b="1">
                <a:solidFill>
                  <a:srgbClr val="17171A"/>
                </a:solidFill>
                <a:latin typeface="맑은 고딕"/>
                <a:ea typeface="맑은 고딕"/>
                <a:cs typeface="맑은 고딕"/>
              </a:rPr>
              <a:t>판정 LLM 호출 생략</a:t>
            </a:r>
          </a:p>
        </p:txBody>
      </p:sp>
      <p:graphicFrame>
        <p:nvGraphicFramePr>
          <p:cNvPr id="16" name="표 15">
            <a:extLst>
              <a:ext uri="{FF2B5EF4-FFF2-40B4-BE49-F238E27FC236}">
                <a16:creationId xmlns:a16="http://schemas.microsoft.com/office/drawing/2014/main" id="{A3D6781B-C215-4B33-8CC7-BCFFB8CC83B7}"/>
              </a:ext>
            </a:extLst>
          </p:cNvPr>
          <p:cNvGraphicFramePr/>
          <p:nvPr/>
        </p:nvGraphicFramePr>
        <p:xfrm>
          <a:off x="7086600" y="2686050"/>
          <a:ext cx="6000750" cy="2400300"/>
        </p:xfrm>
        <a:graphic>
          <a:graphicData uri="http://schemas.openxmlformats.org/drawingml/2006/table">
            <a:tbl>
              <a:tblPr/>
              <a:tblGrid>
                <a:gridCol w="2876550">
                  <a:extLst>
                    <a:ext uri="{9D8B030D-6E8A-4147-A177-3AD203B41FA5}">
                      <a16:colId xmlns:a16="http://schemas.microsoft.com/office/drawing/2014/main" val="20000"/>
                    </a:ext>
                  </a:extLst>
                </a:gridCol>
                <a:gridCol w="1657350">
                  <a:extLst>
                    <a:ext uri="{9D8B030D-6E8A-4147-A177-3AD203B41FA5}">
                      <a16:colId xmlns:a16="http://schemas.microsoft.com/office/drawing/2014/main" val="20001"/>
                    </a:ext>
                  </a:extLst>
                </a:gridCol>
                <a:gridCol w="1466850">
                  <a:extLst>
                    <a:ext uri="{9D8B030D-6E8A-4147-A177-3AD203B41FA5}">
                      <a16:colId xmlns:a16="http://schemas.microsoft.com/office/drawing/2014/main" val="20002"/>
                    </a:ext>
                  </a:extLst>
                </a:gridCol>
              </a:tblGrid>
              <a:tr h="600075">
                <a:tc>
                  <a:txBody>
                    <a:bodyPr/>
                    <a:lstStyle/>
                    <a:p>
                      <a:r>
                        <a:rPr sz="1748" b="1">
                          <a:solidFill>
                            <a:srgbClr val="FFFFFF"/>
                          </a:solidFill>
                          <a:latin typeface="맑은 고딕"/>
                          <a:ea typeface="맑은 고딕"/>
                          <a:cs typeface="맑은 고딕"/>
                        </a:rPr>
                        <a:t>평가 집합</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생략</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748" b="1">
                          <a:solidFill>
                            <a:srgbClr val="FFFFFF"/>
                          </a:solidFill>
                          <a:latin typeface="맑은 고딕"/>
                          <a:ea typeface="맑은 고딕"/>
                          <a:cs typeface="맑은 고딕"/>
                        </a:rPr>
                        <a:t>비율</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600075">
                <a:tc>
                  <a:txBody>
                    <a:bodyPr/>
                    <a:lstStyle/>
                    <a:p>
                      <a:r>
                        <a:rPr sz="1748" b="0">
                          <a:solidFill>
                            <a:srgbClr val="17171A"/>
                          </a:solidFill>
                          <a:latin typeface="맑은 고딕"/>
                          <a:ea typeface="맑은 고딕"/>
                          <a:cs typeface="맑은 고딕"/>
                        </a:rPr>
                        <a:t>이력 없는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66 / 141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748" b="0">
                          <a:solidFill>
                            <a:srgbClr val="17171A"/>
                          </a:solidFill>
                          <a:latin typeface="맑은 고딕"/>
                          <a:ea typeface="맑은 고딕"/>
                          <a:cs typeface="맑은 고딕"/>
                        </a:rPr>
                        <a:t>46.8%</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600075">
                <a:tc>
                  <a:txBody>
                    <a:bodyPr/>
                    <a:lstStyle/>
                    <a:p>
                      <a:r>
                        <a:rPr sz="1748" b="1">
                          <a:solidFill>
                            <a:srgbClr val="F72585"/>
                          </a:solidFill>
                          <a:latin typeface="맑은 고딕"/>
                          <a:ea typeface="맑은 고딕"/>
                          <a:cs typeface="맑은 고딕"/>
                        </a:rPr>
                        <a:t>파이프라인 최종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174 / 390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44.6%</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2"/>
                  </a:ext>
                </a:extLst>
              </a:tr>
              <a:tr h="600075">
                <a:tc>
                  <a:txBody>
                    <a:bodyPr/>
                    <a:lstStyle/>
                    <a:p>
                      <a:r>
                        <a:rPr sz="1748" b="1">
                          <a:solidFill>
                            <a:srgbClr val="F72585"/>
                          </a:solidFill>
                          <a:latin typeface="맑은 고딕"/>
                          <a:ea typeface="맑은 고딕"/>
                          <a:cs typeface="맑은 고딕"/>
                        </a:rPr>
                        <a:t>기본 단건 질문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49 / 50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748" b="1">
                          <a:solidFill>
                            <a:srgbClr val="F72585"/>
                          </a:solidFill>
                          <a:latin typeface="맑은 고딕"/>
                          <a:ea typeface="맑은 고딕"/>
                          <a:cs typeface="맑은 고딕"/>
                        </a:rPr>
                        <a:t>98.0%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bl>
          </a:graphicData>
        </a:graphic>
      </p:graphicFrame>
      <p:sp>
        <p:nvSpPr>
          <p:cNvPr id="17" name="own-text-74">
            <a:extLst>
              <a:ext uri="{FF2B5EF4-FFF2-40B4-BE49-F238E27FC236}">
                <a16:creationId xmlns:a16="http://schemas.microsoft.com/office/drawing/2014/main" id="{1C49C42E-FBB2-4D06-B05A-037DBF03F5CD}"/>
              </a:ext>
            </a:extLst>
          </p:cNvPr>
          <p:cNvSpPr>
            <a:spLocks noGrp="1"/>
          </p:cNvSpPr>
          <p:nvPr/>
        </p:nvSpPr>
        <p:spPr>
          <a:xfrm>
            <a:off x="7086600" y="5457825"/>
            <a:ext cx="6000750" cy="38100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390건에서 216건만 판정 호출</a:t>
            </a:r>
          </a:p>
        </p:txBody>
      </p:sp>
      <p:sp>
        <p:nvSpPr>
          <p:cNvPr id="18" name="own-text-75">
            <a:extLst>
              <a:ext uri="{FF2B5EF4-FFF2-40B4-BE49-F238E27FC236}">
                <a16:creationId xmlns:a16="http://schemas.microsoft.com/office/drawing/2014/main" id="{2ED65A11-1716-4E3F-8275-ADB3778A180E}"/>
              </a:ext>
            </a:extLst>
          </p:cNvPr>
          <p:cNvSpPr>
            <a:spLocks noGrp="1"/>
          </p:cNvSpPr>
          <p:nvPr/>
        </p:nvSpPr>
        <p:spPr>
          <a:xfrm>
            <a:off x="7086600" y="5972175"/>
            <a:ext cx="6000750" cy="52387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생략률은 판정 호출 기준</a:t>
            </a:r>
          </a:p>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답변·도구·재호출을 합친 전체 호출 절감률과 구분</a:t>
            </a:r>
          </a:p>
        </p:txBody>
      </p:sp>
    </p:spTree>
    <p:extLst>
      <p:ext uri="{BB962C8B-B14F-4D97-AF65-F5344CB8AC3E}">
        <p14:creationId xmlns:p14="http://schemas.microsoft.com/office/powerpoint/2010/main" val="3347802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직선 화살표 연결선 10">
            <a:extLst>
              <a:ext uri="{FF2B5EF4-FFF2-40B4-BE49-F238E27FC236}">
                <a16:creationId xmlns:a16="http://schemas.microsoft.com/office/drawing/2014/main" id="{7F4212A6-9456-41AA-ABB1-70FED2A69AAA}"/>
              </a:ext>
            </a:extLst>
          </p:cNvPr>
          <p:cNvCxnSpPr>
            <a:stCxn id="8" idx="3"/>
            <a:endCxn id="9" idx="1"/>
          </p:cNvCxnSpPr>
          <p:nvPr/>
        </p:nvCxnSpPr>
        <p:spPr>
          <a:xfrm>
            <a:off x="9410700" y="2447925"/>
            <a:ext cx="752475" cy="0"/>
          </a:xfrm>
          <a:prstGeom prst="straightConnector1">
            <a:avLst/>
          </a:prstGeom>
          <a:ln w="19050">
            <a:solidFill>
              <a:srgbClr val="F72585"/>
            </a:solidFill>
            <a:prstDash val="solid"/>
            <a:tailEnd type="triangle" w="sm" len="sm"/>
          </a:ln>
        </p:spPr>
      </p:cxnSp>
      <p:cxnSp>
        <p:nvCxnSpPr>
          <p:cNvPr id="10" name="직선 화살표 연결선 9">
            <a:extLst>
              <a:ext uri="{FF2B5EF4-FFF2-40B4-BE49-F238E27FC236}">
                <a16:creationId xmlns:a16="http://schemas.microsoft.com/office/drawing/2014/main" id="{648B3548-A389-48CE-BA4A-1D13B38C23F6}"/>
              </a:ext>
            </a:extLst>
          </p:cNvPr>
          <p:cNvCxnSpPr>
            <a:stCxn id="7" idx="3"/>
            <a:endCxn id="8" idx="1"/>
          </p:cNvCxnSpPr>
          <p:nvPr/>
        </p:nvCxnSpPr>
        <p:spPr>
          <a:xfrm>
            <a:off x="5676900" y="2447925"/>
            <a:ext cx="809625" cy="0"/>
          </a:xfrm>
          <a:prstGeom prst="straightConnector1">
            <a:avLst/>
          </a:prstGeom>
          <a:ln w="19050">
            <a:solidFill>
              <a:srgbClr val="F72585"/>
            </a:solidFill>
            <a:prstDash val="solid"/>
            <a:tailEnd type="triangle" w="sm" len="sm"/>
          </a:ln>
        </p:spPr>
      </p:cxnSp>
      <p:sp>
        <p:nvSpPr>
          <p:cNvPr id="15" name="own-text-76">
            <a:extLst>
              <a:ext uri="{FF2B5EF4-FFF2-40B4-BE49-F238E27FC236}">
                <a16:creationId xmlns:a16="http://schemas.microsoft.com/office/drawing/2014/main" id="{84E949A7-E14F-43DC-904C-7ECC356767B5}"/>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AI 품질 고도화  |  판정 LLM</a:t>
            </a:r>
          </a:p>
        </p:txBody>
      </p:sp>
      <p:sp>
        <p:nvSpPr>
          <p:cNvPr id="2" name="own-text-77">
            <a:extLst>
              <a:ext uri="{FF2B5EF4-FFF2-40B4-BE49-F238E27FC236}">
                <a16:creationId xmlns:a16="http://schemas.microsoft.com/office/drawing/2014/main" id="{BDBF4AB3-8E21-4A32-8A65-2C5C851BCA1A}"/>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질문별로 답변 칸을 나눠 출력 제어</a:t>
            </a:r>
          </a:p>
        </p:txBody>
      </p:sp>
      <p:sp>
        <p:nvSpPr>
          <p:cNvPr id="3" name="own-text-78">
            <a:extLst>
              <a:ext uri="{FF2B5EF4-FFF2-40B4-BE49-F238E27FC236}">
                <a16:creationId xmlns:a16="http://schemas.microsoft.com/office/drawing/2014/main" id="{5EF2C427-E1FF-44FB-841B-15A80E1172D6}"/>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질문마다 답변과 답변 가능 여부를 따로 받고, 답할 수 있는 본문만 합친 뒤 안내를 부착</a:t>
            </a:r>
          </a:p>
        </p:txBody>
      </p:sp>
      <p:sp>
        <p:nvSpPr>
          <p:cNvPr id="4" name="own-text-79">
            <a:extLst>
              <a:ext uri="{FF2B5EF4-FFF2-40B4-BE49-F238E27FC236}">
                <a16:creationId xmlns:a16="http://schemas.microsoft.com/office/drawing/2014/main" id="{F2686CE6-9FE1-4933-857F-10063121CD2A}"/>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80">
            <a:extLst>
              <a:ext uri="{FF2B5EF4-FFF2-40B4-BE49-F238E27FC236}">
                <a16:creationId xmlns:a16="http://schemas.microsoft.com/office/drawing/2014/main" id="{8710BA92-1BD2-496A-8050-7A9A1B2EECB0}"/>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15</a:t>
            </a:r>
            <a:endParaRPr sz="1300" b="0">
              <a:solidFill>
                <a:srgbClr val="686B72"/>
              </a:solidFill>
              <a:latin typeface="맑은 고딕"/>
              <a:ea typeface="맑은 고딕"/>
              <a:cs typeface="맑은 고딕"/>
            </a:endParaRPr>
          </a:p>
        </p:txBody>
      </p:sp>
      <p:sp>
        <p:nvSpPr>
          <p:cNvPr id="6" name="own-text-81">
            <a:extLst>
              <a:ext uri="{FF2B5EF4-FFF2-40B4-BE49-F238E27FC236}">
                <a16:creationId xmlns:a16="http://schemas.microsoft.com/office/drawing/2014/main" id="{E1BE73D6-21B4-4439-B93F-96E32C346EF1}"/>
              </a:ext>
            </a:extLst>
          </p:cNvPr>
          <p:cNvSpPr>
            <a:spLocks noGrp="1"/>
          </p:cNvSpPr>
          <p:nvPr/>
        </p:nvSpPr>
        <p:spPr>
          <a:xfrm>
            <a:off x="628650" y="6610350"/>
            <a:ext cx="12458700" cy="400050"/>
          </a:xfrm>
          <a:prstGeom prst="rect">
            <a:avLst/>
          </a:prstGeom>
          <a:noFill/>
          <a:ln w="0">
            <a:noFill/>
          </a:ln>
        </p:spPr>
        <p:txBody>
          <a:bodyPr wrap="square" lIns="0" tIns="0" rIns="0" bIns="0" anchor="t">
            <a:noAutofit/>
          </a:bodyPr>
          <a:lstStyle>
            <a:defPPr algn="l">
              <a:defRPr sz="1155" b="0">
                <a:solidFill>
                  <a:srgbClr val="686B72"/>
                </a:solidFill>
                <a:latin typeface="맑은 고딕"/>
                <a:ea typeface="맑은 고딕"/>
                <a:cs typeface="맑은 고딕"/>
              </a:defRPr>
            </a:defPPr>
            <a:lvl1pPr algn="l">
              <a:defRPr sz="1155" b="0">
                <a:solidFill>
                  <a:srgbClr val="686B72"/>
                </a:solidFill>
                <a:latin typeface="맑은 고딕"/>
                <a:ea typeface="맑은 고딕"/>
                <a:cs typeface="맑은 고딕"/>
              </a:defRPr>
            </a:lvl1pPr>
            <a:lvl2pPr algn="l">
              <a:defRPr sz="1155" b="0">
                <a:solidFill>
                  <a:srgbClr val="686B72"/>
                </a:solidFill>
                <a:latin typeface="맑은 고딕"/>
                <a:ea typeface="맑은 고딕"/>
                <a:cs typeface="맑은 고딕"/>
              </a:defRPr>
            </a:lvl2pPr>
            <a:lvl3pPr algn="l">
              <a:defRPr sz="1155" b="0">
                <a:solidFill>
                  <a:srgbClr val="686B72"/>
                </a:solidFill>
                <a:latin typeface="맑은 고딕"/>
                <a:ea typeface="맑은 고딕"/>
                <a:cs typeface="맑은 고딕"/>
              </a:defRPr>
            </a:lvl3pPr>
            <a:lvl4pPr algn="l">
              <a:defRPr sz="1155" b="0">
                <a:solidFill>
                  <a:srgbClr val="686B72"/>
                </a:solidFill>
                <a:latin typeface="맑은 고딕"/>
                <a:ea typeface="맑은 고딕"/>
                <a:cs typeface="맑은 고딕"/>
              </a:defRPr>
            </a:lvl4pPr>
            <a:lvl5pPr algn="l">
              <a:defRPr sz="1155" b="0">
                <a:solidFill>
                  <a:srgbClr val="686B72"/>
                </a:solidFill>
                <a:latin typeface="맑은 고딕"/>
                <a:ea typeface="맑은 고딕"/>
                <a:cs typeface="맑은 고딕"/>
              </a:defRPr>
            </a:lvl5pPr>
            <a:lvl6pPr algn="l">
              <a:defRPr sz="1155" b="0">
                <a:solidFill>
                  <a:srgbClr val="686B72"/>
                </a:solidFill>
                <a:latin typeface="맑은 고딕"/>
                <a:ea typeface="맑은 고딕"/>
                <a:cs typeface="맑은 고딕"/>
              </a:defRPr>
            </a:lvl6pPr>
            <a:lvl7pPr algn="l">
              <a:defRPr sz="1155" b="0">
                <a:solidFill>
                  <a:srgbClr val="686B72"/>
                </a:solidFill>
                <a:latin typeface="맑은 고딕"/>
                <a:ea typeface="맑은 고딕"/>
                <a:cs typeface="맑은 고딕"/>
              </a:defRPr>
            </a:lvl7pPr>
            <a:lvl8pPr algn="l">
              <a:defRPr sz="1155" b="0">
                <a:solidFill>
                  <a:srgbClr val="686B72"/>
                </a:solidFill>
                <a:latin typeface="맑은 고딕"/>
                <a:ea typeface="맑은 고딕"/>
                <a:cs typeface="맑은 고딕"/>
              </a:defRPr>
            </a:lvl8pPr>
            <a:lvl9pPr algn="l">
              <a:defRPr sz="1155" b="0">
                <a:solidFill>
                  <a:srgbClr val="686B72"/>
                </a:solidFill>
                <a:latin typeface="맑은 고딕"/>
                <a:ea typeface="맑은 고딕"/>
                <a:cs typeface="맑은 고딕"/>
              </a:defRPr>
            </a:lvl9pPr>
          </a:lstStyle>
          <a:p>
            <a:pPr algn="l">
              <a:defRPr sz="1155" b="0">
                <a:solidFill>
                  <a:srgbClr val="686B72"/>
                </a:solidFill>
                <a:latin typeface="맑은 고딕"/>
                <a:ea typeface="맑은 고딕"/>
                <a:cs typeface="맑은 고딕"/>
              </a:defRPr>
            </a:pPr>
            <a:r>
              <a:rPr sz="1155" b="0">
                <a:solidFill>
                  <a:srgbClr val="686B72"/>
                </a:solidFill>
                <a:latin typeface="맑은 고딕"/>
                <a:ea typeface="맑은 고딕"/>
                <a:cs typeface="맑은 고딕"/>
              </a:rPr>
              <a:t>표는 공통 채점 337문항. 세 방식 모두 분류기 적용. 반복 표현은 모델 본문에서 자료 부족 고지문이 두 문장 이상인 경우.</a:t>
            </a:r>
          </a:p>
        </p:txBody>
      </p:sp>
      <p:sp>
        <p:nvSpPr>
          <p:cNvPr id="7" name="pipeline-82">
            <a:extLst>
              <a:ext uri="{FF2B5EF4-FFF2-40B4-BE49-F238E27FC236}">
                <a16:creationId xmlns:a16="http://schemas.microsoft.com/office/drawing/2014/main" id="{0A9EE7E3-8FE2-48BF-BE0E-E1BC2B83A384}"/>
              </a:ext>
            </a:extLst>
          </p:cNvPr>
          <p:cNvSpPr>
            <a:spLocks noGrp="1"/>
          </p:cNvSpPr>
          <p:nvPr/>
        </p:nvSpPr>
        <p:spPr>
          <a:xfrm>
            <a:off x="628650" y="2047875"/>
            <a:ext cx="5048250" cy="800100"/>
          </a:xfrm>
          <a:prstGeom prst="rect">
            <a:avLst/>
          </a:prstGeom>
          <a:solidFill>
            <a:srgbClr val="FFFFFF"/>
          </a:solidFill>
          <a:ln w="9525">
            <a:solidFill>
              <a:srgbClr val="DDDDE1"/>
            </a:solidFill>
            <a:prstDash val="solid"/>
          </a:ln>
        </p:spPr>
        <p:txBody>
          <a:bodyPr lIns="76200" tIns="76200" rIns="76200" bIns="76200" anchor="ctr">
            <a:noAutofit/>
          </a:bodyPr>
          <a:lstStyle>
            <a:defPPr algn="ctr">
              <a:defRPr sz="1725" b="1">
                <a:solidFill>
                  <a:srgbClr val="17171A"/>
                </a:solidFill>
                <a:latin typeface="맑은 고딕"/>
                <a:ea typeface="맑은 고딕"/>
                <a:cs typeface="맑은 고딕"/>
              </a:defRPr>
            </a:defPPr>
            <a:lvl1pPr algn="ctr">
              <a:defRPr sz="1725" b="1">
                <a:solidFill>
                  <a:srgbClr val="17171A"/>
                </a:solidFill>
                <a:latin typeface="맑은 고딕"/>
                <a:ea typeface="맑은 고딕"/>
                <a:cs typeface="맑은 고딕"/>
              </a:defRPr>
            </a:lvl1pPr>
            <a:lvl2pPr algn="ctr">
              <a:defRPr sz="1725" b="1">
                <a:solidFill>
                  <a:srgbClr val="17171A"/>
                </a:solidFill>
                <a:latin typeface="맑은 고딕"/>
                <a:ea typeface="맑은 고딕"/>
                <a:cs typeface="맑은 고딕"/>
              </a:defRPr>
            </a:lvl2pPr>
            <a:lvl3pPr algn="ctr">
              <a:defRPr sz="1725" b="1">
                <a:solidFill>
                  <a:srgbClr val="17171A"/>
                </a:solidFill>
                <a:latin typeface="맑은 고딕"/>
                <a:ea typeface="맑은 고딕"/>
                <a:cs typeface="맑은 고딕"/>
              </a:defRPr>
            </a:lvl3pPr>
            <a:lvl4pPr algn="ctr">
              <a:defRPr sz="1725" b="1">
                <a:solidFill>
                  <a:srgbClr val="17171A"/>
                </a:solidFill>
                <a:latin typeface="맑은 고딕"/>
                <a:ea typeface="맑은 고딕"/>
                <a:cs typeface="맑은 고딕"/>
              </a:defRPr>
            </a:lvl4pPr>
            <a:lvl5pPr algn="ctr">
              <a:defRPr sz="1725" b="1">
                <a:solidFill>
                  <a:srgbClr val="17171A"/>
                </a:solidFill>
                <a:latin typeface="맑은 고딕"/>
                <a:ea typeface="맑은 고딕"/>
                <a:cs typeface="맑은 고딕"/>
              </a:defRPr>
            </a:lvl5pPr>
            <a:lvl6pPr algn="ctr">
              <a:defRPr sz="1725" b="1">
                <a:solidFill>
                  <a:srgbClr val="17171A"/>
                </a:solidFill>
                <a:latin typeface="맑은 고딕"/>
                <a:ea typeface="맑은 고딕"/>
                <a:cs typeface="맑은 고딕"/>
              </a:defRPr>
            </a:lvl6pPr>
            <a:lvl7pPr algn="ctr">
              <a:defRPr sz="1725" b="1">
                <a:solidFill>
                  <a:srgbClr val="17171A"/>
                </a:solidFill>
                <a:latin typeface="맑은 고딕"/>
                <a:ea typeface="맑은 고딕"/>
                <a:cs typeface="맑은 고딕"/>
              </a:defRPr>
            </a:lvl7pPr>
            <a:lvl8pPr algn="ctr">
              <a:defRPr sz="1725" b="1">
                <a:solidFill>
                  <a:srgbClr val="17171A"/>
                </a:solidFill>
                <a:latin typeface="맑은 고딕"/>
                <a:ea typeface="맑은 고딕"/>
                <a:cs typeface="맑은 고딕"/>
              </a:defRPr>
            </a:lvl8pPr>
            <a:lvl9pPr algn="ctr">
              <a:defRPr sz="1725" b="1">
                <a:solidFill>
                  <a:srgbClr val="17171A"/>
                </a:solidFill>
                <a:latin typeface="맑은 고딕"/>
                <a:ea typeface="맑은 고딕"/>
                <a:cs typeface="맑은 고딕"/>
              </a:defRPr>
            </a:lvl9pPr>
          </a:lstStyle>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1: 답할 수 있음</a:t>
            </a:r>
          </a:p>
          <a:p>
            <a:pPr algn="ctr">
              <a:defRPr sz="1725" b="1">
                <a:solidFill>
                  <a:srgbClr val="17171A"/>
                </a:solidFill>
                <a:latin typeface="맑은 고딕"/>
                <a:ea typeface="맑은 고딕"/>
                <a:cs typeface="맑은 고딕"/>
              </a:defRPr>
            </a:pPr>
            <a:r>
              <a:rPr sz="1725" b="1">
                <a:solidFill>
                  <a:srgbClr val="17171A"/>
                </a:solidFill>
                <a:latin typeface="맑은 고딕"/>
                <a:ea typeface="맑은 고딕"/>
                <a:cs typeface="맑은 고딕"/>
              </a:rPr>
              <a:t>질문 2: 근거가 없어 답변 보류</a:t>
            </a:r>
          </a:p>
        </p:txBody>
      </p:sp>
      <p:sp>
        <p:nvSpPr>
          <p:cNvPr id="8" name="pipeline-83">
            <a:extLst>
              <a:ext uri="{FF2B5EF4-FFF2-40B4-BE49-F238E27FC236}">
                <a16:creationId xmlns:a16="http://schemas.microsoft.com/office/drawing/2014/main" id="{4FA3CC1F-81A4-4797-B859-74296FAAB527}"/>
              </a:ext>
            </a:extLst>
          </p:cNvPr>
          <p:cNvSpPr>
            <a:spLocks noGrp="1"/>
          </p:cNvSpPr>
          <p:nvPr/>
        </p:nvSpPr>
        <p:spPr>
          <a:xfrm>
            <a:off x="6486525" y="2047875"/>
            <a:ext cx="2924175" cy="800100"/>
          </a:xfrm>
          <a:prstGeom prst="rect">
            <a:avLst/>
          </a:prstGeom>
          <a:solidFill>
            <a:srgbClr val="FFF1F7"/>
          </a:solidFill>
          <a:ln w="9525">
            <a:solidFill>
              <a:srgbClr val="DDDDE1"/>
            </a:solidFill>
            <a:prstDash val="solid"/>
          </a:ln>
        </p:spPr>
        <p:txBody>
          <a:bodyPr lIns="76200" tIns="76200" rIns="76200" bIns="76200" anchor="ctr">
            <a:noAutofit/>
          </a:bodyPr>
          <a:lstStyle>
            <a:defPPr algn="ctr">
              <a:defRPr sz="1598" b="1">
                <a:solidFill>
                  <a:srgbClr val="17171A"/>
                </a:solidFill>
                <a:latin typeface="맑은 고딕"/>
                <a:ea typeface="맑은 고딕"/>
                <a:cs typeface="맑은 고딕"/>
              </a:defRPr>
            </a:defPPr>
            <a:lvl1pPr algn="ctr">
              <a:defRPr sz="1598" b="1">
                <a:solidFill>
                  <a:srgbClr val="17171A"/>
                </a:solidFill>
                <a:latin typeface="맑은 고딕"/>
                <a:ea typeface="맑은 고딕"/>
                <a:cs typeface="맑은 고딕"/>
              </a:defRPr>
            </a:lvl1pPr>
            <a:lvl2pPr algn="ctr">
              <a:defRPr sz="1598" b="1">
                <a:solidFill>
                  <a:srgbClr val="17171A"/>
                </a:solidFill>
                <a:latin typeface="맑은 고딕"/>
                <a:ea typeface="맑은 고딕"/>
                <a:cs typeface="맑은 고딕"/>
              </a:defRPr>
            </a:lvl2pPr>
            <a:lvl3pPr algn="ctr">
              <a:defRPr sz="1598" b="1">
                <a:solidFill>
                  <a:srgbClr val="17171A"/>
                </a:solidFill>
                <a:latin typeface="맑은 고딕"/>
                <a:ea typeface="맑은 고딕"/>
                <a:cs typeface="맑은 고딕"/>
              </a:defRPr>
            </a:lvl3pPr>
            <a:lvl4pPr algn="ctr">
              <a:defRPr sz="1598" b="1">
                <a:solidFill>
                  <a:srgbClr val="17171A"/>
                </a:solidFill>
                <a:latin typeface="맑은 고딕"/>
                <a:ea typeface="맑은 고딕"/>
                <a:cs typeface="맑은 고딕"/>
              </a:defRPr>
            </a:lvl4pPr>
            <a:lvl5pPr algn="ctr">
              <a:defRPr sz="1598" b="1">
                <a:solidFill>
                  <a:srgbClr val="17171A"/>
                </a:solidFill>
                <a:latin typeface="맑은 고딕"/>
                <a:ea typeface="맑은 고딕"/>
                <a:cs typeface="맑은 고딕"/>
              </a:defRPr>
            </a:lvl5pPr>
            <a:lvl6pPr algn="ctr">
              <a:defRPr sz="1598" b="1">
                <a:solidFill>
                  <a:srgbClr val="17171A"/>
                </a:solidFill>
                <a:latin typeface="맑은 고딕"/>
                <a:ea typeface="맑은 고딕"/>
                <a:cs typeface="맑은 고딕"/>
              </a:defRPr>
            </a:lvl6pPr>
            <a:lvl7pPr algn="ctr">
              <a:defRPr sz="1598" b="1">
                <a:solidFill>
                  <a:srgbClr val="17171A"/>
                </a:solidFill>
                <a:latin typeface="맑은 고딕"/>
                <a:ea typeface="맑은 고딕"/>
                <a:cs typeface="맑은 고딕"/>
              </a:defRPr>
            </a:lvl7pPr>
            <a:lvl8pPr algn="ctr">
              <a:defRPr sz="1598" b="1">
                <a:solidFill>
                  <a:srgbClr val="17171A"/>
                </a:solidFill>
                <a:latin typeface="맑은 고딕"/>
                <a:ea typeface="맑은 고딕"/>
                <a:cs typeface="맑은 고딕"/>
              </a:defRPr>
            </a:lvl8pPr>
            <a:lvl9pPr algn="ctr">
              <a:defRPr sz="1598" b="1">
                <a:solidFill>
                  <a:srgbClr val="17171A"/>
                </a:solidFill>
                <a:latin typeface="맑은 고딕"/>
                <a:ea typeface="맑은 고딕"/>
                <a:cs typeface="맑은 고딕"/>
              </a:defRPr>
            </a:lvl9pPr>
          </a:lstStyle>
          <a:p>
            <a:pPr algn="ctr">
              <a:defRPr sz="1598" b="1">
                <a:solidFill>
                  <a:srgbClr val="17171A"/>
                </a:solidFill>
                <a:latin typeface="맑은 고딕"/>
                <a:ea typeface="맑은 고딕"/>
                <a:cs typeface="맑은 고딕"/>
              </a:defRPr>
            </a:pPr>
            <a:r>
              <a:rPr sz="1598" b="1">
                <a:solidFill>
                  <a:srgbClr val="17171A"/>
                </a:solidFill>
                <a:latin typeface="맑은 고딕"/>
                <a:ea typeface="맑은 고딕"/>
                <a:cs typeface="맑은 고딕"/>
              </a:rPr>
              <a:t>답할 수 있는 본문만 합침</a:t>
            </a:r>
          </a:p>
        </p:txBody>
      </p:sp>
      <p:sp>
        <p:nvSpPr>
          <p:cNvPr id="9" name="pipeline-84">
            <a:extLst>
              <a:ext uri="{FF2B5EF4-FFF2-40B4-BE49-F238E27FC236}">
                <a16:creationId xmlns:a16="http://schemas.microsoft.com/office/drawing/2014/main" id="{9BBC87E8-F8B0-4C2F-955D-EF8AFDF43140}"/>
              </a:ext>
            </a:extLst>
          </p:cNvPr>
          <p:cNvSpPr>
            <a:spLocks noGrp="1"/>
          </p:cNvSpPr>
          <p:nvPr/>
        </p:nvSpPr>
        <p:spPr>
          <a:xfrm>
            <a:off x="10163175" y="2047875"/>
            <a:ext cx="2924175" cy="800100"/>
          </a:xfrm>
          <a:prstGeom prst="rect">
            <a:avLst/>
          </a:prstGeom>
          <a:solidFill>
            <a:srgbClr val="17171A"/>
          </a:solidFill>
          <a:ln w="9525">
            <a:solidFill>
              <a:srgbClr val="DDDDE1"/>
            </a:solidFill>
            <a:prstDash val="solid"/>
          </a:ln>
        </p:spPr>
        <p:txBody>
          <a:bodyPr lIns="76200" tIns="76200" rIns="76200" bIns="76200" anchor="ctr">
            <a:noAutofit/>
          </a:bodyPr>
          <a:lstStyle>
            <a:defPPr algn="ctr">
              <a:defRPr sz="1598" b="1">
                <a:solidFill>
                  <a:srgbClr val="FFFFFF"/>
                </a:solidFill>
                <a:latin typeface="맑은 고딕"/>
                <a:ea typeface="맑은 고딕"/>
                <a:cs typeface="맑은 고딕"/>
              </a:defRPr>
            </a:defPPr>
            <a:lvl1pPr algn="ctr">
              <a:defRPr sz="1598" b="1">
                <a:solidFill>
                  <a:srgbClr val="FFFFFF"/>
                </a:solidFill>
                <a:latin typeface="맑은 고딕"/>
                <a:ea typeface="맑은 고딕"/>
                <a:cs typeface="맑은 고딕"/>
              </a:defRPr>
            </a:lvl1pPr>
            <a:lvl2pPr algn="ctr">
              <a:defRPr sz="1598" b="1">
                <a:solidFill>
                  <a:srgbClr val="FFFFFF"/>
                </a:solidFill>
                <a:latin typeface="맑은 고딕"/>
                <a:ea typeface="맑은 고딕"/>
                <a:cs typeface="맑은 고딕"/>
              </a:defRPr>
            </a:lvl2pPr>
            <a:lvl3pPr algn="ctr">
              <a:defRPr sz="1598" b="1">
                <a:solidFill>
                  <a:srgbClr val="FFFFFF"/>
                </a:solidFill>
                <a:latin typeface="맑은 고딕"/>
                <a:ea typeface="맑은 고딕"/>
                <a:cs typeface="맑은 고딕"/>
              </a:defRPr>
            </a:lvl3pPr>
            <a:lvl4pPr algn="ctr">
              <a:defRPr sz="1598" b="1">
                <a:solidFill>
                  <a:srgbClr val="FFFFFF"/>
                </a:solidFill>
                <a:latin typeface="맑은 고딕"/>
                <a:ea typeface="맑은 고딕"/>
                <a:cs typeface="맑은 고딕"/>
              </a:defRPr>
            </a:lvl4pPr>
            <a:lvl5pPr algn="ctr">
              <a:defRPr sz="1598" b="1">
                <a:solidFill>
                  <a:srgbClr val="FFFFFF"/>
                </a:solidFill>
                <a:latin typeface="맑은 고딕"/>
                <a:ea typeface="맑은 고딕"/>
                <a:cs typeface="맑은 고딕"/>
              </a:defRPr>
            </a:lvl5pPr>
            <a:lvl6pPr algn="ctr">
              <a:defRPr sz="1598" b="1">
                <a:solidFill>
                  <a:srgbClr val="FFFFFF"/>
                </a:solidFill>
                <a:latin typeface="맑은 고딕"/>
                <a:ea typeface="맑은 고딕"/>
                <a:cs typeface="맑은 고딕"/>
              </a:defRPr>
            </a:lvl6pPr>
            <a:lvl7pPr algn="ctr">
              <a:defRPr sz="1598" b="1">
                <a:solidFill>
                  <a:srgbClr val="FFFFFF"/>
                </a:solidFill>
                <a:latin typeface="맑은 고딕"/>
                <a:ea typeface="맑은 고딕"/>
                <a:cs typeface="맑은 고딕"/>
              </a:defRPr>
            </a:lvl7pPr>
            <a:lvl8pPr algn="ctr">
              <a:defRPr sz="1598" b="1">
                <a:solidFill>
                  <a:srgbClr val="FFFFFF"/>
                </a:solidFill>
                <a:latin typeface="맑은 고딕"/>
                <a:ea typeface="맑은 고딕"/>
                <a:cs typeface="맑은 고딕"/>
              </a:defRPr>
            </a:lvl8pPr>
            <a:lvl9pPr algn="ctr">
              <a:defRPr sz="1598" b="1">
                <a:solidFill>
                  <a:srgbClr val="FFFFFF"/>
                </a:solidFill>
                <a:latin typeface="맑은 고딕"/>
                <a:ea typeface="맑은 고딕"/>
                <a:cs typeface="맑은 고딕"/>
              </a:defRPr>
            </a:lvl9pPr>
          </a:lstStyle>
          <a:p>
            <a:pPr algn="ctr">
              <a:defRPr sz="1598" b="1">
                <a:solidFill>
                  <a:srgbClr val="FFFFFF"/>
                </a:solidFill>
                <a:latin typeface="맑은 고딕"/>
                <a:ea typeface="맑은 고딕"/>
                <a:cs typeface="맑은 고딕"/>
              </a:defRPr>
            </a:pPr>
            <a:r>
              <a:rPr sz="1598" b="1">
                <a:solidFill>
                  <a:srgbClr val="FFFFFF"/>
                </a:solidFill>
                <a:latin typeface="맑은 고딕"/>
                <a:ea typeface="맑은 고딕"/>
                <a:cs typeface="맑은 고딕"/>
              </a:rPr>
              <a:t>서버가 안내 문구 추가</a:t>
            </a:r>
          </a:p>
        </p:txBody>
      </p:sp>
      <p:graphicFrame>
        <p:nvGraphicFramePr>
          <p:cNvPr id="12" name="표 11">
            <a:extLst>
              <a:ext uri="{FF2B5EF4-FFF2-40B4-BE49-F238E27FC236}">
                <a16:creationId xmlns:a16="http://schemas.microsoft.com/office/drawing/2014/main" id="{CFEA2498-0B43-4405-8787-590A13C9205A}"/>
              </a:ext>
            </a:extLst>
          </p:cNvPr>
          <p:cNvGraphicFramePr/>
          <p:nvPr/>
        </p:nvGraphicFramePr>
        <p:xfrm>
          <a:off x="628650" y="3276600"/>
          <a:ext cx="12458700" cy="2543175"/>
        </p:xfrm>
        <a:graphic>
          <a:graphicData uri="http://schemas.openxmlformats.org/drawingml/2006/table">
            <a:tbl>
              <a:tblPr/>
              <a:tblGrid>
                <a:gridCol w="4286250">
                  <a:extLst>
                    <a:ext uri="{9D8B030D-6E8A-4147-A177-3AD203B41FA5}">
                      <a16:colId xmlns:a16="http://schemas.microsoft.com/office/drawing/2014/main" val="20000"/>
                    </a:ext>
                  </a:extLst>
                </a:gridCol>
                <a:gridCol w="2724150">
                  <a:extLst>
                    <a:ext uri="{9D8B030D-6E8A-4147-A177-3AD203B41FA5}">
                      <a16:colId xmlns:a16="http://schemas.microsoft.com/office/drawing/2014/main" val="20001"/>
                    </a:ext>
                  </a:extLst>
                </a:gridCol>
                <a:gridCol w="2724150">
                  <a:extLst>
                    <a:ext uri="{9D8B030D-6E8A-4147-A177-3AD203B41FA5}">
                      <a16:colId xmlns:a16="http://schemas.microsoft.com/office/drawing/2014/main" val="20002"/>
                    </a:ext>
                  </a:extLst>
                </a:gridCol>
                <a:gridCol w="2724150">
                  <a:extLst>
                    <a:ext uri="{9D8B030D-6E8A-4147-A177-3AD203B41FA5}">
                      <a16:colId xmlns:a16="http://schemas.microsoft.com/office/drawing/2014/main" val="20003"/>
                    </a:ext>
                  </a:extLst>
                </a:gridCol>
              </a:tblGrid>
              <a:tr h="423863">
                <a:tc>
                  <a:txBody>
                    <a:bodyPr/>
                    <a:lstStyle/>
                    <a:p>
                      <a:r>
                        <a:rPr sz="1598" b="1">
                          <a:solidFill>
                            <a:srgbClr val="FFFFFF"/>
                          </a:solidFill>
                          <a:latin typeface="맑은 고딕"/>
                          <a:ea typeface="맑은 고딕"/>
                          <a:cs typeface="맑은 고딕"/>
                        </a:rPr>
                        <a:t>동일 337문항</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통합</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판정만 질문별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답변·판정 모두 분리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23863">
                <a:tc>
                  <a:txBody>
                    <a:bodyPr/>
                    <a:lstStyle/>
                    <a:p>
                      <a:r>
                        <a:rPr sz="1598" b="0">
                          <a:solidFill>
                            <a:srgbClr val="17171A"/>
                          </a:solidFill>
                          <a:latin typeface="맑은 고딕"/>
                          <a:ea typeface="맑은 고딕"/>
                          <a:cs typeface="맑은 고딕"/>
                        </a:rPr>
                        <a:t>정답</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276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257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270 / 337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23863">
                <a:tc>
                  <a:txBody>
                    <a:bodyPr/>
                    <a:lstStyle/>
                    <a:p>
                      <a:r>
                        <a:rPr sz="1598" b="0">
                          <a:solidFill>
                            <a:srgbClr val="17171A"/>
                          </a:solidFill>
                          <a:latin typeface="맑은 고딕"/>
                          <a:ea typeface="맑은 고딕"/>
                          <a:cs typeface="맑은 고딕"/>
                        </a:rPr>
                        <a:t>환각</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44</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33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23863">
                <a:tc>
                  <a:txBody>
                    <a:bodyPr/>
                    <a:lstStyle/>
                    <a:p>
                      <a:r>
                        <a:rPr sz="1598" b="1">
                          <a:solidFill>
                            <a:srgbClr val="F72585"/>
                          </a:solidFill>
                          <a:latin typeface="맑은 고딕"/>
                          <a:ea typeface="맑은 고딕"/>
                          <a:cs typeface="맑은 고딕"/>
                        </a:rPr>
                        <a:t>FAQ ID 노출</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17</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3</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3"/>
                  </a:ext>
                </a:extLst>
              </a:tr>
              <a:tr h="423863">
                <a:tc>
                  <a:txBody>
                    <a:bodyPr/>
                    <a:lstStyle/>
                    <a:p>
                      <a:r>
                        <a:rPr sz="1598" b="1">
                          <a:solidFill>
                            <a:srgbClr val="F72585"/>
                          </a:solidFill>
                          <a:latin typeface="맑은 고딕"/>
                          <a:ea typeface="맑은 고딕"/>
                          <a:cs typeface="맑은 고딕"/>
                        </a:rPr>
                        <a:t>반복 표현(고지문)</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81</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12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tc>
                  <a:txBody>
                    <a:bodyPr/>
                    <a:lstStyle/>
                    <a:p>
                      <a:r>
                        <a:rPr sz="1598" b="1">
                          <a:solidFill>
                            <a:srgbClr val="F72585"/>
                          </a:solidFill>
                          <a:latin typeface="맑은 고딕"/>
                          <a:ea typeface="맑은 고딕"/>
                          <a:cs typeface="맑은 고딕"/>
                        </a:rPr>
                        <a:t>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1F7"/>
                    </a:solidFill>
                  </a:tcPr>
                </a:tc>
                <a:extLst>
                  <a:ext uri="{0D108BD9-81ED-4DB2-BD59-A6C34878D82A}">
                    <a16:rowId xmlns:a16="http://schemas.microsoft.com/office/drawing/2014/main" val="10004"/>
                  </a:ext>
                </a:extLst>
              </a:tr>
              <a:tr h="423863">
                <a:tc>
                  <a:txBody>
                    <a:bodyPr/>
                    <a:lstStyle/>
                    <a:p>
                      <a:r>
                        <a:rPr sz="1598" b="0">
                          <a:solidFill>
                            <a:srgbClr val="17171A"/>
                          </a:solidFill>
                          <a:latin typeface="맑은 고딕"/>
                          <a:ea typeface="맑은 고딕"/>
                          <a:cs typeface="맑은 고딕"/>
                        </a:rPr>
                        <a:t>일반 문장 재진술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19</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22</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13" name="own-text-85">
            <a:extLst>
              <a:ext uri="{FF2B5EF4-FFF2-40B4-BE49-F238E27FC236}">
                <a16:creationId xmlns:a16="http://schemas.microsoft.com/office/drawing/2014/main" id="{C92DA012-5301-428E-BB8E-4A6FB7A59D60}"/>
              </a:ext>
            </a:extLst>
          </p:cNvPr>
          <p:cNvSpPr>
            <a:spLocks noGrp="1"/>
          </p:cNvSpPr>
          <p:nvPr/>
        </p:nvSpPr>
        <p:spPr>
          <a:xfrm>
            <a:off x="628650" y="6086475"/>
            <a:ext cx="7715250" cy="361950"/>
          </a:xfrm>
          <a:prstGeom prst="rect">
            <a:avLst/>
          </a:prstGeom>
          <a:noFill/>
          <a:ln w="0">
            <a:noFill/>
          </a:ln>
        </p:spPr>
        <p:txBody>
          <a:bodyPr wrap="square" lIns="0" tIns="0" rIns="0" bIns="0" anchor="t">
            <a:noAutofit/>
          </a:bodyPr>
          <a:lstStyle>
            <a:defPPr algn="l">
              <a:defRPr sz="2100" b="1">
                <a:solidFill>
                  <a:srgbClr val="F72585"/>
                </a:solidFill>
                <a:latin typeface="맑은 고딕"/>
                <a:ea typeface="맑은 고딕"/>
                <a:cs typeface="맑은 고딕"/>
              </a:defRPr>
            </a:defPPr>
            <a:lvl1pPr algn="l">
              <a:defRPr sz="2100" b="1">
                <a:solidFill>
                  <a:srgbClr val="F72585"/>
                </a:solidFill>
                <a:latin typeface="맑은 고딕"/>
                <a:ea typeface="맑은 고딕"/>
                <a:cs typeface="맑은 고딕"/>
              </a:defRPr>
            </a:lvl1pPr>
            <a:lvl2pPr algn="l">
              <a:defRPr sz="2100" b="1">
                <a:solidFill>
                  <a:srgbClr val="F72585"/>
                </a:solidFill>
                <a:latin typeface="맑은 고딕"/>
                <a:ea typeface="맑은 고딕"/>
                <a:cs typeface="맑은 고딕"/>
              </a:defRPr>
            </a:lvl2pPr>
            <a:lvl3pPr algn="l">
              <a:defRPr sz="2100" b="1">
                <a:solidFill>
                  <a:srgbClr val="F72585"/>
                </a:solidFill>
                <a:latin typeface="맑은 고딕"/>
                <a:ea typeface="맑은 고딕"/>
                <a:cs typeface="맑은 고딕"/>
              </a:defRPr>
            </a:lvl3pPr>
            <a:lvl4pPr algn="l">
              <a:defRPr sz="2100" b="1">
                <a:solidFill>
                  <a:srgbClr val="F72585"/>
                </a:solidFill>
                <a:latin typeface="맑은 고딕"/>
                <a:ea typeface="맑은 고딕"/>
                <a:cs typeface="맑은 고딕"/>
              </a:defRPr>
            </a:lvl4pPr>
            <a:lvl5pPr algn="l">
              <a:defRPr sz="2100" b="1">
                <a:solidFill>
                  <a:srgbClr val="F72585"/>
                </a:solidFill>
                <a:latin typeface="맑은 고딕"/>
                <a:ea typeface="맑은 고딕"/>
                <a:cs typeface="맑은 고딕"/>
              </a:defRPr>
            </a:lvl5pPr>
            <a:lvl6pPr algn="l">
              <a:defRPr sz="2100" b="1">
                <a:solidFill>
                  <a:srgbClr val="F72585"/>
                </a:solidFill>
                <a:latin typeface="맑은 고딕"/>
                <a:ea typeface="맑은 고딕"/>
                <a:cs typeface="맑은 고딕"/>
              </a:defRPr>
            </a:lvl6pPr>
            <a:lvl7pPr algn="l">
              <a:defRPr sz="2100" b="1">
                <a:solidFill>
                  <a:srgbClr val="F72585"/>
                </a:solidFill>
                <a:latin typeface="맑은 고딕"/>
                <a:ea typeface="맑은 고딕"/>
                <a:cs typeface="맑은 고딕"/>
              </a:defRPr>
            </a:lvl7pPr>
            <a:lvl8pPr algn="l">
              <a:defRPr sz="2100" b="1">
                <a:solidFill>
                  <a:srgbClr val="F72585"/>
                </a:solidFill>
                <a:latin typeface="맑은 고딕"/>
                <a:ea typeface="맑은 고딕"/>
                <a:cs typeface="맑은 고딕"/>
              </a:defRPr>
            </a:lvl8pPr>
            <a:lvl9pPr algn="l">
              <a:defRPr sz="2100" b="1">
                <a:solidFill>
                  <a:srgbClr val="F72585"/>
                </a:solidFill>
                <a:latin typeface="맑은 고딕"/>
                <a:ea typeface="맑은 고딕"/>
                <a:cs typeface="맑은 고딕"/>
              </a:defRPr>
            </a:lvl9pPr>
          </a:lstStyle>
          <a:p>
            <a:pPr algn="l">
              <a:defRPr sz="2100" b="1">
                <a:solidFill>
                  <a:srgbClr val="F72585"/>
                </a:solidFill>
                <a:latin typeface="맑은 고딕"/>
                <a:ea typeface="맑은 고딕"/>
                <a:cs typeface="맑은 고딕"/>
              </a:defRPr>
            </a:pPr>
            <a:r>
              <a:rPr sz="2100" b="1">
                <a:solidFill>
                  <a:srgbClr val="F72585"/>
                </a:solidFill>
                <a:latin typeface="맑은 고딕"/>
                <a:ea typeface="맑은 고딕"/>
                <a:cs typeface="맑은 고딕"/>
              </a:rPr>
              <a:t>모델·코드 이중 고지 67건에서 1건</a:t>
            </a:r>
          </a:p>
        </p:txBody>
      </p:sp>
      <p:sp>
        <p:nvSpPr>
          <p:cNvPr id="14" name="own-text-86">
            <a:extLst>
              <a:ext uri="{FF2B5EF4-FFF2-40B4-BE49-F238E27FC236}">
                <a16:creationId xmlns:a16="http://schemas.microsoft.com/office/drawing/2014/main" id="{F10C542B-FB66-4836-B78E-C1FF89C0B213}"/>
              </a:ext>
            </a:extLst>
          </p:cNvPr>
          <p:cNvSpPr>
            <a:spLocks noGrp="1"/>
          </p:cNvSpPr>
          <p:nvPr/>
        </p:nvSpPr>
        <p:spPr>
          <a:xfrm>
            <a:off x="8524875" y="6096000"/>
            <a:ext cx="4562475" cy="476250"/>
          </a:xfrm>
          <a:prstGeom prst="rect">
            <a:avLst/>
          </a:prstGeom>
          <a:noFill/>
          <a:ln w="0">
            <a:noFill/>
          </a:ln>
        </p:spPr>
        <p:txBody>
          <a:bodyPr wrap="square" lIns="0" tIns="0" rIns="0" bIns="0" anchor="t">
            <a:noAutofit/>
          </a:bodyPr>
          <a:lstStyle>
            <a:defPPr algn="l">
              <a:defRPr sz="1500" b="1">
                <a:solidFill>
                  <a:srgbClr val="17171A"/>
                </a:solidFill>
                <a:latin typeface="맑은 고딕"/>
                <a:ea typeface="맑은 고딕"/>
                <a:cs typeface="맑은 고딕"/>
              </a:defRPr>
            </a:defPPr>
            <a:lvl1pPr algn="l">
              <a:defRPr sz="1500" b="1">
                <a:solidFill>
                  <a:srgbClr val="17171A"/>
                </a:solidFill>
                <a:latin typeface="맑은 고딕"/>
                <a:ea typeface="맑은 고딕"/>
                <a:cs typeface="맑은 고딕"/>
              </a:defRPr>
            </a:lvl1pPr>
            <a:lvl2pPr algn="l">
              <a:defRPr sz="1500" b="1">
                <a:solidFill>
                  <a:srgbClr val="17171A"/>
                </a:solidFill>
                <a:latin typeface="맑은 고딕"/>
                <a:ea typeface="맑은 고딕"/>
                <a:cs typeface="맑은 고딕"/>
              </a:defRPr>
            </a:lvl2pPr>
            <a:lvl3pPr algn="l">
              <a:defRPr sz="1500" b="1">
                <a:solidFill>
                  <a:srgbClr val="17171A"/>
                </a:solidFill>
                <a:latin typeface="맑은 고딕"/>
                <a:ea typeface="맑은 고딕"/>
                <a:cs typeface="맑은 고딕"/>
              </a:defRPr>
            </a:lvl3pPr>
            <a:lvl4pPr algn="l">
              <a:defRPr sz="1500" b="1">
                <a:solidFill>
                  <a:srgbClr val="17171A"/>
                </a:solidFill>
                <a:latin typeface="맑은 고딕"/>
                <a:ea typeface="맑은 고딕"/>
                <a:cs typeface="맑은 고딕"/>
              </a:defRPr>
            </a:lvl4pPr>
            <a:lvl5pPr algn="l">
              <a:defRPr sz="1500" b="1">
                <a:solidFill>
                  <a:srgbClr val="17171A"/>
                </a:solidFill>
                <a:latin typeface="맑은 고딕"/>
                <a:ea typeface="맑은 고딕"/>
                <a:cs typeface="맑은 고딕"/>
              </a:defRPr>
            </a:lvl5pPr>
            <a:lvl6pPr algn="l">
              <a:defRPr sz="1500" b="1">
                <a:solidFill>
                  <a:srgbClr val="17171A"/>
                </a:solidFill>
                <a:latin typeface="맑은 고딕"/>
                <a:ea typeface="맑은 고딕"/>
                <a:cs typeface="맑은 고딕"/>
              </a:defRPr>
            </a:lvl6pPr>
            <a:lvl7pPr algn="l">
              <a:defRPr sz="1500" b="1">
                <a:solidFill>
                  <a:srgbClr val="17171A"/>
                </a:solidFill>
                <a:latin typeface="맑은 고딕"/>
                <a:ea typeface="맑은 고딕"/>
                <a:cs typeface="맑은 고딕"/>
              </a:defRPr>
            </a:lvl7pPr>
            <a:lvl8pPr algn="l">
              <a:defRPr sz="1500" b="1">
                <a:solidFill>
                  <a:srgbClr val="17171A"/>
                </a:solidFill>
                <a:latin typeface="맑은 고딕"/>
                <a:ea typeface="맑은 고딕"/>
                <a:cs typeface="맑은 고딕"/>
              </a:defRPr>
            </a:lvl8pPr>
            <a:lvl9pPr algn="l">
              <a:defRPr sz="1500" b="1">
                <a:solidFill>
                  <a:srgbClr val="17171A"/>
                </a:solidFill>
                <a:latin typeface="맑은 고딕"/>
                <a:ea typeface="맑은 고딕"/>
                <a:cs typeface="맑은 고딕"/>
              </a:defRPr>
            </a:lvl9pPr>
          </a:lstStyle>
          <a:p>
            <a:pPr algn="l">
              <a:defRPr sz="1500" b="1">
                <a:solidFill>
                  <a:srgbClr val="17171A"/>
                </a:solidFill>
                <a:latin typeface="맑은 고딕"/>
                <a:ea typeface="맑은 고딕"/>
                <a:cs typeface="맑은 고딕"/>
              </a:defRPr>
            </a:pPr>
            <a:r>
              <a:rPr sz="1500" b="1">
                <a:solidFill>
                  <a:srgbClr val="17171A"/>
                </a:solidFill>
                <a:latin typeface="맑은 고딕"/>
                <a:ea typeface="맑은 고딕"/>
                <a:cs typeface="맑은 고딕"/>
              </a:rPr>
              <a:t>판정만 나눴을 때 대비 오류 12건에서 1건</a:t>
            </a:r>
          </a:p>
        </p:txBody>
      </p:sp>
    </p:spTree>
    <p:extLst>
      <p:ext uri="{BB962C8B-B14F-4D97-AF65-F5344CB8AC3E}">
        <p14:creationId xmlns:p14="http://schemas.microsoft.com/office/powerpoint/2010/main" val="13033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게스트 채팅과 회원 채팅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비회원은 질문 횟수가 제한되고, 회원은 대화 이력을 이어갈 수 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16</a:t>
            </a:r>
            <a:endParaRPr sz="1300" b="0">
              <a:solidFill>
                <a:schemeClr val="accent3"/>
              </a:solidFill>
            </a:endParaRPr>
          </a:p>
        </p:txBody>
      </p:sp>
      <p:pic>
        <p:nvPicPr>
          <p:cNvPr id="40" name="그림 39"/>
          <p:cNvPicPr>
            <a:picLocks noChangeAspect="1"/>
          </p:cNvPicPr>
          <p:nvPr/>
        </p:nvPicPr>
        <p:blipFill rotWithShape="1">
          <a:blip r:embed="rId2"/>
          <a:stretch>
            <a:fillRect/>
          </a:stretch>
        </p:blipFill>
        <p:spPr>
          <a:xfrm>
            <a:off x="4878650" y="2628994"/>
            <a:ext cx="7800000" cy="19751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1" name="그림 40"/>
          <p:cNvPicPr>
            <a:picLocks noChangeAspect="1"/>
          </p:cNvPicPr>
          <p:nvPr/>
        </p:nvPicPr>
        <p:blipFill rotWithShape="1">
          <a:blip r:embed="rId3"/>
          <a:stretch>
            <a:fillRect/>
          </a:stretch>
        </p:blipFill>
        <p:spPr>
          <a:xfrm>
            <a:off x="4878650" y="5304100"/>
            <a:ext cx="7800000" cy="1516906"/>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2" name="캡션 1"/>
          <p:cNvSpPr/>
          <p:nvPr/>
        </p:nvSpPr>
        <p:spPr>
          <a:xfrm>
            <a:off x="5078650" y="2148994"/>
            <a:ext cx="32610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게스트 채팅 화면 · 횟수 제한 안내</a:t>
            </a:r>
          </a:p>
        </p:txBody>
      </p:sp>
      <p:sp>
        <p:nvSpPr>
          <p:cNvPr id="43" name="캡션 번호 1"/>
          <p:cNvSpPr/>
          <p:nvPr/>
        </p:nvSpPr>
        <p:spPr>
          <a:xfrm>
            <a:off x="4878650" y="2128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44" name="캡션 2"/>
          <p:cNvSpPr/>
          <p:nvPr/>
        </p:nvSpPr>
        <p:spPr>
          <a:xfrm>
            <a:off x="5078650" y="4824100"/>
            <a:ext cx="308320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회원 채팅 화면 · 최근 대화 목록</a:t>
            </a:r>
          </a:p>
        </p:txBody>
      </p:sp>
      <p:sp>
        <p:nvSpPr>
          <p:cNvPr id="45" name="캡션 번호 2"/>
          <p:cNvSpPr/>
          <p:nvPr/>
        </p:nvSpPr>
        <p:spPr>
          <a:xfrm>
            <a:off x="4878650" y="48041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6" name="게스트 채팅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게스트 채팅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9" name="게스트 채팅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게스트 채팅</a:t>
            </a:r>
          </a:p>
        </p:txBody>
      </p:sp>
      <p:sp>
        <p:nvSpPr>
          <p:cNvPr id="50" name="게스트 채팅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로그인 없이 바로 질문, 횟수 제한</a:t>
            </a:r>
          </a:p>
        </p:txBody>
      </p:sp>
      <p:sp>
        <p:nvSpPr>
          <p:cNvPr id="51" name="회원 채팅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회원 채팅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4" name="회원 채팅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회원 채팅</a:t>
            </a:r>
          </a:p>
        </p:txBody>
      </p:sp>
      <p:sp>
        <p:nvSpPr>
          <p:cNvPr id="55" name="회원 채팅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대화 이력 저장</a:t>
            </a:r>
          </a:p>
        </p:txBody>
      </p:sp>
      <p:sp>
        <p:nvSpPr>
          <p:cNvPr id="56" name="대화 세션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대화 세션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9" name="대화 세션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대화 세션</a:t>
            </a:r>
          </a:p>
        </p:txBody>
      </p:sp>
      <p:sp>
        <p:nvSpPr>
          <p:cNvPr id="60" name="대화 세션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맥락 유지, 답변 상태 안내</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질문 분리와 멀티턴 상담</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여러 개를 한 번에 물어도, 앞 대화에 이어 물어도 맥락에 맞게 답변합니다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17</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50000"/>
            <a:ext cx="3954350" cy="134997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0" name="그림 39"/>
          <p:cNvPicPr>
            <a:picLocks noChangeAspect="1"/>
          </p:cNvPicPr>
          <p:nvPr/>
        </p:nvPicPr>
        <p:blipFill rotWithShape="1">
          <a:blip r:embed="rId3"/>
          <a:stretch>
            <a:fillRect/>
          </a:stretch>
        </p:blipFill>
        <p:spPr>
          <a:xfrm>
            <a:off x="9133000" y="2550000"/>
            <a:ext cx="3954350" cy="83568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42" name="그림 41"/>
          <p:cNvPicPr>
            <a:picLocks noChangeAspect="1"/>
          </p:cNvPicPr>
          <p:nvPr/>
        </p:nvPicPr>
        <p:blipFill rotWithShape="1">
          <a:blip r:embed="rId4"/>
          <a:stretch>
            <a:fillRect/>
          </a:stretch>
        </p:blipFill>
        <p:spPr>
          <a:xfrm>
            <a:off x="9133000" y="3715681"/>
            <a:ext cx="3954350" cy="1005551"/>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43" name="멀티턴 화살표"/>
          <p:cNvSpPr/>
          <p:nvPr/>
        </p:nvSpPr>
        <p:spPr>
          <a:xfrm>
            <a:off x="10960175" y="3445681"/>
            <a:ext cx="300000" cy="210000"/>
          </a:xfrm>
          <a:prstGeom prst="flowChartMerg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4" name="캡션 1"/>
          <p:cNvSpPr/>
          <p:nvPr/>
        </p:nvSpPr>
        <p:spPr>
          <a:xfrm>
            <a:off x="5078650" y="2070000"/>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질문 분리 답변 화면</a:t>
            </a:r>
          </a:p>
        </p:txBody>
      </p:sp>
      <p:sp>
        <p:nvSpPr>
          <p:cNvPr id="45"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46" name="캡션 2"/>
          <p:cNvSpPr/>
          <p:nvPr/>
        </p:nvSpPr>
        <p:spPr>
          <a:xfrm>
            <a:off x="9333000" y="207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멀티턴 대화 화면</a:t>
            </a:r>
          </a:p>
        </p:txBody>
      </p:sp>
      <p:sp>
        <p:nvSpPr>
          <p:cNvPr id="47" name="캡션 번호 2"/>
          <p:cNvSpPr/>
          <p:nvPr/>
        </p:nvSpPr>
        <p:spPr>
          <a:xfrm>
            <a:off x="913300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48" name="질문 분리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질문 분리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51" name="질문 분리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질문 분리</a:t>
            </a:r>
          </a:p>
        </p:txBody>
      </p:sp>
      <p:sp>
        <p:nvSpPr>
          <p:cNvPr id="52" name="질문 분리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답변 가능한 질문부터 먼저 답변</a:t>
            </a:r>
          </a:p>
        </p:txBody>
      </p:sp>
      <p:sp>
        <p:nvSpPr>
          <p:cNvPr id="53" name="멀티턴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멀티턴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56" name="멀티턴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멀티턴</a:t>
            </a:r>
          </a:p>
        </p:txBody>
      </p:sp>
      <p:sp>
        <p:nvSpPr>
          <p:cNvPr id="57" name="멀티턴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대화 맥락을 반영한 후속 질문</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입력 · 출력 가드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위험한 질문은 입력 단계에서, 근거 없는 답변은 출력 단계에서 막습니다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18</a:t>
            </a:r>
            <a:endParaRPr sz="1300" b="0">
              <a:solidFill>
                <a:schemeClr val="accent3"/>
              </a:solidFill>
            </a:endParaRPr>
          </a:p>
        </p:txBody>
      </p:sp>
      <p:pic>
        <p:nvPicPr>
          <p:cNvPr id="34" name="그림 33"/>
          <p:cNvPicPr>
            <a:picLocks noChangeAspect="1"/>
          </p:cNvPicPr>
          <p:nvPr/>
        </p:nvPicPr>
        <p:blipFill rotWithShape="1">
          <a:blip r:embed="rId2"/>
          <a:stretch>
            <a:fillRect/>
          </a:stretch>
        </p:blipFill>
        <p:spPr>
          <a:xfrm>
            <a:off x="4878650" y="2560994"/>
            <a:ext cx="7000000" cy="1244680"/>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5" name="그림 34"/>
          <p:cNvPicPr>
            <a:picLocks noChangeAspect="1"/>
          </p:cNvPicPr>
          <p:nvPr/>
        </p:nvPicPr>
        <p:blipFill rotWithShape="1">
          <a:blip r:embed="rId3"/>
          <a:stretch>
            <a:fillRect/>
          </a:stretch>
        </p:blipFill>
        <p:spPr>
          <a:xfrm>
            <a:off x="4878650" y="4555674"/>
            <a:ext cx="7000000" cy="233333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6" name="캡션 1"/>
          <p:cNvSpPr/>
          <p:nvPr/>
        </p:nvSpPr>
        <p:spPr>
          <a:xfrm>
            <a:off x="5078650" y="208099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입력 가드 차단 화면</a:t>
            </a:r>
          </a:p>
        </p:txBody>
      </p:sp>
      <p:sp>
        <p:nvSpPr>
          <p:cNvPr id="37" name="캡션 번호 1"/>
          <p:cNvSpPr/>
          <p:nvPr/>
        </p:nvSpPr>
        <p:spPr>
          <a:xfrm>
            <a:off x="4878650" y="206099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38" name="캡션 2"/>
          <p:cNvSpPr/>
          <p:nvPr/>
        </p:nvSpPr>
        <p:spPr>
          <a:xfrm>
            <a:off x="5078650" y="4075674"/>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출력 가드 적용 화면</a:t>
            </a:r>
          </a:p>
        </p:txBody>
      </p:sp>
      <p:sp>
        <p:nvSpPr>
          <p:cNvPr id="39" name="캡션 번호 2"/>
          <p:cNvSpPr/>
          <p:nvPr/>
        </p:nvSpPr>
        <p:spPr>
          <a:xfrm>
            <a:off x="4878650" y="405567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40" name="입력 가드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입력 가드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3" name="입력 가드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입력 가드</a:t>
            </a:r>
          </a:p>
        </p:txBody>
      </p:sp>
      <p:sp>
        <p:nvSpPr>
          <p:cNvPr id="44" name="입력 가드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금지어·우회 표현 탐지, 마스킹</a:t>
            </a:r>
          </a:p>
        </p:txBody>
      </p:sp>
      <p:sp>
        <p:nvSpPr>
          <p:cNvPr id="45" name="출력 가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출력 가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8" name="출력 가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출력 가드</a:t>
            </a:r>
          </a:p>
        </p:txBody>
      </p:sp>
      <p:sp>
        <p:nvSpPr>
          <p:cNvPr id="49" name="출력 가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형식 오류·내부 정보 노출 차단</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보안</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보안: 위협별 대응</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로그인부터 개인정보까지, 위협마다 막는 지점을 정해 두었습니다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19</a:t>
            </a:r>
            <a:endParaRPr sz="1300" b="0">
              <a:solidFill>
                <a:schemeClr val="accent3"/>
              </a:solidFill>
            </a:endParaRPr>
          </a:p>
        </p:txBody>
      </p:sp>
      <p:graphicFrame>
        <p:nvGraphicFramePr>
          <p:cNvPr id="9" name="Table 8"/>
          <p:cNvGraphicFramePr>
            <a:graphicFrameLocks noGrp="1"/>
          </p:cNvGraphicFramePr>
          <p:nvPr/>
        </p:nvGraphicFramePr>
        <p:xfrm>
          <a:off x="630936" y="2057400"/>
          <a:ext cx="7498079" cy="4096512"/>
        </p:xfrm>
        <a:graphic>
          <a:graphicData uri="http://schemas.openxmlformats.org/drawingml/2006/table">
            <a:tbl>
              <a:tblPr>
                <a:tableStyleId>{5C22544A-7EE6-4342-B048-85BDC9FD1C3A}</a:tableStyleId>
              </a:tblPr>
              <a:tblGrid>
                <a:gridCol w="105156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12064">
                <a:tc>
                  <a:txBody>
                    <a:bodyPr/>
                    <a:lstStyle/>
                    <a:p>
                      <a:r>
                        <a:rPr sz="1200" b="1">
                          <a:solidFill>
                            <a:srgbClr val="FFFFFF"/>
                          </a:solidFill>
                        </a:rPr>
                        <a:t>계층</a:t>
                      </a:r>
                    </a:p>
                  </a:txBody>
                  <a:tcPr marL="109728" marR="109728" anchor="ctr">
                    <a:solidFill>
                      <a:srgbClr val="17171A"/>
                    </a:solidFill>
                  </a:tcPr>
                </a:tc>
                <a:tc>
                  <a:txBody>
                    <a:bodyPr/>
                    <a:lstStyle/>
                    <a:p>
                      <a:r>
                        <a:rPr sz="1200" b="1">
                          <a:solidFill>
                            <a:srgbClr val="FFFFFF"/>
                          </a:solidFill>
                        </a:rPr>
                        <a:t>위협</a:t>
                      </a:r>
                    </a:p>
                  </a:txBody>
                  <a:tcPr marL="109728" marR="109728" anchor="ctr">
                    <a:solidFill>
                      <a:srgbClr val="17171A"/>
                    </a:solidFill>
                  </a:tcPr>
                </a:tc>
                <a:tc>
                  <a:txBody>
                    <a:bodyPr/>
                    <a:lstStyle/>
                    <a:p>
                      <a:r>
                        <a:rPr sz="1200" b="1">
                          <a:solidFill>
                            <a:srgbClr val="FFFFFF"/>
                          </a:solidFill>
                        </a:rPr>
                        <a:t>대응</a:t>
                      </a:r>
                    </a:p>
                  </a:txBody>
                  <a:tcPr marL="109728" marR="109728" anchor="ctr">
                    <a:solidFill>
                      <a:srgbClr val="17171A"/>
                    </a:solidFill>
                  </a:tcPr>
                </a:tc>
                <a:extLst>
                  <a:ext uri="{0D108BD9-81ED-4DB2-BD59-A6C34878D82A}">
                    <a16:rowId xmlns:a16="http://schemas.microsoft.com/office/drawing/2014/main" val="10000"/>
                  </a:ext>
                </a:extLst>
              </a:tr>
              <a:tr h="512064">
                <a:tc>
                  <a:txBody>
                    <a:bodyPr/>
                    <a:lstStyle/>
                    <a:p>
                      <a:r>
                        <a:rPr sz="1200" b="1">
                          <a:solidFill>
                            <a:srgbClr val="D91370"/>
                          </a:solidFill>
                        </a:rPr>
                        <a:t>로그인</a:t>
                      </a:r>
                    </a:p>
                  </a:txBody>
                  <a:tcPr marL="109728" marR="109728" anchor="ctr">
                    <a:solidFill>
                      <a:srgbClr val="FFFFFF"/>
                    </a:solidFill>
                  </a:tcPr>
                </a:tc>
                <a:tc>
                  <a:txBody>
                    <a:bodyPr/>
                    <a:lstStyle/>
                    <a:p>
                      <a:r>
                        <a:rPr sz="1200">
                          <a:solidFill>
                            <a:srgbClr val="17171A"/>
                          </a:solidFill>
                        </a:rPr>
                        <a:t>비밀번호 대입</a:t>
                      </a:r>
                    </a:p>
                  </a:txBody>
                  <a:tcPr marL="109728" marR="109728" anchor="ctr">
                    <a:solidFill>
                      <a:srgbClr val="FFFFFF"/>
                    </a:solidFill>
                  </a:tcPr>
                </a:tc>
                <a:tc>
                  <a:txBody>
                    <a:bodyPr/>
                    <a:lstStyle/>
                    <a:p>
                      <a:r>
                        <a:rPr sz="1200">
                          <a:solidFill>
                            <a:srgbClr val="17171A"/>
                          </a:solidFill>
                        </a:rPr>
                        <a:t>같은 이메일 5회 · 같은 IP 20회 실패 시 15분 차단</a:t>
                      </a:r>
                    </a:p>
                  </a:txBody>
                  <a:tcPr marL="109728" marR="109728" anchor="ctr">
                    <a:solidFill>
                      <a:srgbClr val="FFFFFF"/>
                    </a:solidFill>
                  </a:tcPr>
                </a:tc>
                <a:extLst>
                  <a:ext uri="{0D108BD9-81ED-4DB2-BD59-A6C34878D82A}">
                    <a16:rowId xmlns:a16="http://schemas.microsoft.com/office/drawing/2014/main" val="10001"/>
                  </a:ext>
                </a:extLst>
              </a:tr>
              <a:tr h="512064">
                <a:tc>
                  <a:txBody>
                    <a:bodyPr/>
                    <a:lstStyle/>
                    <a:p>
                      <a:r>
                        <a:rPr sz="1200" b="1">
                          <a:solidFill>
                            <a:srgbClr val="D91370"/>
                          </a:solidFill>
                        </a:rPr>
                        <a:t>토큰</a:t>
                      </a:r>
                    </a:p>
                  </a:txBody>
                  <a:tcPr marL="109728" marR="109728" anchor="ctr">
                    <a:solidFill>
                      <a:srgbClr val="F6F7F8"/>
                    </a:solidFill>
                  </a:tcPr>
                </a:tc>
                <a:tc>
                  <a:txBody>
                    <a:bodyPr/>
                    <a:lstStyle/>
                    <a:p>
                      <a:r>
                        <a:rPr sz="1200">
                          <a:solidFill>
                            <a:srgbClr val="17171A"/>
                          </a:solidFill>
                        </a:rPr>
                        <a:t>Refresh Token 탈취</a:t>
                      </a:r>
                    </a:p>
                  </a:txBody>
                  <a:tcPr marL="109728" marR="109728" anchor="ctr">
                    <a:solidFill>
                      <a:srgbClr val="F6F7F8"/>
                    </a:solidFill>
                  </a:tcPr>
                </a:tc>
                <a:tc>
                  <a:txBody>
                    <a:bodyPr/>
                    <a:lstStyle/>
                    <a:p>
                      <a:r>
                        <a:rPr sz="1200">
                          <a:solidFill>
                            <a:srgbClr val="17171A"/>
                          </a:solidFill>
                        </a:rPr>
                        <a:t>SHA-256 해시만 저장, 옛 토큰 재사용 시 전부 폐기</a:t>
                      </a:r>
                    </a:p>
                  </a:txBody>
                  <a:tcPr marL="109728" marR="109728" anchor="ctr">
                    <a:solidFill>
                      <a:srgbClr val="F6F7F8"/>
                    </a:solidFill>
                  </a:tcPr>
                </a:tc>
                <a:extLst>
                  <a:ext uri="{0D108BD9-81ED-4DB2-BD59-A6C34878D82A}">
                    <a16:rowId xmlns:a16="http://schemas.microsoft.com/office/drawing/2014/main" val="10002"/>
                  </a:ext>
                </a:extLst>
              </a:tr>
              <a:tr h="512064">
                <a:tc>
                  <a:txBody>
                    <a:bodyPr/>
                    <a:lstStyle/>
                    <a:p>
                      <a:r>
                        <a:rPr sz="1200" b="1">
                          <a:solidFill>
                            <a:srgbClr val="D91370"/>
                          </a:solidFill>
                        </a:rPr>
                        <a:t>토큰</a:t>
                      </a:r>
                    </a:p>
                  </a:txBody>
                  <a:tcPr marL="109728" marR="109728" anchor="ctr">
                    <a:solidFill>
                      <a:srgbClr val="FFFFFF"/>
                    </a:solidFill>
                  </a:tcPr>
                </a:tc>
                <a:tc>
                  <a:txBody>
                    <a:bodyPr/>
                    <a:lstStyle/>
                    <a:p>
                      <a:r>
                        <a:rPr sz="1200">
                          <a:solidFill>
                            <a:srgbClr val="17171A"/>
                          </a:solidFill>
                        </a:rPr>
                        <a:t>로그아웃 뒤 재사용</a:t>
                      </a:r>
                    </a:p>
                  </a:txBody>
                  <a:tcPr marL="109728" marR="109728" anchor="ctr">
                    <a:solidFill>
                      <a:srgbClr val="FFFFFF"/>
                    </a:solidFill>
                  </a:tcPr>
                </a:tc>
                <a:tc>
                  <a:txBody>
                    <a:bodyPr/>
                    <a:lstStyle/>
                    <a:p>
                      <a:r>
                        <a:rPr sz="1200">
                          <a:solidFill>
                            <a:srgbClr val="17171A"/>
                          </a:solidFill>
                        </a:rPr>
                        <a:t>로그아웃 전 발급 토큰은 만료 전이어도 거부</a:t>
                      </a:r>
                    </a:p>
                  </a:txBody>
                  <a:tcPr marL="109728" marR="109728" anchor="ctr">
                    <a:solidFill>
                      <a:srgbClr val="FFFFFF"/>
                    </a:solidFill>
                  </a:tcPr>
                </a:tc>
                <a:extLst>
                  <a:ext uri="{0D108BD9-81ED-4DB2-BD59-A6C34878D82A}">
                    <a16:rowId xmlns:a16="http://schemas.microsoft.com/office/drawing/2014/main" val="10003"/>
                  </a:ext>
                </a:extLst>
              </a:tr>
              <a:tr h="512064">
                <a:tc>
                  <a:txBody>
                    <a:bodyPr/>
                    <a:lstStyle/>
                    <a:p>
                      <a:r>
                        <a:rPr sz="1200" b="1">
                          <a:solidFill>
                            <a:srgbClr val="D91370"/>
                          </a:solidFill>
                        </a:rPr>
                        <a:t>브라우저</a:t>
                      </a:r>
                    </a:p>
                  </a:txBody>
                  <a:tcPr marL="109728" marR="109728" anchor="ctr">
                    <a:solidFill>
                      <a:srgbClr val="F6F7F8"/>
                    </a:solidFill>
                  </a:tcPr>
                </a:tc>
                <a:tc>
                  <a:txBody>
                    <a:bodyPr/>
                    <a:lstStyle/>
                    <a:p>
                      <a:r>
                        <a:rPr sz="1200">
                          <a:solidFill>
                            <a:srgbClr val="17171A"/>
                          </a:solidFill>
                        </a:rPr>
                        <a:t>외부 스크립트 (XSS)</a:t>
                      </a:r>
                    </a:p>
                  </a:txBody>
                  <a:tcPr marL="109728" marR="109728" anchor="ctr">
                    <a:solidFill>
                      <a:srgbClr val="F6F7F8"/>
                    </a:solidFill>
                  </a:tcPr>
                </a:tc>
                <a:tc>
                  <a:txBody>
                    <a:bodyPr/>
                    <a:lstStyle/>
                    <a:p>
                      <a:r>
                        <a:rPr sz="1200">
                          <a:solidFill>
                            <a:srgbClr val="17171A"/>
                          </a:solidFill>
                        </a:rPr>
                        <a:t>CSP: 자기 자신 + 카카오만 허용, 외부 form 차단</a:t>
                      </a:r>
                    </a:p>
                  </a:txBody>
                  <a:tcPr marL="109728" marR="109728" anchor="ctr">
                    <a:solidFill>
                      <a:srgbClr val="F6F7F8"/>
                    </a:solidFill>
                  </a:tcPr>
                </a:tc>
                <a:extLst>
                  <a:ext uri="{0D108BD9-81ED-4DB2-BD59-A6C34878D82A}">
                    <a16:rowId xmlns:a16="http://schemas.microsoft.com/office/drawing/2014/main" val="10004"/>
                  </a:ext>
                </a:extLst>
              </a:tr>
              <a:tr h="512064">
                <a:tc>
                  <a:txBody>
                    <a:bodyPr/>
                    <a:lstStyle/>
                    <a:p>
                      <a:r>
                        <a:rPr sz="1200" b="1">
                          <a:solidFill>
                            <a:srgbClr val="D91370"/>
                          </a:solidFill>
                        </a:rPr>
                        <a:t>서버</a:t>
                      </a:r>
                    </a:p>
                  </a:txBody>
                  <a:tcPr marL="109728" marR="109728" anchor="ctr">
                    <a:solidFill>
                      <a:srgbClr val="FFFFFF"/>
                    </a:solidFill>
                  </a:tcPr>
                </a:tc>
                <a:tc>
                  <a:txBody>
                    <a:bodyPr/>
                    <a:lstStyle/>
                    <a:p>
                      <a:r>
                        <a:rPr sz="1200">
                          <a:solidFill>
                            <a:srgbClr val="17171A"/>
                          </a:solidFill>
                        </a:rPr>
                        <a:t>다른 사이트 호출</a:t>
                      </a:r>
                    </a:p>
                  </a:txBody>
                  <a:tcPr marL="109728" marR="109728" anchor="ctr">
                    <a:solidFill>
                      <a:srgbClr val="FFFFFF"/>
                    </a:solidFill>
                  </a:tcPr>
                </a:tc>
                <a:tc>
                  <a:txBody>
                    <a:bodyPr/>
                    <a:lstStyle/>
                    <a:p>
                      <a:r>
                        <a:rPr sz="1200">
                          <a:solidFill>
                            <a:srgbClr val="17171A"/>
                          </a:solidFill>
                        </a:rPr>
                        <a:t>허용 origin만 CORS 통과, 클릭재킹 차단 헤더</a:t>
                      </a:r>
                    </a:p>
                  </a:txBody>
                  <a:tcPr marL="109728" marR="109728" anchor="ctr">
                    <a:solidFill>
                      <a:srgbClr val="FFFFFF"/>
                    </a:solidFill>
                  </a:tcPr>
                </a:tc>
                <a:extLst>
                  <a:ext uri="{0D108BD9-81ED-4DB2-BD59-A6C34878D82A}">
                    <a16:rowId xmlns:a16="http://schemas.microsoft.com/office/drawing/2014/main" val="10005"/>
                  </a:ext>
                </a:extLst>
              </a:tr>
              <a:tr h="512064">
                <a:tc>
                  <a:txBody>
                    <a:bodyPr/>
                    <a:lstStyle/>
                    <a:p>
                      <a:r>
                        <a:rPr sz="1200" b="1">
                          <a:solidFill>
                            <a:srgbClr val="D91370"/>
                          </a:solidFill>
                        </a:rPr>
                        <a:t>서버</a:t>
                      </a:r>
                    </a:p>
                  </a:txBody>
                  <a:tcPr marL="109728" marR="109728" anchor="ctr">
                    <a:solidFill>
                      <a:srgbClr val="F6F7F8"/>
                    </a:solidFill>
                  </a:tcPr>
                </a:tc>
                <a:tc>
                  <a:txBody>
                    <a:bodyPr/>
                    <a:lstStyle/>
                    <a:p>
                      <a:r>
                        <a:rPr sz="1200">
                          <a:solidFill>
                            <a:srgbClr val="17171A"/>
                          </a:solidFill>
                        </a:rPr>
                        <a:t>요청 폭주</a:t>
                      </a:r>
                    </a:p>
                  </a:txBody>
                  <a:tcPr marL="109728" marR="109728" anchor="ctr">
                    <a:solidFill>
                      <a:srgbClr val="F6F7F8"/>
                    </a:solidFill>
                  </a:tcPr>
                </a:tc>
                <a:tc>
                  <a:txBody>
                    <a:bodyPr/>
                    <a:lstStyle/>
                    <a:p>
                      <a:r>
                        <a:rPr sz="1200">
                          <a:solidFill>
                            <a:srgbClr val="17171A"/>
                          </a:solidFill>
                        </a:rPr>
                        <a:t>게스트는 IP별, 회원은 토큰별 속도 제한</a:t>
                      </a:r>
                    </a:p>
                  </a:txBody>
                  <a:tcPr marL="109728" marR="109728" anchor="ctr">
                    <a:solidFill>
                      <a:srgbClr val="F6F7F8"/>
                    </a:solidFill>
                  </a:tcPr>
                </a:tc>
                <a:extLst>
                  <a:ext uri="{0D108BD9-81ED-4DB2-BD59-A6C34878D82A}">
                    <a16:rowId xmlns:a16="http://schemas.microsoft.com/office/drawing/2014/main" val="10006"/>
                  </a:ext>
                </a:extLst>
              </a:tr>
              <a:tr h="512064">
                <a:tc>
                  <a:txBody>
                    <a:bodyPr/>
                    <a:lstStyle/>
                    <a:p>
                      <a:r>
                        <a:rPr sz="1200" b="1">
                          <a:solidFill>
                            <a:srgbClr val="D91370"/>
                          </a:solidFill>
                        </a:rPr>
                        <a:t>데이터</a:t>
                      </a:r>
                    </a:p>
                  </a:txBody>
                  <a:tcPr marL="109728" marR="109728" anchor="ctr">
                    <a:solidFill>
                      <a:srgbClr val="FFFFFF"/>
                    </a:solidFill>
                  </a:tcPr>
                </a:tc>
                <a:tc>
                  <a:txBody>
                    <a:bodyPr/>
                    <a:lstStyle/>
                    <a:p>
                      <a:r>
                        <a:rPr sz="1200">
                          <a:solidFill>
                            <a:srgbClr val="17171A"/>
                          </a:solidFill>
                        </a:rPr>
                        <a:t>개인정보 노출</a:t>
                      </a:r>
                    </a:p>
                  </a:txBody>
                  <a:tcPr marL="109728" marR="109728" anchor="ctr">
                    <a:solidFill>
                      <a:srgbClr val="FFFFFF"/>
                    </a:solidFill>
                  </a:tcPr>
                </a:tc>
                <a:tc>
                  <a:txBody>
                    <a:bodyPr/>
                    <a:lstStyle/>
                    <a:p>
                      <a:r>
                        <a:rPr sz="1200">
                          <a:solidFill>
                            <a:srgbClr val="17171A"/>
                          </a:solidFill>
                        </a:rPr>
                        <a:t>질문 접수 즉시 마스킹, 이후 모든 단계는 마스킹본</a:t>
                      </a:r>
                    </a:p>
                  </a:txBody>
                  <a:tcPr marL="109728" marR="109728" anchor="ctr">
                    <a:solidFill>
                      <a:srgbClr val="FFFFFF"/>
                    </a:solidFill>
                  </a:tcPr>
                </a:tc>
                <a:extLst>
                  <a:ext uri="{0D108BD9-81ED-4DB2-BD59-A6C34878D82A}">
                    <a16:rowId xmlns:a16="http://schemas.microsoft.com/office/drawing/2014/main" val="10007"/>
                  </a:ext>
                </a:extLst>
              </a:tr>
            </a:tbl>
          </a:graphicData>
        </a:graphic>
      </p:graphicFrame>
      <p:sp>
        <p:nvSpPr>
          <p:cNvPr id="10" name="Rounded Rectangle 9"/>
          <p:cNvSpPr/>
          <p:nvPr/>
        </p:nvSpPr>
        <p:spPr>
          <a:xfrm>
            <a:off x="8357616" y="2057400"/>
            <a:ext cx="4727448" cy="2606040"/>
          </a:xfrm>
          <a:prstGeom prst="roundRect">
            <a:avLst>
              <a:gd name="adj" fmla="val 8000"/>
            </a:avLst>
          </a:prstGeom>
          <a:solidFill>
            <a:srgbClr val="FFFFFF"/>
          </a:solidFill>
          <a:ln w="12700">
            <a:solidFill>
              <a:srgbClr val="E5E6E9"/>
            </a:solidFill>
          </a:ln>
          <a:effectLst>
            <a:outerShdw blurRad="190500" dist="38100" dir="5400000" algn="t" rotWithShape="0">
              <a:srgbClr val="17171A">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586216" y="2240280"/>
            <a:ext cx="4297680" cy="320040"/>
          </a:xfrm>
          <a:prstGeom prst="rect">
            <a:avLst/>
          </a:prstGeom>
          <a:noFill/>
        </p:spPr>
        <p:txBody>
          <a:bodyPr wrap="square" lIns="0" tIns="0" rIns="0" bIns="0" anchor="t">
            <a:spAutoFit/>
          </a:bodyPr>
          <a:lstStyle/>
          <a:p>
            <a:pPr algn="l"/>
            <a:r>
              <a:rPr sz="1400" b="1">
                <a:solidFill>
                  <a:srgbClr val="17171A"/>
                </a:solidFill>
              </a:rPr>
              <a:t>개인정보 마스킹 예시</a:t>
            </a:r>
          </a:p>
        </p:txBody>
      </p:sp>
      <p:sp>
        <p:nvSpPr>
          <p:cNvPr id="12" name="TextBox 11"/>
          <p:cNvSpPr txBox="1"/>
          <p:nvPr/>
        </p:nvSpPr>
        <p:spPr>
          <a:xfrm>
            <a:off x="8586216" y="2697480"/>
            <a:ext cx="868680" cy="365760"/>
          </a:xfrm>
          <a:prstGeom prst="rect">
            <a:avLst/>
          </a:prstGeom>
          <a:noFill/>
        </p:spPr>
        <p:txBody>
          <a:bodyPr wrap="square" lIns="0" tIns="0" rIns="0" bIns="0" anchor="ctr">
            <a:spAutoFit/>
          </a:bodyPr>
          <a:lstStyle/>
          <a:p>
            <a:pPr algn="l"/>
            <a:r>
              <a:rPr sz="1100" b="1">
                <a:solidFill>
                  <a:srgbClr val="D91370"/>
                </a:solidFill>
              </a:rPr>
              <a:t>휴대폰</a:t>
            </a:r>
          </a:p>
        </p:txBody>
      </p:sp>
      <p:sp>
        <p:nvSpPr>
          <p:cNvPr id="13" name="TextBox 12"/>
          <p:cNvSpPr txBox="1"/>
          <p:nvPr/>
        </p:nvSpPr>
        <p:spPr>
          <a:xfrm>
            <a:off x="9454896" y="2697480"/>
            <a:ext cx="1600200" cy="365760"/>
          </a:xfrm>
          <a:prstGeom prst="rect">
            <a:avLst/>
          </a:prstGeom>
          <a:noFill/>
        </p:spPr>
        <p:txBody>
          <a:bodyPr wrap="square" lIns="0" tIns="0" rIns="0" bIns="0" anchor="ctr">
            <a:spAutoFit/>
          </a:bodyPr>
          <a:lstStyle/>
          <a:p>
            <a:pPr algn="l"/>
            <a:r>
              <a:rPr sz="1100" b="0">
                <a:solidFill>
                  <a:srgbClr val="686B72"/>
                </a:solidFill>
              </a:rPr>
              <a:t>010-1234-5678</a:t>
            </a:r>
          </a:p>
        </p:txBody>
      </p:sp>
      <p:sp>
        <p:nvSpPr>
          <p:cNvPr id="14" name="TextBox 13"/>
          <p:cNvSpPr txBox="1"/>
          <p:nvPr/>
        </p:nvSpPr>
        <p:spPr>
          <a:xfrm>
            <a:off x="11055096" y="26974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5" name="TextBox 14"/>
          <p:cNvSpPr txBox="1"/>
          <p:nvPr/>
        </p:nvSpPr>
        <p:spPr>
          <a:xfrm>
            <a:off x="11283696" y="2697480"/>
            <a:ext cx="1691640" cy="365760"/>
          </a:xfrm>
          <a:prstGeom prst="rect">
            <a:avLst/>
          </a:prstGeom>
          <a:noFill/>
        </p:spPr>
        <p:txBody>
          <a:bodyPr wrap="square" lIns="0" tIns="0" rIns="0" bIns="0" anchor="ctr">
            <a:spAutoFit/>
          </a:bodyPr>
          <a:lstStyle/>
          <a:p>
            <a:pPr algn="l"/>
            <a:r>
              <a:rPr sz="1100" b="1">
                <a:solidFill>
                  <a:srgbClr val="17171A"/>
                </a:solidFill>
              </a:rPr>
              <a:t>010-****-5678</a:t>
            </a:r>
          </a:p>
        </p:txBody>
      </p:sp>
      <p:sp>
        <p:nvSpPr>
          <p:cNvPr id="16" name="TextBox 15"/>
          <p:cNvSpPr txBox="1"/>
          <p:nvPr/>
        </p:nvSpPr>
        <p:spPr>
          <a:xfrm>
            <a:off x="8586216" y="3154680"/>
            <a:ext cx="868680" cy="365760"/>
          </a:xfrm>
          <a:prstGeom prst="rect">
            <a:avLst/>
          </a:prstGeom>
          <a:noFill/>
        </p:spPr>
        <p:txBody>
          <a:bodyPr wrap="square" lIns="0" tIns="0" rIns="0" bIns="0" anchor="ctr">
            <a:spAutoFit/>
          </a:bodyPr>
          <a:lstStyle/>
          <a:p>
            <a:pPr algn="l"/>
            <a:r>
              <a:rPr sz="1100" b="1">
                <a:solidFill>
                  <a:srgbClr val="D91370"/>
                </a:solidFill>
              </a:rPr>
              <a:t>주민번호</a:t>
            </a:r>
          </a:p>
        </p:txBody>
      </p:sp>
      <p:sp>
        <p:nvSpPr>
          <p:cNvPr id="17" name="TextBox 16"/>
          <p:cNvSpPr txBox="1"/>
          <p:nvPr/>
        </p:nvSpPr>
        <p:spPr>
          <a:xfrm>
            <a:off x="9454896" y="3154680"/>
            <a:ext cx="1600200" cy="365760"/>
          </a:xfrm>
          <a:prstGeom prst="rect">
            <a:avLst/>
          </a:prstGeom>
          <a:noFill/>
        </p:spPr>
        <p:txBody>
          <a:bodyPr wrap="square" lIns="0" tIns="0" rIns="0" bIns="0" anchor="ctr">
            <a:spAutoFit/>
          </a:bodyPr>
          <a:lstStyle/>
          <a:p>
            <a:pPr algn="l"/>
            <a:r>
              <a:rPr sz="1100" b="0">
                <a:solidFill>
                  <a:srgbClr val="686B72"/>
                </a:solidFill>
              </a:rPr>
              <a:t>900101-1234567</a:t>
            </a:r>
          </a:p>
        </p:txBody>
      </p:sp>
      <p:sp>
        <p:nvSpPr>
          <p:cNvPr id="18" name="TextBox 17"/>
          <p:cNvSpPr txBox="1"/>
          <p:nvPr/>
        </p:nvSpPr>
        <p:spPr>
          <a:xfrm>
            <a:off x="11055096" y="31546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19" name="TextBox 18"/>
          <p:cNvSpPr txBox="1"/>
          <p:nvPr/>
        </p:nvSpPr>
        <p:spPr>
          <a:xfrm>
            <a:off x="11283696" y="3154680"/>
            <a:ext cx="1691640" cy="365760"/>
          </a:xfrm>
          <a:prstGeom prst="rect">
            <a:avLst/>
          </a:prstGeom>
          <a:noFill/>
        </p:spPr>
        <p:txBody>
          <a:bodyPr wrap="square" lIns="0" tIns="0" rIns="0" bIns="0" anchor="ctr">
            <a:spAutoFit/>
          </a:bodyPr>
          <a:lstStyle/>
          <a:p>
            <a:pPr algn="l"/>
            <a:r>
              <a:rPr sz="1100" b="1">
                <a:solidFill>
                  <a:srgbClr val="17171A"/>
                </a:solidFill>
              </a:rPr>
              <a:t>900101-*******</a:t>
            </a:r>
          </a:p>
        </p:txBody>
      </p:sp>
      <p:sp>
        <p:nvSpPr>
          <p:cNvPr id="20" name="TextBox 19"/>
          <p:cNvSpPr txBox="1"/>
          <p:nvPr/>
        </p:nvSpPr>
        <p:spPr>
          <a:xfrm>
            <a:off x="8586216" y="3611880"/>
            <a:ext cx="868680" cy="365760"/>
          </a:xfrm>
          <a:prstGeom prst="rect">
            <a:avLst/>
          </a:prstGeom>
          <a:noFill/>
        </p:spPr>
        <p:txBody>
          <a:bodyPr wrap="square" lIns="0" tIns="0" rIns="0" bIns="0" anchor="ctr">
            <a:spAutoFit/>
          </a:bodyPr>
          <a:lstStyle/>
          <a:p>
            <a:pPr algn="l"/>
            <a:r>
              <a:rPr sz="1100" b="1">
                <a:solidFill>
                  <a:srgbClr val="D91370"/>
                </a:solidFill>
              </a:rPr>
              <a:t>카드번호</a:t>
            </a:r>
          </a:p>
        </p:txBody>
      </p:sp>
      <p:sp>
        <p:nvSpPr>
          <p:cNvPr id="21" name="TextBox 20"/>
          <p:cNvSpPr txBox="1"/>
          <p:nvPr/>
        </p:nvSpPr>
        <p:spPr>
          <a:xfrm>
            <a:off x="9454896" y="3611880"/>
            <a:ext cx="1600200" cy="365760"/>
          </a:xfrm>
          <a:prstGeom prst="rect">
            <a:avLst/>
          </a:prstGeom>
          <a:noFill/>
        </p:spPr>
        <p:txBody>
          <a:bodyPr wrap="square" lIns="0" tIns="0" rIns="0" bIns="0" anchor="ctr">
            <a:spAutoFit/>
          </a:bodyPr>
          <a:lstStyle/>
          <a:p>
            <a:pPr algn="l"/>
            <a:r>
              <a:rPr sz="1100" b="0">
                <a:solidFill>
                  <a:srgbClr val="686B72"/>
                </a:solidFill>
              </a:rPr>
              <a:t>1234-5678-9012-3456</a:t>
            </a:r>
          </a:p>
        </p:txBody>
      </p:sp>
      <p:sp>
        <p:nvSpPr>
          <p:cNvPr id="22" name="TextBox 21"/>
          <p:cNvSpPr txBox="1"/>
          <p:nvPr/>
        </p:nvSpPr>
        <p:spPr>
          <a:xfrm>
            <a:off x="11055096" y="36118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3" name="TextBox 22"/>
          <p:cNvSpPr txBox="1"/>
          <p:nvPr/>
        </p:nvSpPr>
        <p:spPr>
          <a:xfrm>
            <a:off x="11283696" y="3611880"/>
            <a:ext cx="1691640" cy="365760"/>
          </a:xfrm>
          <a:prstGeom prst="rect">
            <a:avLst/>
          </a:prstGeom>
          <a:noFill/>
        </p:spPr>
        <p:txBody>
          <a:bodyPr wrap="square" lIns="0" tIns="0" rIns="0" bIns="0" anchor="ctr">
            <a:spAutoFit/>
          </a:bodyPr>
          <a:lstStyle/>
          <a:p>
            <a:pPr algn="l"/>
            <a:r>
              <a:rPr sz="1100" b="1">
                <a:solidFill>
                  <a:srgbClr val="17171A"/>
                </a:solidFill>
              </a:rPr>
              <a:t>****-****-****-3456</a:t>
            </a:r>
          </a:p>
        </p:txBody>
      </p:sp>
      <p:sp>
        <p:nvSpPr>
          <p:cNvPr id="24" name="TextBox 23"/>
          <p:cNvSpPr txBox="1"/>
          <p:nvPr/>
        </p:nvSpPr>
        <p:spPr>
          <a:xfrm>
            <a:off x="8586216" y="4069080"/>
            <a:ext cx="868680" cy="365760"/>
          </a:xfrm>
          <a:prstGeom prst="rect">
            <a:avLst/>
          </a:prstGeom>
          <a:noFill/>
        </p:spPr>
        <p:txBody>
          <a:bodyPr wrap="square" lIns="0" tIns="0" rIns="0" bIns="0" anchor="ctr">
            <a:spAutoFit/>
          </a:bodyPr>
          <a:lstStyle/>
          <a:p>
            <a:pPr algn="l"/>
            <a:r>
              <a:rPr sz="1100" b="1">
                <a:solidFill>
                  <a:srgbClr val="D91370"/>
                </a:solidFill>
              </a:rPr>
              <a:t>이메일</a:t>
            </a:r>
          </a:p>
        </p:txBody>
      </p:sp>
      <p:sp>
        <p:nvSpPr>
          <p:cNvPr id="25" name="TextBox 24"/>
          <p:cNvSpPr txBox="1"/>
          <p:nvPr/>
        </p:nvSpPr>
        <p:spPr>
          <a:xfrm>
            <a:off x="9454896" y="4069080"/>
            <a:ext cx="1600200" cy="365760"/>
          </a:xfrm>
          <a:prstGeom prst="rect">
            <a:avLst/>
          </a:prstGeom>
          <a:noFill/>
        </p:spPr>
        <p:txBody>
          <a:bodyPr wrap="square" lIns="0" tIns="0" rIns="0" bIns="0" anchor="ctr">
            <a:spAutoFit/>
          </a:bodyPr>
          <a:lstStyle/>
          <a:p>
            <a:pPr algn="l"/>
            <a:r>
              <a:rPr sz="1100" b="0">
                <a:solidFill>
                  <a:srgbClr val="686B72"/>
                </a:solidFill>
              </a:rPr>
              <a:t>abcd@naver.com</a:t>
            </a:r>
          </a:p>
        </p:txBody>
      </p:sp>
      <p:sp>
        <p:nvSpPr>
          <p:cNvPr id="26" name="TextBox 25"/>
          <p:cNvSpPr txBox="1"/>
          <p:nvPr/>
        </p:nvSpPr>
        <p:spPr>
          <a:xfrm>
            <a:off x="11055096" y="4069080"/>
            <a:ext cx="228600" cy="365760"/>
          </a:xfrm>
          <a:prstGeom prst="rect">
            <a:avLst/>
          </a:prstGeom>
          <a:noFill/>
        </p:spPr>
        <p:txBody>
          <a:bodyPr wrap="square" lIns="0" tIns="0" rIns="0" bIns="0" anchor="ctr">
            <a:spAutoFit/>
          </a:bodyPr>
          <a:lstStyle/>
          <a:p>
            <a:pPr algn="l"/>
            <a:r>
              <a:rPr sz="1100" b="0">
                <a:solidFill>
                  <a:srgbClr val="F72585"/>
                </a:solidFill>
              </a:rPr>
              <a:t>→</a:t>
            </a:r>
          </a:p>
        </p:txBody>
      </p:sp>
      <p:sp>
        <p:nvSpPr>
          <p:cNvPr id="27" name="TextBox 26"/>
          <p:cNvSpPr txBox="1"/>
          <p:nvPr/>
        </p:nvSpPr>
        <p:spPr>
          <a:xfrm>
            <a:off x="11283696" y="4069080"/>
            <a:ext cx="1691640" cy="365760"/>
          </a:xfrm>
          <a:prstGeom prst="rect">
            <a:avLst/>
          </a:prstGeom>
          <a:noFill/>
        </p:spPr>
        <p:txBody>
          <a:bodyPr wrap="square" lIns="0" tIns="0" rIns="0" bIns="0" anchor="ctr">
            <a:spAutoFit/>
          </a:bodyPr>
          <a:lstStyle/>
          <a:p>
            <a:pPr algn="l"/>
            <a:r>
              <a:rPr sz="1100" b="1">
                <a:solidFill>
                  <a:srgbClr val="17171A"/>
                </a:solidFill>
              </a:rPr>
              <a:t>a***@naver.com</a:t>
            </a:r>
          </a:p>
        </p:txBody>
      </p:sp>
      <p:sp>
        <p:nvSpPr>
          <p:cNvPr id="28" name="Rounded Rectangle 27"/>
          <p:cNvSpPr/>
          <p:nvPr/>
        </p:nvSpPr>
        <p:spPr>
          <a:xfrm>
            <a:off x="8357616" y="4892040"/>
            <a:ext cx="4727448" cy="1261872"/>
          </a:xfrm>
          <a:prstGeom prst="roundRect">
            <a:avLst>
              <a:gd name="adj" fmla="val 8000"/>
            </a:avLst>
          </a:prstGeom>
          <a:solidFill>
            <a:srgbClr val="FFF0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586216" y="5001768"/>
            <a:ext cx="4297680" cy="1051560"/>
          </a:xfrm>
          <a:prstGeom prst="rect">
            <a:avLst/>
          </a:prstGeom>
          <a:noFill/>
        </p:spPr>
        <p:txBody>
          <a:bodyPr wrap="square" lIns="0" tIns="0" rIns="0" bIns="0" anchor="ctr">
            <a:spAutoFit/>
          </a:bodyPr>
          <a:lstStyle/>
          <a:p>
            <a:pPr algn="l"/>
            <a:r>
              <a:rPr sz="1300" b="1">
                <a:solidFill>
                  <a:srgbClr val="D91370"/>
                </a:solidFill>
              </a:rPr>
              <a:t>Redis가 멈추면 차단은 경고만 남기고 통과</a:t>
            </a:r>
          </a:p>
          <a:p>
            <a:pPr algn="l"/>
            <a:r>
              <a:rPr sz="1200" b="0">
                <a:solidFill>
                  <a:srgbClr val="17171A"/>
                </a:solidFill>
              </a:rPr>
              <a:t>보안 장치가 장애 원인이 되지 않게,</a:t>
            </a:r>
          </a:p>
          <a:p>
            <a:pPr algn="l"/>
            <a:r>
              <a:rPr sz="1200" b="0">
                <a:solidFill>
                  <a:srgbClr val="17171A"/>
                </a:solidFill>
              </a:rPr>
              <a:t>위험은 토큰 유효 시간으로 한정했습니다</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매장 · 지도 · 길찾기 · 예약</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20</a:t>
            </a:r>
            <a:endParaRPr sz="1300" b="0">
              <a:solidFill>
                <a:schemeClr val="accent3"/>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인기 · 급상승 FAQ 랭킹</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많이 찾는 질문과 갑자기 늘어난 질문을 채팅 화면에서 바로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21</a:t>
            </a:r>
            <a:endParaRPr sz="1300" b="0">
              <a:solidFill>
                <a:schemeClr val="accent3"/>
              </a:solidFill>
            </a:endParaRPr>
          </a:p>
        </p:txBody>
      </p:sp>
      <p:pic>
        <p:nvPicPr>
          <p:cNvPr id="26" name="그림 25"/>
          <p:cNvPicPr>
            <a:picLocks noChangeAspect="1"/>
          </p:cNvPicPr>
          <p:nvPr/>
        </p:nvPicPr>
        <p:blipFill rotWithShape="1">
          <a:blip r:embed="rId2"/>
          <a:stretch>
            <a:fillRect/>
          </a:stretch>
        </p:blipFill>
        <p:spPr>
          <a:xfrm>
            <a:off x="4878650" y="2550000"/>
            <a:ext cx="7322004" cy="4349999"/>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7" name="캡션"/>
          <p:cNvSpPr/>
          <p:nvPr/>
        </p:nvSpPr>
        <p:spPr>
          <a:xfrm>
            <a:off x="4878650" y="2090000"/>
            <a:ext cx="322834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230000" tIns="0" rIns="230000" bIns="0" rtlCol="0" anchor="ctr"/>
          <a:lstStyle/>
          <a:p>
            <a:pPr algn="l"/>
            <a:r>
              <a:rPr sz="1400" b="1">
                <a:solidFill>
                  <a:schemeClr val="bg1"/>
                </a:solidFill>
              </a:rPr>
              <a:t>인기·급상승·지역 급상승 랭킹 화면</a:t>
            </a:r>
          </a:p>
        </p:txBody>
      </p:sp>
      <p:sp>
        <p:nvSpPr>
          <p:cNvPr id="28" name="패널 번호 1"/>
          <p:cNvSpPr/>
          <p:nvPr/>
        </p:nvSpPr>
        <p:spPr>
          <a:xfrm>
            <a:off x="10046766" y="260835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1</a:t>
            </a:r>
          </a:p>
        </p:txBody>
      </p:sp>
      <p:sp>
        <p:nvSpPr>
          <p:cNvPr id="29" name="패널 번호 2"/>
          <p:cNvSpPr/>
          <p:nvPr/>
        </p:nvSpPr>
        <p:spPr>
          <a:xfrm>
            <a:off x="10046766" y="402359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2</a:t>
            </a:r>
          </a:p>
        </p:txBody>
      </p:sp>
      <p:sp>
        <p:nvSpPr>
          <p:cNvPr id="30" name="패널 번호 3"/>
          <p:cNvSpPr/>
          <p:nvPr/>
        </p:nvSpPr>
        <p:spPr>
          <a:xfrm>
            <a:off x="10046766" y="5453731"/>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chemeClr val="bg1"/>
                </a:solidFill>
              </a:rPr>
              <a:t>3</a:t>
            </a:r>
          </a:p>
        </p:txBody>
      </p:sp>
      <p:sp>
        <p:nvSpPr>
          <p:cNvPr id="31" name="인기 FAQ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인기 FAQ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인기 FAQ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인기 FAQ</a:t>
            </a:r>
          </a:p>
        </p:txBody>
      </p:sp>
      <p:sp>
        <p:nvSpPr>
          <p:cNvPr id="35" name="인기 FAQ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최근 사용량 TOP 5</a:t>
            </a:r>
          </a:p>
        </p:txBody>
      </p:sp>
      <p:sp>
        <p:nvSpPr>
          <p:cNvPr id="36" name="급상승 FAQ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급상승 FAQ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급상승 FAQ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급상승 FAQ</a:t>
            </a:r>
          </a:p>
        </p:txBody>
      </p:sp>
      <p:sp>
        <p:nvSpPr>
          <p:cNvPr id="40" name="급상승 FAQ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이전 대비 사용량 급증 TOP 5</a:t>
            </a:r>
          </a:p>
        </p:txBody>
      </p:sp>
      <p:sp>
        <p:nvSpPr>
          <p:cNvPr id="41" name="지역 급상승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지역 급상승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44" name="지역 급상승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지역 급상승</a:t>
            </a:r>
          </a:p>
        </p:txBody>
      </p:sp>
      <p:sp>
        <p:nvSpPr>
          <p:cNvPr id="45" name="지역 급상승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내 지역(IP 기반) 급상승 TOP 5</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사용자 · 상품 정보 조회와 가입</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내 정보와 상품 정보를 질문으로 조회하고, 가입 · 해지까지 처리합니다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22</a:t>
            </a:r>
            <a:endParaRPr sz="1300" b="0">
              <a:solidFill>
                <a:schemeClr val="accent3"/>
              </a:solidFill>
            </a:endParaRPr>
          </a:p>
        </p:txBody>
      </p:sp>
      <p:pic>
        <p:nvPicPr>
          <p:cNvPr id="31" name="그림 30"/>
          <p:cNvPicPr>
            <a:picLocks noChangeAspect="1"/>
          </p:cNvPicPr>
          <p:nvPr/>
        </p:nvPicPr>
        <p:blipFill rotWithShape="1">
          <a:blip r:embed="rId2"/>
          <a:stretch>
            <a:fillRect/>
          </a:stretch>
        </p:blipFill>
        <p:spPr>
          <a:xfrm>
            <a:off x="8987350" y="5028378"/>
            <a:ext cx="4100000" cy="1904242"/>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pic>
        <p:nvPicPr>
          <p:cNvPr id="32" name="그림 31"/>
          <p:cNvPicPr>
            <a:picLocks noChangeAspect="1"/>
          </p:cNvPicPr>
          <p:nvPr/>
        </p:nvPicPr>
        <p:blipFill rotWithShape="1">
          <a:blip r:embed="rId3"/>
          <a:stretch>
            <a:fillRect/>
          </a:stretch>
        </p:blipFill>
        <p:spPr>
          <a:xfrm>
            <a:off x="4878650" y="2550000"/>
            <a:ext cx="5400000" cy="1778378"/>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33" name="캡션 1"/>
          <p:cNvSpPr/>
          <p:nvPr/>
        </p:nvSpPr>
        <p:spPr>
          <a:xfrm>
            <a:off x="5078650" y="2070000"/>
            <a:ext cx="3280566"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사용자 정보 조회 화면 (정보 카드)</a:t>
            </a:r>
          </a:p>
        </p:txBody>
      </p:sp>
      <p:sp>
        <p:nvSpPr>
          <p:cNvPr id="34"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35" name="캡션 2"/>
          <p:cNvSpPr/>
          <p:nvPr/>
        </p:nvSpPr>
        <p:spPr>
          <a:xfrm>
            <a:off x="9187350" y="4548378"/>
            <a:ext cx="213909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상품 정보 조회 화면</a:t>
            </a:r>
          </a:p>
        </p:txBody>
      </p:sp>
      <p:sp>
        <p:nvSpPr>
          <p:cNvPr id="36" name="캡션 번호 2"/>
          <p:cNvSpPr/>
          <p:nvPr/>
        </p:nvSpPr>
        <p:spPr>
          <a:xfrm>
            <a:off x="8987350" y="452837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37" name="사용자 정보 조회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사용자 정보 조회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40" name="사용자 정보 조회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사용자 정보 조회</a:t>
            </a:r>
          </a:p>
        </p:txBody>
      </p:sp>
      <p:sp>
        <p:nvSpPr>
          <p:cNvPr id="41" name="사용자 정보 조회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요금·데이터 사용량·가입 상품 확인</a:t>
            </a:r>
          </a:p>
        </p:txBody>
      </p:sp>
      <p:sp>
        <p:nvSpPr>
          <p:cNvPr id="42" name="상품 정보 조회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상품 정보 조회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45" name="상품 정보 조회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상품 정보 조회</a:t>
            </a:r>
          </a:p>
        </p:txBody>
      </p:sp>
      <p:sp>
        <p:nvSpPr>
          <p:cNvPr id="46" name="상품 정보 조회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요금제·부가서비스를 질문으로 안내</a:t>
            </a:r>
          </a:p>
        </p:txBody>
      </p:sp>
      <p:sp>
        <p:nvSpPr>
          <p:cNvPr id="47" name="가입·해지 카드"/>
          <p:cNvSpPr/>
          <p:nvPr/>
        </p:nvSpPr>
        <p:spPr>
          <a:xfrm>
            <a:off x="628650" y="51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가입·해지 번호"/>
          <p:cNvSpPr/>
          <p:nvPr/>
        </p:nvSpPr>
        <p:spPr>
          <a:xfrm>
            <a:off x="788650" y="55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3</a:t>
            </a:r>
          </a:p>
        </p:txBody>
      </p:sp>
      <p:sp>
        <p:nvSpPr>
          <p:cNvPr id="50" name="가입·해지 키워드"/>
          <p:cNvSpPr txBox="1"/>
          <p:nvPr/>
        </p:nvSpPr>
        <p:spPr>
          <a:xfrm>
            <a:off x="1528650" y="5320000"/>
            <a:ext cx="2850000" cy="420000"/>
          </a:xfrm>
          <a:prstGeom prst="rect">
            <a:avLst/>
          </a:prstGeom>
          <a:noFill/>
        </p:spPr>
        <p:txBody>
          <a:bodyPr wrap="square" lIns="0" tIns="0" rIns="0" bIns="0" anchor="ctr">
            <a:spAutoFit/>
          </a:bodyPr>
          <a:lstStyle/>
          <a:p>
            <a:pPr algn="l"/>
            <a:r>
              <a:rPr sz="1900" b="1">
                <a:solidFill>
                  <a:schemeClr val="tx2"/>
                </a:solidFill>
              </a:rPr>
              <a:t>가입·해지</a:t>
            </a:r>
          </a:p>
        </p:txBody>
      </p:sp>
      <p:sp>
        <p:nvSpPr>
          <p:cNvPr id="51" name="가입·해지 설명"/>
          <p:cNvSpPr txBox="1"/>
          <p:nvPr/>
        </p:nvSpPr>
        <p:spPr>
          <a:xfrm>
            <a:off x="1528650" y="5790000"/>
            <a:ext cx="2850000" cy="610000"/>
          </a:xfrm>
          <a:prstGeom prst="rect">
            <a:avLst/>
          </a:prstGeom>
          <a:noFill/>
        </p:spPr>
        <p:txBody>
          <a:bodyPr wrap="square" lIns="0" tIns="0" rIns="0" bIns="0" anchor="t">
            <a:spAutoFit/>
          </a:bodyPr>
          <a:lstStyle/>
          <a:p>
            <a:pPr algn="l"/>
            <a:r>
              <a:rPr sz="1300" b="0">
                <a:solidFill>
                  <a:schemeClr val="tx1"/>
                </a:solidFill>
              </a:rPr>
              <a:t>상품 가입·해지·결합 처리</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채팅</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고객센터 문의와 상담사 호출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문의를 남기고, 필요하면 상담사에게 연결합니다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23</a:t>
            </a:r>
            <a:endParaRPr sz="1300" b="0">
              <a:solidFill>
                <a:schemeClr val="accent3"/>
              </a:solidFill>
            </a:endParaRPr>
          </a:p>
        </p:txBody>
      </p:sp>
      <p:pic>
        <p:nvPicPr>
          <p:cNvPr id="25" name="그림 24"/>
          <p:cNvPicPr>
            <a:picLocks noChangeAspect="1"/>
          </p:cNvPicPr>
          <p:nvPr/>
        </p:nvPicPr>
        <p:blipFill rotWithShape="1">
          <a:blip r:embed="rId2"/>
          <a:stretch>
            <a:fillRect/>
          </a:stretch>
        </p:blipFill>
        <p:spPr>
          <a:xfrm>
            <a:off x="4878650" y="2550000"/>
            <a:ext cx="6400000" cy="2351144"/>
          </a:xfrm>
          <a:prstGeom prst="roundRect">
            <a:avLst>
              <a:gd name="adj" fmla="val 4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5078650" y="2070000"/>
            <a:ext cx="20768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고객센터 문의 화면</a:t>
            </a:r>
          </a:p>
        </p:txBody>
      </p:sp>
      <p:sp>
        <p:nvSpPr>
          <p:cNvPr id="27" name="캡션 번호 1"/>
          <p:cNvSpPr/>
          <p:nvPr/>
        </p:nvSpPr>
        <p:spPr>
          <a:xfrm>
            <a:off x="4878650" y="20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이미지 자리 2"/>
          <p:cNvSpPr/>
          <p:nvPr/>
        </p:nvSpPr>
        <p:spPr>
          <a:xfrm>
            <a:off x="4878650" y="5601144"/>
            <a:ext cx="6400000" cy="1300000"/>
          </a:xfrm>
          <a:prstGeom prst="roundRect">
            <a:avLst>
              <a:gd name="adj" fmla="val 4000"/>
            </a:avLst>
          </a:prstGeom>
          <a:solidFill>
            <a:schemeClr val="bg1"/>
          </a:solidFill>
          <a:ln w="19050">
            <a:solidFill>
              <a:schemeClr val="accent2"/>
            </a:solidFill>
            <a:prstDash val="dash"/>
          </a:ln>
          <a:effectLst>
            <a:outerShdw blurRad="254000" dist="88900" dir="5400000" algn="t" rotWithShape="0">
              <a:srgbClr val="17171A">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800">
                <a:solidFill>
                  <a:schemeClr val="accent3"/>
                </a:solidFill>
              </a:rPr>
              <a:t>그림 2</a:t>
            </a:r>
          </a:p>
          <a:p>
            <a:pPr algn="ctr"/>
            <a:r>
              <a:rPr sz="1300">
                <a:solidFill>
                  <a:schemeClr val="accent3"/>
                </a:solidFill>
              </a:rPr>
              <a:t>준비 중</a:t>
            </a:r>
          </a:p>
        </p:txBody>
      </p:sp>
      <p:sp>
        <p:nvSpPr>
          <p:cNvPr id="29" name="캡션 2"/>
          <p:cNvSpPr/>
          <p:nvPr/>
        </p:nvSpPr>
        <p:spPr>
          <a:xfrm>
            <a:off x="5078650" y="5121144"/>
            <a:ext cx="230088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상담사 호출·상담 화면</a:t>
            </a:r>
          </a:p>
        </p:txBody>
      </p:sp>
      <p:sp>
        <p:nvSpPr>
          <p:cNvPr id="30" name="캡션 번호 2"/>
          <p:cNvSpPr/>
          <p:nvPr/>
        </p:nvSpPr>
        <p:spPr>
          <a:xfrm>
            <a:off x="4878650" y="5101144"/>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1" name="고객센터 문의 카드"/>
          <p:cNvSpPr/>
          <p:nvPr/>
        </p:nvSpPr>
        <p:spPr>
          <a:xfrm>
            <a:off x="628650" y="205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고객센터 문의 번호"/>
          <p:cNvSpPr/>
          <p:nvPr/>
        </p:nvSpPr>
        <p:spPr>
          <a:xfrm>
            <a:off x="788650" y="249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1</a:t>
            </a:r>
          </a:p>
        </p:txBody>
      </p:sp>
      <p:sp>
        <p:nvSpPr>
          <p:cNvPr id="34" name="고객센터 문의 키워드"/>
          <p:cNvSpPr txBox="1"/>
          <p:nvPr/>
        </p:nvSpPr>
        <p:spPr>
          <a:xfrm>
            <a:off x="1528650" y="2220000"/>
            <a:ext cx="2850000" cy="420000"/>
          </a:xfrm>
          <a:prstGeom prst="rect">
            <a:avLst/>
          </a:prstGeom>
          <a:noFill/>
        </p:spPr>
        <p:txBody>
          <a:bodyPr wrap="square" lIns="0" tIns="0" rIns="0" bIns="0" anchor="ctr">
            <a:spAutoFit/>
          </a:bodyPr>
          <a:lstStyle/>
          <a:p>
            <a:pPr algn="l"/>
            <a:r>
              <a:rPr sz="1900" b="1">
                <a:solidFill>
                  <a:schemeClr val="tx2"/>
                </a:solidFill>
              </a:rPr>
              <a:t>고객센터 문의</a:t>
            </a:r>
          </a:p>
        </p:txBody>
      </p:sp>
      <p:sp>
        <p:nvSpPr>
          <p:cNvPr id="35" name="고객센터 문의 설명"/>
          <p:cNvSpPr txBox="1"/>
          <p:nvPr/>
        </p:nvSpPr>
        <p:spPr>
          <a:xfrm>
            <a:off x="1528650" y="2690000"/>
            <a:ext cx="2850000" cy="610000"/>
          </a:xfrm>
          <a:prstGeom prst="rect">
            <a:avLst/>
          </a:prstGeom>
          <a:noFill/>
        </p:spPr>
        <p:txBody>
          <a:bodyPr wrap="square" lIns="0" tIns="0" rIns="0" bIns="0" anchor="t">
            <a:spAutoFit/>
          </a:bodyPr>
          <a:lstStyle/>
          <a:p>
            <a:pPr algn="l"/>
            <a:r>
              <a:rPr sz="1300" b="0">
                <a:solidFill>
                  <a:schemeClr val="tx1"/>
                </a:solidFill>
              </a:rPr>
              <a:t>문의 등록, 관리자 답변 확인</a:t>
            </a:r>
          </a:p>
        </p:txBody>
      </p:sp>
      <p:sp>
        <p:nvSpPr>
          <p:cNvPr id="36" name="상담사 호출 카드"/>
          <p:cNvSpPr/>
          <p:nvPr/>
        </p:nvSpPr>
        <p:spPr>
          <a:xfrm>
            <a:off x="628650" y="3600000"/>
            <a:ext cx="3900000" cy="135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상담사 호출 번호"/>
          <p:cNvSpPr/>
          <p:nvPr/>
        </p:nvSpPr>
        <p:spPr>
          <a:xfrm>
            <a:off x="788650" y="4045000"/>
            <a:ext cx="460000" cy="4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600" b="1">
                <a:solidFill>
                  <a:schemeClr val="bg1"/>
                </a:solidFill>
              </a:rPr>
              <a:t>2</a:t>
            </a:r>
          </a:p>
        </p:txBody>
      </p:sp>
      <p:sp>
        <p:nvSpPr>
          <p:cNvPr id="39" name="상담사 호출 키워드"/>
          <p:cNvSpPr txBox="1"/>
          <p:nvPr/>
        </p:nvSpPr>
        <p:spPr>
          <a:xfrm>
            <a:off x="1528650" y="3770000"/>
            <a:ext cx="2850000" cy="420000"/>
          </a:xfrm>
          <a:prstGeom prst="rect">
            <a:avLst/>
          </a:prstGeom>
          <a:noFill/>
        </p:spPr>
        <p:txBody>
          <a:bodyPr wrap="square" lIns="0" tIns="0" rIns="0" bIns="0" anchor="ctr">
            <a:spAutoFit/>
          </a:bodyPr>
          <a:lstStyle/>
          <a:p>
            <a:pPr algn="l"/>
            <a:r>
              <a:rPr sz="1900" b="1">
                <a:solidFill>
                  <a:schemeClr val="tx2"/>
                </a:solidFill>
              </a:rPr>
              <a:t>상담사 호출</a:t>
            </a:r>
          </a:p>
        </p:txBody>
      </p:sp>
      <p:sp>
        <p:nvSpPr>
          <p:cNvPr id="40" name="상담사 호출 설명"/>
          <p:cNvSpPr txBox="1"/>
          <p:nvPr/>
        </p:nvSpPr>
        <p:spPr>
          <a:xfrm>
            <a:off x="1528650" y="4240000"/>
            <a:ext cx="2850000" cy="610000"/>
          </a:xfrm>
          <a:prstGeom prst="rect">
            <a:avLst/>
          </a:prstGeom>
          <a:noFill/>
        </p:spPr>
        <p:txBody>
          <a:bodyPr wrap="square" lIns="0" tIns="0" rIns="0" bIns="0" anchor="t">
            <a:spAutoFit/>
          </a:bodyPr>
          <a:lstStyle/>
          <a:p>
            <a:pPr algn="l"/>
            <a:r>
              <a:rPr sz="1300" b="0">
                <a:solidFill>
                  <a:schemeClr val="tx1"/>
                </a:solidFill>
              </a:rPr>
              <a:t>챗봇에서 상담사로 연결</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FAQ 대시보드</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FAQ 운영 현황을 한눈에: 사용량 · 유사도 · 개별 정보</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24</a:t>
            </a:r>
            <a:endParaRPr sz="1300" b="0">
              <a:solidFill>
                <a:schemeClr val="accent3"/>
              </a:solidFill>
            </a:endParaRPr>
          </a:p>
        </p:txBody>
      </p:sp>
      <p:sp>
        <p:nvSpPr>
          <p:cNvPr id="9" name="FAQ 사용량 카드"/>
          <p:cNvSpPr/>
          <p:nvPr/>
        </p:nvSpPr>
        <p:spPr>
          <a:xfrm>
            <a:off x="628650"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0" name="FAQ 사용량 번호"/>
          <p:cNvSpPr/>
          <p:nvPr/>
        </p:nvSpPr>
        <p:spPr>
          <a:xfrm>
            <a:off x="818650"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1</a:t>
            </a:r>
          </a:p>
        </p:txBody>
      </p:sp>
      <p:sp>
        <p:nvSpPr>
          <p:cNvPr id="11" name="FAQ 사용량 제목"/>
          <p:cNvSpPr txBox="1"/>
          <p:nvPr/>
        </p:nvSpPr>
        <p:spPr>
          <a:xfrm>
            <a:off x="1388650"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사용량</a:t>
            </a:r>
          </a:p>
        </p:txBody>
      </p:sp>
      <p:pic>
        <p:nvPicPr>
          <p:cNvPr id="24" name="그림 23"/>
          <p:cNvPicPr>
            <a:picLocks noChangeAspect="1"/>
          </p:cNvPicPr>
          <p:nvPr/>
        </p:nvPicPr>
        <p:blipFill rotWithShape="1">
          <a:blip r:embed="rId2"/>
          <a:stretch>
            <a:fillRect/>
          </a:stretch>
        </p:blipFill>
        <p:spPr>
          <a:xfrm>
            <a:off x="818650" y="2867485"/>
            <a:ext cx="3606233" cy="2865030"/>
          </a:xfrm>
          <a:prstGeom prst="roundRect">
            <a:avLst>
              <a:gd name="adj" fmla="val 3000"/>
            </a:avLst>
          </a:prstGeom>
          <a:ln w="12700">
            <a:solidFill>
              <a:schemeClr val="accent2"/>
            </a:solidFill>
          </a:ln>
        </p:spPr>
      </p:pic>
      <p:sp>
        <p:nvSpPr>
          <p:cNvPr id="25" name="FAQ 사용량 설명"/>
          <p:cNvSpPr txBox="1"/>
          <p:nvPr/>
        </p:nvSpPr>
        <p:spPr>
          <a:xfrm>
            <a:off x="818650"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검색 결과 포함 횟수 TOP/LOW 20</a:t>
            </a:r>
          </a:p>
          <a:p>
            <a:pPr marL="200000" lvl="0" indent="-200000" algn="l">
              <a:spcAft>
                <a:spcPts val="600"/>
              </a:spcAft>
              <a:buChar char="•"/>
              <a:defRPr/>
            </a:pPr>
            <a:r>
              <a:rPr sz="1200" b="0">
                <a:solidFill>
                  <a:schemeClr val="tx1"/>
                </a:solidFill>
              </a:rPr>
              <a:t>의도별(사용자·매장·상품 데이터)로 필터</a:t>
            </a:r>
          </a:p>
        </p:txBody>
      </p:sp>
      <p:sp>
        <p:nvSpPr>
          <p:cNvPr id="26" name="FAQ 유사도 카드"/>
          <p:cNvSpPr/>
          <p:nvPr/>
        </p:nvSpPr>
        <p:spPr>
          <a:xfrm>
            <a:off x="4864883"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7" name="FAQ 유사도 번호"/>
          <p:cNvSpPr/>
          <p:nvPr/>
        </p:nvSpPr>
        <p:spPr>
          <a:xfrm>
            <a:off x="5054883"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2</a:t>
            </a:r>
          </a:p>
        </p:txBody>
      </p:sp>
      <p:sp>
        <p:nvSpPr>
          <p:cNvPr id="28" name="FAQ 유사도 제목"/>
          <p:cNvSpPr txBox="1"/>
          <p:nvPr/>
        </p:nvSpPr>
        <p:spPr>
          <a:xfrm>
            <a:off x="5624883"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유사도</a:t>
            </a:r>
          </a:p>
        </p:txBody>
      </p:sp>
      <p:pic>
        <p:nvPicPr>
          <p:cNvPr id="34" name="그림 24"/>
          <p:cNvPicPr>
            <a:picLocks noChangeAspect="1"/>
          </p:cNvPicPr>
          <p:nvPr/>
        </p:nvPicPr>
        <p:blipFill rotWithShape="1">
          <a:blip r:embed="rId3"/>
          <a:stretch>
            <a:fillRect/>
          </a:stretch>
        </p:blipFill>
        <p:spPr>
          <a:xfrm>
            <a:off x="5054883" y="2862252"/>
            <a:ext cx="3606233" cy="2875496"/>
          </a:xfrm>
          <a:prstGeom prst="roundRect">
            <a:avLst>
              <a:gd name="adj" fmla="val 3000"/>
            </a:avLst>
          </a:prstGeom>
          <a:ln w="12700">
            <a:solidFill>
              <a:schemeClr val="accent2"/>
            </a:solidFill>
          </a:ln>
        </p:spPr>
      </p:pic>
      <p:sp>
        <p:nvSpPr>
          <p:cNvPr id="29" name="FAQ 유사도 설명"/>
          <p:cNvSpPr txBox="1"/>
          <p:nvPr/>
        </p:nvSpPr>
        <p:spPr>
          <a:xfrm>
            <a:off x="5054883"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FAQ별 평균 Similarity TOP/LOW 20</a:t>
            </a:r>
          </a:p>
          <a:p>
            <a:pPr marL="200000" lvl="0" indent="-200000" algn="l">
              <a:spcAft>
                <a:spcPts val="600"/>
              </a:spcAft>
              <a:buChar char="•"/>
              <a:defRPr/>
            </a:pPr>
            <a:r>
              <a:rPr sz="1200" b="0">
                <a:solidFill>
                  <a:schemeClr val="tx1"/>
                </a:solidFill>
              </a:rPr>
              <a:t>전체 FAQ 평균 값을 함께 표시</a:t>
            </a:r>
          </a:p>
        </p:txBody>
      </p:sp>
      <p:sp>
        <p:nvSpPr>
          <p:cNvPr id="30" name="FAQ 개별 정보 카드"/>
          <p:cNvSpPr/>
          <p:nvPr/>
        </p:nvSpPr>
        <p:spPr>
          <a:xfrm>
            <a:off x="9101116" y="2050000"/>
            <a:ext cx="3986233"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1" name="FAQ 개별 정보 번호"/>
          <p:cNvSpPr/>
          <p:nvPr/>
        </p:nvSpPr>
        <p:spPr>
          <a:xfrm>
            <a:off x="9291116" y="2230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500" b="1">
                <a:solidFill>
                  <a:schemeClr val="bg1"/>
                </a:solidFill>
              </a:rPr>
              <a:t>3</a:t>
            </a:r>
          </a:p>
        </p:txBody>
      </p:sp>
      <p:sp>
        <p:nvSpPr>
          <p:cNvPr id="32" name="FAQ 개별 정보 제목"/>
          <p:cNvSpPr txBox="1"/>
          <p:nvPr/>
        </p:nvSpPr>
        <p:spPr>
          <a:xfrm>
            <a:off x="9861116" y="2230000"/>
            <a:ext cx="3036233" cy="440000"/>
          </a:xfrm>
          <a:prstGeom prst="rect">
            <a:avLst/>
          </a:prstGeom>
          <a:noFill/>
        </p:spPr>
        <p:txBody>
          <a:bodyPr wrap="square" lIns="0" tIns="0" rIns="0" bIns="0" anchor="ctr">
            <a:spAutoFit/>
          </a:bodyPr>
          <a:lstStyle/>
          <a:p>
            <a:pPr lvl="0" algn="l">
              <a:defRPr/>
            </a:pPr>
            <a:r>
              <a:rPr sz="2000" b="1">
                <a:solidFill>
                  <a:schemeClr val="tx2"/>
                </a:solidFill>
              </a:rPr>
              <a:t>FAQ 개별 정보</a:t>
            </a:r>
          </a:p>
        </p:txBody>
      </p:sp>
      <p:pic>
        <p:nvPicPr>
          <p:cNvPr id="35" name="그림 25"/>
          <p:cNvPicPr>
            <a:picLocks noChangeAspect="1"/>
          </p:cNvPicPr>
          <p:nvPr/>
        </p:nvPicPr>
        <p:blipFill rotWithShape="1">
          <a:blip r:embed="rId4"/>
          <a:stretch>
            <a:fillRect/>
          </a:stretch>
        </p:blipFill>
        <p:spPr>
          <a:xfrm>
            <a:off x="9291116" y="2867485"/>
            <a:ext cx="3606233" cy="2865030"/>
          </a:xfrm>
          <a:prstGeom prst="roundRect">
            <a:avLst>
              <a:gd name="adj" fmla="val 3000"/>
            </a:avLst>
          </a:prstGeom>
          <a:ln w="12700">
            <a:solidFill>
              <a:schemeClr val="accent2"/>
            </a:solidFill>
          </a:ln>
        </p:spPr>
      </p:pic>
      <p:sp>
        <p:nvSpPr>
          <p:cNvPr id="33" name="FAQ 개별 정보 설명"/>
          <p:cNvSpPr txBox="1"/>
          <p:nvPr/>
        </p:nvSpPr>
        <p:spPr>
          <a:xfrm>
            <a:off x="9291116" y="5980000"/>
            <a:ext cx="3606233" cy="650000"/>
          </a:xfrm>
          <a:prstGeom prst="rect">
            <a:avLst/>
          </a:prstGeom>
          <a:noFill/>
        </p:spPr>
        <p:txBody>
          <a:bodyPr wrap="square" lIns="0" tIns="0" rIns="0" bIns="0" anchor="t">
            <a:spAutoFit/>
          </a:bodyPr>
          <a:lstStyle/>
          <a:p>
            <a:pPr marL="200000" lvl="0" indent="-200000" algn="l">
              <a:spcAft>
                <a:spcPts val="600"/>
              </a:spcAft>
              <a:buChar char="•"/>
              <a:defRPr/>
            </a:pPr>
            <a:r>
              <a:rPr sz="1200" b="0">
                <a:solidFill>
                  <a:schemeClr val="tx1"/>
                </a:solidFill>
              </a:rPr>
              <a:t>FAQ ID로 상세 정보와 사용량 추이 조회</a:t>
            </a:r>
          </a:p>
          <a:p>
            <a:pPr marL="200000" lvl="0" indent="-200000" algn="l">
              <a:spcAft>
                <a:spcPts val="600"/>
              </a:spcAft>
              <a:buChar char="•"/>
              <a:defRPr/>
            </a:pPr>
            <a:r>
              <a:rPr sz="1200" b="0">
                <a:solidFill>
                  <a:schemeClr val="tx1"/>
                </a:solidFill>
              </a:rPr>
              <a:t>함께 등장한 FAQ Top 5 확인</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개선이 필요한 FAQ</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검색 품질 · 활용도 · 중복 가능성이 있는 FAQ를 찾아 보여줍니다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25</a:t>
            </a:r>
            <a:endParaRPr sz="1300" b="0">
              <a:solidFill>
                <a:schemeClr val="accent3"/>
              </a:solidFill>
            </a:endParaRPr>
          </a:p>
        </p:txBody>
      </p:sp>
      <p:sp>
        <p:nvSpPr>
          <p:cNvPr id="9" name="이미지 카드"/>
          <p:cNvSpPr/>
          <p:nvPr/>
        </p:nvSpPr>
        <p:spPr>
          <a:xfrm>
            <a:off x="628650" y="2050000"/>
            <a:ext cx="4900000" cy="4750000"/>
          </a:xfrm>
          <a:prstGeom prst="roundRect">
            <a:avLst>
              <a:gd name="adj" fmla="val 25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그림 22"/>
          <p:cNvPicPr>
            <a:picLocks noChangeAspect="1"/>
          </p:cNvPicPr>
          <p:nvPr/>
        </p:nvPicPr>
        <p:blipFill rotWithShape="1">
          <a:blip r:embed="rId2"/>
          <a:stretch>
            <a:fillRect/>
          </a:stretch>
        </p:blipFill>
        <p:spPr>
          <a:xfrm>
            <a:off x="845805" y="2230000"/>
            <a:ext cx="4465689" cy="4390000"/>
          </a:xfrm>
          <a:prstGeom prst="roundRect">
            <a:avLst>
              <a:gd name="adj" fmla="val 3000"/>
            </a:avLst>
          </a:prstGeom>
          <a:ln w="12700">
            <a:solidFill>
              <a:schemeClr val="accent2"/>
            </a:solidFill>
          </a:ln>
        </p:spPr>
      </p:pic>
      <p:sp>
        <p:nvSpPr>
          <p:cNvPr id="24" name="화면 번호 1"/>
          <p:cNvSpPr/>
          <p:nvPr/>
        </p:nvSpPr>
        <p:spPr>
          <a:xfrm>
            <a:off x="3163563" y="2630287"/>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1</a:t>
            </a:r>
          </a:p>
        </p:txBody>
      </p:sp>
      <p:sp>
        <p:nvSpPr>
          <p:cNvPr id="25" name="화면 번호 2"/>
          <p:cNvSpPr/>
          <p:nvPr/>
        </p:nvSpPr>
        <p:spPr>
          <a:xfrm>
            <a:off x="590116" y="3311494"/>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2</a:t>
            </a:r>
          </a:p>
        </p:txBody>
      </p:sp>
      <p:sp>
        <p:nvSpPr>
          <p:cNvPr id="26" name="화면 번호 3"/>
          <p:cNvSpPr/>
          <p:nvPr/>
        </p:nvSpPr>
        <p:spPr>
          <a:xfrm>
            <a:off x="590116" y="532988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3</a:t>
            </a:r>
          </a:p>
        </p:txBody>
      </p:sp>
      <p:sp>
        <p:nvSpPr>
          <p:cNvPr id="27" name="화면 번호 4"/>
          <p:cNvSpPr/>
          <p:nvPr/>
        </p:nvSpPr>
        <p:spPr>
          <a:xfrm>
            <a:off x="5219798" y="4181925"/>
            <a:ext cx="360000" cy="36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300" b="1">
                <a:solidFill>
                  <a:schemeClr val="bg1"/>
                </a:solidFill>
              </a:rPr>
              <a:t>4</a:t>
            </a:r>
          </a:p>
        </p:txBody>
      </p:sp>
      <p:sp>
        <p:nvSpPr>
          <p:cNvPr id="28" name="개선 유형 필터 카드"/>
          <p:cNvSpPr/>
          <p:nvPr/>
        </p:nvSpPr>
        <p:spPr>
          <a:xfrm>
            <a:off x="5878650" y="205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개선 유형 필터 번호"/>
          <p:cNvSpPr/>
          <p:nvPr/>
        </p:nvSpPr>
        <p:spPr>
          <a:xfrm>
            <a:off x="6068650" y="237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1</a:t>
            </a:r>
          </a:p>
        </p:txBody>
      </p:sp>
      <p:sp>
        <p:nvSpPr>
          <p:cNvPr id="31" name="개선 유형 필터 제목"/>
          <p:cNvSpPr txBox="1"/>
          <p:nvPr/>
        </p:nvSpPr>
        <p:spPr>
          <a:xfrm>
            <a:off x="6738650" y="2160000"/>
            <a:ext cx="6148700" cy="340000"/>
          </a:xfrm>
          <a:prstGeom prst="rect">
            <a:avLst/>
          </a:prstGeom>
          <a:noFill/>
        </p:spPr>
        <p:txBody>
          <a:bodyPr wrap="square" lIns="0" tIns="0" rIns="0" bIns="0" anchor="ctr">
            <a:spAutoFit/>
          </a:bodyPr>
          <a:lstStyle/>
          <a:p>
            <a:pPr algn="l"/>
            <a:r>
              <a:rPr sz="1700" b="1">
                <a:solidFill>
                  <a:schemeClr val="tx2"/>
                </a:solidFill>
              </a:rPr>
              <a:t>개선 유형 필터</a:t>
            </a:r>
          </a:p>
        </p:txBody>
      </p:sp>
      <p:sp>
        <p:nvSpPr>
          <p:cNvPr id="32" name="개선 유형 필터 설명"/>
          <p:cNvSpPr txBox="1"/>
          <p:nvPr/>
        </p:nvSpPr>
        <p:spPr>
          <a:xfrm>
            <a:off x="6738650" y="2520000"/>
            <a:ext cx="6148700" cy="530000"/>
          </a:xfrm>
          <a:prstGeom prst="rect">
            <a:avLst/>
          </a:prstGeom>
          <a:noFill/>
        </p:spPr>
        <p:txBody>
          <a:bodyPr wrap="square" lIns="0" tIns="0" rIns="0" bIns="0" anchor="t">
            <a:spAutoFit/>
          </a:bodyPr>
          <a:lstStyle/>
          <a:p>
            <a:pPr algn="l"/>
            <a:r>
              <a:rPr sz="1250" b="0">
                <a:solidFill>
                  <a:schemeClr val="tx1"/>
                </a:solidFill>
              </a:rPr>
              <a:t>검색품질↓ · 활용도↓ · 중복의심 중에서 선택하고, 여러 유형을 고르면 모두 해당하는 FAQ를 보여줍니다.</a:t>
            </a:r>
          </a:p>
        </p:txBody>
      </p:sp>
      <p:sp>
        <p:nvSpPr>
          <p:cNvPr id="33" name="개선 필요 FAQ 목록 카드"/>
          <p:cNvSpPr/>
          <p:nvPr/>
        </p:nvSpPr>
        <p:spPr>
          <a:xfrm>
            <a:off x="5878650" y="327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개선 필요 FAQ 목록 번호"/>
          <p:cNvSpPr/>
          <p:nvPr/>
        </p:nvSpPr>
        <p:spPr>
          <a:xfrm>
            <a:off x="6068650" y="359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2</a:t>
            </a:r>
          </a:p>
        </p:txBody>
      </p:sp>
      <p:sp>
        <p:nvSpPr>
          <p:cNvPr id="36" name="개선 필요 FAQ 목록 제목"/>
          <p:cNvSpPr txBox="1"/>
          <p:nvPr/>
        </p:nvSpPr>
        <p:spPr>
          <a:xfrm>
            <a:off x="6738650" y="3380000"/>
            <a:ext cx="6148700" cy="340000"/>
          </a:xfrm>
          <a:prstGeom prst="rect">
            <a:avLst/>
          </a:prstGeom>
          <a:noFill/>
        </p:spPr>
        <p:txBody>
          <a:bodyPr wrap="square" lIns="0" tIns="0" rIns="0" bIns="0" anchor="ctr">
            <a:spAutoFit/>
          </a:bodyPr>
          <a:lstStyle/>
          <a:p>
            <a:pPr algn="l"/>
            <a:r>
              <a:rPr sz="1700" b="1">
                <a:solidFill>
                  <a:schemeClr val="tx2"/>
                </a:solidFill>
              </a:rPr>
              <a:t>개선 필요 FAQ 목록</a:t>
            </a:r>
          </a:p>
        </p:txBody>
      </p:sp>
      <p:sp>
        <p:nvSpPr>
          <p:cNvPr id="37" name="개선 필요 FAQ 목록 설명"/>
          <p:cNvSpPr txBox="1"/>
          <p:nvPr/>
        </p:nvSpPr>
        <p:spPr>
          <a:xfrm>
            <a:off x="6738650" y="3740000"/>
            <a:ext cx="6148700" cy="530000"/>
          </a:xfrm>
          <a:prstGeom prst="rect">
            <a:avLst/>
          </a:prstGeom>
          <a:noFill/>
        </p:spPr>
        <p:txBody>
          <a:bodyPr wrap="square" lIns="0" tIns="0" rIns="0" bIns="0" anchor="t">
            <a:spAutoFit/>
          </a:bodyPr>
          <a:lstStyle/>
          <a:p>
            <a:pPr algn="l"/>
            <a:r>
              <a:rPr sz="1250" b="0">
                <a:solidFill>
                  <a:schemeClr val="tx1"/>
                </a:solidFill>
              </a:rPr>
              <a:t>FAQ별 의도 · 버전 · 개선 유형을 태그로 표시하고, 행을 클릭하면 아래에서 상세 지표를 확인합니다.</a:t>
            </a:r>
          </a:p>
        </p:txBody>
      </p:sp>
      <p:sp>
        <p:nvSpPr>
          <p:cNvPr id="38" name="추가 정보 카드"/>
          <p:cNvSpPr/>
          <p:nvPr/>
        </p:nvSpPr>
        <p:spPr>
          <a:xfrm>
            <a:off x="5878650" y="449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추가 정보 번호"/>
          <p:cNvSpPr/>
          <p:nvPr/>
        </p:nvSpPr>
        <p:spPr>
          <a:xfrm>
            <a:off x="6068650" y="481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3</a:t>
            </a:r>
          </a:p>
        </p:txBody>
      </p:sp>
      <p:sp>
        <p:nvSpPr>
          <p:cNvPr id="41" name="추가 정보 제목"/>
          <p:cNvSpPr txBox="1"/>
          <p:nvPr/>
        </p:nvSpPr>
        <p:spPr>
          <a:xfrm>
            <a:off x="6738650" y="4600000"/>
            <a:ext cx="6148700" cy="340000"/>
          </a:xfrm>
          <a:prstGeom prst="rect">
            <a:avLst/>
          </a:prstGeom>
          <a:noFill/>
        </p:spPr>
        <p:txBody>
          <a:bodyPr wrap="square" lIns="0" tIns="0" rIns="0" bIns="0" anchor="ctr">
            <a:spAutoFit/>
          </a:bodyPr>
          <a:lstStyle/>
          <a:p>
            <a:pPr algn="l"/>
            <a:r>
              <a:rPr sz="1700" b="1">
                <a:solidFill>
                  <a:schemeClr val="tx2"/>
                </a:solidFill>
              </a:rPr>
              <a:t>추가 정보</a:t>
            </a:r>
          </a:p>
        </p:txBody>
      </p:sp>
      <p:sp>
        <p:nvSpPr>
          <p:cNvPr id="42" name="추가 정보 설명"/>
          <p:cNvSpPr txBox="1"/>
          <p:nvPr/>
        </p:nvSpPr>
        <p:spPr>
          <a:xfrm>
            <a:off x="6738650" y="4960000"/>
            <a:ext cx="6148700" cy="530000"/>
          </a:xfrm>
          <a:prstGeom prst="rect">
            <a:avLst/>
          </a:prstGeom>
          <a:noFill/>
        </p:spPr>
        <p:txBody>
          <a:bodyPr wrap="square" lIns="0" tIns="0" rIns="0" bIns="0" anchor="t">
            <a:spAutoFit/>
          </a:bodyPr>
          <a:lstStyle/>
          <a:p>
            <a:pPr algn="l"/>
            <a:r>
              <a:rPr sz="1250" b="0">
                <a:solidFill>
                  <a:schemeClr val="tx1"/>
                </a:solidFill>
              </a:rPr>
              <a:t>선택한 FAQ의 Top-K 포함 횟수 · 평균 Similarity · Gap 같은 검색·사용 지표와 중복 의심 FAQ 목록(중복 비율)을 제공합니다.</a:t>
            </a:r>
          </a:p>
        </p:txBody>
      </p:sp>
      <p:sp>
        <p:nvSpPr>
          <p:cNvPr id="43" name="조치 카드"/>
          <p:cNvSpPr/>
          <p:nvPr/>
        </p:nvSpPr>
        <p:spPr>
          <a:xfrm>
            <a:off x="5878650" y="5710000"/>
            <a:ext cx="7208700" cy="1090000"/>
          </a:xfrm>
          <a:prstGeom prst="roundRect">
            <a:avLst>
              <a:gd name="adj" fmla="val 6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조치 번호"/>
          <p:cNvSpPr/>
          <p:nvPr/>
        </p:nvSpPr>
        <p:spPr>
          <a:xfrm>
            <a:off x="6068650" y="6035000"/>
            <a:ext cx="440000" cy="4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500" b="1">
                <a:solidFill>
                  <a:schemeClr val="bg1"/>
                </a:solidFill>
              </a:rPr>
              <a:t>4</a:t>
            </a:r>
          </a:p>
        </p:txBody>
      </p:sp>
      <p:sp>
        <p:nvSpPr>
          <p:cNvPr id="46" name="조치 제목"/>
          <p:cNvSpPr txBox="1"/>
          <p:nvPr/>
        </p:nvSpPr>
        <p:spPr>
          <a:xfrm>
            <a:off x="6738650" y="5820000"/>
            <a:ext cx="6148700" cy="340000"/>
          </a:xfrm>
          <a:prstGeom prst="rect">
            <a:avLst/>
          </a:prstGeom>
          <a:noFill/>
        </p:spPr>
        <p:txBody>
          <a:bodyPr wrap="square" lIns="0" tIns="0" rIns="0" bIns="0" anchor="ctr">
            <a:spAutoFit/>
          </a:bodyPr>
          <a:lstStyle/>
          <a:p>
            <a:pPr algn="l"/>
            <a:r>
              <a:rPr sz="1700" b="1">
                <a:solidFill>
                  <a:schemeClr val="tx2"/>
                </a:solidFill>
              </a:rPr>
              <a:t>조치</a:t>
            </a:r>
          </a:p>
        </p:txBody>
      </p:sp>
      <p:sp>
        <p:nvSpPr>
          <p:cNvPr id="47" name="조치 설명"/>
          <p:cNvSpPr txBox="1"/>
          <p:nvPr/>
        </p:nvSpPr>
        <p:spPr>
          <a:xfrm>
            <a:off x="6738650" y="6180000"/>
            <a:ext cx="6148700" cy="530000"/>
          </a:xfrm>
          <a:prstGeom prst="rect">
            <a:avLst/>
          </a:prstGeom>
          <a:noFill/>
        </p:spPr>
        <p:txBody>
          <a:bodyPr wrap="square" lIns="0" tIns="0" rIns="0" bIns="0" anchor="t">
            <a:spAutoFit/>
          </a:bodyPr>
          <a:lstStyle/>
          <a:p>
            <a:pPr algn="l"/>
            <a:r>
              <a:rPr sz="1250" b="0">
                <a:solidFill>
                  <a:schemeClr val="tx1"/>
                </a:solidFill>
              </a:rPr>
              <a:t>개선 대상에서 제외하거나, AI 검토를 실행해 판단 근거를 확인합니다.</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FAQ AI 검토</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중복 의심 FAQ를 AI가 판정하고, 근거와 함께 권고사항을 제시합니다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26</a:t>
            </a:r>
            <a:endParaRPr sz="1300" b="0">
              <a:solidFill>
                <a:schemeClr val="accent3"/>
              </a:solidFill>
            </a:endParaRPr>
          </a:p>
        </p:txBody>
      </p:sp>
      <p:pic>
        <p:nvPicPr>
          <p:cNvPr id="24" name="그림 23"/>
          <p:cNvPicPr>
            <a:picLocks noChangeAspect="1"/>
          </p:cNvPicPr>
          <p:nvPr/>
        </p:nvPicPr>
        <p:blipFill rotWithShape="1">
          <a:blip r:embed="rId2"/>
          <a:stretch>
            <a:fillRect/>
          </a:stretch>
        </p:blipFill>
        <p:spPr>
          <a:xfrm>
            <a:off x="2103983" y="2480000"/>
            <a:ext cx="4968220"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pic>
        <p:nvPicPr>
          <p:cNvPr id="25" name="그림 24"/>
          <p:cNvPicPr>
            <a:picLocks noChangeAspect="1"/>
          </p:cNvPicPr>
          <p:nvPr/>
        </p:nvPicPr>
        <p:blipFill rotWithShape="1">
          <a:blip r:embed="rId3"/>
          <a:stretch>
            <a:fillRect/>
          </a:stretch>
        </p:blipFill>
        <p:spPr>
          <a:xfrm>
            <a:off x="7872203" y="2480000"/>
            <a:ext cx="3739814" cy="3499999"/>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6" name="캡션 1"/>
          <p:cNvSpPr/>
          <p:nvPr/>
        </p:nvSpPr>
        <p:spPr>
          <a:xfrm>
            <a:off x="2303983" y="2000000"/>
            <a:ext cx="15452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AI 검토 결과</a:t>
            </a:r>
          </a:p>
        </p:txBody>
      </p:sp>
      <p:sp>
        <p:nvSpPr>
          <p:cNvPr id="27" name="캡션 번호 1"/>
          <p:cNvSpPr/>
          <p:nvPr/>
        </p:nvSpPr>
        <p:spPr>
          <a:xfrm>
            <a:off x="210398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sp>
        <p:nvSpPr>
          <p:cNvPr id="28" name="캡션 2"/>
          <p:cNvSpPr/>
          <p:nvPr/>
        </p:nvSpPr>
        <p:spPr>
          <a:xfrm>
            <a:off x="8072203" y="2000000"/>
            <a:ext cx="21853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세부사항 · 판정 근거</a:t>
            </a:r>
          </a:p>
        </p:txBody>
      </p:sp>
      <p:sp>
        <p:nvSpPr>
          <p:cNvPr id="29" name="캡션 번호 2"/>
          <p:cNvSpPr/>
          <p:nvPr/>
        </p:nvSpPr>
        <p:spPr>
          <a:xfrm>
            <a:off x="7872203" y="198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sp>
        <p:nvSpPr>
          <p:cNvPr id="30" name="단계 화살표"/>
          <p:cNvSpPr/>
          <p:nvPr/>
        </p:nvSpPr>
        <p:spPr>
          <a:xfrm>
            <a:off x="7212203" y="4000000"/>
            <a:ext cx="520000" cy="46000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검토 결과 설명"/>
          <p:cNvSpPr txBox="1"/>
          <p:nvPr/>
        </p:nvSpPr>
        <p:spPr>
          <a:xfrm>
            <a:off x="2103983" y="6180000"/>
            <a:ext cx="4968220"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대상 FAQ의 질문·답변과 의심 태그 표시</a:t>
            </a:r>
          </a:p>
          <a:p>
            <a:pPr marL="200000" indent="-200000" algn="l">
              <a:spcAft>
                <a:spcPts val="400"/>
              </a:spcAft>
              <a:buChar char="•"/>
            </a:pPr>
            <a:r>
              <a:rPr sz="1250" b="0">
                <a:solidFill>
                  <a:schemeClr val="tx1"/>
                </a:solidFill>
              </a:rPr>
              <a:t>후보 FAQ별 중복/별개 판정과 권고사항 제시</a:t>
            </a:r>
          </a:p>
          <a:p>
            <a:pPr marL="200000" indent="-200000" algn="l">
              <a:spcAft>
                <a:spcPts val="400"/>
              </a:spcAft>
              <a:buChar char="•"/>
            </a:pPr>
            <a:r>
              <a:rPr sz="1250" b="0">
                <a:solidFill>
                  <a:schemeClr val="tx1"/>
                </a:solidFill>
              </a:rPr>
              <a:t>'다시 검토'로 재실행 가능</a:t>
            </a:r>
          </a:p>
        </p:txBody>
      </p:sp>
      <p:sp>
        <p:nvSpPr>
          <p:cNvPr id="32" name="세부사항 설명"/>
          <p:cNvSpPr txBox="1"/>
          <p:nvPr/>
        </p:nvSpPr>
        <p:spPr>
          <a:xfrm>
            <a:off x="7872203" y="6180000"/>
            <a:ext cx="3739814" cy="760000"/>
          </a:xfrm>
          <a:prstGeom prst="rect">
            <a:avLst/>
          </a:prstGeom>
          <a:noFill/>
        </p:spPr>
        <p:txBody>
          <a:bodyPr wrap="square" lIns="0" tIns="0" rIns="0" bIns="0" anchor="t">
            <a:spAutoFit/>
          </a:bodyPr>
          <a:lstStyle/>
          <a:p>
            <a:pPr marL="200000" indent="-200000" algn="l">
              <a:spcAft>
                <a:spcPts val="400"/>
              </a:spcAft>
              <a:buChar char="•"/>
            </a:pPr>
            <a:r>
              <a:rPr sz="1250" b="0">
                <a:solidFill>
                  <a:schemeClr val="tx1"/>
                </a:solidFill>
              </a:rPr>
              <a:t>후보 FAQ의 질문·답변 확인</a:t>
            </a:r>
          </a:p>
          <a:p>
            <a:pPr marL="200000" indent="-200000" algn="l">
              <a:spcAft>
                <a:spcPts val="400"/>
              </a:spcAft>
              <a:buChar char="•"/>
            </a:pPr>
            <a:r>
              <a:rPr sz="1250" b="0">
                <a:solidFill>
                  <a:schemeClr val="tx1"/>
                </a:solidFill>
              </a:rPr>
              <a:t>함께 검색된 유저 질문으로 근거 확인</a:t>
            </a:r>
          </a:p>
          <a:p>
            <a:pPr marL="200000" indent="-200000" algn="l">
              <a:spcAft>
                <a:spcPts val="400"/>
              </a:spcAft>
              <a:buChar char="•"/>
            </a:pPr>
            <a:r>
              <a:rPr sz="1250" b="0">
                <a:solidFill>
                  <a:schemeClr val="tx1"/>
                </a:solidFill>
              </a:rPr>
              <a:t>판정 결과와 판단 근거 제시</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금지어 · 금지 문장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27</a:t>
            </a:r>
            <a:endParaRPr sz="1300" b="0">
              <a:solidFill>
                <a:schemeClr val="accent3"/>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미응답 질문 클러스터링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답하지 못한 질문을 비슷한 것끼리 묶어, 관리자가 FAQ 후보를 한눈에 확인합니다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28</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미응답 질문 수집</a:t>
            </a:r>
          </a:p>
        </p:txBody>
      </p:sp>
      <p:sp>
        <p:nvSpPr>
          <p:cNvPr id="10" name="흐름 화살표 1"/>
          <p:cNvSpPr/>
          <p:nvPr/>
        </p:nvSpPr>
        <p:spPr>
          <a:xfrm>
            <a:off x="3538433"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흐름 2"/>
          <p:cNvSpPr/>
          <p:nvPr/>
        </p:nvSpPr>
        <p:spPr>
          <a:xfrm>
            <a:off x="3848216"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유사 질문 클러스터링</a:t>
            </a:r>
          </a:p>
        </p:txBody>
      </p:sp>
      <p:sp>
        <p:nvSpPr>
          <p:cNvPr id="12" name="흐름 화살표 2"/>
          <p:cNvSpPr/>
          <p:nvPr/>
        </p:nvSpPr>
        <p:spPr>
          <a:xfrm>
            <a:off x="6757999"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흐름 3"/>
          <p:cNvSpPr/>
          <p:nvPr/>
        </p:nvSpPr>
        <p:spPr>
          <a:xfrm>
            <a:off x="7067782"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묶음 확인</a:t>
            </a:r>
          </a:p>
        </p:txBody>
      </p:sp>
      <p:sp>
        <p:nvSpPr>
          <p:cNvPr id="14" name="흐름 화살표 3"/>
          <p:cNvSpPr/>
          <p:nvPr/>
        </p:nvSpPr>
        <p:spPr>
          <a:xfrm>
            <a:off x="9977565" y="2065000"/>
            <a:ext cx="200000" cy="19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흐름 4"/>
          <p:cNvSpPr/>
          <p:nvPr/>
        </p:nvSpPr>
        <p:spPr>
          <a:xfrm>
            <a:off x="10287348"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FAQ 등록 · 유사표현 생성</a:t>
            </a:r>
          </a:p>
        </p:txBody>
      </p:sp>
      <p:pic>
        <p:nvPicPr>
          <p:cNvPr id="16" name="Picture 15" descr="image.png"/>
          <p:cNvPicPr>
            <a:picLocks noChangeAspect="1"/>
          </p:cNvPicPr>
          <p:nvPr/>
        </p:nvPicPr>
        <p:blipFill>
          <a:blip r:embed="rId2"/>
          <a:stretch>
            <a:fillRect/>
          </a:stretch>
        </p:blipFill>
        <p:spPr>
          <a:xfrm>
            <a:off x="628650" y="3046183"/>
            <a:ext cx="7899999" cy="3207633"/>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대표 질문 · 주제 카드"/>
          <p:cNvSpPr/>
          <p:nvPr/>
        </p:nvSpPr>
        <p:spPr>
          <a:xfrm>
            <a:off x="8828650" y="28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대표 질문 · 주제 번호"/>
          <p:cNvSpPr/>
          <p:nvPr/>
        </p:nvSpPr>
        <p:spPr>
          <a:xfrm>
            <a:off x="8998650" y="30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1</a:t>
            </a:r>
          </a:p>
        </p:txBody>
      </p:sp>
      <p:sp>
        <p:nvSpPr>
          <p:cNvPr id="20" name="대표 질문 · 주제 제목"/>
          <p:cNvSpPr txBox="1"/>
          <p:nvPr/>
        </p:nvSpPr>
        <p:spPr>
          <a:xfrm>
            <a:off x="9568650" y="2890000"/>
            <a:ext cx="3368700" cy="300000"/>
          </a:xfrm>
          <a:prstGeom prst="rect">
            <a:avLst/>
          </a:prstGeom>
          <a:noFill/>
        </p:spPr>
        <p:txBody>
          <a:bodyPr wrap="square" lIns="0" tIns="0" rIns="0" bIns="0" anchor="ctr">
            <a:spAutoFit/>
          </a:bodyPr>
          <a:lstStyle/>
          <a:p>
            <a:pPr algn="l"/>
            <a:r>
              <a:rPr sz="1400" b="1">
                <a:solidFill>
                  <a:schemeClr val="tx2"/>
                </a:solidFill>
              </a:rPr>
              <a:t>대표 질문 · 주제</a:t>
            </a:r>
          </a:p>
        </p:txBody>
      </p:sp>
      <p:sp>
        <p:nvSpPr>
          <p:cNvPr id="21" name="대표 질문 · 주제 설명"/>
          <p:cNvSpPr txBox="1"/>
          <p:nvPr/>
        </p:nvSpPr>
        <p:spPr>
          <a:xfrm>
            <a:off x="9568650" y="3200000"/>
            <a:ext cx="3368700" cy="390000"/>
          </a:xfrm>
          <a:prstGeom prst="rect">
            <a:avLst/>
          </a:prstGeom>
          <a:noFill/>
        </p:spPr>
        <p:txBody>
          <a:bodyPr wrap="square" lIns="0" tIns="0" rIns="0" bIns="0" anchor="t">
            <a:spAutoFit/>
          </a:bodyPr>
          <a:lstStyle/>
          <a:p>
            <a:pPr algn="l"/>
            <a:r>
              <a:rPr sz="1100" b="0">
                <a:solidFill>
                  <a:schemeClr val="tx1"/>
                </a:solidFill>
              </a:rPr>
              <a:t>묶음마다 대표 질문과 주제를 표시하고, 주제는 LLM이 추천합니다.</a:t>
            </a:r>
          </a:p>
        </p:txBody>
      </p:sp>
      <p:sp>
        <p:nvSpPr>
          <p:cNvPr id="22" name="질문 수 · 마지막 발생 카드"/>
          <p:cNvSpPr/>
          <p:nvPr/>
        </p:nvSpPr>
        <p:spPr>
          <a:xfrm>
            <a:off x="8828650" y="37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질문 수 · 마지막 발생 번호"/>
          <p:cNvSpPr/>
          <p:nvPr/>
        </p:nvSpPr>
        <p:spPr>
          <a:xfrm>
            <a:off x="8998650" y="39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2</a:t>
            </a:r>
          </a:p>
        </p:txBody>
      </p:sp>
      <p:sp>
        <p:nvSpPr>
          <p:cNvPr id="25" name="질문 수 · 마지막 발생 제목"/>
          <p:cNvSpPr txBox="1"/>
          <p:nvPr/>
        </p:nvSpPr>
        <p:spPr>
          <a:xfrm>
            <a:off x="9568650" y="3840000"/>
            <a:ext cx="3368700" cy="300000"/>
          </a:xfrm>
          <a:prstGeom prst="rect">
            <a:avLst/>
          </a:prstGeom>
          <a:noFill/>
        </p:spPr>
        <p:txBody>
          <a:bodyPr wrap="square" lIns="0" tIns="0" rIns="0" bIns="0" anchor="ctr">
            <a:spAutoFit/>
          </a:bodyPr>
          <a:lstStyle/>
          <a:p>
            <a:pPr algn="l"/>
            <a:r>
              <a:rPr sz="1400" b="1">
                <a:solidFill>
                  <a:schemeClr val="tx2"/>
                </a:solidFill>
              </a:rPr>
              <a:t>질문 수 · 마지막 발생</a:t>
            </a:r>
          </a:p>
        </p:txBody>
      </p:sp>
      <p:sp>
        <p:nvSpPr>
          <p:cNvPr id="26" name="질문 수 · 마지막 발생 설명"/>
          <p:cNvSpPr txBox="1"/>
          <p:nvPr/>
        </p:nvSpPr>
        <p:spPr>
          <a:xfrm>
            <a:off x="9568650" y="4150000"/>
            <a:ext cx="3368700" cy="390000"/>
          </a:xfrm>
          <a:prstGeom prst="rect">
            <a:avLst/>
          </a:prstGeom>
          <a:noFill/>
        </p:spPr>
        <p:txBody>
          <a:bodyPr wrap="square" lIns="0" tIns="0" rIns="0" bIns="0" anchor="t">
            <a:spAutoFit/>
          </a:bodyPr>
          <a:lstStyle/>
          <a:p>
            <a:pPr algn="l"/>
            <a:r>
              <a:rPr sz="1100" b="0">
                <a:solidFill>
                  <a:schemeClr val="tx1"/>
                </a:solidFill>
              </a:rPr>
              <a:t>자주 나오는 묶음을 질문 수와 최근 발생 시각으로 파악합니다.</a:t>
            </a:r>
          </a:p>
        </p:txBody>
      </p:sp>
      <p:sp>
        <p:nvSpPr>
          <p:cNvPr id="27" name="목록 필터 카드"/>
          <p:cNvSpPr/>
          <p:nvPr/>
        </p:nvSpPr>
        <p:spPr>
          <a:xfrm>
            <a:off x="8828650" y="470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목록 필터 번호"/>
          <p:cNvSpPr/>
          <p:nvPr/>
        </p:nvSpPr>
        <p:spPr>
          <a:xfrm>
            <a:off x="8998650" y="493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3</a:t>
            </a:r>
          </a:p>
        </p:txBody>
      </p:sp>
      <p:sp>
        <p:nvSpPr>
          <p:cNvPr id="30" name="목록 필터 제목"/>
          <p:cNvSpPr txBox="1"/>
          <p:nvPr/>
        </p:nvSpPr>
        <p:spPr>
          <a:xfrm>
            <a:off x="9568650" y="4790000"/>
            <a:ext cx="3368700" cy="300000"/>
          </a:xfrm>
          <a:prstGeom prst="rect">
            <a:avLst/>
          </a:prstGeom>
          <a:noFill/>
        </p:spPr>
        <p:txBody>
          <a:bodyPr wrap="square" lIns="0" tIns="0" rIns="0" bIns="0" anchor="ctr">
            <a:spAutoFit/>
          </a:bodyPr>
          <a:lstStyle/>
          <a:p>
            <a:pPr algn="l"/>
            <a:r>
              <a:rPr sz="1400" b="1">
                <a:solidFill>
                  <a:schemeClr val="tx2"/>
                </a:solidFill>
              </a:rPr>
              <a:t>목록 필터</a:t>
            </a:r>
          </a:p>
        </p:txBody>
      </p:sp>
      <p:sp>
        <p:nvSpPr>
          <p:cNvPr id="31" name="목록 필터 설명"/>
          <p:cNvSpPr txBox="1"/>
          <p:nvPr/>
        </p:nvSpPr>
        <p:spPr>
          <a:xfrm>
            <a:off x="9568650" y="5100000"/>
            <a:ext cx="3368700" cy="390000"/>
          </a:xfrm>
          <a:prstGeom prst="rect">
            <a:avLst/>
          </a:prstGeom>
          <a:noFill/>
        </p:spPr>
        <p:txBody>
          <a:bodyPr wrap="square" lIns="0" tIns="0" rIns="0" bIns="0" anchor="t">
            <a:spAutoFit/>
          </a:bodyPr>
          <a:lstStyle/>
          <a:p>
            <a:pPr algn="l"/>
            <a:r>
              <a:rPr sz="1100" b="0">
                <a:solidFill>
                  <a:schemeClr val="tx1"/>
                </a:solidFill>
              </a:rPr>
              <a:t>상태 · 질문 수 · 정렬 · 페이지당 개수로 목록을 좁혀서 봅니다.</a:t>
            </a:r>
          </a:p>
        </p:txBody>
      </p:sp>
      <p:sp>
        <p:nvSpPr>
          <p:cNvPr id="32" name="처리 카드"/>
          <p:cNvSpPr/>
          <p:nvPr/>
        </p:nvSpPr>
        <p:spPr>
          <a:xfrm>
            <a:off x="8828650" y="5650000"/>
            <a:ext cx="4258700" cy="850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처리 번호"/>
          <p:cNvSpPr/>
          <p:nvPr/>
        </p:nvSpPr>
        <p:spPr>
          <a:xfrm>
            <a:off x="8998650" y="5885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chemeClr val="bg1"/>
                </a:solidFill>
              </a:rPr>
              <a:t>4</a:t>
            </a:r>
          </a:p>
        </p:txBody>
      </p:sp>
      <p:sp>
        <p:nvSpPr>
          <p:cNvPr id="35" name="처리 제목"/>
          <p:cNvSpPr txBox="1"/>
          <p:nvPr/>
        </p:nvSpPr>
        <p:spPr>
          <a:xfrm>
            <a:off x="9568650" y="5740000"/>
            <a:ext cx="3368700" cy="300000"/>
          </a:xfrm>
          <a:prstGeom prst="rect">
            <a:avLst/>
          </a:prstGeom>
          <a:noFill/>
        </p:spPr>
        <p:txBody>
          <a:bodyPr wrap="square" lIns="0" tIns="0" rIns="0" bIns="0" anchor="ctr">
            <a:spAutoFit/>
          </a:bodyPr>
          <a:lstStyle/>
          <a:p>
            <a:pPr algn="l"/>
            <a:r>
              <a:rPr sz="1400" b="1">
                <a:solidFill>
                  <a:schemeClr val="tx2"/>
                </a:solidFill>
              </a:rPr>
              <a:t>처리</a:t>
            </a:r>
          </a:p>
        </p:txBody>
      </p:sp>
      <p:sp>
        <p:nvSpPr>
          <p:cNvPr id="36" name="처리 설명"/>
          <p:cNvSpPr txBox="1"/>
          <p:nvPr/>
        </p:nvSpPr>
        <p:spPr>
          <a:xfrm>
            <a:off x="9568650" y="6050000"/>
            <a:ext cx="3368700" cy="390000"/>
          </a:xfrm>
          <a:prstGeom prst="rect">
            <a:avLst/>
          </a:prstGeom>
          <a:noFill/>
        </p:spPr>
        <p:txBody>
          <a:bodyPr wrap="square" lIns="0" tIns="0" rIns="0" bIns="0" anchor="t">
            <a:spAutoFit/>
          </a:bodyPr>
          <a:lstStyle/>
          <a:p>
            <a:pPr algn="l"/>
            <a:r>
              <a:rPr sz="1100" b="0">
                <a:solidFill>
                  <a:schemeClr val="tx1"/>
                </a:solidFill>
              </a:rPr>
              <a:t>[처리] 버튼으로 묶음 상세를 열어 FAQ 등록 · 보류 · 반려를 결정합니다.</a:t>
            </a:r>
          </a:p>
        </p:txBody>
      </p:sp>
      <p:sp>
        <p:nvSpPr>
          <p:cNvPr id="37" name="화면 번호 1"/>
          <p:cNvSpPr/>
          <p:nvPr/>
        </p:nvSpPr>
        <p:spPr>
          <a:xfrm>
            <a:off x="955250"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1</a:t>
            </a:r>
          </a:p>
        </p:txBody>
      </p:sp>
      <p:sp>
        <p:nvSpPr>
          <p:cNvPr id="38" name="화면 번호 2"/>
          <p:cNvSpPr/>
          <p:nvPr/>
        </p:nvSpPr>
        <p:spPr>
          <a:xfrm>
            <a:off x="4421317"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2</a:t>
            </a:r>
          </a:p>
        </p:txBody>
      </p:sp>
      <p:sp>
        <p:nvSpPr>
          <p:cNvPr id="39" name="화면 번호 3"/>
          <p:cNvSpPr/>
          <p:nvPr/>
        </p:nvSpPr>
        <p:spPr>
          <a:xfrm>
            <a:off x="5110477" y="3600814"/>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3</a:t>
            </a:r>
          </a:p>
        </p:txBody>
      </p:sp>
      <p:sp>
        <p:nvSpPr>
          <p:cNvPr id="40" name="화면 번호 4"/>
          <p:cNvSpPr/>
          <p:nvPr/>
        </p:nvSpPr>
        <p:spPr>
          <a:xfrm>
            <a:off x="7441458" y="389472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묶음 확인에서 FAQ 등록까지</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묶음을 확인하고, 답변을 작성해 FAQ로 등록하며, 유사표현은 AI로 생성합니다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29</a:t>
            </a:r>
            <a:endParaRPr sz="1300" b="0">
              <a:solidFill>
                <a:schemeClr val="accent3"/>
              </a:solidFill>
            </a:endParaRPr>
          </a:p>
        </p:txBody>
      </p:sp>
      <p:sp>
        <p:nvSpPr>
          <p:cNvPr id="9" name="흐름 1"/>
          <p:cNvSpPr/>
          <p:nvPr/>
        </p:nvSpPr>
        <p:spPr>
          <a:xfrm>
            <a:off x="628650"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미응답 질문 수집</a:t>
            </a:r>
          </a:p>
        </p:txBody>
      </p:sp>
      <p:sp>
        <p:nvSpPr>
          <p:cNvPr id="10" name="흐름 화살표 1"/>
          <p:cNvSpPr/>
          <p:nvPr/>
        </p:nvSpPr>
        <p:spPr>
          <a:xfrm>
            <a:off x="3538433"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1" name="흐름 2"/>
          <p:cNvSpPr/>
          <p:nvPr/>
        </p:nvSpPr>
        <p:spPr>
          <a:xfrm>
            <a:off x="3848216" y="1950000"/>
            <a:ext cx="28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유사 질문 클러스터링</a:t>
            </a:r>
          </a:p>
        </p:txBody>
      </p:sp>
      <p:sp>
        <p:nvSpPr>
          <p:cNvPr id="12" name="흐름 화살표 2"/>
          <p:cNvSpPr/>
          <p:nvPr/>
        </p:nvSpPr>
        <p:spPr>
          <a:xfrm>
            <a:off x="6757999"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3" name="흐름 3"/>
          <p:cNvSpPr/>
          <p:nvPr/>
        </p:nvSpPr>
        <p:spPr>
          <a:xfrm>
            <a:off x="7067782"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묶음 확인</a:t>
            </a:r>
          </a:p>
        </p:txBody>
      </p:sp>
      <p:sp>
        <p:nvSpPr>
          <p:cNvPr id="14" name="흐름 화살표 3"/>
          <p:cNvSpPr/>
          <p:nvPr/>
        </p:nvSpPr>
        <p:spPr>
          <a:xfrm>
            <a:off x="9977565" y="2065000"/>
            <a:ext cx="200000" cy="19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5" name="흐름 4"/>
          <p:cNvSpPr/>
          <p:nvPr/>
        </p:nvSpPr>
        <p:spPr>
          <a:xfrm>
            <a:off x="10287348" y="1950000"/>
            <a:ext cx="28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FAQ 등록 · 유사표현 생성</a:t>
            </a:r>
          </a:p>
        </p:txBody>
      </p:sp>
      <p:sp>
        <p:nvSpPr>
          <p:cNvPr id="16" name="묶음 확인 틀"/>
          <p:cNvSpPr/>
          <p:nvPr/>
        </p:nvSpPr>
        <p:spPr>
          <a:xfrm>
            <a:off x="6286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7" name="FAQ 등록 틀"/>
          <p:cNvSpPr/>
          <p:nvPr/>
        </p:nvSpPr>
        <p:spPr>
          <a:xfrm>
            <a:off x="498300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18" name="유사표현 AI 생성 틀"/>
          <p:cNvSpPr/>
          <p:nvPr/>
        </p:nvSpPr>
        <p:spPr>
          <a:xfrm>
            <a:off x="9337350" y="2950000"/>
            <a:ext cx="3750000" cy="3400000"/>
          </a:xfrm>
          <a:prstGeom prst="roundRect">
            <a:avLst>
              <a:gd name="adj" fmla="val 3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19" name="Picture 18" descr="image.png"/>
          <p:cNvPicPr>
            <a:picLocks noChangeAspect="1"/>
          </p:cNvPicPr>
          <p:nvPr/>
        </p:nvPicPr>
        <p:blipFill rotWithShape="1">
          <a:blip r:embed="rId2"/>
          <a:stretch>
            <a:fillRect/>
          </a:stretch>
        </p:blipFill>
        <p:spPr>
          <a:xfrm>
            <a:off x="778650" y="3117016"/>
            <a:ext cx="3450000" cy="3065967"/>
          </a:xfrm>
          <a:prstGeom prst="roundRect">
            <a:avLst>
              <a:gd name="adj" fmla="val 3000"/>
            </a:avLst>
          </a:prstGeom>
          <a:ln w="12700">
            <a:solidFill>
              <a:schemeClr val="accent2"/>
            </a:solidFill>
          </a:ln>
        </p:spPr>
      </p:pic>
      <p:sp>
        <p:nvSpPr>
          <p:cNvPr id="20" name="캡션 1"/>
          <p:cNvSpPr/>
          <p:nvPr/>
        </p:nvSpPr>
        <p:spPr>
          <a:xfrm>
            <a:off x="828650" y="2470000"/>
            <a:ext cx="130343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묶음 확인</a:t>
            </a:r>
          </a:p>
        </p:txBody>
      </p:sp>
      <p:sp>
        <p:nvSpPr>
          <p:cNvPr id="21" name="캡션 번호 1"/>
          <p:cNvSpPr/>
          <p:nvPr/>
        </p:nvSpPr>
        <p:spPr>
          <a:xfrm>
            <a:off x="6286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1</a:t>
            </a:r>
          </a:p>
        </p:txBody>
      </p:sp>
      <p:sp>
        <p:nvSpPr>
          <p:cNvPr id="22" name="묶음 확인 설명"/>
          <p:cNvSpPr txBox="1"/>
          <p:nvPr/>
        </p:nvSpPr>
        <p:spPr>
          <a:xfrm>
            <a:off x="62865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묶음 안의 질문과 최고 유사도 확인</a:t>
            </a:r>
          </a:p>
          <a:p>
            <a:pPr marL="200000" lvl="0" indent="-200000" algn="l">
              <a:spcAft>
                <a:spcPts val="300"/>
              </a:spcAft>
              <a:buChar char="•"/>
              <a:defRPr/>
            </a:pPr>
            <a:r>
              <a:rPr sz="1200" b="0">
                <a:solidFill>
                  <a:schemeClr val="tx1"/>
                </a:solidFill>
              </a:rPr>
              <a:t>FAQ로 등록 · 보류 · 반려 중 선택</a:t>
            </a:r>
          </a:p>
        </p:txBody>
      </p:sp>
      <p:sp>
        <p:nvSpPr>
          <p:cNvPr id="23" name="단계 화살표 1"/>
          <p:cNvSpPr/>
          <p:nvPr/>
        </p:nvSpPr>
        <p:spPr>
          <a:xfrm>
            <a:off x="448082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4" name="Picture 23" descr="image.png"/>
          <p:cNvPicPr>
            <a:picLocks noChangeAspect="1"/>
          </p:cNvPicPr>
          <p:nvPr/>
        </p:nvPicPr>
        <p:blipFill rotWithShape="1">
          <a:blip r:embed="rId3"/>
          <a:srcRect l="8820" r="11060"/>
          <a:stretch>
            <a:fillRect/>
          </a:stretch>
        </p:blipFill>
        <p:spPr>
          <a:xfrm>
            <a:off x="5634893" y="3100000"/>
            <a:ext cx="2446214" cy="3100000"/>
          </a:xfrm>
          <a:prstGeom prst="roundRect">
            <a:avLst>
              <a:gd name="adj" fmla="val 3000"/>
            </a:avLst>
          </a:prstGeom>
          <a:ln w="12700">
            <a:solidFill>
              <a:schemeClr val="accent2"/>
            </a:solidFill>
          </a:ln>
        </p:spPr>
      </p:pic>
      <p:sp>
        <p:nvSpPr>
          <p:cNvPr id="25" name="캡션 2"/>
          <p:cNvSpPr/>
          <p:nvPr/>
        </p:nvSpPr>
        <p:spPr>
          <a:xfrm>
            <a:off x="5183000" y="2470000"/>
            <a:ext cx="1303263"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FAQ 등록</a:t>
            </a:r>
          </a:p>
        </p:txBody>
      </p:sp>
      <p:sp>
        <p:nvSpPr>
          <p:cNvPr id="26" name="캡션 번호 2"/>
          <p:cNvSpPr/>
          <p:nvPr/>
        </p:nvSpPr>
        <p:spPr>
          <a:xfrm>
            <a:off x="498300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2</a:t>
            </a:r>
          </a:p>
        </p:txBody>
      </p:sp>
      <p:sp>
        <p:nvSpPr>
          <p:cNvPr id="27" name="FAQ 등록 설명"/>
          <p:cNvSpPr txBox="1"/>
          <p:nvPr/>
        </p:nvSpPr>
        <p:spPr>
          <a:xfrm>
            <a:off x="4983000" y="6460000"/>
            <a:ext cx="3750000" cy="520000"/>
          </a:xfrm>
          <a:prstGeom prst="rect">
            <a:avLst/>
          </a:prstGeom>
          <a:noFill/>
        </p:spPr>
        <p:txBody>
          <a:bodyPr wrap="square" lIns="0" tIns="0" rIns="0" bIns="0" anchor="t">
            <a:spAutoFit/>
          </a:bodyPr>
          <a:lstStyle/>
          <a:p>
            <a:pPr marL="200000" lvl="0" indent="-200000" algn="l">
              <a:spcAft>
                <a:spcPts val="300"/>
              </a:spcAft>
              <a:buChar char="•"/>
              <a:defRPr/>
            </a:pPr>
            <a:r>
              <a:rPr sz="1200" b="0">
                <a:solidFill>
                  <a:schemeClr val="tx1"/>
                </a:solidFill>
              </a:rPr>
              <a:t>카테고리 · Intent · 질문 · 답변 입력</a:t>
            </a:r>
          </a:p>
          <a:p>
            <a:pPr marL="200000" lvl="0" indent="-200000" algn="l">
              <a:spcAft>
                <a:spcPts val="300"/>
              </a:spcAft>
              <a:buChar char="•"/>
              <a:defRPr/>
            </a:pPr>
            <a:r>
              <a:rPr sz="1200" b="0">
                <a:solidFill>
                  <a:schemeClr val="tx1"/>
                </a:solidFill>
              </a:rPr>
              <a:t>답변 캐시 허용 여부 선택</a:t>
            </a:r>
          </a:p>
        </p:txBody>
      </p:sp>
      <p:sp>
        <p:nvSpPr>
          <p:cNvPr id="28" name="단계 화살표 2"/>
          <p:cNvSpPr/>
          <p:nvPr/>
        </p:nvSpPr>
        <p:spPr>
          <a:xfrm>
            <a:off x="8835175" y="4460000"/>
            <a:ext cx="400000" cy="380000"/>
          </a:xfrm>
          <a:prstGeom prst="rightArrow">
            <a:avLst>
              <a:gd name="adj1" fmla="val 50000"/>
              <a:gd name="adj2"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pic>
        <p:nvPicPr>
          <p:cNvPr id="29" name="Picture 28" descr="image.png"/>
          <p:cNvPicPr>
            <a:picLocks noChangeAspect="1"/>
          </p:cNvPicPr>
          <p:nvPr/>
        </p:nvPicPr>
        <p:blipFill rotWithShape="1">
          <a:blip r:embed="rId4"/>
          <a:stretch>
            <a:fillRect/>
          </a:stretch>
        </p:blipFill>
        <p:spPr>
          <a:xfrm>
            <a:off x="9487350" y="3472488"/>
            <a:ext cx="3450000" cy="2355023"/>
          </a:xfrm>
          <a:prstGeom prst="roundRect">
            <a:avLst>
              <a:gd name="adj" fmla="val 3000"/>
            </a:avLst>
          </a:prstGeom>
          <a:ln w="12700">
            <a:solidFill>
              <a:schemeClr val="accent2"/>
            </a:solidFill>
          </a:ln>
        </p:spPr>
      </p:pic>
      <p:sp>
        <p:nvSpPr>
          <p:cNvPr id="30" name="캡션 3"/>
          <p:cNvSpPr/>
          <p:nvPr/>
        </p:nvSpPr>
        <p:spPr>
          <a:xfrm>
            <a:off x="9537350" y="2470000"/>
            <a:ext cx="190083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anchor="ctr"/>
          <a:lstStyle/>
          <a:p>
            <a:pPr lvl="0" algn="l">
              <a:defRPr/>
            </a:pPr>
            <a:r>
              <a:rPr sz="1400" b="1">
                <a:solidFill>
                  <a:schemeClr val="bg1"/>
                </a:solidFill>
              </a:rPr>
              <a:t>유사표현 AI 생성</a:t>
            </a:r>
          </a:p>
        </p:txBody>
      </p:sp>
      <p:sp>
        <p:nvSpPr>
          <p:cNvPr id="31" name="캡션 번호 3"/>
          <p:cNvSpPr/>
          <p:nvPr/>
        </p:nvSpPr>
        <p:spPr>
          <a:xfrm>
            <a:off x="9337350" y="245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anchor="ctr"/>
          <a:lstStyle/>
          <a:p>
            <a:pPr lvl="0" algn="ctr">
              <a:defRPr/>
            </a:pPr>
            <a:r>
              <a:rPr sz="1400" b="1">
                <a:solidFill>
                  <a:schemeClr val="bg1"/>
                </a:solidFill>
              </a:rPr>
              <a:t>3</a:t>
            </a:r>
          </a:p>
        </p:txBody>
      </p:sp>
      <p:sp>
        <p:nvSpPr>
          <p:cNvPr id="32" name="유사표현 AI 생성 설명"/>
          <p:cNvSpPr txBox="1"/>
          <p:nvPr/>
        </p:nvSpPr>
        <p:spPr>
          <a:xfrm>
            <a:off x="9337350" y="6460000"/>
            <a:ext cx="3750000" cy="588500"/>
          </a:xfrm>
          <a:prstGeom prst="rect">
            <a:avLst/>
          </a:prstGeom>
          <a:noFill/>
        </p:spPr>
        <p:txBody>
          <a:bodyPr wrap="square" lIns="0" tIns="0" rIns="0" bIns="0" anchor="t">
            <a:spAutoFit/>
          </a:bodyPr>
          <a:lstStyle/>
          <a:p>
            <a:pPr marL="200000" lvl="0" indent="-200000" algn="l">
              <a:spcAft>
                <a:spcPts val="300"/>
              </a:spcAft>
              <a:buChar char="•"/>
              <a:defRPr/>
            </a:pPr>
            <a:r>
              <a:rPr lang="ko-KR" altLang="en-US" sz="1200" b="0">
                <a:solidFill>
                  <a:schemeClr val="tx1"/>
                </a:solidFill>
              </a:rPr>
              <a:t>유사표현 생성 버튼으로 </a:t>
            </a:r>
            <a:r>
              <a:rPr lang="en-US" altLang="ko-KR" sz="1200" b="0">
                <a:solidFill>
                  <a:schemeClr val="tx1"/>
                </a:solidFill>
              </a:rPr>
              <a:t>AI</a:t>
            </a:r>
            <a:r>
              <a:rPr lang="ko-KR" altLang="en-US" sz="1200" b="0">
                <a:solidFill>
                  <a:schemeClr val="tx1"/>
                </a:solidFill>
              </a:rPr>
              <a:t>가 동의어를 사용해 유사표현들을 생성</a:t>
            </a:r>
          </a:p>
          <a:p>
            <a:pPr marL="200000" lvl="0" indent="-200000" algn="l">
              <a:spcAft>
                <a:spcPts val="300"/>
              </a:spcAft>
              <a:buChar char="•"/>
              <a:defRPr/>
            </a:pPr>
            <a:r>
              <a:rPr sz="1200" b="0">
                <a:solidFill>
                  <a:schemeClr val="tx1"/>
                </a:solidFill>
              </a:rPr>
              <a:t>표현은 삭제하거나 직접 추가 (최대 10개)</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통신 지도</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지역별로 짧은 시간에 급증한 유사 질문을 자동으로 찾아 알려줍니다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30</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628650" y="2700000"/>
            <a:ext cx="12458700" cy="2242088"/>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1094703"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3082371"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5666338"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10357234" y="3754402"/>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지역별 감지 카드"/>
          <p:cNvSpPr/>
          <p:nvPr/>
        </p:nvSpPr>
        <p:spPr>
          <a:xfrm>
            <a:off x="62865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2" name="지역별 감지 번호"/>
          <p:cNvSpPr/>
          <p:nvPr/>
        </p:nvSpPr>
        <p:spPr>
          <a:xfrm>
            <a:off x="81865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3" name="지역별 감지 제목"/>
          <p:cNvSpPr txBox="1"/>
          <p:nvPr/>
        </p:nvSpPr>
        <p:spPr>
          <a:xfrm>
            <a:off x="1328650" y="5350000"/>
            <a:ext cx="2039675" cy="360000"/>
          </a:xfrm>
          <a:prstGeom prst="rect">
            <a:avLst/>
          </a:prstGeom>
          <a:noFill/>
        </p:spPr>
        <p:txBody>
          <a:bodyPr wrap="square" lIns="0" tIns="0" rIns="0" bIns="0" anchor="ctr">
            <a:spAutoFit/>
          </a:bodyPr>
          <a:lstStyle/>
          <a:p>
            <a:pPr lvl="0" algn="l">
              <a:defRPr/>
            </a:pPr>
            <a:r>
              <a:rPr sz="1500" b="1">
                <a:solidFill>
                  <a:schemeClr val="tx2"/>
                </a:solidFill>
              </a:rPr>
              <a:t>지역별 감지</a:t>
            </a:r>
          </a:p>
        </p:txBody>
      </p:sp>
      <p:sp>
        <p:nvSpPr>
          <p:cNvPr id="24" name="지역별 감지 설명"/>
          <p:cNvSpPr txBox="1"/>
          <p:nvPr/>
        </p:nvSpPr>
        <p:spPr>
          <a:xfrm>
            <a:off x="818650" y="5880000"/>
            <a:ext cx="2509675" cy="820000"/>
          </a:xfrm>
          <a:prstGeom prst="rect">
            <a:avLst/>
          </a:prstGeom>
          <a:noFill/>
        </p:spPr>
        <p:txBody>
          <a:bodyPr wrap="square" lIns="0" tIns="0" rIns="0" bIns="0" anchor="t">
            <a:spAutoFit/>
          </a:bodyPr>
          <a:lstStyle/>
          <a:p>
            <a:pPr lvl="0" algn="l">
              <a:defRPr/>
            </a:pPr>
            <a:r>
              <a:rPr sz="1200" b="0">
                <a:solidFill>
                  <a:schemeClr val="tx1"/>
                </a:solidFill>
              </a:rPr>
              <a:t>같은 지역에서 들어온 질문만 모아 비교합니다. 지역은 접속 IP로 판별합니다.</a:t>
            </a:r>
          </a:p>
        </p:txBody>
      </p:sp>
      <p:sp>
        <p:nvSpPr>
          <p:cNvPr id="25" name="급증 주제 자동 생성 카드"/>
          <p:cNvSpPr/>
          <p:nvPr/>
        </p:nvSpPr>
        <p:spPr>
          <a:xfrm>
            <a:off x="381832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6" name="급증 주제 자동 생성 번호"/>
          <p:cNvSpPr/>
          <p:nvPr/>
        </p:nvSpPr>
        <p:spPr>
          <a:xfrm>
            <a:off x="400832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7" name="급증 주제 자동 생성 제목"/>
          <p:cNvSpPr txBox="1"/>
          <p:nvPr/>
        </p:nvSpPr>
        <p:spPr>
          <a:xfrm>
            <a:off x="4518325" y="5350000"/>
            <a:ext cx="2039675" cy="360000"/>
          </a:xfrm>
          <a:prstGeom prst="rect">
            <a:avLst/>
          </a:prstGeom>
          <a:noFill/>
        </p:spPr>
        <p:txBody>
          <a:bodyPr wrap="square" lIns="0" tIns="0" rIns="0" bIns="0" anchor="ctr">
            <a:spAutoFit/>
          </a:bodyPr>
          <a:lstStyle/>
          <a:p>
            <a:pPr lvl="0" algn="l">
              <a:defRPr/>
            </a:pPr>
            <a:r>
              <a:rPr sz="1500" b="1">
                <a:solidFill>
                  <a:schemeClr val="tx2"/>
                </a:solidFill>
              </a:rPr>
              <a:t>급증 주제 자동 생성</a:t>
            </a:r>
          </a:p>
        </p:txBody>
      </p:sp>
      <p:sp>
        <p:nvSpPr>
          <p:cNvPr id="28" name="급증 주제 자동 생성 설명"/>
          <p:cNvSpPr txBox="1"/>
          <p:nvPr/>
        </p:nvSpPr>
        <p:spPr>
          <a:xfrm>
            <a:off x="4008325" y="5880000"/>
            <a:ext cx="2509675" cy="820000"/>
          </a:xfrm>
          <a:prstGeom prst="rect">
            <a:avLst/>
          </a:prstGeom>
          <a:noFill/>
        </p:spPr>
        <p:txBody>
          <a:bodyPr wrap="square" lIns="0" tIns="0" rIns="0" bIns="0" anchor="t">
            <a:spAutoFit/>
          </a:bodyPr>
          <a:lstStyle/>
          <a:p>
            <a:pPr lvl="0" algn="l">
              <a:defRPr/>
            </a:pPr>
            <a:r>
              <a:rPr sz="1200" b="0">
                <a:solidFill>
                  <a:schemeClr val="tx1"/>
                </a:solidFill>
              </a:rPr>
              <a:t>묶음의 질문들을 LLM이 요약해 주제를 만들고, 관리자에게 알림을 보냅니다.</a:t>
            </a:r>
          </a:p>
        </p:txBody>
      </p:sp>
      <p:sp>
        <p:nvSpPr>
          <p:cNvPr id="29" name="유사 질문 묶음 카드"/>
          <p:cNvSpPr/>
          <p:nvPr/>
        </p:nvSpPr>
        <p:spPr>
          <a:xfrm>
            <a:off x="7008000"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0" name="유사 질문 묶음 번호"/>
          <p:cNvSpPr/>
          <p:nvPr/>
        </p:nvSpPr>
        <p:spPr>
          <a:xfrm>
            <a:off x="7198000"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1" name="유사 질문 묶음 제목"/>
          <p:cNvSpPr txBox="1"/>
          <p:nvPr/>
        </p:nvSpPr>
        <p:spPr>
          <a:xfrm>
            <a:off x="7708000" y="5350000"/>
            <a:ext cx="2039675" cy="360000"/>
          </a:xfrm>
          <a:prstGeom prst="rect">
            <a:avLst/>
          </a:prstGeom>
          <a:noFill/>
        </p:spPr>
        <p:txBody>
          <a:bodyPr wrap="square" lIns="0" tIns="0" rIns="0" bIns="0" anchor="ctr">
            <a:spAutoFit/>
          </a:bodyPr>
          <a:lstStyle/>
          <a:p>
            <a:pPr lvl="0" algn="l">
              <a:defRPr/>
            </a:pPr>
            <a:r>
              <a:rPr sz="1500" b="1">
                <a:solidFill>
                  <a:schemeClr val="tx2"/>
                </a:solidFill>
              </a:rPr>
              <a:t>유사 질문 묶음</a:t>
            </a:r>
          </a:p>
        </p:txBody>
      </p:sp>
      <p:sp>
        <p:nvSpPr>
          <p:cNvPr id="32" name="유사 질문 묶음 설명"/>
          <p:cNvSpPr txBox="1"/>
          <p:nvPr/>
        </p:nvSpPr>
        <p:spPr>
          <a:xfrm>
            <a:off x="7198000" y="5880000"/>
            <a:ext cx="2509675" cy="820000"/>
          </a:xfrm>
          <a:prstGeom prst="rect">
            <a:avLst/>
          </a:prstGeom>
          <a:noFill/>
        </p:spPr>
        <p:txBody>
          <a:bodyPr wrap="square" lIns="0" tIns="0" rIns="0" bIns="0" anchor="t">
            <a:spAutoFit/>
          </a:bodyPr>
          <a:lstStyle/>
          <a:p>
            <a:pPr lvl="0" algn="l">
              <a:defRPr/>
            </a:pPr>
            <a:r>
              <a:rPr sz="1200" b="0">
                <a:solidFill>
                  <a:schemeClr val="tx1"/>
                </a:solidFill>
              </a:rPr>
              <a:t>비슷한 질문을 한 묶음으로 보고, 일정 시간 안에 정해진 건수를 넘으면 급증으로 판단합니다.</a:t>
            </a:r>
          </a:p>
        </p:txBody>
      </p:sp>
      <p:sp>
        <p:nvSpPr>
          <p:cNvPr id="33" name="처리 상태 관리 카드"/>
          <p:cNvSpPr/>
          <p:nvPr/>
        </p:nvSpPr>
        <p:spPr>
          <a:xfrm>
            <a:off x="10197675" y="5200000"/>
            <a:ext cx="2889675" cy="1550000"/>
          </a:xfrm>
          <a:prstGeom prst="roundRect">
            <a:avLst>
              <a:gd name="adj" fmla="val 5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4" name="처리 상태 관리 번호"/>
          <p:cNvSpPr/>
          <p:nvPr/>
        </p:nvSpPr>
        <p:spPr>
          <a:xfrm>
            <a:off x="10387675" y="53400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5" name="처리 상태 관리 제목"/>
          <p:cNvSpPr txBox="1"/>
          <p:nvPr/>
        </p:nvSpPr>
        <p:spPr>
          <a:xfrm>
            <a:off x="10897675" y="5350000"/>
            <a:ext cx="2039675" cy="360000"/>
          </a:xfrm>
          <a:prstGeom prst="rect">
            <a:avLst/>
          </a:prstGeom>
          <a:noFill/>
        </p:spPr>
        <p:txBody>
          <a:bodyPr wrap="square" lIns="0" tIns="0" rIns="0" bIns="0" anchor="ctr">
            <a:spAutoFit/>
          </a:bodyPr>
          <a:lstStyle/>
          <a:p>
            <a:pPr lvl="0" algn="l">
              <a:defRPr/>
            </a:pPr>
            <a:r>
              <a:rPr sz="1500" b="1">
                <a:solidFill>
                  <a:schemeClr val="tx2"/>
                </a:solidFill>
              </a:rPr>
              <a:t>처리 상태 관리</a:t>
            </a:r>
          </a:p>
        </p:txBody>
      </p:sp>
      <p:sp>
        <p:nvSpPr>
          <p:cNvPr id="36" name="처리 상태 관리 설명"/>
          <p:cNvSpPr txBox="1"/>
          <p:nvPr/>
        </p:nvSpPr>
        <p:spPr>
          <a:xfrm>
            <a:off x="10387675" y="5880000"/>
            <a:ext cx="2509675" cy="820000"/>
          </a:xfrm>
          <a:prstGeom prst="rect">
            <a:avLst/>
          </a:prstGeom>
          <a:noFill/>
        </p:spPr>
        <p:txBody>
          <a:bodyPr wrap="square" lIns="0" tIns="0" rIns="0" bIns="0" anchor="t">
            <a:spAutoFit/>
          </a:bodyPr>
          <a:lstStyle/>
          <a:p>
            <a:pPr lvl="0" algn="l">
              <a:defRPr/>
            </a:pPr>
            <a:r>
              <a:rPr sz="1200" b="0">
                <a:solidFill>
                  <a:schemeClr val="tx1"/>
                </a:solidFill>
              </a:rPr>
              <a:t>미처리 · 처리 완료로 관리하고, 상태와 지역으로 목록을 걸러 봅니다.</a:t>
            </a:r>
          </a:p>
        </p:txBody>
      </p:sp>
      <p:sp>
        <p:nvSpPr>
          <p:cNvPr id="37" name="흐름 1"/>
          <p:cNvSpPr/>
          <p:nvPr/>
        </p:nvSpPr>
        <p:spPr>
          <a:xfrm>
            <a:off x="6286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급증 감지</a:t>
            </a:r>
          </a:p>
        </p:txBody>
      </p:sp>
      <p:sp>
        <p:nvSpPr>
          <p:cNvPr id="38"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40"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공지 · 장애 등록</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급증 내용 확인</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목록에서 묶음을 열어 실제 질문과 발생 시각을 확인하고, 처리를 마칩니다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31</a:t>
            </a:r>
            <a:endParaRPr sz="1300" b="0">
              <a:solidFill>
                <a:schemeClr val="accent3"/>
              </a:solidFill>
            </a:endParaRPr>
          </a:p>
        </p:txBody>
      </p:sp>
      <p:pic>
        <p:nvPicPr>
          <p:cNvPr id="16" name="Picture 15" descr="image.png"/>
          <p:cNvPicPr>
            <a:picLocks noChangeAspect="1"/>
          </p:cNvPicPr>
          <p:nvPr/>
        </p:nvPicPr>
        <p:blipFill rotWithShape="1">
          <a:blip r:embed="rId2"/>
          <a:stretch>
            <a:fillRect/>
          </a:stretch>
        </p:blipFill>
        <p:spPr>
          <a:xfrm>
            <a:off x="937172" y="2750000"/>
            <a:ext cx="3682956" cy="390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화면 번호 1"/>
          <p:cNvSpPr/>
          <p:nvPr/>
        </p:nvSpPr>
        <p:spPr>
          <a:xfrm>
            <a:off x="726477" y="293269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1</a:t>
            </a:r>
          </a:p>
        </p:txBody>
      </p:sp>
      <p:sp>
        <p:nvSpPr>
          <p:cNvPr id="18" name="화면 번호 2"/>
          <p:cNvSpPr/>
          <p:nvPr/>
        </p:nvSpPr>
        <p:spPr>
          <a:xfrm>
            <a:off x="726477" y="3597391"/>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2</a:t>
            </a:r>
          </a:p>
        </p:txBody>
      </p:sp>
      <p:sp>
        <p:nvSpPr>
          <p:cNvPr id="19" name="화면 번호 3"/>
          <p:cNvSpPr/>
          <p:nvPr/>
        </p:nvSpPr>
        <p:spPr>
          <a:xfrm>
            <a:off x="726477" y="4920000"/>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3</a:t>
            </a:r>
          </a:p>
        </p:txBody>
      </p:sp>
      <p:sp>
        <p:nvSpPr>
          <p:cNvPr id="20" name="화면 번호 4"/>
          <p:cNvSpPr/>
          <p:nvPr/>
        </p:nvSpPr>
        <p:spPr>
          <a:xfrm>
            <a:off x="4497606" y="6181565"/>
            <a:ext cx="340000" cy="34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4</a:t>
            </a:r>
          </a:p>
        </p:txBody>
      </p:sp>
      <p:sp>
        <p:nvSpPr>
          <p:cNvPr id="21" name="급증 요약 카드"/>
          <p:cNvSpPr/>
          <p:nvPr/>
        </p:nvSpPr>
        <p:spPr>
          <a:xfrm>
            <a:off x="5228650" y="270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3" name="급증 요약 번호"/>
          <p:cNvSpPr/>
          <p:nvPr/>
        </p:nvSpPr>
        <p:spPr>
          <a:xfrm>
            <a:off x="5398650" y="297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1</a:t>
            </a:r>
          </a:p>
        </p:txBody>
      </p:sp>
      <p:sp>
        <p:nvSpPr>
          <p:cNvPr id="24" name="급증 요약 제목"/>
          <p:cNvSpPr txBox="1"/>
          <p:nvPr/>
        </p:nvSpPr>
        <p:spPr>
          <a:xfrm>
            <a:off x="5968650" y="2819400"/>
            <a:ext cx="6968700" cy="209550"/>
          </a:xfrm>
          <a:prstGeom prst="rect">
            <a:avLst/>
          </a:prstGeom>
          <a:noFill/>
        </p:spPr>
        <p:txBody>
          <a:bodyPr wrap="square" lIns="0" tIns="0" rIns="0" bIns="0" anchor="ctr">
            <a:spAutoFit/>
          </a:bodyPr>
          <a:lstStyle/>
          <a:p>
            <a:pPr lvl="0" algn="l">
              <a:defRPr/>
            </a:pPr>
            <a:r>
              <a:rPr lang="ko-KR" altLang="en-US" sz="1400" b="1">
                <a:solidFill>
                  <a:schemeClr val="tx2"/>
                </a:solidFill>
              </a:rPr>
              <a:t>급증 클러스터 이름</a:t>
            </a:r>
          </a:p>
        </p:txBody>
      </p:sp>
      <p:sp>
        <p:nvSpPr>
          <p:cNvPr id="25" name="급증 요약 설명"/>
          <p:cNvSpPr txBox="1"/>
          <p:nvPr/>
        </p:nvSpPr>
        <p:spPr>
          <a:xfrm>
            <a:off x="5968650" y="3090000"/>
            <a:ext cx="6968700" cy="177075"/>
          </a:xfrm>
          <a:prstGeom prst="rect">
            <a:avLst/>
          </a:prstGeom>
          <a:noFill/>
        </p:spPr>
        <p:txBody>
          <a:bodyPr wrap="square" lIns="0" tIns="0" rIns="0" bIns="0" anchor="t">
            <a:spAutoFit/>
          </a:bodyPr>
          <a:lstStyle/>
          <a:p>
            <a:pPr lvl="0" algn="l">
              <a:defRPr/>
            </a:pPr>
            <a:r>
              <a:rPr lang="ko-KR" altLang="en-US" sz="1200" b="0">
                <a:solidFill>
                  <a:schemeClr val="tx1"/>
                </a:solidFill>
              </a:rPr>
              <a:t>클러스터 내의 질문들을 확인해</a:t>
            </a:r>
            <a:r>
              <a:rPr lang="en-US" altLang="ko-KR" sz="1200" b="0">
                <a:solidFill>
                  <a:schemeClr val="tx1"/>
                </a:solidFill>
              </a:rPr>
              <a:t>,</a:t>
            </a:r>
            <a:r>
              <a:rPr lang="ko-KR" altLang="en-US" sz="1200" b="0">
                <a:solidFill>
                  <a:schemeClr val="tx1"/>
                </a:solidFill>
              </a:rPr>
              <a:t> </a:t>
            </a:r>
            <a:r>
              <a:rPr lang="en-US" altLang="ko-KR" sz="1200" b="0">
                <a:solidFill>
                  <a:schemeClr val="tx1"/>
                </a:solidFill>
              </a:rPr>
              <a:t>LLM</a:t>
            </a:r>
            <a:r>
              <a:rPr lang="ko-KR" altLang="en-US" sz="1200" b="0">
                <a:solidFill>
                  <a:schemeClr val="tx1"/>
                </a:solidFill>
              </a:rPr>
              <a:t>이 클러스터 이름을 자동으로 명명합니다</a:t>
            </a:r>
            <a:r>
              <a:rPr lang="en-US" altLang="ko-KR" sz="1200" b="0">
                <a:solidFill>
                  <a:schemeClr val="tx1"/>
                </a:solidFill>
              </a:rPr>
              <a:t>.</a:t>
            </a:r>
          </a:p>
        </p:txBody>
      </p:sp>
      <p:sp>
        <p:nvSpPr>
          <p:cNvPr id="26" name="급증 질문 목록 카드"/>
          <p:cNvSpPr/>
          <p:nvPr/>
        </p:nvSpPr>
        <p:spPr>
          <a:xfrm>
            <a:off x="5228650" y="372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28" name="급증 질문 목록 번호"/>
          <p:cNvSpPr/>
          <p:nvPr/>
        </p:nvSpPr>
        <p:spPr>
          <a:xfrm>
            <a:off x="5398650" y="399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2</a:t>
            </a:r>
          </a:p>
        </p:txBody>
      </p:sp>
      <p:sp>
        <p:nvSpPr>
          <p:cNvPr id="29" name="급증 질문 목록 제목"/>
          <p:cNvSpPr txBox="1"/>
          <p:nvPr/>
        </p:nvSpPr>
        <p:spPr>
          <a:xfrm>
            <a:off x="5968650" y="3848100"/>
            <a:ext cx="6968700" cy="209550"/>
          </a:xfrm>
          <a:prstGeom prst="rect">
            <a:avLst/>
          </a:prstGeom>
          <a:noFill/>
        </p:spPr>
        <p:txBody>
          <a:bodyPr wrap="square" lIns="0" tIns="0" rIns="0" bIns="0" anchor="ctr">
            <a:spAutoFit/>
          </a:bodyPr>
          <a:lstStyle/>
          <a:p>
            <a:pPr lvl="0" algn="l">
              <a:defRPr/>
            </a:pPr>
            <a:r>
              <a:rPr sz="1400" b="1">
                <a:solidFill>
                  <a:schemeClr val="tx2"/>
                </a:solidFill>
              </a:rPr>
              <a:t>급증 요약</a:t>
            </a:r>
          </a:p>
        </p:txBody>
      </p:sp>
      <p:sp>
        <p:nvSpPr>
          <p:cNvPr id="30" name="급증 질문 목록 설명"/>
          <p:cNvSpPr txBox="1"/>
          <p:nvPr/>
        </p:nvSpPr>
        <p:spPr>
          <a:xfrm>
            <a:off x="5968650" y="4115000"/>
            <a:ext cx="6968700" cy="180775"/>
          </a:xfrm>
          <a:prstGeom prst="rect">
            <a:avLst/>
          </a:prstGeom>
          <a:noFill/>
        </p:spPr>
        <p:txBody>
          <a:bodyPr wrap="square" lIns="0" tIns="0" rIns="0" bIns="0" anchor="t">
            <a:spAutoFit/>
          </a:bodyPr>
          <a:lstStyle/>
          <a:p>
            <a:pPr lvl="0" algn="l">
              <a:defRPr/>
            </a:pPr>
            <a:r>
              <a:rPr sz="1200" b="0">
                <a:solidFill>
                  <a:schemeClr val="tx1"/>
                </a:solidFill>
              </a:rPr>
              <a:t>지역 · 처리 상태 · 발생 수 · 발생 일시를 한눈에 확인합니다.</a:t>
            </a:r>
          </a:p>
        </p:txBody>
      </p:sp>
      <p:sp>
        <p:nvSpPr>
          <p:cNvPr id="31" name="원인 판단 카드"/>
          <p:cNvSpPr/>
          <p:nvPr/>
        </p:nvSpPr>
        <p:spPr>
          <a:xfrm>
            <a:off x="5228650" y="4750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3" name="원인 판단 번호"/>
          <p:cNvSpPr/>
          <p:nvPr/>
        </p:nvSpPr>
        <p:spPr>
          <a:xfrm>
            <a:off x="5398650" y="5022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3</a:t>
            </a:r>
          </a:p>
        </p:txBody>
      </p:sp>
      <p:sp>
        <p:nvSpPr>
          <p:cNvPr id="34" name="원인 판단 제목"/>
          <p:cNvSpPr txBox="1"/>
          <p:nvPr/>
        </p:nvSpPr>
        <p:spPr>
          <a:xfrm>
            <a:off x="5968650" y="4876800"/>
            <a:ext cx="6968700" cy="209550"/>
          </a:xfrm>
          <a:prstGeom prst="rect">
            <a:avLst/>
          </a:prstGeom>
          <a:noFill/>
        </p:spPr>
        <p:txBody>
          <a:bodyPr wrap="square" lIns="0" tIns="0" rIns="0" bIns="0" anchor="ctr">
            <a:spAutoFit/>
          </a:bodyPr>
          <a:lstStyle/>
          <a:p>
            <a:pPr lvl="0" algn="l">
              <a:defRPr/>
            </a:pPr>
            <a:r>
              <a:rPr sz="1400" b="1">
                <a:solidFill>
                  <a:schemeClr val="tx2"/>
                </a:solidFill>
              </a:rPr>
              <a:t>급증 질문 목록</a:t>
            </a:r>
          </a:p>
        </p:txBody>
      </p:sp>
      <p:sp>
        <p:nvSpPr>
          <p:cNvPr id="35" name="원인 판단 설명"/>
          <p:cNvSpPr txBox="1"/>
          <p:nvPr/>
        </p:nvSpPr>
        <p:spPr>
          <a:xfrm>
            <a:off x="5968650" y="5140000"/>
            <a:ext cx="6968700" cy="174950"/>
          </a:xfrm>
          <a:prstGeom prst="rect">
            <a:avLst/>
          </a:prstGeom>
          <a:noFill/>
        </p:spPr>
        <p:txBody>
          <a:bodyPr wrap="square" lIns="0" tIns="0" rIns="0" bIns="0" anchor="t">
            <a:spAutoFit/>
          </a:bodyPr>
          <a:lstStyle/>
          <a:p>
            <a:pPr lvl="0" algn="l">
              <a:defRPr/>
            </a:pPr>
            <a:r>
              <a:rPr sz="1200" b="0">
                <a:solidFill>
                  <a:schemeClr val="tx1"/>
                </a:solidFill>
              </a:rPr>
              <a:t>묶음에 들어온 실제 질문과 시각이 나열되어, 어떤 문제인지 바로 알 수 있습니다.</a:t>
            </a:r>
          </a:p>
        </p:txBody>
      </p:sp>
      <p:sp>
        <p:nvSpPr>
          <p:cNvPr id="36" name="처리 완료 카드"/>
          <p:cNvSpPr/>
          <p:nvPr/>
        </p:nvSpPr>
        <p:spPr>
          <a:xfrm>
            <a:off x="5228650" y="5775000"/>
            <a:ext cx="7858700" cy="925000"/>
          </a:xfrm>
          <a:prstGeom prst="roundRect">
            <a:avLst>
              <a:gd name="adj" fmla="val 8000"/>
            </a:avLst>
          </a:prstGeom>
          <a:solidFill>
            <a:schemeClr val="bg1"/>
          </a:solidFill>
          <a:ln w="9525">
            <a:solidFill>
              <a:schemeClr val="accent2"/>
            </a:solidFill>
          </a:ln>
          <a:effectLst>
            <a:outerShdw blurRad="254000" dist="88900" dir="5400000" algn="t" rotWithShape="0">
              <a:srgbClr val="17171A">
                <a:alpha val="14000"/>
              </a:srgbClr>
            </a:outerShdw>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38" name="처리 완료 번호"/>
          <p:cNvSpPr/>
          <p:nvPr/>
        </p:nvSpPr>
        <p:spPr>
          <a:xfrm>
            <a:off x="5398650" y="6047500"/>
            <a:ext cx="380000" cy="38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400" b="1">
                <a:solidFill>
                  <a:schemeClr val="bg1"/>
                </a:solidFill>
              </a:rPr>
              <a:t>4</a:t>
            </a:r>
          </a:p>
        </p:txBody>
      </p:sp>
      <p:sp>
        <p:nvSpPr>
          <p:cNvPr id="39" name="처리 완료 제목"/>
          <p:cNvSpPr txBox="1"/>
          <p:nvPr/>
        </p:nvSpPr>
        <p:spPr>
          <a:xfrm>
            <a:off x="5968650" y="5855000"/>
            <a:ext cx="6968700" cy="300000"/>
          </a:xfrm>
          <a:prstGeom prst="rect">
            <a:avLst/>
          </a:prstGeom>
          <a:noFill/>
        </p:spPr>
        <p:txBody>
          <a:bodyPr wrap="square" lIns="0" tIns="0" rIns="0" bIns="0" anchor="ctr">
            <a:spAutoFit/>
          </a:bodyPr>
          <a:lstStyle/>
          <a:p>
            <a:pPr lvl="0" algn="l">
              <a:defRPr/>
            </a:pPr>
            <a:r>
              <a:rPr sz="1400" b="1">
                <a:solidFill>
                  <a:schemeClr val="tx2"/>
                </a:solidFill>
              </a:rPr>
              <a:t>처리 완료</a:t>
            </a:r>
          </a:p>
        </p:txBody>
      </p:sp>
      <p:sp>
        <p:nvSpPr>
          <p:cNvPr id="40" name="처리 완료 설명"/>
          <p:cNvSpPr txBox="1"/>
          <p:nvPr/>
        </p:nvSpPr>
        <p:spPr>
          <a:xfrm>
            <a:off x="5968650" y="6165000"/>
            <a:ext cx="6968700" cy="485000"/>
          </a:xfrm>
          <a:prstGeom prst="rect">
            <a:avLst/>
          </a:prstGeom>
          <a:noFill/>
        </p:spPr>
        <p:txBody>
          <a:bodyPr wrap="square" lIns="0" tIns="0" rIns="0" bIns="0" anchor="t">
            <a:spAutoFit/>
          </a:bodyPr>
          <a:lstStyle/>
          <a:p>
            <a:pPr lvl="0" algn="l">
              <a:defRPr/>
            </a:pPr>
            <a:r>
              <a:rPr sz="1200" b="0">
                <a:solidFill>
                  <a:schemeClr val="tx1"/>
                </a:solidFill>
              </a:rPr>
              <a:t>확인을 마치면 [처리 완료]로 상태를 바꾸고, 필요하면 이어서 공지 · 장애를 등록합니다.</a:t>
            </a:r>
          </a:p>
        </p:txBody>
      </p:sp>
      <p:sp>
        <p:nvSpPr>
          <p:cNvPr id="41"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급증 감지</a:t>
            </a:r>
          </a:p>
        </p:txBody>
      </p:sp>
      <p:sp>
        <p:nvSpPr>
          <p:cNvPr id="42" name="흐름 화살표 1"/>
          <p:cNvSpPr/>
          <p:nvPr/>
        </p:nvSpPr>
        <p:spPr>
          <a:xfrm>
            <a:off x="453332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3" name="흐름 2"/>
          <p:cNvSpPr/>
          <p:nvPr/>
        </p:nvSpPr>
        <p:spPr>
          <a:xfrm>
            <a:off x="505800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bg1"/>
                </a:solidFill>
              </a:rPr>
              <a:t>급증 항목 확인</a:t>
            </a:r>
          </a:p>
        </p:txBody>
      </p:sp>
      <p:sp>
        <p:nvSpPr>
          <p:cNvPr id="44" name="흐름 화살표 2"/>
          <p:cNvSpPr/>
          <p:nvPr/>
        </p:nvSpPr>
        <p:spPr>
          <a:xfrm>
            <a:off x="8962675" y="2060000"/>
            <a:ext cx="220000" cy="200000"/>
          </a:xfrm>
          <a:prstGeom prst="rightArrow">
            <a:avLst>
              <a:gd name="adj1" fmla="val 50000"/>
              <a:gd name="adj2" fmla="val 5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5" name="흐름 3"/>
          <p:cNvSpPr/>
          <p:nvPr/>
        </p:nvSpPr>
        <p:spPr>
          <a:xfrm>
            <a:off x="94873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anchor="ctr"/>
          <a:lstStyle/>
          <a:p>
            <a:pPr lvl="0" algn="ctr">
              <a:defRPr/>
            </a:pPr>
            <a:r>
              <a:rPr sz="1200" b="1">
                <a:solidFill>
                  <a:schemeClr val="accent3"/>
                </a:solidFill>
              </a:rPr>
              <a:t>공지 · 장애 등록</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lvl="0" algn="ctr">
              <a:defRPr/>
            </a:pPr>
            <a:endParaRPr lang="ko-KR" altLang="en-US"/>
          </a:p>
        </p:txBody>
      </p:sp>
      <p:sp>
        <p:nvSpPr>
          <p:cNvPr id="4" name="상단 태그"/>
          <p:cNvSpPr txBox="1"/>
          <p:nvPr/>
        </p:nvSpPr>
        <p:spPr>
          <a:xfrm>
            <a:off x="628650" y="420000"/>
            <a:ext cx="8000000" cy="300000"/>
          </a:xfrm>
          <a:prstGeom prst="rect">
            <a:avLst/>
          </a:prstGeom>
          <a:noFill/>
        </p:spPr>
        <p:txBody>
          <a:bodyPr wrap="square" lIns="0" tIns="0" rIns="0" bIns="0" anchor="ctr">
            <a:spAutoFit/>
          </a:bodyPr>
          <a:lstStyle/>
          <a:p>
            <a:pPr lvl="0" algn="l">
              <a:defRPr/>
            </a:pPr>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lvl="0" algn="l">
              <a:defRPr/>
            </a:pPr>
            <a:r>
              <a:rPr sz="3400" b="1">
                <a:solidFill>
                  <a:schemeClr val="tx2"/>
                </a:solidFill>
              </a:rPr>
              <a:t>공지 · 장애 관리</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lvl="0" algn="l">
              <a:defRPr/>
            </a:pPr>
            <a:r>
              <a:rPr sz="1500" b="0">
                <a:solidFill>
                  <a:schemeClr val="accent3"/>
                </a:solidFill>
              </a:rPr>
              <a:t>통신 장애를 확인하면 대상 지역을 골라 안내를 등록하고, 등록 현황을 관리합니다</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lvl="0" algn="l">
              <a:defRPr/>
            </a:pPr>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lvl="0" algn="r">
              <a:defRPr/>
            </a:pPr>
            <a:r>
              <a:rPr lang="en-US" altLang="ko-KR" sz="1300" b="0">
                <a:solidFill>
                  <a:schemeClr val="accent3"/>
                </a:solidFill>
              </a:rPr>
              <a:t>32</a:t>
            </a:r>
            <a:endParaRPr sz="1300" b="0">
              <a:solidFill>
                <a:schemeClr val="accent3"/>
              </a:solidFill>
            </a:endParaRPr>
          </a:p>
        </p:txBody>
      </p:sp>
      <p:pic>
        <p:nvPicPr>
          <p:cNvPr id="16" name="Picture 15" descr="image.png"/>
          <p:cNvPicPr>
            <a:picLocks noChangeAspect="1"/>
          </p:cNvPicPr>
          <p:nvPr/>
        </p:nvPicPr>
        <p:blipFill>
          <a:blip r:embed="rId2"/>
          <a:stretch>
            <a:fillRect/>
          </a:stretch>
        </p:blipFill>
        <p:spPr>
          <a:xfrm>
            <a:off x="709606" y="3000000"/>
            <a:ext cx="3338088" cy="3750000"/>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17" name="캡션 1"/>
          <p:cNvSpPr/>
          <p:nvPr/>
        </p:nvSpPr>
        <p:spPr>
          <a:xfrm>
            <a:off x="909606" y="2520000"/>
            <a:ext cx="1829718"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공지 · 장애 등록</a:t>
            </a:r>
          </a:p>
        </p:txBody>
      </p:sp>
      <p:sp>
        <p:nvSpPr>
          <p:cNvPr id="18" name="캡션 번호 1"/>
          <p:cNvSpPr/>
          <p:nvPr/>
        </p:nvSpPr>
        <p:spPr>
          <a:xfrm>
            <a:off x="709606"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1</a:t>
            </a:r>
          </a:p>
        </p:txBody>
      </p:sp>
      <p:pic>
        <p:nvPicPr>
          <p:cNvPr id="19" name="Picture 18" descr="image.png"/>
          <p:cNvPicPr>
            <a:picLocks noChangeAspect="1"/>
          </p:cNvPicPr>
          <p:nvPr/>
        </p:nvPicPr>
        <p:blipFill>
          <a:blip r:embed="rId3"/>
          <a:stretch>
            <a:fillRect/>
          </a:stretch>
        </p:blipFill>
        <p:spPr>
          <a:xfrm>
            <a:off x="4416738" y="3000000"/>
            <a:ext cx="8670612" cy="2308445"/>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0" name="캡션 2"/>
          <p:cNvSpPr/>
          <p:nvPr/>
        </p:nvSpPr>
        <p:spPr>
          <a:xfrm>
            <a:off x="4616738" y="2520000"/>
            <a:ext cx="1899060"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등록된 공지 관리</a:t>
            </a:r>
          </a:p>
        </p:txBody>
      </p:sp>
      <p:sp>
        <p:nvSpPr>
          <p:cNvPr id="21" name="캡션 번호 2"/>
          <p:cNvSpPr/>
          <p:nvPr/>
        </p:nvSpPr>
        <p:spPr>
          <a:xfrm>
            <a:off x="4416738" y="2500000"/>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2</a:t>
            </a:r>
          </a:p>
        </p:txBody>
      </p:sp>
      <p:pic>
        <p:nvPicPr>
          <p:cNvPr id="22" name="Picture 21" descr="image.png"/>
          <p:cNvPicPr>
            <a:picLocks noChangeAspect="1"/>
          </p:cNvPicPr>
          <p:nvPr/>
        </p:nvPicPr>
        <p:blipFill>
          <a:blip r:embed="rId4"/>
          <a:stretch>
            <a:fillRect/>
          </a:stretch>
        </p:blipFill>
        <p:spPr>
          <a:xfrm>
            <a:off x="4416739" y="5940318"/>
            <a:ext cx="8670610" cy="809682"/>
          </a:xfrm>
          <a:prstGeom prst="roundRect">
            <a:avLst>
              <a:gd name="adj" fmla="val 3000"/>
            </a:avLst>
          </a:prstGeom>
          <a:ln w="12700">
            <a:solidFill>
              <a:schemeClr val="accent2"/>
            </a:solidFill>
          </a:ln>
          <a:effectLst>
            <a:outerShdw blurRad="254000" dist="88900" dir="5400000" algn="t" rotWithShape="0">
              <a:srgbClr val="17171A">
                <a:alpha val="18000"/>
              </a:srgbClr>
            </a:outerShdw>
          </a:effectLst>
        </p:spPr>
      </p:pic>
      <p:sp>
        <p:nvSpPr>
          <p:cNvPr id="23" name="캡션 3"/>
          <p:cNvSpPr/>
          <p:nvPr/>
        </p:nvSpPr>
        <p:spPr>
          <a:xfrm>
            <a:off x="4616739" y="5460318"/>
            <a:ext cx="2316889" cy="360000"/>
          </a:xfrm>
          <a:prstGeom prst="roundRect">
            <a:avLst>
              <a:gd name="adj" fmla="val 5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none" lIns="300000" tIns="0" rIns="100000" bIns="0" rtlCol="0" anchor="ctr"/>
          <a:lstStyle/>
          <a:p>
            <a:pPr algn="l"/>
            <a:r>
              <a:rPr sz="1400" b="1">
                <a:solidFill>
                  <a:schemeClr val="bg1"/>
                </a:solidFill>
              </a:rPr>
              <a:t>사용자 화면 상단 배너</a:t>
            </a:r>
          </a:p>
        </p:txBody>
      </p:sp>
      <p:sp>
        <p:nvSpPr>
          <p:cNvPr id="24" name="캡션 번호 3"/>
          <p:cNvSpPr/>
          <p:nvPr/>
        </p:nvSpPr>
        <p:spPr>
          <a:xfrm>
            <a:off x="4416739" y="5440318"/>
            <a:ext cx="400000" cy="400000"/>
          </a:xfrm>
          <a:prstGeom prst="ellipse">
            <a:avLst/>
          </a:prstGeom>
          <a:solidFill>
            <a:schemeClr val="accent1"/>
          </a:solidFill>
          <a:ln w="28575">
            <a:solidFill>
              <a:schemeClr val="bg1"/>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chemeClr val="bg1"/>
                </a:solidFill>
              </a:rPr>
              <a:t>3</a:t>
            </a:r>
          </a:p>
        </p:txBody>
      </p:sp>
      <p:sp>
        <p:nvSpPr>
          <p:cNvPr id="25" name="흐름 1"/>
          <p:cNvSpPr/>
          <p:nvPr/>
        </p:nvSpPr>
        <p:spPr>
          <a:xfrm>
            <a:off x="62865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감지</a:t>
            </a:r>
          </a:p>
        </p:txBody>
      </p:sp>
      <p:sp>
        <p:nvSpPr>
          <p:cNvPr id="26" name="흐름 화살표 1"/>
          <p:cNvSpPr/>
          <p:nvPr/>
        </p:nvSpPr>
        <p:spPr>
          <a:xfrm>
            <a:off x="453332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흐름 2"/>
          <p:cNvSpPr/>
          <p:nvPr/>
        </p:nvSpPr>
        <p:spPr>
          <a:xfrm>
            <a:off x="5058000" y="1950000"/>
            <a:ext cx="3600000" cy="420000"/>
          </a:xfrm>
          <a:prstGeom prst="roundRect">
            <a:avLst>
              <a:gd name="adj" fmla="val 50000"/>
            </a:avLst>
          </a:prstGeom>
          <a:solidFill>
            <a:schemeClr val="bg1"/>
          </a:solidFill>
          <a:ln w="9525">
            <a:solidFill>
              <a:schemeClr val="accent2"/>
            </a:solid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accent3"/>
                </a:solidFill>
              </a:rPr>
              <a:t>급증 항목 확인</a:t>
            </a:r>
          </a:p>
        </p:txBody>
      </p:sp>
      <p:sp>
        <p:nvSpPr>
          <p:cNvPr id="28" name="흐름 화살표 2"/>
          <p:cNvSpPr/>
          <p:nvPr/>
        </p:nvSpPr>
        <p:spPr>
          <a:xfrm>
            <a:off x="8962675" y="2060000"/>
            <a:ext cx="220000" cy="200000"/>
          </a:xfrm>
          <a:prstGeom prst="rightArrow">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흐름 3"/>
          <p:cNvSpPr/>
          <p:nvPr/>
        </p:nvSpPr>
        <p:spPr>
          <a:xfrm>
            <a:off x="9487350" y="1950000"/>
            <a:ext cx="3600000" cy="420000"/>
          </a:xfrm>
          <a:prstGeom prst="roundRect">
            <a:avLst>
              <a:gd name="adj" fmla="val 5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200" b="1">
                <a:solidFill>
                  <a:schemeClr val="bg1"/>
                </a:solidFill>
              </a:rPr>
              <a:t>공지 · 장애 등록</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관리자</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안정성 모니터링</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33</a:t>
            </a:r>
            <a:endParaRPr sz="1300" b="0">
              <a:solidFill>
                <a:schemeClr val="accent3"/>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wn-text-87">
            <a:extLst>
              <a:ext uri="{FF2B5EF4-FFF2-40B4-BE49-F238E27FC236}">
                <a16:creationId xmlns:a16="http://schemas.microsoft.com/office/drawing/2014/main" id="{BE9CF121-82A8-466A-8F43-FF2C86D6B9CE}"/>
              </a:ext>
            </a:extLst>
          </p:cNvPr>
          <p:cNvSpPr>
            <a:spLocks noGrp="1"/>
          </p:cNvSpPr>
          <p:nvPr/>
        </p:nvSpPr>
        <p:spPr>
          <a:xfrm>
            <a:off x="628650" y="420053"/>
            <a:ext cx="11430000" cy="300038"/>
          </a:xfrm>
          <a:prstGeom prst="rect">
            <a:avLst/>
          </a:prstGeom>
          <a:noFill/>
          <a:ln w="0">
            <a:noFill/>
          </a:ln>
        </p:spPr>
        <p:txBody>
          <a:bodyPr wrap="square" lIns="0" tIns="0" rIns="0" bIns="0" anchor="t">
            <a:noAutofit/>
          </a:bodyPr>
          <a:lstStyle>
            <a:defPPr algn="l">
              <a:defRPr sz="1300" b="1">
                <a:solidFill>
                  <a:srgbClr val="F72585"/>
                </a:solidFill>
                <a:latin typeface="맑은 고딕"/>
                <a:ea typeface="맑은 고딕"/>
                <a:cs typeface="맑은 고딕"/>
              </a:defRPr>
            </a:defPPr>
            <a:lvl1pPr algn="l">
              <a:defRPr sz="1300" b="1">
                <a:solidFill>
                  <a:srgbClr val="F72585"/>
                </a:solidFill>
                <a:latin typeface="맑은 고딕"/>
                <a:ea typeface="맑은 고딕"/>
                <a:cs typeface="맑은 고딕"/>
              </a:defRPr>
            </a:lvl1pPr>
            <a:lvl2pPr algn="l">
              <a:defRPr sz="1300" b="1">
                <a:solidFill>
                  <a:srgbClr val="F72585"/>
                </a:solidFill>
                <a:latin typeface="맑은 고딕"/>
                <a:ea typeface="맑은 고딕"/>
                <a:cs typeface="맑은 고딕"/>
              </a:defRPr>
            </a:lvl2pPr>
            <a:lvl3pPr algn="l">
              <a:defRPr sz="1300" b="1">
                <a:solidFill>
                  <a:srgbClr val="F72585"/>
                </a:solidFill>
                <a:latin typeface="맑은 고딕"/>
                <a:ea typeface="맑은 고딕"/>
                <a:cs typeface="맑은 고딕"/>
              </a:defRPr>
            </a:lvl3pPr>
            <a:lvl4pPr algn="l">
              <a:defRPr sz="1300" b="1">
                <a:solidFill>
                  <a:srgbClr val="F72585"/>
                </a:solidFill>
                <a:latin typeface="맑은 고딕"/>
                <a:ea typeface="맑은 고딕"/>
                <a:cs typeface="맑은 고딕"/>
              </a:defRPr>
            </a:lvl4pPr>
            <a:lvl5pPr algn="l">
              <a:defRPr sz="1300" b="1">
                <a:solidFill>
                  <a:srgbClr val="F72585"/>
                </a:solidFill>
                <a:latin typeface="맑은 고딕"/>
                <a:ea typeface="맑은 고딕"/>
                <a:cs typeface="맑은 고딕"/>
              </a:defRPr>
            </a:lvl5pPr>
            <a:lvl6pPr algn="l">
              <a:defRPr sz="1300" b="1">
                <a:solidFill>
                  <a:srgbClr val="F72585"/>
                </a:solidFill>
                <a:latin typeface="맑은 고딕"/>
                <a:ea typeface="맑은 고딕"/>
                <a:cs typeface="맑은 고딕"/>
              </a:defRPr>
            </a:lvl6pPr>
            <a:lvl7pPr algn="l">
              <a:defRPr sz="1300" b="1">
                <a:solidFill>
                  <a:srgbClr val="F72585"/>
                </a:solidFill>
                <a:latin typeface="맑은 고딕"/>
                <a:ea typeface="맑은 고딕"/>
                <a:cs typeface="맑은 고딕"/>
              </a:defRPr>
            </a:lvl7pPr>
            <a:lvl8pPr algn="l">
              <a:defRPr sz="1300" b="1">
                <a:solidFill>
                  <a:srgbClr val="F72585"/>
                </a:solidFill>
                <a:latin typeface="맑은 고딕"/>
                <a:ea typeface="맑은 고딕"/>
                <a:cs typeface="맑은 고딕"/>
              </a:defRPr>
            </a:lvl8pPr>
            <a:lvl9pPr algn="l">
              <a:defRPr sz="1300" b="1">
                <a:solidFill>
                  <a:srgbClr val="F72585"/>
                </a:solidFill>
                <a:latin typeface="맑은 고딕"/>
                <a:ea typeface="맑은 고딕"/>
                <a:cs typeface="맑은 고딕"/>
              </a:defRPr>
            </a:lvl9pPr>
          </a:lstStyle>
          <a:p>
            <a:pPr algn="l">
              <a:defRPr sz="1300" b="1">
                <a:solidFill>
                  <a:srgbClr val="F72585"/>
                </a:solidFill>
                <a:latin typeface="맑은 고딕"/>
                <a:ea typeface="맑은 고딕"/>
                <a:cs typeface="맑은 고딕"/>
              </a:defRPr>
            </a:pPr>
            <a:r>
              <a:rPr sz="1300" b="1">
                <a:solidFill>
                  <a:srgbClr val="F72585"/>
                </a:solidFill>
                <a:latin typeface="맑은 고딕"/>
                <a:ea typeface="맑은 고딕"/>
                <a:cs typeface="맑은 고딕"/>
              </a:rPr>
              <a:t>주요 기능 소개  |  그 외</a:t>
            </a:r>
          </a:p>
        </p:txBody>
      </p:sp>
      <p:sp>
        <p:nvSpPr>
          <p:cNvPr id="2" name="own-text-88">
            <a:extLst>
              <a:ext uri="{FF2B5EF4-FFF2-40B4-BE49-F238E27FC236}">
                <a16:creationId xmlns:a16="http://schemas.microsoft.com/office/drawing/2014/main" id="{8090730E-2542-49C6-9594-FF66F257B665}"/>
              </a:ext>
            </a:extLst>
          </p:cNvPr>
          <p:cNvSpPr>
            <a:spLocks noGrp="1"/>
          </p:cNvSpPr>
          <p:nvPr/>
        </p:nvSpPr>
        <p:spPr>
          <a:xfrm>
            <a:off x="628650" y="760095"/>
            <a:ext cx="12001500" cy="704850"/>
          </a:xfrm>
          <a:prstGeom prst="rect">
            <a:avLst/>
          </a:prstGeom>
          <a:noFill/>
          <a:ln w="0">
            <a:noFill/>
          </a:ln>
        </p:spPr>
        <p:txBody>
          <a:bodyPr wrap="square" lIns="0" tIns="0" rIns="0" bIns="0" anchor="t">
            <a:noAutofit/>
          </a:bodyPr>
          <a:lstStyle>
            <a:defPPr algn="l">
              <a:defRPr sz="3400" b="1">
                <a:solidFill>
                  <a:srgbClr val="17171A"/>
                </a:solidFill>
                <a:latin typeface="맑은 고딕"/>
                <a:ea typeface="맑은 고딕"/>
                <a:cs typeface="맑은 고딕"/>
              </a:defRPr>
            </a:defPPr>
            <a:lvl1pPr algn="l">
              <a:defRPr sz="3400" b="1">
                <a:solidFill>
                  <a:srgbClr val="17171A"/>
                </a:solidFill>
                <a:latin typeface="맑은 고딕"/>
                <a:ea typeface="맑은 고딕"/>
                <a:cs typeface="맑은 고딕"/>
              </a:defRPr>
            </a:lvl1pPr>
            <a:lvl2pPr algn="l">
              <a:defRPr sz="3400" b="1">
                <a:solidFill>
                  <a:srgbClr val="17171A"/>
                </a:solidFill>
                <a:latin typeface="맑은 고딕"/>
                <a:ea typeface="맑은 고딕"/>
                <a:cs typeface="맑은 고딕"/>
              </a:defRPr>
            </a:lvl2pPr>
            <a:lvl3pPr algn="l">
              <a:defRPr sz="3400" b="1">
                <a:solidFill>
                  <a:srgbClr val="17171A"/>
                </a:solidFill>
                <a:latin typeface="맑은 고딕"/>
                <a:ea typeface="맑은 고딕"/>
                <a:cs typeface="맑은 고딕"/>
              </a:defRPr>
            </a:lvl3pPr>
            <a:lvl4pPr algn="l">
              <a:defRPr sz="3400" b="1">
                <a:solidFill>
                  <a:srgbClr val="17171A"/>
                </a:solidFill>
                <a:latin typeface="맑은 고딕"/>
                <a:ea typeface="맑은 고딕"/>
                <a:cs typeface="맑은 고딕"/>
              </a:defRPr>
            </a:lvl4pPr>
            <a:lvl5pPr algn="l">
              <a:defRPr sz="3400" b="1">
                <a:solidFill>
                  <a:srgbClr val="17171A"/>
                </a:solidFill>
                <a:latin typeface="맑은 고딕"/>
                <a:ea typeface="맑은 고딕"/>
                <a:cs typeface="맑은 고딕"/>
              </a:defRPr>
            </a:lvl5pPr>
            <a:lvl6pPr algn="l">
              <a:defRPr sz="3400" b="1">
                <a:solidFill>
                  <a:srgbClr val="17171A"/>
                </a:solidFill>
                <a:latin typeface="맑은 고딕"/>
                <a:ea typeface="맑은 고딕"/>
                <a:cs typeface="맑은 고딕"/>
              </a:defRPr>
            </a:lvl6pPr>
            <a:lvl7pPr algn="l">
              <a:defRPr sz="3400" b="1">
                <a:solidFill>
                  <a:srgbClr val="17171A"/>
                </a:solidFill>
                <a:latin typeface="맑은 고딕"/>
                <a:ea typeface="맑은 고딕"/>
                <a:cs typeface="맑은 고딕"/>
              </a:defRPr>
            </a:lvl7pPr>
            <a:lvl8pPr algn="l">
              <a:defRPr sz="3400" b="1">
                <a:solidFill>
                  <a:srgbClr val="17171A"/>
                </a:solidFill>
                <a:latin typeface="맑은 고딕"/>
                <a:ea typeface="맑은 고딕"/>
                <a:cs typeface="맑은 고딕"/>
              </a:defRPr>
            </a:lvl8pPr>
            <a:lvl9pPr algn="l">
              <a:defRPr sz="3400" b="1">
                <a:solidFill>
                  <a:srgbClr val="17171A"/>
                </a:solidFill>
                <a:latin typeface="맑은 고딕"/>
                <a:ea typeface="맑은 고딕"/>
                <a:cs typeface="맑은 고딕"/>
              </a:defRPr>
            </a:lvl9pPr>
          </a:lstStyle>
          <a:p>
            <a:pPr algn="l">
              <a:defRPr sz="3400" b="1">
                <a:solidFill>
                  <a:srgbClr val="17171A"/>
                </a:solidFill>
                <a:latin typeface="맑은 고딕"/>
                <a:ea typeface="맑은 고딕"/>
                <a:cs typeface="맑은 고딕"/>
              </a:defRPr>
            </a:pPr>
            <a:r>
              <a:rPr sz="3400" b="1">
                <a:solidFill>
                  <a:srgbClr val="17171A"/>
                </a:solidFill>
                <a:latin typeface="맑은 고딕"/>
                <a:ea typeface="맑은 고딕"/>
                <a:cs typeface="맑은 고딕"/>
              </a:rPr>
              <a:t>스케줄러의 주기와 역할</a:t>
            </a:r>
          </a:p>
        </p:txBody>
      </p:sp>
      <p:sp>
        <p:nvSpPr>
          <p:cNvPr id="3" name="own-text-89">
            <a:extLst>
              <a:ext uri="{FF2B5EF4-FFF2-40B4-BE49-F238E27FC236}">
                <a16:creationId xmlns:a16="http://schemas.microsoft.com/office/drawing/2014/main" id="{85CDA9CC-8EBD-4061-B4DE-1787EEFD08E5}"/>
              </a:ext>
            </a:extLst>
          </p:cNvPr>
          <p:cNvSpPr>
            <a:spLocks noGrp="1"/>
          </p:cNvSpPr>
          <p:nvPr/>
        </p:nvSpPr>
        <p:spPr>
          <a:xfrm>
            <a:off x="628650" y="1500188"/>
            <a:ext cx="12001500" cy="390525"/>
          </a:xfrm>
          <a:prstGeom prst="rect">
            <a:avLst/>
          </a:prstGeom>
          <a:noFill/>
          <a:ln w="0">
            <a:noFill/>
          </a:ln>
        </p:spPr>
        <p:txBody>
          <a:bodyPr wrap="square" lIns="0" tIns="0" rIns="0" bIns="0" anchor="t">
            <a:noAutofit/>
          </a:bodyPr>
          <a:lstStyle>
            <a:defPPr algn="l">
              <a:defRPr sz="1500" b="0">
                <a:solidFill>
                  <a:srgbClr val="686B72"/>
                </a:solidFill>
                <a:latin typeface="맑은 고딕"/>
                <a:ea typeface="맑은 고딕"/>
                <a:cs typeface="맑은 고딕"/>
              </a:defRPr>
            </a:defPPr>
            <a:lvl1pPr algn="l">
              <a:defRPr sz="1500" b="0">
                <a:solidFill>
                  <a:srgbClr val="686B72"/>
                </a:solidFill>
                <a:latin typeface="맑은 고딕"/>
                <a:ea typeface="맑은 고딕"/>
                <a:cs typeface="맑은 고딕"/>
              </a:defRPr>
            </a:lvl1pPr>
            <a:lvl2pPr algn="l">
              <a:defRPr sz="1500" b="0">
                <a:solidFill>
                  <a:srgbClr val="686B72"/>
                </a:solidFill>
                <a:latin typeface="맑은 고딕"/>
                <a:ea typeface="맑은 고딕"/>
                <a:cs typeface="맑은 고딕"/>
              </a:defRPr>
            </a:lvl2pPr>
            <a:lvl3pPr algn="l">
              <a:defRPr sz="1500" b="0">
                <a:solidFill>
                  <a:srgbClr val="686B72"/>
                </a:solidFill>
                <a:latin typeface="맑은 고딕"/>
                <a:ea typeface="맑은 고딕"/>
                <a:cs typeface="맑은 고딕"/>
              </a:defRPr>
            </a:lvl3pPr>
            <a:lvl4pPr algn="l">
              <a:defRPr sz="1500" b="0">
                <a:solidFill>
                  <a:srgbClr val="686B72"/>
                </a:solidFill>
                <a:latin typeface="맑은 고딕"/>
                <a:ea typeface="맑은 고딕"/>
                <a:cs typeface="맑은 고딕"/>
              </a:defRPr>
            </a:lvl4pPr>
            <a:lvl5pPr algn="l">
              <a:defRPr sz="1500" b="0">
                <a:solidFill>
                  <a:srgbClr val="686B72"/>
                </a:solidFill>
                <a:latin typeface="맑은 고딕"/>
                <a:ea typeface="맑은 고딕"/>
                <a:cs typeface="맑은 고딕"/>
              </a:defRPr>
            </a:lvl5pPr>
            <a:lvl6pPr algn="l">
              <a:defRPr sz="1500" b="0">
                <a:solidFill>
                  <a:srgbClr val="686B72"/>
                </a:solidFill>
                <a:latin typeface="맑은 고딕"/>
                <a:ea typeface="맑은 고딕"/>
                <a:cs typeface="맑은 고딕"/>
              </a:defRPr>
            </a:lvl6pPr>
            <a:lvl7pPr algn="l">
              <a:defRPr sz="1500" b="0">
                <a:solidFill>
                  <a:srgbClr val="686B72"/>
                </a:solidFill>
                <a:latin typeface="맑은 고딕"/>
                <a:ea typeface="맑은 고딕"/>
                <a:cs typeface="맑은 고딕"/>
              </a:defRPr>
            </a:lvl7pPr>
            <a:lvl8pPr algn="l">
              <a:defRPr sz="1500" b="0">
                <a:solidFill>
                  <a:srgbClr val="686B72"/>
                </a:solidFill>
                <a:latin typeface="맑은 고딕"/>
                <a:ea typeface="맑은 고딕"/>
                <a:cs typeface="맑은 고딕"/>
              </a:defRPr>
            </a:lvl8pPr>
            <a:lvl9pPr algn="l">
              <a:defRPr sz="1500" b="0">
                <a:solidFill>
                  <a:srgbClr val="686B72"/>
                </a:solidFill>
                <a:latin typeface="맑은 고딕"/>
                <a:ea typeface="맑은 고딕"/>
                <a:cs typeface="맑은 고딕"/>
              </a:defRPr>
            </a:lvl9pPr>
          </a:lstStyle>
          <a:p>
            <a:pPr algn="l">
              <a:defRPr sz="1500" b="0">
                <a:solidFill>
                  <a:srgbClr val="686B72"/>
                </a:solidFill>
                <a:latin typeface="맑은 고딕"/>
                <a:ea typeface="맑은 고딕"/>
                <a:cs typeface="맑은 고딕"/>
              </a:defRPr>
            </a:pPr>
            <a:r>
              <a:rPr sz="1500" b="0">
                <a:solidFill>
                  <a:srgbClr val="686B72"/>
                </a:solidFill>
                <a:latin typeface="맑은 고딕"/>
                <a:ea typeface="맑은 고딕"/>
                <a:cs typeface="맑은 고딕"/>
              </a:rPr>
              <a:t>알림, 데이터 정리, FAQ 운영과 장애 복구를 주기 작업으로 분리</a:t>
            </a:r>
          </a:p>
        </p:txBody>
      </p:sp>
      <p:sp>
        <p:nvSpPr>
          <p:cNvPr id="4" name="own-text-90">
            <a:extLst>
              <a:ext uri="{FF2B5EF4-FFF2-40B4-BE49-F238E27FC236}">
                <a16:creationId xmlns:a16="http://schemas.microsoft.com/office/drawing/2014/main" id="{4C63FC95-13EA-48BE-8408-CB82DA48AED6}"/>
              </a:ext>
            </a:extLst>
          </p:cNvPr>
          <p:cNvSpPr>
            <a:spLocks noGrp="1"/>
          </p:cNvSpPr>
          <p:nvPr/>
        </p:nvSpPr>
        <p:spPr>
          <a:xfrm>
            <a:off x="628650" y="7104698"/>
            <a:ext cx="2381250" cy="247650"/>
          </a:xfrm>
          <a:prstGeom prst="rect">
            <a:avLst/>
          </a:prstGeom>
          <a:noFill/>
          <a:ln w="0">
            <a:noFill/>
          </a:ln>
        </p:spPr>
        <p:txBody>
          <a:bodyPr wrap="square" lIns="0" tIns="0" rIns="0" bIns="0" anchor="t">
            <a:noAutofit/>
          </a:bodyPr>
          <a:lstStyle>
            <a:defPPr algn="l">
              <a:defRPr sz="1300" b="0">
                <a:solidFill>
                  <a:srgbClr val="686B72"/>
                </a:solidFill>
                <a:latin typeface="맑은 고딕"/>
                <a:ea typeface="맑은 고딕"/>
                <a:cs typeface="맑은 고딕"/>
              </a:defRPr>
            </a:defPPr>
            <a:lvl1pPr algn="l">
              <a:defRPr sz="1300" b="0">
                <a:solidFill>
                  <a:srgbClr val="686B72"/>
                </a:solidFill>
                <a:latin typeface="맑은 고딕"/>
                <a:ea typeface="맑은 고딕"/>
                <a:cs typeface="맑은 고딕"/>
              </a:defRPr>
            </a:lvl1pPr>
            <a:lvl2pPr algn="l">
              <a:defRPr sz="1300" b="0">
                <a:solidFill>
                  <a:srgbClr val="686B72"/>
                </a:solidFill>
                <a:latin typeface="맑은 고딕"/>
                <a:ea typeface="맑은 고딕"/>
                <a:cs typeface="맑은 고딕"/>
              </a:defRPr>
            </a:lvl2pPr>
            <a:lvl3pPr algn="l">
              <a:defRPr sz="1300" b="0">
                <a:solidFill>
                  <a:srgbClr val="686B72"/>
                </a:solidFill>
                <a:latin typeface="맑은 고딕"/>
                <a:ea typeface="맑은 고딕"/>
                <a:cs typeface="맑은 고딕"/>
              </a:defRPr>
            </a:lvl3pPr>
            <a:lvl4pPr algn="l">
              <a:defRPr sz="1300" b="0">
                <a:solidFill>
                  <a:srgbClr val="686B72"/>
                </a:solidFill>
                <a:latin typeface="맑은 고딕"/>
                <a:ea typeface="맑은 고딕"/>
                <a:cs typeface="맑은 고딕"/>
              </a:defRPr>
            </a:lvl4pPr>
            <a:lvl5pPr algn="l">
              <a:defRPr sz="1300" b="0">
                <a:solidFill>
                  <a:srgbClr val="686B72"/>
                </a:solidFill>
                <a:latin typeface="맑은 고딕"/>
                <a:ea typeface="맑은 고딕"/>
                <a:cs typeface="맑은 고딕"/>
              </a:defRPr>
            </a:lvl5pPr>
            <a:lvl6pPr algn="l">
              <a:defRPr sz="1300" b="0">
                <a:solidFill>
                  <a:srgbClr val="686B72"/>
                </a:solidFill>
                <a:latin typeface="맑은 고딕"/>
                <a:ea typeface="맑은 고딕"/>
                <a:cs typeface="맑은 고딕"/>
              </a:defRPr>
            </a:lvl6pPr>
            <a:lvl7pPr algn="l">
              <a:defRPr sz="1300" b="0">
                <a:solidFill>
                  <a:srgbClr val="686B72"/>
                </a:solidFill>
                <a:latin typeface="맑은 고딕"/>
                <a:ea typeface="맑은 고딕"/>
                <a:cs typeface="맑은 고딕"/>
              </a:defRPr>
            </a:lvl7pPr>
            <a:lvl8pPr algn="l">
              <a:defRPr sz="1300" b="0">
                <a:solidFill>
                  <a:srgbClr val="686B72"/>
                </a:solidFill>
                <a:latin typeface="맑은 고딕"/>
                <a:ea typeface="맑은 고딕"/>
                <a:cs typeface="맑은 고딕"/>
              </a:defRPr>
            </a:lvl8pPr>
            <a:lvl9pPr algn="l">
              <a:defRPr sz="1300" b="0">
                <a:solidFill>
                  <a:srgbClr val="686B72"/>
                </a:solidFill>
                <a:latin typeface="맑은 고딕"/>
                <a:ea typeface="맑은 고딕"/>
                <a:cs typeface="맑은 고딕"/>
              </a:defRPr>
            </a:lvl9pPr>
          </a:lstStyle>
          <a:p>
            <a:pPr algn="l">
              <a:defRPr sz="1300" b="0">
                <a:solidFill>
                  <a:srgbClr val="686B72"/>
                </a:solidFill>
                <a:latin typeface="맑은 고딕"/>
                <a:ea typeface="맑은 고딕"/>
                <a:cs typeface="맑은 고딕"/>
              </a:defRPr>
            </a:pPr>
            <a:r>
              <a:rPr sz="1300" b="0">
                <a:solidFill>
                  <a:srgbClr val="686B72"/>
                </a:solidFill>
                <a:latin typeface="맑은 고딕"/>
                <a:ea typeface="맑은 고딕"/>
                <a:cs typeface="맑은 고딕"/>
              </a:rPr>
              <a:t>UBot</a:t>
            </a:r>
          </a:p>
        </p:txBody>
      </p:sp>
      <p:sp>
        <p:nvSpPr>
          <p:cNvPr id="5" name="own-text-91">
            <a:extLst>
              <a:ext uri="{FF2B5EF4-FFF2-40B4-BE49-F238E27FC236}">
                <a16:creationId xmlns:a16="http://schemas.microsoft.com/office/drawing/2014/main" id="{448C927C-3FF0-4D94-B957-054703526D87}"/>
              </a:ext>
            </a:extLst>
          </p:cNvPr>
          <p:cNvSpPr>
            <a:spLocks noGrp="1"/>
          </p:cNvSpPr>
          <p:nvPr/>
        </p:nvSpPr>
        <p:spPr>
          <a:xfrm>
            <a:off x="12382500" y="7104698"/>
            <a:ext cx="704850" cy="247650"/>
          </a:xfrm>
          <a:prstGeom prst="rect">
            <a:avLst/>
          </a:prstGeom>
          <a:noFill/>
          <a:ln w="0">
            <a:noFill/>
          </a:ln>
        </p:spPr>
        <p:txBody>
          <a:bodyPr wrap="square" lIns="0" tIns="0" rIns="0" bIns="0" anchor="t">
            <a:noAutofit/>
          </a:bodyPr>
          <a:lstStyle>
            <a:defPPr algn="r">
              <a:defRPr sz="1300" b="0">
                <a:solidFill>
                  <a:srgbClr val="686B72"/>
                </a:solidFill>
                <a:latin typeface="맑은 고딕"/>
                <a:ea typeface="맑은 고딕"/>
                <a:cs typeface="맑은 고딕"/>
              </a:defRPr>
            </a:defPPr>
            <a:lvl1pPr algn="r">
              <a:defRPr sz="1300" b="0">
                <a:solidFill>
                  <a:srgbClr val="686B72"/>
                </a:solidFill>
                <a:latin typeface="맑은 고딕"/>
                <a:ea typeface="맑은 고딕"/>
                <a:cs typeface="맑은 고딕"/>
              </a:defRPr>
            </a:lvl1pPr>
            <a:lvl2pPr algn="r">
              <a:defRPr sz="1300" b="0">
                <a:solidFill>
                  <a:srgbClr val="686B72"/>
                </a:solidFill>
                <a:latin typeface="맑은 고딕"/>
                <a:ea typeface="맑은 고딕"/>
                <a:cs typeface="맑은 고딕"/>
              </a:defRPr>
            </a:lvl2pPr>
            <a:lvl3pPr algn="r">
              <a:defRPr sz="1300" b="0">
                <a:solidFill>
                  <a:srgbClr val="686B72"/>
                </a:solidFill>
                <a:latin typeface="맑은 고딕"/>
                <a:ea typeface="맑은 고딕"/>
                <a:cs typeface="맑은 고딕"/>
              </a:defRPr>
            </a:lvl3pPr>
            <a:lvl4pPr algn="r">
              <a:defRPr sz="1300" b="0">
                <a:solidFill>
                  <a:srgbClr val="686B72"/>
                </a:solidFill>
                <a:latin typeface="맑은 고딕"/>
                <a:ea typeface="맑은 고딕"/>
                <a:cs typeface="맑은 고딕"/>
              </a:defRPr>
            </a:lvl4pPr>
            <a:lvl5pPr algn="r">
              <a:defRPr sz="1300" b="0">
                <a:solidFill>
                  <a:srgbClr val="686B72"/>
                </a:solidFill>
                <a:latin typeface="맑은 고딕"/>
                <a:ea typeface="맑은 고딕"/>
                <a:cs typeface="맑은 고딕"/>
              </a:defRPr>
            </a:lvl5pPr>
            <a:lvl6pPr algn="r">
              <a:defRPr sz="1300" b="0">
                <a:solidFill>
                  <a:srgbClr val="686B72"/>
                </a:solidFill>
                <a:latin typeface="맑은 고딕"/>
                <a:ea typeface="맑은 고딕"/>
                <a:cs typeface="맑은 고딕"/>
              </a:defRPr>
            </a:lvl6pPr>
            <a:lvl7pPr algn="r">
              <a:defRPr sz="1300" b="0">
                <a:solidFill>
                  <a:srgbClr val="686B72"/>
                </a:solidFill>
                <a:latin typeface="맑은 고딕"/>
                <a:ea typeface="맑은 고딕"/>
                <a:cs typeface="맑은 고딕"/>
              </a:defRPr>
            </a:lvl7pPr>
            <a:lvl8pPr algn="r">
              <a:defRPr sz="1300" b="0">
                <a:solidFill>
                  <a:srgbClr val="686B72"/>
                </a:solidFill>
                <a:latin typeface="맑은 고딕"/>
                <a:ea typeface="맑은 고딕"/>
                <a:cs typeface="맑은 고딕"/>
              </a:defRPr>
            </a:lvl8pPr>
            <a:lvl9pPr algn="r">
              <a:defRPr sz="1300" b="0">
                <a:solidFill>
                  <a:srgbClr val="686B72"/>
                </a:solidFill>
                <a:latin typeface="맑은 고딕"/>
                <a:ea typeface="맑은 고딕"/>
                <a:cs typeface="맑은 고딕"/>
              </a:defRPr>
            </a:lvl9pPr>
          </a:lstStyle>
          <a:p>
            <a:pPr algn="r">
              <a:defRPr sz="1300" b="0">
                <a:solidFill>
                  <a:srgbClr val="686B72"/>
                </a:solidFill>
                <a:latin typeface="맑은 고딕"/>
                <a:ea typeface="맑은 고딕"/>
                <a:cs typeface="맑은 고딕"/>
              </a:defRPr>
            </a:pPr>
            <a:r>
              <a:rPr lang="en-US" altLang="ko-KR" sz="1300" b="0">
                <a:solidFill>
                  <a:srgbClr val="686B72"/>
                </a:solidFill>
                <a:latin typeface="맑은 고딕"/>
                <a:ea typeface="맑은 고딕"/>
                <a:cs typeface="맑은 고딕"/>
              </a:rPr>
              <a:t>34</a:t>
            </a:r>
            <a:endParaRPr sz="1300" b="0">
              <a:solidFill>
                <a:srgbClr val="686B72"/>
              </a:solidFill>
              <a:latin typeface="맑은 고딕"/>
              <a:ea typeface="맑은 고딕"/>
              <a:cs typeface="맑은 고딕"/>
            </a:endParaRPr>
          </a:p>
        </p:txBody>
      </p:sp>
      <p:graphicFrame>
        <p:nvGraphicFramePr>
          <p:cNvPr id="6" name="표 5">
            <a:extLst>
              <a:ext uri="{FF2B5EF4-FFF2-40B4-BE49-F238E27FC236}">
                <a16:creationId xmlns:a16="http://schemas.microsoft.com/office/drawing/2014/main" id="{451E90BF-E420-4A54-816C-D4C7F1DB6671}"/>
              </a:ext>
            </a:extLst>
          </p:cNvPr>
          <p:cNvGraphicFramePr/>
          <p:nvPr/>
        </p:nvGraphicFramePr>
        <p:xfrm>
          <a:off x="628650" y="2076450"/>
          <a:ext cx="12458700" cy="4010025"/>
        </p:xfrm>
        <a:graphic>
          <a:graphicData uri="http://schemas.openxmlformats.org/drawingml/2006/table">
            <a:tbl>
              <a:tblPr/>
              <a:tblGrid>
                <a:gridCol w="2724150">
                  <a:extLst>
                    <a:ext uri="{9D8B030D-6E8A-4147-A177-3AD203B41FA5}">
                      <a16:colId xmlns:a16="http://schemas.microsoft.com/office/drawing/2014/main" val="20000"/>
                    </a:ext>
                  </a:extLst>
                </a:gridCol>
                <a:gridCol w="2657475">
                  <a:extLst>
                    <a:ext uri="{9D8B030D-6E8A-4147-A177-3AD203B41FA5}">
                      <a16:colId xmlns:a16="http://schemas.microsoft.com/office/drawing/2014/main" val="20001"/>
                    </a:ext>
                  </a:extLst>
                </a:gridCol>
                <a:gridCol w="7077075">
                  <a:extLst>
                    <a:ext uri="{9D8B030D-6E8A-4147-A177-3AD203B41FA5}">
                      <a16:colId xmlns:a16="http://schemas.microsoft.com/office/drawing/2014/main" val="20002"/>
                    </a:ext>
                  </a:extLst>
                </a:gridCol>
              </a:tblGrid>
              <a:tr h="445558">
                <a:tc>
                  <a:txBody>
                    <a:bodyPr/>
                    <a:lstStyle/>
                    <a:p>
                      <a:r>
                        <a:rPr sz="1598" b="1">
                          <a:solidFill>
                            <a:srgbClr val="FFFFFF"/>
                          </a:solidFill>
                          <a:latin typeface="맑은 고딕"/>
                          <a:ea typeface="맑은 고딕"/>
                          <a:cs typeface="맑은 고딕"/>
                        </a:rPr>
                        <a:t>기능</a:t>
                      </a:r>
                    </a:p>
                  </a:txBody>
                  <a:tcPr marL="133350" marR="114300" marT="85725" marB="76200" anchor="ctr">
                    <a:lnL w="6668">
                      <a:solidFill>
                        <a:srgbClr val="DDDDE1"/>
                      </a:solidFill>
                      <a:prstDash val="soli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기본 주기</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tc>
                  <a:txBody>
                    <a:bodyPr/>
                    <a:lstStyle/>
                    <a:p>
                      <a:r>
                        <a:rPr sz="1598" b="1">
                          <a:solidFill>
                            <a:srgbClr val="FFFFFF"/>
                          </a:solidFill>
                          <a:latin typeface="맑은 고딕"/>
                          <a:ea typeface="맑은 고딕"/>
                          <a:cs typeface="맑은 고딕"/>
                        </a:rPr>
                        <a:t>실행 기준·역할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a:solidFill>
                        <a:srgbClr val="DDDDE1"/>
                      </a:solidFill>
                      <a:prstDash val="solid"/>
                    </a:lnT>
                    <a:lnB w="6668">
                      <a:solidFill>
                        <a:srgbClr val="DDDDE1"/>
                      </a:solidFill>
                      <a:prstDash val="solid"/>
                    </a:lnB>
                    <a:solidFill>
                      <a:srgbClr val="17171A"/>
                    </a:solidFill>
                  </a:tcPr>
                </a:tc>
                <a:extLst>
                  <a:ext uri="{0D108BD9-81ED-4DB2-BD59-A6C34878D82A}">
                    <a16:rowId xmlns:a16="http://schemas.microsoft.com/office/drawing/2014/main" val="10000"/>
                  </a:ext>
                </a:extLst>
              </a:tr>
              <a:tr h="445558">
                <a:tc>
                  <a:txBody>
                    <a:bodyPr/>
                    <a:lstStyle/>
                    <a:p>
                      <a:r>
                        <a:rPr sz="1598" b="0">
                          <a:solidFill>
                            <a:srgbClr val="17171A"/>
                          </a:solidFill>
                          <a:latin typeface="맑은 고딕"/>
                          <a:ea typeface="맑은 고딕"/>
                          <a:cs typeface="맑은 고딕"/>
                        </a:rPr>
                        <a:t>예약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방문 24시간·6시간·1시간 전 단계별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1"/>
                  </a:ext>
                </a:extLst>
              </a:tr>
              <a:tr h="445558">
                <a:tc>
                  <a:txBody>
                    <a:bodyPr/>
                    <a:lstStyle/>
                    <a:p>
                      <a:r>
                        <a:rPr sz="1598" b="0">
                          <a:solidFill>
                            <a:srgbClr val="17171A"/>
                          </a:solidFill>
                          <a:latin typeface="맑은 고딕"/>
                          <a:ea typeface="맑은 고딕"/>
                          <a:cs typeface="맑은 고딕"/>
                        </a:rPr>
                        <a:t>요금·로밍·약정 알림</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09:00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납부 임박·연체, 로밍 시작·종료, 약정·할부 만료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2"/>
                  </a:ext>
                </a:extLst>
              </a:tr>
              <a:tr h="445558">
                <a:tc>
                  <a:txBody>
                    <a:bodyPr/>
                    <a:lstStyle/>
                    <a:p>
                      <a:r>
                        <a:rPr sz="1598" b="0">
                          <a:solidFill>
                            <a:srgbClr val="17171A"/>
                          </a:solidFill>
                          <a:latin typeface="맑은 고딕"/>
                          <a:ea typeface="맑은 고딕"/>
                          <a:cs typeface="맑은 고딕"/>
                        </a:rPr>
                        <a:t>데이터 사용량</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매시 정각</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월 한도 80%·100% 도달 안내</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3"/>
                  </a:ext>
                </a:extLst>
              </a:tr>
              <a:tr h="445558">
                <a:tc>
                  <a:txBody>
                    <a:bodyPr/>
                    <a:lstStyle/>
                    <a:p>
                      <a:r>
                        <a:rPr sz="1598" b="0">
                          <a:solidFill>
                            <a:srgbClr val="17171A"/>
                          </a:solidFill>
                          <a:latin typeface="맑은 고딕"/>
                          <a:ea typeface="맑은 고딕"/>
                          <a:cs typeface="맑은 고딕"/>
                        </a:rPr>
                        <a:t>데이터 보관 정리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매일 04:00</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기간·상태 조건에 따른 익명화·삭제와 로밍 상태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4"/>
                  </a:ext>
                </a:extLst>
              </a:tr>
              <a:tr h="445558">
                <a:tc>
                  <a:txBody>
                    <a:bodyPr/>
                    <a:lstStyle/>
                    <a:p>
                      <a:r>
                        <a:rPr sz="1598" b="0">
                          <a:solidFill>
                            <a:srgbClr val="17171A"/>
                          </a:solidFill>
                          <a:latin typeface="맑은 고딕"/>
                          <a:ea typeface="맑은 고딕"/>
                          <a:cs typeface="맑은 고딕"/>
                        </a:rPr>
                        <a:t>FAQ 랭킹·미응답 이름</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1분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최근 20분 top5 갱신 / 최근 질문으로 그룹 이름 생성</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5"/>
                  </a:ext>
                </a:extLst>
              </a:tr>
              <a:tr h="445558">
                <a:tc>
                  <a:txBody>
                    <a:bodyPr/>
                    <a:lstStyle/>
                    <a:p>
                      <a:r>
                        <a:rPr sz="1598" b="0">
                          <a:solidFill>
                            <a:srgbClr val="17171A"/>
                          </a:solidFill>
                          <a:latin typeface="맑은 고딕"/>
                          <a:ea typeface="맑은 고딕"/>
                          <a:cs typeface="맑은 고딕"/>
                        </a:rPr>
                        <a:t>가드 검토</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예약 확인 1분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관리자 설정 주기에 분석, worker 2초·알림 5초, 04:15 정리</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6"/>
                  </a:ext>
                </a:extLst>
              </a:tr>
              <a:tr h="445558">
                <a:tc>
                  <a:txBody>
                    <a:bodyPr/>
                    <a:lstStyle/>
                    <a:p>
                      <a:r>
                        <a:rPr sz="1598" b="0">
                          <a:solidFill>
                            <a:srgbClr val="17171A"/>
                          </a:solidFill>
                          <a:latin typeface="맑은 고딕"/>
                          <a:ea typeface="맑은 고딕"/>
                          <a:cs typeface="맑은 고딕"/>
                        </a:rPr>
                        <a:t>비동기·상담 복구</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2~15초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Outbox 2초 / 상담 유지·복구 5초 / 취소 구독 복구 15초</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7"/>
                  </a:ext>
                </a:extLst>
              </a:tr>
              <a:tr h="445558">
                <a:tc>
                  <a:txBody>
                    <a:bodyPr/>
                    <a:lstStyle/>
                    <a:p>
                      <a:r>
                        <a:rPr sz="1598" b="0">
                          <a:solidFill>
                            <a:srgbClr val="17171A"/>
                          </a:solidFill>
                          <a:latin typeface="맑은 고딕"/>
                          <a:ea typeface="맑은 고딕"/>
                          <a:cs typeface="맑은 고딕"/>
                        </a:rPr>
                        <a:t>캐시·적체 관측</a:t>
                      </a:r>
                    </a:p>
                  </a:txBody>
                  <a:tcPr marL="133350" marR="114300" marT="85725" marB="76200" anchor="ctr">
                    <a:lnL w="6668">
                      <a:solidFill>
                        <a:srgbClr val="DDDDE1"/>
                      </a:solidFill>
                      <a:prstDash val="soli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5초 / 5분</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tc>
                  <a:txBody>
                    <a:bodyPr/>
                    <a:lstStyle/>
                    <a:p>
                      <a:r>
                        <a:rPr sz="1598" b="0">
                          <a:solidFill>
                            <a:srgbClr val="17171A"/>
                          </a:solidFill>
                          <a:latin typeface="맑은 고딕"/>
                          <a:ea typeface="맑은 고딕"/>
                          <a:cs typeface="맑은 고딕"/>
                        </a:rPr>
                        <a:t>금칙어 캐시 버전 확인 / 임베딩 backlog 지표 갱신</a:t>
                      </a:r>
                    </a:p>
                  </a:txBody>
                  <a:tcPr marL="133350" marR="114300" marT="85725" marB="76200" anchor="ctr">
                    <a:lnL w="6668" cap="flat" cmpd="sng" algn="ctr">
                      <a:solidFill>
                        <a:srgbClr val="DDDDE1"/>
                      </a:solidFill>
                      <a:prstDash val="solid"/>
                      <a:round/>
                      <a:headEnd type="none" w="med" len="med"/>
                      <a:tailEnd type="none" w="med" len="med"/>
                    </a:lnL>
                    <a:lnR w="6668">
                      <a:solidFill>
                        <a:srgbClr val="DDDDE1"/>
                      </a:solidFill>
                      <a:prstDash val="solid"/>
                    </a:lnR>
                    <a:lnT w="6668" cap="flat" cmpd="sng" algn="ctr">
                      <a:solidFill>
                        <a:srgbClr val="DDDDE1"/>
                      </a:solidFill>
                      <a:prstDash val="solid"/>
                      <a:round/>
                      <a:headEnd type="none" w="med" len="med"/>
                      <a:tailEnd type="none" w="med" len="med"/>
                    </a:lnT>
                    <a:lnB w="6668">
                      <a:solidFill>
                        <a:srgbClr val="DDDDE1"/>
                      </a:solidFill>
                      <a:prstDash val="solid"/>
                    </a:lnB>
                    <a:solidFill>
                      <a:srgbClr val="FFFF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1428497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배경"/>
          <p:cNvSpPr/>
          <p:nvPr/>
        </p:nvSpPr>
        <p:spPr>
          <a:xfrm>
            <a:off x="0" y="0"/>
            <a:ext cx="13716000" cy="771525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상단 태그"/>
          <p:cNvSpPr txBox="1"/>
          <p:nvPr/>
        </p:nvSpPr>
        <p:spPr>
          <a:xfrm>
            <a:off x="628650" y="420000"/>
            <a:ext cx="9000000" cy="300000"/>
          </a:xfrm>
          <a:prstGeom prst="rect">
            <a:avLst/>
          </a:prstGeom>
          <a:noFill/>
        </p:spPr>
        <p:txBody>
          <a:bodyPr wrap="square" lIns="0" tIns="0" rIns="0" bIns="0" anchor="ctr">
            <a:spAutoFit/>
          </a:bodyPr>
          <a:lstStyle/>
          <a:p>
            <a:pPr algn="l"/>
            <a:r>
              <a:rPr sz="1300" b="1">
                <a:solidFill>
                  <a:schemeClr val="accent1"/>
                </a:solidFill>
              </a:rPr>
              <a:t>주요 기능 소개  |  그 외</a:t>
            </a:r>
          </a:p>
        </p:txBody>
      </p:sp>
      <p:sp>
        <p:nvSpPr>
          <p:cNvPr id="5" name="슬라이드 제목"/>
          <p:cNvSpPr txBox="1"/>
          <p:nvPr/>
        </p:nvSpPr>
        <p:spPr>
          <a:xfrm>
            <a:off x="628650" y="760000"/>
            <a:ext cx="12000000" cy="700000"/>
          </a:xfrm>
          <a:prstGeom prst="rect">
            <a:avLst/>
          </a:prstGeom>
          <a:noFill/>
        </p:spPr>
        <p:txBody>
          <a:bodyPr wrap="square" lIns="0" tIns="0" rIns="0" bIns="0" anchor="ctr">
            <a:spAutoFit/>
          </a:bodyPr>
          <a:lstStyle/>
          <a:p>
            <a:pPr algn="l"/>
            <a:r>
              <a:rPr sz="3400" b="1">
                <a:solidFill>
                  <a:schemeClr val="tx2"/>
                </a:solidFill>
              </a:rPr>
              <a:t>알림</a:t>
            </a:r>
          </a:p>
        </p:txBody>
      </p:sp>
      <p:sp>
        <p:nvSpPr>
          <p:cNvPr id="6" name="소개 문구"/>
          <p:cNvSpPr txBox="1"/>
          <p:nvPr/>
        </p:nvSpPr>
        <p:spPr>
          <a:xfrm>
            <a:off x="628650" y="1500000"/>
            <a:ext cx="12000000" cy="340000"/>
          </a:xfrm>
          <a:prstGeom prst="rect">
            <a:avLst/>
          </a:prstGeom>
          <a:noFill/>
        </p:spPr>
        <p:txBody>
          <a:bodyPr wrap="square" lIns="0" tIns="0" rIns="0" bIns="0" anchor="ctr">
            <a:spAutoFit/>
          </a:bodyPr>
          <a:lstStyle/>
          <a:p>
            <a:pPr algn="l"/>
            <a:r>
              <a:rPr sz="1500" b="0">
                <a:solidFill>
                  <a:schemeClr val="accent3"/>
                </a:solidFill>
              </a:rPr>
              <a:t> </a:t>
            </a:r>
          </a:p>
        </p:txBody>
      </p:sp>
      <p:sp>
        <p:nvSpPr>
          <p:cNvPr id="7" name="푸터 이름"/>
          <p:cNvSpPr txBox="1"/>
          <p:nvPr/>
        </p:nvSpPr>
        <p:spPr>
          <a:xfrm>
            <a:off x="628650" y="7104888"/>
            <a:ext cx="2377440" cy="246888"/>
          </a:xfrm>
          <a:prstGeom prst="rect">
            <a:avLst/>
          </a:prstGeom>
          <a:noFill/>
        </p:spPr>
        <p:txBody>
          <a:bodyPr wrap="square" lIns="0" tIns="0" rIns="0" bIns="0" anchor="ctr">
            <a:spAutoFit/>
          </a:bodyPr>
          <a:lstStyle/>
          <a:p>
            <a:pPr algn="l"/>
            <a:r>
              <a:rPr sz="1300" b="1">
                <a:solidFill>
                  <a:schemeClr val="accent3"/>
                </a:solidFill>
              </a:rPr>
              <a:t>UBot</a:t>
            </a:r>
          </a:p>
        </p:txBody>
      </p:sp>
      <p:sp>
        <p:nvSpPr>
          <p:cNvPr id="8" name="페이지 번호"/>
          <p:cNvSpPr txBox="1"/>
          <p:nvPr/>
        </p:nvSpPr>
        <p:spPr>
          <a:xfrm>
            <a:off x="12380976" y="7128304"/>
            <a:ext cx="704088" cy="200055"/>
          </a:xfrm>
          <a:prstGeom prst="rect">
            <a:avLst/>
          </a:prstGeom>
          <a:noFill/>
        </p:spPr>
        <p:txBody>
          <a:bodyPr wrap="square" lIns="0" tIns="0" rIns="0" bIns="0" anchor="ctr">
            <a:spAutoFit/>
          </a:bodyPr>
          <a:lstStyle/>
          <a:p>
            <a:pPr algn="r"/>
            <a:r>
              <a:rPr lang="en-US" altLang="ko-KR" sz="1300" b="0">
                <a:solidFill>
                  <a:schemeClr val="accent3"/>
                </a:solidFill>
              </a:rPr>
              <a:t>35</a:t>
            </a:r>
            <a:endParaRPr sz="1300" b="0">
              <a:solidFill>
                <a:schemeClr val="accent3"/>
              </a:solidFill>
            </a:endParaRPr>
          </a:p>
        </p:txBody>
      </p:sp>
    </p:spTree>
  </p:cSld>
  <p:clrMapOvr>
    <a:masterClrMapping/>
  </p:clrMapOvr>
</p:sld>
</file>

<file path=ppt/theme/theme1.xml><?xml version="1.0" encoding="utf-8"?>
<a:theme xmlns:a="http://schemas.openxmlformats.org/drawingml/2006/main" name="UBot">
  <a:themeElements>
    <a:clrScheme name="UBot">
      <a:dk1>
        <a:srgbClr val="17171A"/>
      </a:dk1>
      <a:lt1>
        <a:srgbClr val="FFFFFF"/>
      </a:lt1>
      <a:dk2>
        <a:srgbClr val="17171A"/>
      </a:dk2>
      <a:lt2>
        <a:srgbClr val="F6F7F8"/>
      </a:lt2>
      <a:accent1>
        <a:srgbClr val="F72585"/>
      </a:accent1>
      <a:accent2>
        <a:srgbClr val="E5E6E9"/>
      </a:accent2>
      <a:accent3>
        <a:srgbClr val="686B72"/>
      </a:accent3>
      <a:accent4>
        <a:srgbClr val="D91370"/>
      </a:accent4>
      <a:accent5>
        <a:srgbClr val="6F55DD"/>
      </a:accent5>
      <a:accent6>
        <a:srgbClr val="4B3BB5"/>
      </a:accent6>
      <a:hlink>
        <a:srgbClr val="F72585"/>
      </a:hlink>
      <a:folHlink>
        <a:srgbClr val="686B72"/>
      </a:folHlink>
    </a:clrScheme>
    <a:fontScheme name="UBot">
      <a:majorFont>
        <a:latin typeface="맑은 고딕"/>
        <a:ea typeface="맑은 고딕"/>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맑은 고딕"/>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ajorFont>
      <a:min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Phetsarath OT"/>
        <a:font script="Sinh" typeface="Iskoola Pota"/>
        <a:font script="Mong" typeface="Mongolian Baiti"/>
        <a:font script="Viet" typeface="Times New Roman"/>
        <a:font script="Uigh" typeface="Microsoft Uighur"/>
        <a:font script="Ethi" typeface="Leelawadee UI"/>
        <a:font script="Mymr" typeface="Myanmar Text"/>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5928</Words>
  <Application>Microsoft Office PowerPoint</Application>
  <PresentationFormat>사용자 지정</PresentationFormat>
  <Paragraphs>949</Paragraphs>
  <Slides>35</Slides>
  <Notes>9</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35</vt:i4>
      </vt:variant>
    </vt:vector>
  </HeadingPairs>
  <TitlesOfParts>
    <vt:vector size="39" baseType="lpstr">
      <vt:lpstr>맑은 고딕</vt:lpstr>
      <vt:lpstr>Arial</vt:lpstr>
      <vt:lpstr>Calibri</vt:lpstr>
      <vt:lpstr>UBot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pc</cp:lastModifiedBy>
  <cp:revision>9</cp:revision>
  <dcterms:created xsi:type="dcterms:W3CDTF">2026-10-25T05:22:11Z</dcterms:created>
  <dcterms:modified xsi:type="dcterms:W3CDTF">2026-10-26T04:38:28Z</dcterms:modified>
  <cp:version/>
</cp:coreProperties>
</file>